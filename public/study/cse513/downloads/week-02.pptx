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2c00045fe44bde" /><Relationship Type="http://schemas.openxmlformats.org/officeDocument/2006/relationships/extended-properties" Target="/docProps/app.xml" Id="R1937885e83be4f35" /><Relationship Type="http://schemas.openxmlformats.org/officeDocument/2006/relationships/officeDocument" Target="/ppt/presentation.xml" Id="R60aed232bdce4864" /></Relationships>
</file>

<file path=ppt/presentation.xml><?xml version="1.0" encoding="utf-8"?>
<p:presentation xmlns:p="http://schemas.openxmlformats.org/presentationml/2006/main">
  <p:sldMasterIdLst>
    <p:sldMasterId xmlns:r="http://schemas.openxmlformats.org/officeDocument/2006/relationships" id="2147483648" r:id="Rd6d1e9941b8347e0"/>
  </p:sldMasterIdLst>
  <p:notesMasterIdLst>
    <p:notesMasterId xmlns:r="http://schemas.openxmlformats.org/officeDocument/2006/relationships" r:id="R8564459b2c5b4097"/>
  </p:notesMasterIdLst>
  <p:sldIdLst>
    <p:sldId xmlns:r="http://schemas.openxmlformats.org/officeDocument/2006/relationships" id="256" r:id="R6a265486f1924d69"/>
    <p:sldId xmlns:r="http://schemas.openxmlformats.org/officeDocument/2006/relationships" id="257" r:id="Ra58dceda4e064b2e"/>
    <p:sldId xmlns:r="http://schemas.openxmlformats.org/officeDocument/2006/relationships" id="258" r:id="R60c0d8fa10434d8f"/>
    <p:sldId xmlns:r="http://schemas.openxmlformats.org/officeDocument/2006/relationships" id="259" r:id="R59bfaa90ad26428b"/>
    <p:sldId xmlns:r="http://schemas.openxmlformats.org/officeDocument/2006/relationships" id="260" r:id="R41b650811b6c49ea"/>
    <p:sldId xmlns:r="http://schemas.openxmlformats.org/officeDocument/2006/relationships" id="261" r:id="Rd2e506a14ffd4430"/>
    <p:sldId xmlns:r="http://schemas.openxmlformats.org/officeDocument/2006/relationships" id="262" r:id="R4bc4f2d8f0154fed"/>
    <p:sldId xmlns:r="http://schemas.openxmlformats.org/officeDocument/2006/relationships" id="263" r:id="Rf88f4e8dff294a48"/>
    <p:sldId xmlns:r="http://schemas.openxmlformats.org/officeDocument/2006/relationships" id="264" r:id="Ref60c3725afa4070"/>
    <p:sldId xmlns:r="http://schemas.openxmlformats.org/officeDocument/2006/relationships" id="265" r:id="Rbdb8a2631f09439b"/>
    <p:sldId xmlns:r="http://schemas.openxmlformats.org/officeDocument/2006/relationships" id="266" r:id="Re7cdc94ea95b4ea5"/>
    <p:sldId xmlns:r="http://schemas.openxmlformats.org/officeDocument/2006/relationships" id="267" r:id="R2b9b7f4aaffb4e76"/>
    <p:sldId xmlns:r="http://schemas.openxmlformats.org/officeDocument/2006/relationships" id="268" r:id="Rba73a2051db54bc4"/>
    <p:sldId xmlns:r="http://schemas.openxmlformats.org/officeDocument/2006/relationships" id="269" r:id="R9a9fe41280b2476c"/>
    <p:sldId xmlns:r="http://schemas.openxmlformats.org/officeDocument/2006/relationships" id="270" r:id="R9e514bc5957c45b2"/>
    <p:sldId xmlns:r="http://schemas.openxmlformats.org/officeDocument/2006/relationships" id="271" r:id="R192556a1a92646d2"/>
    <p:sldId xmlns:r="http://schemas.openxmlformats.org/officeDocument/2006/relationships" id="272" r:id="R4e196da759804d7d"/>
    <p:sldId xmlns:r="http://schemas.openxmlformats.org/officeDocument/2006/relationships" id="273" r:id="R718f3277da734447"/>
    <p:sldId xmlns:r="http://schemas.openxmlformats.org/officeDocument/2006/relationships" id="274" r:id="R019f893cda9f494e"/>
    <p:sldId xmlns:r="http://schemas.openxmlformats.org/officeDocument/2006/relationships" id="275" r:id="R979ee591c2364ab5"/>
    <p:sldId xmlns:r="http://schemas.openxmlformats.org/officeDocument/2006/relationships" id="276" r:id="R370f474822c54fce"/>
    <p:sldId xmlns:r="http://schemas.openxmlformats.org/officeDocument/2006/relationships" id="277" r:id="R4de0eec137b34a1f"/>
    <p:sldId xmlns:r="http://schemas.openxmlformats.org/officeDocument/2006/relationships" id="278" r:id="R4857f93ec8a546af"/>
    <p:sldId xmlns:r="http://schemas.openxmlformats.org/officeDocument/2006/relationships" id="279" r:id="Ra92423c9976e48e5"/>
    <p:sldId xmlns:r="http://schemas.openxmlformats.org/officeDocument/2006/relationships" id="280" r:id="R4b078d52900e4d59"/>
    <p:sldId xmlns:r="http://schemas.openxmlformats.org/officeDocument/2006/relationships" id="281" r:id="R430b364af3744c01"/>
    <p:sldId xmlns:r="http://schemas.openxmlformats.org/officeDocument/2006/relationships" id="282" r:id="R1996a421ee36419f"/>
    <p:sldId xmlns:r="http://schemas.openxmlformats.org/officeDocument/2006/relationships" id="283" r:id="Ra90650f7de7f4dd8"/>
    <p:sldId xmlns:r="http://schemas.openxmlformats.org/officeDocument/2006/relationships" id="284" r:id="R9d71680cd8f746f6"/>
    <p:sldId xmlns:r="http://schemas.openxmlformats.org/officeDocument/2006/relationships" id="285" r:id="Rd6470a34912b44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a90a20b9404882" /><Relationship Type="http://schemas.openxmlformats.org/officeDocument/2006/relationships/slideMaster" Target="/ppt/slideMasters/slideMaster1.xml" Id="Rd6d1e9941b8347e0" /><Relationship Type="http://schemas.openxmlformats.org/officeDocument/2006/relationships/notesMaster" Target="/ppt/notesMasters/notesMaster1.xml" Id="R8564459b2c5b4097" /><Relationship Type="http://schemas.openxmlformats.org/officeDocument/2006/relationships/presProps" Target="/ppt/presProps.xml" Id="R50f30b11547b452d" /><Relationship Type="http://schemas.openxmlformats.org/officeDocument/2006/relationships/tableStyles" Target="/ppt/tableStyles.xml" Id="R5f5d42694c064b97" /><Relationship Type="http://schemas.openxmlformats.org/officeDocument/2006/relationships/slide" Target="/ppt/slides/slide1.xml" Id="R6a265486f1924d69" /><Relationship Type="http://schemas.openxmlformats.org/officeDocument/2006/relationships/slide" Target="/ppt/slides/slide2.xml" Id="Ra58dceda4e064b2e" /><Relationship Type="http://schemas.openxmlformats.org/officeDocument/2006/relationships/slide" Target="/ppt/slides/slide3.xml" Id="R60c0d8fa10434d8f" /><Relationship Type="http://schemas.openxmlformats.org/officeDocument/2006/relationships/slide" Target="/ppt/slides/slide4.xml" Id="R59bfaa90ad26428b" /><Relationship Type="http://schemas.openxmlformats.org/officeDocument/2006/relationships/slide" Target="/ppt/slides/slide5.xml" Id="R41b650811b6c49ea" /><Relationship Type="http://schemas.openxmlformats.org/officeDocument/2006/relationships/slide" Target="/ppt/slides/slide6.xml" Id="Rd2e506a14ffd4430" /><Relationship Type="http://schemas.openxmlformats.org/officeDocument/2006/relationships/slide" Target="/ppt/slides/slide7.xml" Id="R4bc4f2d8f0154fed" /><Relationship Type="http://schemas.openxmlformats.org/officeDocument/2006/relationships/slide" Target="/ppt/slides/slide8.xml" Id="Rf88f4e8dff294a48" /><Relationship Type="http://schemas.openxmlformats.org/officeDocument/2006/relationships/slide" Target="/ppt/slides/slide9.xml" Id="Ref60c3725afa4070" /><Relationship Type="http://schemas.openxmlformats.org/officeDocument/2006/relationships/slide" Target="/ppt/slides/slide10.xml" Id="Rbdb8a2631f09439b" /><Relationship Type="http://schemas.openxmlformats.org/officeDocument/2006/relationships/slide" Target="/ppt/slides/slide11.xml" Id="Re7cdc94ea95b4ea5" /><Relationship Type="http://schemas.openxmlformats.org/officeDocument/2006/relationships/slide" Target="/ppt/slides/slide12.xml" Id="R2b9b7f4aaffb4e76" /><Relationship Type="http://schemas.openxmlformats.org/officeDocument/2006/relationships/slide" Target="/ppt/slides/slide13.xml" Id="Rba73a2051db54bc4" /><Relationship Type="http://schemas.openxmlformats.org/officeDocument/2006/relationships/slide" Target="/ppt/slides/slide14.xml" Id="R9a9fe41280b2476c" /><Relationship Type="http://schemas.openxmlformats.org/officeDocument/2006/relationships/slide" Target="/ppt/slides/slide15.xml" Id="R9e514bc5957c45b2" /><Relationship Type="http://schemas.openxmlformats.org/officeDocument/2006/relationships/slide" Target="/ppt/slides/slide16.xml" Id="R192556a1a92646d2" /><Relationship Type="http://schemas.openxmlformats.org/officeDocument/2006/relationships/slide" Target="/ppt/slides/slide17.xml" Id="R4e196da759804d7d" /><Relationship Type="http://schemas.openxmlformats.org/officeDocument/2006/relationships/slide" Target="/ppt/slides/slide18.xml" Id="R718f3277da734447" /><Relationship Type="http://schemas.openxmlformats.org/officeDocument/2006/relationships/slide" Target="/ppt/slides/slide19.xml" Id="R019f893cda9f494e" /><Relationship Type="http://schemas.openxmlformats.org/officeDocument/2006/relationships/slide" Target="/ppt/slides/slide20.xml" Id="R979ee591c2364ab5" /><Relationship Type="http://schemas.openxmlformats.org/officeDocument/2006/relationships/slide" Target="/ppt/slides/slide21.xml" Id="R370f474822c54fce" /><Relationship Type="http://schemas.openxmlformats.org/officeDocument/2006/relationships/slide" Target="/ppt/slides/slide22.xml" Id="R4de0eec137b34a1f" /><Relationship Type="http://schemas.openxmlformats.org/officeDocument/2006/relationships/slide" Target="/ppt/slides/slide23.xml" Id="R4857f93ec8a546af" /><Relationship Type="http://schemas.openxmlformats.org/officeDocument/2006/relationships/slide" Target="/ppt/slides/slide24.xml" Id="Ra92423c9976e48e5" /><Relationship Type="http://schemas.openxmlformats.org/officeDocument/2006/relationships/slide" Target="/ppt/slides/slide25.xml" Id="R4b078d52900e4d59" /><Relationship Type="http://schemas.openxmlformats.org/officeDocument/2006/relationships/slide" Target="/ppt/slides/slide26.xml" Id="R430b364af3744c01" /><Relationship Type="http://schemas.openxmlformats.org/officeDocument/2006/relationships/slide" Target="/ppt/slides/slide27.xml" Id="R1996a421ee36419f" /><Relationship Type="http://schemas.openxmlformats.org/officeDocument/2006/relationships/slide" Target="/ppt/slides/slide28.xml" Id="Ra90650f7de7f4dd8" /><Relationship Type="http://schemas.openxmlformats.org/officeDocument/2006/relationships/slide" Target="/ppt/slides/slide29.xml" Id="R9d71680cd8f746f6" /><Relationship Type="http://schemas.openxmlformats.org/officeDocument/2006/relationships/slide" Target="/ppt/slides/slide30.xml" Id="Rd6470a34912b44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fc9f71320541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fe39dc5544db0" /><Relationship Type="http://schemas.openxmlformats.org/officeDocument/2006/relationships/notesMaster" Target="/ppt/notesMasters/notesMaster1.xml" Id="Ra22078849e5a40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e748a3af1c4e97" /><Relationship Type="http://schemas.openxmlformats.org/officeDocument/2006/relationships/notesMaster" Target="/ppt/notesMasters/notesMaster1.xml" Id="R408b4e05b8f445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c842c0d4e94ccf" /><Relationship Type="http://schemas.openxmlformats.org/officeDocument/2006/relationships/notesMaster" Target="/ppt/notesMasters/notesMaster1.xml" Id="Rec5b91fa4fe94d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636b3d595a40e9" /><Relationship Type="http://schemas.openxmlformats.org/officeDocument/2006/relationships/notesMaster" Target="/ppt/notesMasters/notesMaster1.xml" Id="Rd72b91d185e34d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8566b186964182" /><Relationship Type="http://schemas.openxmlformats.org/officeDocument/2006/relationships/notesMaster" Target="/ppt/notesMasters/notesMaster1.xml" Id="R7c6e5495322749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07b63d6ceb45bc" /><Relationship Type="http://schemas.openxmlformats.org/officeDocument/2006/relationships/notesMaster" Target="/ppt/notesMasters/notesMaster1.xml" Id="R78dc554b2e054e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922673ea3542f4" /><Relationship Type="http://schemas.openxmlformats.org/officeDocument/2006/relationships/notesMaster" Target="/ppt/notesMasters/notesMaster1.xml" Id="Re29c9544872f44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25e285d8ab4423" /><Relationship Type="http://schemas.openxmlformats.org/officeDocument/2006/relationships/notesMaster" Target="/ppt/notesMasters/notesMaster1.xml" Id="R17c0884ea10741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129dba3ed0463d" /><Relationship Type="http://schemas.openxmlformats.org/officeDocument/2006/relationships/notesMaster" Target="/ppt/notesMasters/notesMaster1.xml" Id="R2c72302ebf414b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c9bd3353784c2c" /><Relationship Type="http://schemas.openxmlformats.org/officeDocument/2006/relationships/notesMaster" Target="/ppt/notesMasters/notesMaster1.xml" Id="R480a24180e514d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2b22ef55ba4039" /><Relationship Type="http://schemas.openxmlformats.org/officeDocument/2006/relationships/notesMaster" Target="/ppt/notesMasters/notesMaster1.xml" Id="R479d0f48c61f4b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d6e097a7da435b" /><Relationship Type="http://schemas.openxmlformats.org/officeDocument/2006/relationships/notesMaster" Target="/ppt/notesMasters/notesMaster1.xml" Id="R39c2f98ec0a346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e5a1063d95497e" /><Relationship Type="http://schemas.openxmlformats.org/officeDocument/2006/relationships/notesMaster" Target="/ppt/notesMasters/notesMaster1.xml" Id="R4be02aae905345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cdde1fa50c4ef5" /><Relationship Type="http://schemas.openxmlformats.org/officeDocument/2006/relationships/notesMaster" Target="/ppt/notesMasters/notesMaster1.xml" Id="R83c2326424854d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38bb3a21cd4ede" /><Relationship Type="http://schemas.openxmlformats.org/officeDocument/2006/relationships/notesMaster" Target="/ppt/notesMasters/notesMaster1.xml" Id="Rab894a07474e44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188098b30c4021" /><Relationship Type="http://schemas.openxmlformats.org/officeDocument/2006/relationships/notesMaster" Target="/ppt/notesMasters/notesMaster1.xml" Id="R3182cbc487af48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206e12f93c4ab2" /><Relationship Type="http://schemas.openxmlformats.org/officeDocument/2006/relationships/notesMaster" Target="/ppt/notesMasters/notesMaster1.xml" Id="Raea8eb793ae94c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e35a3584e54bae" /><Relationship Type="http://schemas.openxmlformats.org/officeDocument/2006/relationships/notesMaster" Target="/ppt/notesMasters/notesMaster1.xml" Id="Rdfb7485ff47546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cc0ff317c74776" /><Relationship Type="http://schemas.openxmlformats.org/officeDocument/2006/relationships/notesMaster" Target="/ppt/notesMasters/notesMaster1.xml" Id="R4fa2a6bcb42241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b1abd69cf242aa" /><Relationship Type="http://schemas.openxmlformats.org/officeDocument/2006/relationships/notesMaster" Target="/ppt/notesMasters/notesMaster1.xml" Id="R7b4b2b2c430644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5ac908c8444b6f" /><Relationship Type="http://schemas.openxmlformats.org/officeDocument/2006/relationships/notesMaster" Target="/ppt/notesMasters/notesMaster1.xml" Id="R3470218c7ea246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8e259a6298f4b78" /><Relationship Type="http://schemas.openxmlformats.org/officeDocument/2006/relationships/notesMaster" Target="/ppt/notesMasters/notesMaster1.xml" Id="R7ef3e1fdd8cc46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38847a00b84af8" /><Relationship Type="http://schemas.openxmlformats.org/officeDocument/2006/relationships/notesMaster" Target="/ppt/notesMasters/notesMaster1.xml" Id="Rd43fcb842a4345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566051d7934a77" /><Relationship Type="http://schemas.openxmlformats.org/officeDocument/2006/relationships/notesMaster" Target="/ppt/notesMasters/notesMaster1.xml" Id="Ra6363d0fc5b84fc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7df33207304936" /><Relationship Type="http://schemas.openxmlformats.org/officeDocument/2006/relationships/notesMaster" Target="/ppt/notesMasters/notesMaster1.xml" Id="Raf7639428efa45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e1400d5dc5c4a84" /><Relationship Type="http://schemas.openxmlformats.org/officeDocument/2006/relationships/notesMaster" Target="/ppt/notesMasters/notesMaster1.xml" Id="R414476f4910f4b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2f9e0e5d0164252" /><Relationship Type="http://schemas.openxmlformats.org/officeDocument/2006/relationships/notesMaster" Target="/ppt/notesMasters/notesMaster1.xml" Id="Re04d20b5165d4a6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5e8d30c18be4153" /><Relationship Type="http://schemas.openxmlformats.org/officeDocument/2006/relationships/notesMaster" Target="/ppt/notesMasters/notesMaster1.xml" Id="R9fcc911da9e440d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a7a8936cdf1469b" /><Relationship Type="http://schemas.openxmlformats.org/officeDocument/2006/relationships/notesMaster" Target="/ppt/notesMasters/notesMaster1.xml" Id="R077aee8e03a643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437efe9a4044a44" /><Relationship Type="http://schemas.openxmlformats.org/officeDocument/2006/relationships/notesMaster" Target="/ppt/notesMasters/notesMaster1.xml" Id="R89bc275fe36a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Hafta 2</a:t>
            </a:r>
          </a:p>
          <a:p xmlns:a="http://schemas.openxmlformats.org/drawingml/2006/main">
            <a:r>
              <a:t>CPU scheduling ve gerçek zaman ilkeleri</a:t>
            </a:r>
          </a:p>
          <a:p xmlns:a="http://schemas.openxmlformats.org/drawingml/2006/main">
            <a:r>
              <a:t/>
            </a:r>
          </a:p>
          <a:p xmlns:a="http://schemas.openxmlformats.org/drawingml/2006/main">
            <a:r>
              <a:t>Hafta 1 görevlerin nasıl durup devam ettiğini anlattı. Bu hafta seçim politikasını kuruyoruz: aynı işler, farklı sıra, farklı deneyim. İlk yarıda sayısal izler; ikinci yarıda öncelik, çoklu CPU ve deadline. Veriler öğretici modellerdir, makine ölçümü değildir.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1, 2</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Hafta 1 eşleşmesi sabit: aşçı CPU, iş takip kartı thread. Scheduler yalnız uygun ready işleri seçer. Priority eksik malzemeyi yaratmaz. Kaynak sunumun tamirci/araba analojisi aynı fikri taşır. Fiziksel bellek koruması ve CPU talimatları için bu benzetme yeterli değildir.</a:t>
            </a:r>
          </a:p>
          <a:p xmlns:a="http://schemas.openxmlformats.org/drawingml/2006/main">
            <a:r>
              <a:t/>
            </a:r>
          </a:p>
          <a:p xmlns:a="http://schemas.openxmlformats.org/drawingml/2006/main">
            <a:r>
              <a:t>SORUNUN YANITI: Eksik olay gelmeden hayır. Priority ready işler arasında CPU seçimini etkiler.</a:t>
            </a:r>
          </a:p>
          <a:p xmlns:a="http://schemas.openxmlformats.org/drawingml/2006/main">
            <a:r>
              <a:t/>
            </a:r>
          </a:p>
          <a:p xmlns:a="http://schemas.openxmlformats.org/drawingml/2006/main">
            <a:r>
              <a:t>GERÇEK HAYAT: İndirme ve editör</a:t>
            </a:r>
          </a:p>
          <a:p xmlns:a="http://schemas.openxmlformats.org/drawingml/2006/main">
            <a:r>
              <a:t>İndirme beklerken yazı yazarsın.</a:t>
            </a:r>
          </a:p>
          <a:p xmlns:a="http://schemas.openxmlformats.org/drawingml/2006/main">
            <a:r>
              <a:t>Mekanizma: I/O waiting başka ready işe CPU fırsatı bırakır.</a:t>
            </a:r>
          </a:p>
          <a:p xmlns:a="http://schemas.openxmlformats.org/drawingml/2006/main">
            <a:r>
              <a:t>Ne zaman işe yarar: Bekleme ile düşük priority durumunu ayır.</a:t>
            </a:r>
          </a:p>
          <a:p xmlns:a="http://schemas.openxmlformats.org/drawingml/2006/main">
            <a:r>
              <a:t/>
            </a:r>
          </a:p>
          <a:p xmlns:a="http://schemas.openxmlformats.org/drawingml/2006/main">
            <a:r>
              <a:t>Özgün Lecture02 PDF sayfaları: 3, 4, 8, 11</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Nonpreemptive politika mevcut burst bitene veya görev bloklanana kadar bırakır. Preemptive politika runnable işi durdurabilir. Timer interrupt fırsat sunar; farklı görevin seçildiğini tek başına kanıtlamaz. Dispatch latency ve cache etkileri gerçek maliyetlerdir; ilk izlerde sıfır kabul edeceğiz.</a:t>
            </a:r>
          </a:p>
          <a:p xmlns:a="http://schemas.openxmlformats.org/drawingml/2006/main">
            <a:r>
              <a:t/>
            </a:r>
          </a:p>
          <a:p xmlns:a="http://schemas.openxmlformats.org/drawingml/2006/main">
            <a:r>
              <a:t>GERÇEK HAYAT: Arayüz akıcılığı</a:t>
            </a:r>
          </a:p>
          <a:p xmlns:a="http://schemas.openxmlformats.org/drawingml/2006/main">
            <a:r>
              <a:t>Uzun işlem varken kısa input işi gelir.</a:t>
            </a:r>
          </a:p>
          <a:p xmlns:a="http://schemas.openxmlformats.org/drawingml/2006/main">
            <a:r>
              <a:t>Mekanizma: Preemption kısa işe fırsat verebilir; maliyet ve uygunluk önemlidir.</a:t>
            </a:r>
          </a:p>
          <a:p xmlns:a="http://schemas.openxmlformats.org/drawingml/2006/main">
            <a:r>
              <a:t>Ne zaman işe yarar: Olay gelişini otomatik görev değişimi sanma.</a:t>
            </a:r>
          </a:p>
          <a:p xmlns:a="http://schemas.openxmlformats.org/drawingml/2006/main">
            <a:r>
              <a:t/>
            </a:r>
          </a:p>
          <a:p xmlns:a="http://schemas.openxmlformats.org/drawingml/2006/main">
            <a:r>
              <a:t>Özgün Lecture02 PDF sayfaları: 12, 13, 14, 15</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Buradaki response ilk CPU hizmetidir, kullanıcının ilk ekranda gördüğü sonuç değil. Waiting sadece ready olup yürümeyen süredir; I/O varsa T−B blocked zamanı da içerir ve waiting formülü değişir. Bir ortalama fairness veya deadline garantisi vermez.</a:t>
            </a:r>
          </a:p>
          <a:p xmlns:a="http://schemas.openxmlformats.org/drawingml/2006/main">
            <a:r>
              <a:t/>
            </a:r>
          </a:p>
          <a:p xmlns:a="http://schemas.openxmlformats.org/drawingml/2006/main">
            <a:r>
              <a:t>SORUNUN YANITI: T=10, W=6, R=3. Tek CPU burst ve I/O yok varsayımıyla.</a:t>
            </a:r>
          </a:p>
          <a:p xmlns:a="http://schemas.openxmlformats.org/drawingml/2006/main">
            <a:r>
              <a:t/>
            </a:r>
          </a:p>
          <a:p xmlns:a="http://schemas.openxmlformats.org/drawingml/2006/main">
            <a:r>
              <a:t>GERÇEK HAYAT: API gecikmesi</a:t>
            </a:r>
          </a:p>
          <a:p xmlns:a="http://schemas.openxmlformats.org/drawingml/2006/main">
            <a:r>
              <a:t>CPU ilk kez hemen çalışsa da yanıt geç gelebilir.</a:t>
            </a:r>
          </a:p>
          <a:p xmlns:a="http://schemas.openxmlformats.org/drawingml/2006/main">
            <a:r>
              <a:t>Mekanizma: First-service response ile uçtan uca latency aynı değildir.</a:t>
            </a:r>
          </a:p>
          <a:p xmlns:a="http://schemas.openxmlformats.org/drawingml/2006/main">
            <a:r>
              <a:t>Ne zaman işe yarar: Metrik ismini ve ölçüm sınırını kaydet.</a:t>
            </a:r>
          </a:p>
          <a:p xmlns:a="http://schemas.openxmlformats.org/drawingml/2006/main">
            <a:r>
              <a:t/>
            </a:r>
          </a:p>
          <a:p xmlns:a="http://schemas.openxmlformats.org/drawingml/2006/main">
            <a:r>
              <a:t>Özgün Lecture02 PDF sayfaları: 16, 17</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mantıksal CPU; tek CPU burst; I/O yok; burst uzunlukları bu modelde tam biliniyor. Tüm zamanlar soyut birim, [başlangıç,bitiş) aralıkları. İlk izlerde overhead=0. Eş seçimlerde önce arrival, sonra P1/P2/P3/P4 giriş sırası. Küçük priority sayısı daha yüksek öncelik. RR endpoint kuralını ayrıca tanımlayacağız.</a:t>
            </a:r>
          </a:p>
          <a:p xmlns:a="http://schemas.openxmlformats.org/drawingml/2006/main">
            <a:r>
              <a:t/>
            </a:r>
          </a:p>
          <a:p xmlns:a="http://schemas.openxmlformats.org/drawingml/2006/main">
            <a:r>
              <a:t>SORUNUN YANITI: Hayır. Work-conserving SJF yalnız o anda hazır işleri seçer: t=0’da sadece P1 vardır.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18, 27</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İz: P1 0–8 → P2 8–12 → P3 12–21 → P4 21–26</a:t>
            </a:r>
          </a:p>
          <a:p xmlns:a="http://schemas.openxmlformats.org/drawingml/2006/main">
            <a:r>
              <a:t/>
            </a:r>
          </a:p>
          <a:p xmlns:a="http://schemas.openxmlformats.org/drawingml/2006/main">
            <a:r>
              <a:t>FCFS nonpreemptive. P2 t=1’de gelse de P1 burst bitene kadar çalışır. W ortalaması 35/4=8.75; T=61/4=15.25; R=8.75. Hepsi bitene kadar 26 useful CPU birimi gerekir. Convoy uzun CPU burst arkasında kısa işlerin birikmesidir; tam CPU/I/O convoy etkisi için richer workload gerekir.</a:t>
            </a:r>
          </a:p>
          <a:p xmlns:a="http://schemas.openxmlformats.org/drawingml/2006/main">
            <a:r>
              <a:t/>
            </a:r>
          </a:p>
          <a:p xmlns:a="http://schemas.openxmlformats.org/drawingml/2006/main">
            <a:r>
              <a:t>SORUNUN YANITI: Arrival 3, start21: 18 birim ready waiting.</a:t>
            </a:r>
          </a:p>
          <a:p xmlns:a="http://schemas.openxmlformats.org/drawingml/2006/main">
            <a:r>
              <a:t/>
            </a:r>
          </a:p>
          <a:p xmlns:a="http://schemas.openxmlformats.org/drawingml/2006/main">
            <a:r>
              <a:t>GERÇEK HAYAT: Tek worker’da iş kuyruğu</a:t>
            </a:r>
          </a:p>
          <a:p xmlns:a="http://schemas.openxmlformats.org/drawingml/2006/main">
            <a:r>
              <a:t>Uzun rapor kısa işi arkasında tutar.</a:t>
            </a:r>
          </a:p>
          <a:p xmlns:a="http://schemas.openxmlformats.org/drawingml/2006/main">
            <a:r>
              <a:t>Mekanizma: Nonpreemptive sıra başındaki uzun iş convoy yaratabilir.</a:t>
            </a:r>
          </a:p>
          <a:p xmlns:a="http://schemas.openxmlformats.org/drawingml/2006/main">
            <a:r>
              <a:t>Ne zaman işe yarar: Ortalama yanında en uzun beklemeyi incele.</a:t>
            </a:r>
          </a:p>
          <a:p xmlns:a="http://schemas.openxmlformats.org/drawingml/2006/main">
            <a:r>
              <a:t/>
            </a:r>
          </a:p>
          <a:p xmlns:a="http://schemas.openxmlformats.org/drawingml/2006/main">
            <a:r>
              <a:t>Özgün Lecture02 PDF sayfaları: 19, 20, 21</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İz: P1 0–8 → P2 8–12 → P4 12–17 → P3 17–26</a:t>
            </a:r>
          </a:p>
          <a:p xmlns:a="http://schemas.openxmlformats.org/drawingml/2006/main">
            <a:r>
              <a:t/>
            </a:r>
          </a:p>
          <a:p xmlns:a="http://schemas.openxmlformats.org/drawingml/2006/main">
            <a:r>
              <a:t>SJF nonpreemptive; t=1’de P1 durmaz. t=8’de hazır burst’ler 4,9,5 olduğundan P2 seçilir. Mean W=7.75,T=14.25,R=7.75. Optimal mean waiting iddiası eşzamanlı hazır sabit işler, bilinen burst ve sıfır overhead içindir; arbitrary future arrivals için genellenmez. x≤y komşu işler birlikte hazırsa x önce total waiting’i artırmaz.</a:t>
            </a:r>
          </a:p>
          <a:p xmlns:a="http://schemas.openxmlformats.org/drawingml/2006/main">
            <a:r>
              <a:t/>
            </a:r>
          </a:p>
          <a:p xmlns:a="http://schemas.openxmlformats.org/drawingml/2006/main">
            <a:r>
              <a:t>SORUNUN YANITI: Kısa P4 öne geçti: P3 W=10’dan15’e çıktı. Ortalama iyileşmesi her işi iyileştirmez.</a:t>
            </a:r>
          </a:p>
          <a:p xmlns:a="http://schemas.openxmlformats.org/drawingml/2006/main">
            <a:r>
              <a:t/>
            </a:r>
          </a:p>
          <a:p xmlns:a="http://schemas.openxmlformats.org/drawingml/2006/main">
            <a:r>
              <a:t>GERÇEK HAYAT: Hızlı kasa</a:t>
            </a:r>
          </a:p>
          <a:p xmlns:a="http://schemas.openxmlformats.org/drawingml/2006/main">
            <a:r>
              <a:t>Kısa talepler için hızlı sıra bulunur.</a:t>
            </a:r>
          </a:p>
          <a:p xmlns:a="http://schemas.openxmlformats.org/drawingml/2006/main">
            <a:r>
              <a:t>Mekanizma: Kısa service demand önce gelirse mean waiting düşebilir.</a:t>
            </a:r>
          </a:p>
          <a:p xmlns:a="http://schemas.openxmlformats.org/drawingml/2006/main">
            <a:r>
              <a:t>Ne zaman işe yarar: Burst tahmini ve uzun işlerin ilerleme hakkını sorgula.</a:t>
            </a:r>
          </a:p>
          <a:p xmlns:a="http://schemas.openxmlformats.org/drawingml/2006/main">
            <a:r>
              <a:t/>
            </a:r>
          </a:p>
          <a:p xmlns:a="http://schemas.openxmlformats.org/drawingml/2006/main">
            <a:r>
              <a:t>Özgün Lecture02 PDF sayfaları: 22, 23, 24</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Büyük α yeni ölçüme hızlı tepki verir, küçük α dalgalanmayı daha çok düzler. α=0 yeni veriyi yok sayar; α=1 sadece son burst’ü kullanır. Uygulamanın toplam ömrünü değil next CPU burst’ü tahmin ediyoruz. Tahmin ne gelecek bilgisi ne WCET garantisidir.</a:t>
            </a:r>
          </a:p>
          <a:p xmlns:a="http://schemas.openxmlformats.org/drawingml/2006/main">
            <a:r>
              <a:t/>
            </a:r>
          </a:p>
          <a:p xmlns:a="http://schemas.openxmlformats.org/drawingml/2006/main">
            <a:r>
              <a:t>SORUNUN YANITI: Yeni tahmin4 olur; eski10 veya8 hesaba katılmaz.</a:t>
            </a:r>
          </a:p>
          <a:p xmlns:a="http://schemas.openxmlformats.org/drawingml/2006/main">
            <a:r>
              <a:t/>
            </a:r>
          </a:p>
          <a:p xmlns:a="http://schemas.openxmlformats.org/drawingml/2006/main">
            <a:r>
              <a:t>GERÇEK HAYAT: Değişen uygulama yükü</a:t>
            </a:r>
          </a:p>
          <a:p xmlns:a="http://schemas.openxmlformats.org/drawingml/2006/main">
            <a:r>
              <a:t>Editör idle, indexing ve input arasında farklı burst üretir.</a:t>
            </a:r>
          </a:p>
          <a:p xmlns:a="http://schemas.openxmlformats.org/drawingml/2006/main">
            <a:r>
              <a:t>Mekanizma: Exponential averaging geçmişi ağırlıklandırır.</a:t>
            </a:r>
          </a:p>
          <a:p xmlns:a="http://schemas.openxmlformats.org/drawingml/2006/main">
            <a:r>
              <a:t>Ne zaman işe yarar: Uygulamayı kalıcı CPU-bound etiketiyle açıklama.</a:t>
            </a:r>
          </a:p>
          <a:p xmlns:a="http://schemas.openxmlformats.org/drawingml/2006/main">
            <a:r>
              <a:t/>
            </a:r>
          </a:p>
          <a:p xmlns:a="http://schemas.openxmlformats.org/drawingml/2006/main">
            <a:r>
              <a:t>Özgün Lecture02 PDF sayfaları: 25, 26</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SRTF preemptive. Original burst yerine kalan demand karşılaştırılır. Exact remaining tie varsa current task devam eder; diğer ties arrival/input order. Arrival’dan önce hiçbir iş çalışamaz. Sıfır overhead yalnız model varsayımıdır.</a:t>
            </a:r>
          </a:p>
          <a:p xmlns:a="http://schemas.openxmlformats.org/drawingml/2006/main">
            <a:r>
              <a:t/>
            </a:r>
          </a:p>
          <a:p xmlns:a="http://schemas.openxmlformats.org/drawingml/2006/main">
            <a:r>
              <a:t>SORUNUN YANITI: Hayır: P1 kalan7; P2 kalan2; yeni P4=5. P2 devam eder.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27, 28</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SRTF ortalama W=6.5, T=13, R=4.25</a:t>
            </a:r>
          </a:p>
          <a:p xmlns:a="http://schemas.openxmlformats.org/drawingml/2006/main">
            <a:r>
              <a:t/>
            </a:r>
          </a:p>
          <a:p xmlns:a="http://schemas.openxmlformats.org/drawingml/2006/main">
            <a:r>
              <a:t>P1 t=0’da hizmet alır, ancak1–10 arasında9 birim ready bekler. R=0 olduğu halde W=9. P3 ilk hizmeti17’de alır ve A=2 olduğundan R=15. “100% busy” bu beklemelerin düşük olduğunu göstermez.</a:t>
            </a:r>
          </a:p>
          <a:p xmlns:a="http://schemas.openxmlformats.org/drawingml/2006/main">
            <a:r>
              <a:t/>
            </a:r>
          </a:p>
          <a:p xmlns:a="http://schemas.openxmlformats.org/drawingml/2006/main">
            <a:r>
              <a:t>SORUNUN YANITI: Hayır. Preemption sonrası ready bekleme response’a eklenmez, waiting’e eklenir.</a:t>
            </a:r>
          </a:p>
          <a:p xmlns:a="http://schemas.openxmlformats.org/drawingml/2006/main">
            <a:r>
              <a:t/>
            </a:r>
          </a:p>
          <a:p xmlns:a="http://schemas.openxmlformats.org/drawingml/2006/main">
            <a:r>
              <a:t>GERÇEK HAYAT: Başladı ama bitmedi</a:t>
            </a:r>
          </a:p>
          <a:p xmlns:a="http://schemas.openxmlformats.org/drawingml/2006/main">
            <a:r>
              <a:t>Progress göstergesi hemen belirir, iş sonradan çok bekler.</a:t>
            </a:r>
          </a:p>
          <a:p xmlns:a="http://schemas.openxmlformats.org/drawingml/2006/main">
            <a:r>
              <a:t>Mekanizma: İlk hizmet sonraki ready beklemeyi silmez.</a:t>
            </a:r>
          </a:p>
          <a:p xmlns:a="http://schemas.openxmlformats.org/drawingml/2006/main">
            <a:r>
              <a:t>Ne zaman işe yarar: Başlangıç ve tamamlanma ölçümlerini birlikte tut.</a:t>
            </a:r>
          </a:p>
          <a:p xmlns:a="http://schemas.openxmlformats.org/drawingml/2006/main">
            <a:r>
              <a:t/>
            </a:r>
          </a:p>
          <a:p xmlns:a="http://schemas.openxmlformats.org/drawingml/2006/main">
            <a:r>
              <a:t>Özgün Lecture02 PDF sayfaları: 29, 35</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Quantum q=2; FIFO ready queue</a:t>
            </a:r>
          </a:p>
          <a:p xmlns:a="http://schemas.openxmlformats.org/drawingml/2006/main">
            <a:r>
              <a:t>Aralık sonundaki arrivals önce kuyruğa eklenir</a:t>
            </a:r>
          </a:p>
          <a:p xmlns:a="http://schemas.openxmlformats.org/drawingml/2006/main">
            <a:r>
              <a:t>Bitmeyen current sonra kuyruğun sonuna döner</a:t>
            </a:r>
          </a:p>
          <a:p xmlns:a="http://schemas.openxmlformats.org/drawingml/2006/main">
            <a:r>
              <a:t/>
            </a:r>
          </a:p>
          <a:p xmlns:a="http://schemas.openxmlformats.org/drawingml/2006/main">
            <a:r>
              <a:t>Initial ties input order. Quantumdan önce biten iş hemen bırakır. Arrival quantum ortasında current’ı kesmez. q süresi useful CPU süresidir; overhead hariç. t=2’de P2 zaten ready, P3 yeni gelir, sonra P1 requeue edilir: sıra P2,P3,P1. Bu kural başka textbook kuralından farklıysa sonuç da değişir.</a:t>
            </a:r>
          </a:p>
          <a:p xmlns:a="http://schemas.openxmlformats.org/drawingml/2006/main">
            <a:r>
              <a:t/>
            </a:r>
          </a:p>
          <a:p xmlns:a="http://schemas.openxmlformats.org/drawingml/2006/main">
            <a:r>
              <a:t>SORUNUN YANITI: Hayır. Endpoint tie ordering trace ve metrikleri değiştirebilir; doğru karşılaştırma için kuralı yaz.</a:t>
            </a:r>
          </a:p>
          <a:p xmlns:a="http://schemas.openxmlformats.org/drawingml/2006/main">
            <a:r>
              <a:t/>
            </a:r>
          </a:p>
          <a:p xmlns:a="http://schemas.openxmlformats.org/drawingml/2006/main">
            <a:r>
              <a:t>GERÇEK HAYAT: Paylaşılan etkileşim</a:t>
            </a:r>
          </a:p>
          <a:p xmlns:a="http://schemas.openxmlformats.org/drawingml/2006/main">
            <a:r>
              <a:t>Birçok kullanıcı sırayla kısa CPU fırsatı alır.</a:t>
            </a:r>
          </a:p>
          <a:p xmlns:a="http://schemas.openxmlformats.org/drawingml/2006/main">
            <a:r>
              <a:t>Mekanizma: Time slicing ilk hizmet gecikmesini sınırlamaya yardımcı olur.</a:t>
            </a:r>
          </a:p>
          <a:p xmlns:a="http://schemas.openxmlformats.org/drawingml/2006/main">
            <a:r>
              <a:t>Ne zaman işe yarar: Garantinin fixed peer set ve zero overhead varsayımlarını belirt.</a:t>
            </a:r>
          </a:p>
          <a:p xmlns:a="http://schemas.openxmlformats.org/drawingml/2006/main">
            <a:r>
              <a:t/>
            </a:r>
          </a:p>
          <a:p xmlns:a="http://schemas.openxmlformats.org/drawingml/2006/main">
            <a:r>
              <a:t>Özgün Lecture02 PDF sayfaları: 30, 31</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 P3 bölümü iki quantum parçasıdır:23–25 ve25–26. Başka runnable iş kalmayınca arada farklı task switch yok; çizim birleştirir. Tüm useful burst toplamı26. Her slice sonunda remaining ve queue’yu yaz. Varışları 1,2,3’te işaretle.</a:t>
            </a:r>
          </a:p>
          <a:p xmlns:a="http://schemas.openxmlformats.org/drawingml/2006/main">
            <a:r>
              <a:t/>
            </a:r>
          </a:p>
          <a:p xmlns:a="http://schemas.openxmlformats.org/drawingml/2006/main">
            <a:r>
              <a:t>SORUNUN YANITI: t=3’te P2’nin quantum’u sürüyor. Queue’da P3 ve P1 önce: P4 ancak8’de seçilir.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30, 31, 34</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W=12.75, T=19.25, R=2</a:t>
            </a:r>
          </a:p>
          <a:p xmlns:a="http://schemas.openxmlformats.org/drawingml/2006/main">
            <a:r>
              <a:t/>
            </a:r>
          </a:p>
          <a:p xmlns:a="http://schemas.openxmlformats.org/drawingml/2006/main">
            <a:r>
              <a:t>RR bu veri kümesinde first-service response mean’i iyileştirirken waiting ve turnaround mean’lerini büyütür. Her job5 birim içinde ilk CPU hizmetini alır; P3 yine15 birim toplam waiting yaşar. RR her workload için throughput veya turnaround kazandırmaz.</a:t>
            </a:r>
          </a:p>
          <a:p xmlns:a="http://schemas.openxmlformats.org/drawingml/2006/main">
            <a:r>
              <a:t/>
            </a:r>
          </a:p>
          <a:p xmlns:a="http://schemas.openxmlformats.org/drawingml/2006/main">
            <a:r>
              <a:t>SORUNUN YANITI: R ortalaması hedefse RR2 &lt;4.25. T ortalaması hedefse SRTF13 &lt;19.25. Deadline/fairness için bu iki ortalama yetmez.</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31, 34, 35</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Yukarıdaki karşılaştırma aynı arrival workload, overhead0. Saturated alternating workload’da q=4ms,s=0.2ms useful fraction≈q/(q+s)=95.24%. Bu approximation her trace’in utilization’ı değildir. Lab RR --switch-cost1 farklı task geçişine1 birim ekler; initial/idle dispatch ve aynı task devamına eklemez. Dispatch sırasında seçilen job rezerve kalır, arrivals kuyruğa girer.</a:t>
            </a:r>
          </a:p>
          <a:p xmlns:a="http://schemas.openxmlformats.org/drawingml/2006/main">
            <a:r>
              <a:t/>
            </a:r>
          </a:p>
          <a:p xmlns:a="http://schemas.openxmlformats.org/drawingml/2006/main">
            <a:r>
              <a:t>SORUNUN YANITI: Hayır. Aynı işi devam ettirebilir; her quantum boundary’yi task switch diye sayma.</a:t>
            </a:r>
          </a:p>
          <a:p xmlns:a="http://schemas.openxmlformats.org/drawingml/2006/main">
            <a:r>
              <a:t/>
            </a:r>
          </a:p>
          <a:p xmlns:a="http://schemas.openxmlformats.org/drawingml/2006/main">
            <a:r>
              <a:t>GERÇEK HAYAT: Çok küçük time slice</a:t>
            </a:r>
          </a:p>
          <a:p xmlns:a="http://schemas.openxmlformats.org/drawingml/2006/main">
            <a:r>
              <a:t>Kısa dilimler daha sık transfer potansiyeli yaratır.</a:t>
            </a:r>
          </a:p>
          <a:p xmlns:a="http://schemas.openxmlformats.org/drawingml/2006/main">
            <a:r>
              <a:t>Mekanizma: Switch work useful execution’a ek maliyet getirir.</a:t>
            </a:r>
          </a:p>
          <a:p xmlns:a="http://schemas.openxmlformats.org/drawingml/2006/main">
            <a:r>
              <a:t>Ne zaman işe yarar: Latency hedefi ile overhead arasında workload’a göre denge kur.</a:t>
            </a:r>
          </a:p>
          <a:p xmlns:a="http://schemas.openxmlformats.org/drawingml/2006/main">
            <a:r>
              <a:t/>
            </a:r>
          </a:p>
          <a:p xmlns:a="http://schemas.openxmlformats.org/drawingml/2006/main">
            <a:r>
              <a:t>Özgün Lecture02 PDF sayfaları: 32, 33, 34</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Nonpreemptive iz: P1 0–8, P2 8–12, P4 12–17, P3 17–26</a:t>
            </a:r>
          </a:p>
          <a:p xmlns:a="http://schemas.openxmlformats.org/drawingml/2006/main">
            <a:r>
              <a:t/>
            </a:r>
          </a:p>
          <a:p xmlns:a="http://schemas.openxmlformats.org/drawingml/2006/main">
            <a:r>
              <a:t>Ortak dataset ve küçük sayı yüksek priority. P1 t=0’da tek ready iş; daha önemli P2 gelince nonpreemptive politikada bırakmaz. Sonuç burada SJF ile aynı; algoritmalar eş anlamlı değil. Preemptive priority farklı trace üretir. Eş priorities arrival/input order. Linux RT API’sinde yüksek sayı yüksek RT priority: sayı yönünü taşımayın.</a:t>
            </a:r>
          </a:p>
          <a:p xmlns:a="http://schemas.openxmlformats.org/drawingml/2006/main">
            <a:r>
              <a:t/>
            </a:r>
          </a:p>
          <a:p xmlns:a="http://schemas.openxmlformats.org/drawingml/2006/main">
            <a:r>
              <a:t>SORUNUN YANITI: Bu örnek nonpreemptive. Priority ile preemption iki ayrı karar.</a:t>
            </a:r>
          </a:p>
          <a:p xmlns:a="http://schemas.openxmlformats.org/drawingml/2006/main">
            <a:r>
              <a:t/>
            </a:r>
          </a:p>
          <a:p xmlns:a="http://schemas.openxmlformats.org/drawingml/2006/main">
            <a:r>
              <a:t>GERÇEK HAYAT: Önemli işler</a:t>
            </a:r>
          </a:p>
          <a:p xmlns:a="http://schemas.openxmlformats.org/drawingml/2006/main">
            <a:r>
              <a:t>Servis sınıfı öncelik sırasını etkiler.</a:t>
            </a:r>
          </a:p>
          <a:p xmlns:a="http://schemas.openxmlformats.org/drawingml/2006/main">
            <a:r>
              <a:t>Mekanizma: Urgency ve preemption rule ayrı belirtilir.</a:t>
            </a:r>
          </a:p>
          <a:p xmlns:a="http://schemas.openxmlformats.org/drawingml/2006/main">
            <a:r>
              <a:t>Ne zaman işe yarar: Nice, RT priority ve classroom sayı yönlerini karıştırma.</a:t>
            </a:r>
          </a:p>
          <a:p xmlns:a="http://schemas.openxmlformats.org/drawingml/2006/main">
            <a:r>
              <a:t/>
            </a:r>
          </a:p>
          <a:p xmlns:a="http://schemas.openxmlformats.org/drawingml/2006/main">
            <a:r>
              <a:t>Özgün Lecture02 PDF sayfaları: 37, 38</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 queue içindeki RR, daha üst queue hep kazanıyorsa alt queue starvation’ını önlemez. Aging’in gerçek guarantee’si artış hızı,tie ve admitted workload’a bağlı. Uzun sonlu waiting starvation kanıtı değildir; indefinite postponement mekanizmasını göster.</a:t>
            </a:r>
          </a:p>
          <a:p xmlns:a="http://schemas.openxmlformats.org/drawingml/2006/main">
            <a:r>
              <a:t/>
            </a:r>
          </a:p>
          <a:p xmlns:a="http://schemas.openxmlformats.org/drawingml/2006/main">
            <a:r>
              <a:t>SORUNUN YANITI: Hayır. Queue’lar arasında strict priority düşük queue’yu sonsuza dek engelleyebilir.</a:t>
            </a:r>
          </a:p>
          <a:p xmlns:a="http://schemas.openxmlformats.org/drawingml/2006/main">
            <a:r>
              <a:t/>
            </a:r>
          </a:p>
          <a:p xmlns:a="http://schemas.openxmlformats.org/drawingml/2006/main">
            <a:r>
              <a:t>GERÇEK HAYAT: Düşük sınıf batch işi</a:t>
            </a:r>
          </a:p>
          <a:p xmlns:a="http://schemas.openxmlformats.org/drawingml/2006/main">
            <a:r>
              <a:t>İnteraktif yük bitmezse batch ertelenir.</a:t>
            </a:r>
          </a:p>
          <a:p xmlns:a="http://schemas.openxmlformats.org/drawingml/2006/main">
            <a:r>
              <a:t>Mekanizma: Strict priority class seçimi local RR fairness’ini aşar.</a:t>
            </a:r>
          </a:p>
          <a:p xmlns:a="http://schemas.openxmlformats.org/drawingml/2006/main">
            <a:r>
              <a:t>Ne zaman işe yarar: Queue içinde ve queue arasında fairness’i ayrı değerlendir.</a:t>
            </a:r>
          </a:p>
          <a:p xmlns:a="http://schemas.openxmlformats.org/drawingml/2006/main">
            <a:r>
              <a:t/>
            </a:r>
          </a:p>
          <a:p xmlns:a="http://schemas.openxmlformats.org/drawingml/2006/main">
            <a:r>
              <a:t>Özgün Lecture02 PDF sayfaları: 39, 40</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complete scheduler değildir: I/O return,promotion,boost ve total allotment kuralları gerekir. Job quantum bitmeden yield yaparak demotion’ı atlatabilirse politika gaming’e açık. Level başına toplam service accounting yardımcı olur. Queue movement useful demand’i artırmaz; waiting ve overhead eklenebilir.</a:t>
            </a:r>
          </a:p>
          <a:p xmlns:a="http://schemas.openxmlformats.org/drawingml/2006/main">
            <a:r>
              <a:t/>
            </a:r>
          </a:p>
          <a:p xmlns:a="http://schemas.openxmlformats.org/drawingml/2006/main">
            <a:r>
              <a:t>SORUNUN YANITI: Per-run demotion böyle açık bırakılırsa kalabilir. Toplam allotment sayımı ve belirtilmiş boost/I/O kuralları gerekir.</a:t>
            </a:r>
          </a:p>
          <a:p xmlns:a="http://schemas.openxmlformats.org/drawingml/2006/main">
            <a:r>
              <a:t/>
            </a:r>
          </a:p>
          <a:p xmlns:a="http://schemas.openxmlformats.org/drawingml/2006/main">
            <a:r>
              <a:t>GERÇEK HAYAT: Değişen iş karakteri</a:t>
            </a:r>
          </a:p>
          <a:p xmlns:a="http://schemas.openxmlformats.org/drawingml/2006/main">
            <a:r>
              <a:t>Kısa interactive burst ile uzun hesaplama ayrılır.</a:t>
            </a:r>
          </a:p>
          <a:p xmlns:a="http://schemas.openxmlformats.org/drawingml/2006/main">
            <a:r>
              <a:t>Mekanizma: Feedback gerçek service history’ye göre sınıf değiştirir.</a:t>
            </a:r>
          </a:p>
          <a:p xmlns:a="http://schemas.openxmlformats.org/drawingml/2006/main">
            <a:r>
              <a:t>Ne zaman işe yarar: Tam policy için eksik kuralları görünür kıl.</a:t>
            </a:r>
          </a:p>
          <a:p xmlns:a="http://schemas.openxmlformats.org/drawingml/2006/main">
            <a:r>
              <a:t/>
            </a:r>
          </a:p>
          <a:p xmlns:a="http://schemas.openxmlformats.org/drawingml/2006/main">
            <a:r>
              <a:t>Özgün Lecture02 PDF sayfaları: 41, 42</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supported runnable threads CPU için yarışır; runtime kendi user-level task’larını ayrıca seçebilir. Bir process’in çok thread’i farklı allowed logical CPU’larda yürüyebilir. Bir thread tek anda bir logical CPU’da yürür. Migration dengeyi artırırken warm cache’i kaybettirebilir.</a:t>
            </a:r>
          </a:p>
          <a:p xmlns:a="http://schemas.openxmlformats.org/drawingml/2006/main">
            <a:r>
              <a:t/>
            </a:r>
          </a:p>
          <a:p xmlns:a="http://schemas.openxmlformats.org/drawingml/2006/main">
            <a:r>
              <a:t>SORUNUN YANITI: Hayır; iki ayrı runnable thread parallel olabilir. Runtime ve VM host scheduling ek katmanlar sunabilir.</a:t>
            </a:r>
          </a:p>
          <a:p xmlns:a="http://schemas.openxmlformats.org/drawingml/2006/main">
            <a:r>
              <a:t/>
            </a:r>
          </a:p>
          <a:p xmlns:a="http://schemas.openxmlformats.org/drawingml/2006/main">
            <a:r>
              <a:t>GERÇEK HAYAT: Build worker havuzu</a:t>
            </a:r>
          </a:p>
          <a:p xmlns:a="http://schemas.openxmlformats.org/drawingml/2006/main">
            <a:r>
              <a:t>Birden çok independent compile işi CPU’lara yayılır.</a:t>
            </a:r>
          </a:p>
          <a:p xmlns:a="http://schemas.openxmlformats.org/drawingml/2006/main">
            <a:r>
              <a:t>Mekanizma: Ready work placement ve balancing önemlidir.</a:t>
            </a:r>
          </a:p>
          <a:p xmlns:a="http://schemas.openxmlformats.org/drawingml/2006/main">
            <a:r>
              <a:t>Ne zaman işe yarar: Tek shared queue’nun contention’ını ve worker demand’ini incele.</a:t>
            </a:r>
          </a:p>
          <a:p xmlns:a="http://schemas.openxmlformats.org/drawingml/2006/main">
            <a:r>
              <a:t/>
            </a:r>
          </a:p>
          <a:p xmlns:a="http://schemas.openxmlformats.org/drawingml/2006/main">
            <a:r>
              <a:t>Özgün Lecture02 PDF sayfaları: 43, 44</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SMT thread’leri fiziksel execution kaynaklarını paylaşır</a:t>
            </a:r>
          </a:p>
          <a:p xmlns:a="http://schemas.openxmlformats.org/drawingml/2006/main">
            <a:r>
              <a:t>Affinity allowed CPU kümesini sınırlar</a:t>
            </a:r>
          </a:p>
          <a:p xmlns:a="http://schemas.openxmlformats.org/drawingml/2006/main">
            <a:r>
              <a:t>NUMA’da memory placement migration maliyetini etkiler</a:t>
            </a:r>
          </a:p>
          <a:p xmlns:a="http://schemas.openxmlformats.org/drawingml/2006/main">
            <a:r>
              <a:t/>
            </a:r>
          </a:p>
          <a:p xmlns:a="http://schemas.openxmlformats.org/drawingml/2006/main">
            <a:r>
              <a:t>Affinity CPU rezervasyonu değildir; başka task ve interrupt engellenmez. SMT throughput iki bağımsız physical core hızını garanti etmez. Balance, cache locality ve remote memory erişimi arasında tradeoff vardır. Sanal makinede host vCPU hizmeti de elapsed time’ı etkiler.</a:t>
            </a:r>
          </a:p>
          <a:p xmlns:a="http://schemas.openxmlformats.org/drawingml/2006/main">
            <a:r>
              <a:t/>
            </a:r>
          </a:p>
          <a:p xmlns:a="http://schemas.openxmlformats.org/drawingml/2006/main">
            <a:r>
              <a:t>SORUNUN YANITI: Hayır. Nerede çalışabileceğini sınırlar; exclusive kullanım vermez.</a:t>
            </a:r>
          </a:p>
          <a:p xmlns:a="http://schemas.openxmlformats.org/drawingml/2006/main">
            <a:r>
              <a:t/>
            </a:r>
          </a:p>
          <a:p xmlns:a="http://schemas.openxmlformats.org/drawingml/2006/main">
            <a:r>
              <a:t>GERÇEK HAYAT: CPU’ya sabitlenmiş worker</a:t>
            </a:r>
          </a:p>
          <a:p xmlns:a="http://schemas.openxmlformats.org/drawingml/2006/main">
            <a:r>
              <a:t>Aynı allowed CPU’da iki iş yarışır.</a:t>
            </a:r>
          </a:p>
          <a:p xmlns:a="http://schemas.openxmlformats.org/drawingml/2006/main">
            <a:r>
              <a:t>Mekanizma: Placement constraint rekabeti görünür yapar, ortadan kaldırmaz.</a:t>
            </a:r>
          </a:p>
          <a:p xmlns:a="http://schemas.openxmlformats.org/drawingml/2006/main">
            <a:r>
              <a:t>Ne zaman işe yarar: Benchmark raporuna topology,VM ve affinity’yi ekle.</a:t>
            </a:r>
          </a:p>
          <a:p xmlns:a="http://schemas.openxmlformats.org/drawingml/2006/main">
            <a:r>
              <a:t/>
            </a:r>
          </a:p>
          <a:p xmlns:a="http://schemas.openxmlformats.org/drawingml/2006/main">
            <a:r>
              <a:t>Özgün Lecture02 PDF sayfaları: 45, 46</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Hard/soft cihazın hızlı olmasıyla değil requirement ve consequence ile belirlenir. Güvenlik-control örneği her cihazın hard RT olduğunu iddia etmez. Mean execution küçük olsa bile worst-case delay bilinmeyebilir. Interrupt latency, handler,nonpreemptible section ve resource blocking deadline’a eklenir.</a:t>
            </a:r>
          </a:p>
          <a:p xmlns:a="http://schemas.openxmlformats.org/drawingml/2006/main">
            <a:r>
              <a:t/>
            </a:r>
          </a:p>
          <a:p xmlns:a="http://schemas.openxmlformats.org/drawingml/2006/main">
            <a:r>
              <a:t>SORUNUN YANITI: Hayır. Gerekli deadline için execution ve tüm interference bound’ları gerekir.</a:t>
            </a:r>
          </a:p>
          <a:p xmlns:a="http://schemas.openxmlformats.org/drawingml/2006/main">
            <a:r>
              <a:t/>
            </a:r>
          </a:p>
          <a:p xmlns:a="http://schemas.openxmlformats.org/drawingml/2006/main">
            <a:r>
              <a:t>GERÇEK HAYAT: Ses tamponu ve kontrol döngüsü</a:t>
            </a:r>
          </a:p>
          <a:p xmlns:a="http://schemas.openxmlformats.org/drawingml/2006/main">
            <a:r>
              <a:t>Ses geç kalırsa dropout olabilir; bazı kontrol deadline’ları correctness gereğidir.</a:t>
            </a:r>
          </a:p>
          <a:p xmlns:a="http://schemas.openxmlformats.org/drawingml/2006/main">
            <a:r>
              <a:t>Mekanizma: Sonucun zamanında gelmesi requirement’a göre değerlidir.</a:t>
            </a:r>
          </a:p>
          <a:p xmlns:a="http://schemas.openxmlformats.org/drawingml/2006/main">
            <a:r>
              <a:t>Ne zaman işe yarar: “Real time” sözcüğünü “hızlı” yerine deadline modeliyle açıkla.</a:t>
            </a:r>
          </a:p>
          <a:p xmlns:a="http://schemas.openxmlformats.org/drawingml/2006/main">
            <a:r>
              <a:t/>
            </a:r>
          </a:p>
          <a:p xmlns:a="http://schemas.openxmlformats.org/drawingml/2006/main">
            <a:r>
              <a:t>Özgün Lecture02 PDF sayfaları: 47, 49</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RM/EDF örnekleri ms: tek processor; independent periodic tasks; ilk release0; D=T; fully preemptible; zero blocking,jitter,overhead. C geçerli worst-case bound, observed average değil. U=Σ C_i/T_i. Bu varsayımlar theorem sınırıdır, deployment ölçümü değildir.</a:t>
            </a:r>
          </a:p>
          <a:p xmlns:a="http://schemas.openxmlformats.org/drawingml/2006/main">
            <a:r>
              <a:t/>
            </a:r>
          </a:p>
          <a:p xmlns:a="http://schemas.openxmlformats.org/drawingml/2006/main">
            <a:r>
              <a:t>SORUNUN YANITI: d=150. Absolute deadline bir önceki job’ın50 deadline’ı değildir.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48, 50</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İz: P1 0–20; P2 20–50; P1 50–70; P2 70–75</a:t>
            </a:r>
          </a:p>
          <a:p xmlns:a="http://schemas.openxmlformats.org/drawingml/2006/main">
            <a:r>
              <a:t/>
            </a:r>
          </a:p>
          <a:p xmlns:a="http://schemas.openxmlformats.org/drawingml/2006/main">
            <a:r>
              <a:t>Rate-monotonic fixed priority task period’a göre: P1 her job’ında yüksek. P2 ilk job deadline100,completion75. n-task sufficient bound U≤n(2^(1/n)−1). n=2 için≈0.8284;0.75 geçer. Varsayımlar önceki modelle aynıdır.</a:t>
            </a:r>
          </a:p>
          <a:p xmlns:a="http://schemas.openxmlformats.org/drawingml/2006/main">
            <a:r>
              <a:t/>
            </a:r>
          </a:p>
          <a:p xmlns:a="http://schemas.openxmlformats.org/drawingml/2006/main">
            <a:r>
              <a:t>SORUNUN YANITI: RM remaining değil period’a göre priority verir. Yeni P1 period50 daha yüksek.</a:t>
            </a:r>
          </a:p>
          <a:p xmlns:a="http://schemas.openxmlformats.org/drawingml/2006/main">
            <a:r>
              <a:t/>
            </a:r>
          </a:p>
          <a:p xmlns:a="http://schemas.openxmlformats.org/drawingml/2006/main">
            <a:r>
              <a:t>GERÇEK HAYAT: Periodic sensor işleri</a:t>
            </a:r>
          </a:p>
          <a:p xmlns:a="http://schemas.openxmlformats.org/drawingml/2006/main">
            <a:r>
              <a:t>Sık görevler daha kısa period ile release edilir.</a:t>
            </a:r>
          </a:p>
          <a:p xmlns:a="http://schemas.openxmlformats.org/drawingml/2006/main">
            <a:r>
              <a:t>Mekanizma: RM period’dan fixed priority türetir.</a:t>
            </a:r>
          </a:p>
          <a:p xmlns:a="http://schemas.openxmlformats.org/drawingml/2006/main">
            <a:r>
              <a:t>Ne zaman işe yarar: Period,execution ve deadline ölçülerini ayrı tut.</a:t>
            </a:r>
          </a:p>
          <a:p xmlns:a="http://schemas.openxmlformats.org/drawingml/2006/main">
            <a:r>
              <a:t/>
            </a:r>
          </a:p>
          <a:p xmlns:a="http://schemas.openxmlformats.org/drawingml/2006/main">
            <a:r>
              <a:t>Özgün Lecture02 PDF sayfaları: 51, 52</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Harmonic period set bound’un gerekli olmadığını gösterir. Bound aşılırsa “test karar vermedi” de; “sistem başarısız” deme. Daha hassas response-time analizi veya modele uygun exact test gerekir. Bu örnekte B’nin deadline4’te tamamlanması zamanında kabul edilir.</a:t>
            </a:r>
          </a:p>
          <a:p xmlns:a="http://schemas.openxmlformats.org/drawingml/2006/main">
            <a:r>
              <a:t/>
            </a:r>
          </a:p>
          <a:p xmlns:a="http://schemas.openxmlformats.org/drawingml/2006/main">
            <a:r>
              <a:t>SORUNUN YANITI: Hayır. Genel sufficient bound geçmez; workload için ek analiz gerekir.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52, 66</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 response-time recurrence release-to-completion anlamındadır; ilk-service response R ile karıştırma. Hızlı throughput değil higher-priority interference deadline’ı belirler. P2 t=75’te10 demand ile sadece5ms süreye sahip. Simülatör missed işi drop etmez; kalanını yürütür.</a:t>
            </a:r>
          </a:p>
          <a:p xmlns:a="http://schemas.openxmlformats.org/drawingml/2006/main">
            <a:r>
              <a:t/>
            </a:r>
          </a:p>
          <a:p xmlns:a="http://schemas.openxmlformats.org/drawingml/2006/main">
            <a:r>
              <a:t>SORUNUN YANITI: Demand doğru deadline penceresinde P1 interference nedeniyle sığmıyor. Aggregate utilization RM için tek başına sufficient değildir.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53, 54</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EDF period’a değil released unfinished job’ın absolute deadline’ına bakar. t=50’de RM P1’i seçer, EDF P2’yi. P2 completion60≤80,P1 completion85≤100. t=80’de yeni P2@80 d160 ile gelir; P1 d100 önce olduğu için devam eder. Sadece “deadline yaklaştıkça priority artar” sezgisi yerine d değerlerini karşılaştır.</a:t>
            </a:r>
          </a:p>
          <a:p xmlns:a="http://schemas.openxmlformats.org/drawingml/2006/main">
            <a:r>
              <a:t/>
            </a:r>
          </a:p>
          <a:p xmlns:a="http://schemas.openxmlformats.org/drawingml/2006/main">
            <a:r>
              <a:t>SORUNUN YANITI: Hayır. P1@50 d100 &lt; P2@80 d160.</a:t>
            </a:r>
          </a:p>
          <a:p xmlns:a="http://schemas.openxmlformats.org/drawingml/2006/main">
            <a:r>
              <a:t/>
            </a:r>
          </a:p>
          <a:p xmlns:a="http://schemas.openxmlformats.org/drawingml/2006/main">
            <a:r>
              <a:t>GERÇEK HAYAT: Deadline sırası</a:t>
            </a:r>
          </a:p>
          <a:p xmlns:a="http://schemas.openxmlformats.org/drawingml/2006/main">
            <a:r>
              <a:t>Released işler farklı bitiş zamanları ister.</a:t>
            </a:r>
          </a:p>
          <a:p xmlns:a="http://schemas.openxmlformats.org/drawingml/2006/main">
            <a:r>
              <a:t>Mekanizma: EDF her job’ın absolute deadline’ını karşılaştırır.</a:t>
            </a:r>
          </a:p>
          <a:p xmlns:a="http://schemas.openxmlformats.org/drawingml/2006/main">
            <a:r>
              <a:t>Ne zaman işe yarar: Task period’u ile aktif job deadline’ını karıştırma.</a:t>
            </a:r>
          </a:p>
          <a:p xmlns:a="http://schemas.openxmlformats.org/drawingml/2006/main">
            <a:r>
              <a:t/>
            </a:r>
          </a:p>
          <a:p xmlns:a="http://schemas.openxmlformats.org/drawingml/2006/main">
            <a:r>
              <a:t>Özgün Lecture02 PDF sayfaları: 55</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t=200’de yeni P1 d250, current P2 d240: P2 devam eder. Independent fully-preemptible single-CPU D=T modelinde U≤1 EDF için exact feasibility koşulu. Example B U0.9375. D&lt;T,blocking,jitter,overhead veya multicore varsa utilization testi aynen taşınamaz. Finite trace kararları açıklar, tüm zaman guarantee’sini theorem ve assumptions verir.</a:t>
            </a:r>
          </a:p>
          <a:p xmlns:a="http://schemas.openxmlformats.org/drawingml/2006/main">
            <a:r>
              <a:t/>
            </a:r>
          </a:p>
          <a:p xmlns:a="http://schemas.openxmlformats.org/drawingml/2006/main">
            <a:r>
              <a:t>SORUNUN YANITI: Hayır. Bu trace bir finite observation. Guarantee burada modelin U≤1 theorem’inden gelir.</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56, 57</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waiting ise CPU verilmesi lock’u serbest bırakmaz. Priority inheritance geçici olarak owner L’yi yükseltebilir; complete bound locking protocol ve critical-section süreleriyle belirlenir. Mekanizmaların implementasyonu hafta3. Burada dependency chain’i gösteriyoruz.</a:t>
            </a:r>
          </a:p>
          <a:p xmlns:a="http://schemas.openxmlformats.org/drawingml/2006/main">
            <a:r>
              <a:t/>
            </a:r>
          </a:p>
          <a:p xmlns:a="http://schemas.openxmlformats.org/drawingml/2006/main">
            <a:r>
              <a:t>SORUNUN YANITI: Hayır. H’nin beklediği lock L’de; L’nin ilerlemesi ve lock’u bırakması gerekir.</a:t>
            </a:r>
          </a:p>
          <a:p xmlns:a="http://schemas.openxmlformats.org/drawingml/2006/main">
            <a:r>
              <a:t/>
            </a:r>
          </a:p>
          <a:p xmlns:a="http://schemas.openxmlformats.org/drawingml/2006/main">
            <a:r>
              <a:t>GERÇEK HAYAT: Paylaşılan logger lock’u</a:t>
            </a:r>
          </a:p>
          <a:p xmlns:a="http://schemas.openxmlformats.org/drawingml/2006/main">
            <a:r>
              <a:t>Önemli iş düşük işin tuttuğu kaynağı bekler.</a:t>
            </a:r>
          </a:p>
          <a:p xmlns:a="http://schemas.openxmlformats.org/drawingml/2006/main">
            <a:r>
              <a:t>Mekanizma: Orta iş owner’ı keserek high işin beklemesini uzatabilir.</a:t>
            </a:r>
          </a:p>
          <a:p xmlns:a="http://schemas.openxmlformats.org/drawingml/2006/main">
            <a:r>
              <a:t>Ne zaman işe yarar: CPU priority yanında resource dependency’yi izle.</a:t>
            </a:r>
          </a:p>
          <a:p xmlns:a="http://schemas.openxmlformats.org/drawingml/2006/main">
            <a:r>
              <a:t/>
            </a:r>
          </a:p>
          <a:p xmlns:a="http://schemas.openxmlformats.org/drawingml/2006/main">
            <a:r>
              <a:t>Özgün Lecture02 PDF sayfaları: 58</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Bunlar Ubuntu/Linux read-only gözlem komutları; macOS doğrulaması değildir. Kernel dokümanı Linux6.6 ile EEVDF’ye geçişi anlatır; installed version/config kaydet. Nice -20..19 relative fair service etkiler, deadline vermez. EEVDF virtual deadline fairness hesabıdır; SCHED_DEADLINE ayrı EDF+reservation policy. RT priority arttıkça sayı büyür; FIFO/RR peers kendi kurallarına tabidir. Özel RT workload açmak bu lab’ın parçası değil.</a:t>
            </a:r>
          </a:p>
          <a:p xmlns:a="http://schemas.openxmlformats.org/drawingml/2006/main">
            <a:r>
              <a:t/>
            </a:r>
          </a:p>
          <a:p xmlns:a="http://schemas.openxmlformats.org/drawingml/2006/main">
            <a:r>
              <a:t>SORUNUN YANITI: Hayır. Örneklenen CPU kimliği kesintisiz yürütme veya kaynak ayırma kanıtı değildir.</a:t>
            </a:r>
          </a:p>
          <a:p xmlns:a="http://schemas.openxmlformats.org/drawingml/2006/main">
            <a:r>
              <a:t/>
            </a:r>
          </a:p>
          <a:p xmlns:a="http://schemas.openxmlformats.org/drawingml/2006/main">
            <a:r>
              <a:t>GERÇEK HAYAT: Gözlenen scheduler</a:t>
            </a:r>
          </a:p>
          <a:p xmlns:a="http://schemas.openxmlformats.org/drawingml/2006/main">
            <a:r>
              <a:t>Dağıtım ve kernel farklı olabilir.</a:t>
            </a:r>
          </a:p>
          <a:p xmlns:a="http://schemas.openxmlformats.org/drawingml/2006/main">
            <a:r>
              <a:t>Mekanizma: Actual implementation ve placement layers ideal trace’den farklıdır.</a:t>
            </a:r>
          </a:p>
          <a:p xmlns:a="http://schemas.openxmlformats.org/drawingml/2006/main">
            <a:r>
              <a:t>Ne zaman işe yarar: Environment ve raw output ile konuş; timing’den algorithm tahmin etme.</a:t>
            </a:r>
          </a:p>
          <a:p xmlns:a="http://schemas.openxmlformats.org/drawingml/2006/main">
            <a:r>
              <a:t/>
            </a:r>
          </a:p>
          <a:p xmlns:a="http://schemas.openxmlformats.org/drawingml/2006/main">
            <a:r>
              <a:t>Özgün Lecture02 PDF sayfaları: 59, 60, 61, 62, 63</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https://docs.kernel.org/scheduler/sched-eevdf.html</a:t>
            </a:r>
          </a:p>
          <a:p xmlns:a="http://schemas.openxmlformats.org/drawingml/2006/main">
            <a:r>
              <a:t/>
            </a:r>
          </a:p>
          <a:p xmlns:a="http://schemas.openxmlformats.org/drawingml/2006/main">
            <a:r>
              <a:t>https://man7.org/linux/man-pages/man7/sched.7.html</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 yalnız standart Python kullanır; network veya privileged ayar yok. Önce trace’i elle tahmin et, output timeline ve metrics ile karşılaştır. Invariants: release öncesi execution yok; single CPU overlap yok; demand conserved; negative remaining yok. Simulation yalnız modelin maliyetini bilir; measurement gerçek interference içerir. Stable queue Little law Lq=λWq;λ7/s,Lq14 iseWq2s. Count running’i içeriyorsa system time kullan, growing overloaded queue’ya stable ortalama uygulama.</a:t>
            </a:r>
          </a:p>
          <a:p xmlns:a="http://schemas.openxmlformats.org/drawingml/2006/main">
            <a:r>
              <a:t/>
            </a:r>
          </a:p>
          <a:p xmlns:a="http://schemas.openxmlformats.org/drawingml/2006/main">
            <a:r>
              <a:t>SORUNUN YANITI: 2s; stable waiting queue ve aynı boundaries gerekir.</a:t>
            </a:r>
          </a:p>
          <a:p xmlns:a="http://schemas.openxmlformats.org/drawingml/2006/main">
            <a:r>
              <a:t/>
            </a:r>
          </a:p>
          <a:p xmlns:a="http://schemas.openxmlformats.org/drawingml/2006/main">
            <a:r>
              <a:t>GERÇEK HAYAT: Servis kuyruğu metrikleri</a:t>
            </a:r>
          </a:p>
          <a:p xmlns:a="http://schemas.openxmlformats.org/drawingml/2006/main">
            <a:r>
              <a:t>Queue depth ile arrival rate kaydedilir.</a:t>
            </a:r>
          </a:p>
          <a:p xmlns:a="http://schemas.openxmlformats.org/drawingml/2006/main">
            <a:r>
              <a:t>Mekanizma: Stable matching boundaries altında Little law tutarlılık kontrolü sunar.</a:t>
            </a:r>
          </a:p>
          <a:p xmlns:a="http://schemas.openxmlformats.org/drawingml/2006/main">
            <a:r>
              <a:t>Ne zaman işe yarar: Simülasyon sonucunu deployment deadline kanıtı yapma.</a:t>
            </a:r>
          </a:p>
          <a:p xmlns:a="http://schemas.openxmlformats.org/drawingml/2006/main">
            <a:r>
              <a:t/>
            </a:r>
          </a:p>
          <a:p xmlns:a="http://schemas.openxmlformats.org/drawingml/2006/main">
            <a:r>
              <a:t>Özgün Lecture02 PDF sayfaları: 64, 65, 67</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R=0,W&gt;0; SJF optimal; RR endpoint: neden?</a:t>
            </a:r>
          </a:p>
          <a:p xmlns:a="http://schemas.openxmlformats.org/drawingml/2006/main">
            <a:r>
              <a:t>RM bound aşımı, U&lt;1 ve EDF guarantee: fark ne?</a:t>
            </a:r>
          </a:p>
          <a:p xmlns:a="http://schemas.openxmlformats.org/drawingml/2006/main">
            <a:r>
              <a:t>Affinity,SMT ve EEVDF: hangi yanlış çıkarımlar?</a:t>
            </a:r>
          </a:p>
          <a:p xmlns:a="http://schemas.openxmlformats.org/drawingml/2006/main">
            <a:r>
              <a:t/>
            </a:r>
          </a:p>
          <a:p xmlns:a="http://schemas.openxmlformats.org/drawingml/2006/main">
            <a:r>
              <a:t>Altı cevap için sonuç ve gerekçe yaz:1 response/wait;2 SJF koşulu;3 endpoint kuralı;4 RM sufficient test;5 EDF assumptions;6 affinity reservation. Her biri2 puanla kendi kontrolün12 üzerinden olabilir; resmî not değil. Week3 bridge: bir shared increment’i preempt etmek hangi correctness sorununu yaratır? Burada mutex implementasyonu açmıyoruz.</a:t>
            </a:r>
          </a:p>
          <a:p xmlns:a="http://schemas.openxmlformats.org/drawingml/2006/main">
            <a:r>
              <a:t/>
            </a:r>
          </a:p>
          <a:p xmlns:a="http://schemas.openxmlformats.org/drawingml/2006/main">
            <a:r>
              <a:t>SORUNUN YANITI: 1 P1 SRTF’de R0,W9.2 SJF optimal iddiası birlikte available,known bursts,zero overhead.3 Endpoint arrivals before current requeue; alternatif sonuç değişir.4 RM bound geçmezse inconclusive; Example B actual miss.5 EDF U≤1 sadece independent preemptible single CPU D=T modelinde.6 Affinity placement restriction; reservation değil. SMT bağımsız core guarantee değil; EEVDF virtual deadline application deadline değil.</a:t>
            </a:r>
          </a:p>
          <a:p xmlns:a="http://schemas.openxmlformats.org/drawingml/2006/main">
            <a:r>
              <a:t/>
            </a:r>
          </a:p>
          <a:p xmlns:a="http://schemas.openxmlformats.org/drawingml/2006/main">
            <a:r>
              <a:t>GERÇEK HAYAT: </a:t>
            </a:r>
          </a:p>
          <a:p xmlns:a="http://schemas.openxmlformats.org/drawingml/2006/main">
            <a:r>
              <a:t/>
            </a:r>
          </a:p>
          <a:p xmlns:a="http://schemas.openxmlformats.org/drawingml/2006/main">
            <a:r>
              <a:t>Mekanizma: </a:t>
            </a:r>
          </a:p>
          <a:p xmlns:a="http://schemas.openxmlformats.org/drawingml/2006/main">
            <a:r>
              <a:t>Ne zaman işe yarar: </a:t>
            </a:r>
          </a:p>
          <a:p xmlns:a="http://schemas.openxmlformats.org/drawingml/2006/main">
            <a:r>
              <a:t/>
            </a:r>
          </a:p>
          <a:p xmlns:a="http://schemas.openxmlformats.org/drawingml/2006/main">
            <a:r>
              <a:t>Özgün Lecture02 PDF sayfaları: 35, 66, 67</a:t>
            </a:r>
          </a:p>
          <a:p xmlns:a="http://schemas.openxmlformats.org/drawingml/2006/main">
            <a:r>
              <a:t/>
            </a:r>
          </a:p>
          <a:p xmlns:a="http://schemas.openxmlformats.org/drawingml/2006/main">
            <a:r>
              <a:t>https://mehmetgokturk.com/cse513/materials/lecture02/CSE513-Lecture02.pdf</a:t>
            </a:r>
          </a:p>
          <a:p xmlns:a="http://schemas.openxmlformats.org/drawingml/2006/main">
            <a:r>
              <a:t/>
            </a:r>
          </a:p>
          <a:p xmlns:a="http://schemas.openxmlformats.org/drawingml/2006/main">
            <a:r>
              <a:t>https://mehmetgokturk.com/cse513/materials/lecture02/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403cb1e86847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a2f0f287274727" /><Relationship Type="http://schemas.openxmlformats.org/officeDocument/2006/relationships/slideLayout" Target="/ppt/slideLayouts/slideLayout1.xml" Id="R0c2f9bd22d7a46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2f9bd22d7a46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1a5ccc874748d4" /><Relationship Type="http://schemas.openxmlformats.org/officeDocument/2006/relationships/image" Target="/ppt/media/image.png" Id="Rfba15acb07fa4620" /><Relationship Type="http://schemas.openxmlformats.org/officeDocument/2006/relationships/notesSlide" Target="/ppt/notesSlides/notesSlide1.xml" Id="R8c794dc3966a40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2457431f1f4a6f" /><Relationship Type="http://schemas.openxmlformats.org/officeDocument/2006/relationships/notesSlide" Target="/ppt/notesSlides/notesSlide2.xml" Id="R3b3da939d5634c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a97d7976f046b0" /><Relationship Type="http://schemas.openxmlformats.org/officeDocument/2006/relationships/notesSlide" Target="/ppt/notesSlides/notesSlide3.xml" Id="Re03664204bc245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ede6efd79d4ce8" /><Relationship Type="http://schemas.openxmlformats.org/officeDocument/2006/relationships/notesSlide" Target="/ppt/notesSlides/notesSlide4.xml" Id="Rc7761b347b8347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431606bf744da2" /><Relationship Type="http://schemas.openxmlformats.org/officeDocument/2006/relationships/notesSlide" Target="/ppt/notesSlides/notesSlide5.xml" Id="R7b28b506594f4c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0180f251734709" /><Relationship Type="http://schemas.openxmlformats.org/officeDocument/2006/relationships/notesSlide" Target="/ppt/notesSlides/notesSlide6.xml" Id="Rc53cbe18ebfc4a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0bff7fae314cc2" /><Relationship Type="http://schemas.openxmlformats.org/officeDocument/2006/relationships/notesSlide" Target="/ppt/notesSlides/notesSlide7.xml" Id="Rd6d9ce7fb418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03a794cfb94f78" /><Relationship Type="http://schemas.openxmlformats.org/officeDocument/2006/relationships/notesSlide" Target="/ppt/notesSlides/notesSlide8.xml" Id="Rf5b75f950d1c4a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78e7668a96412b" /><Relationship Type="http://schemas.openxmlformats.org/officeDocument/2006/relationships/notesSlide" Target="/ppt/notesSlides/notesSlide9.xml" Id="Rf869709ad39643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83ea47a4664b51" /><Relationship Type="http://schemas.openxmlformats.org/officeDocument/2006/relationships/notesSlide" Target="/ppt/notesSlides/notesSlide10.xml" Id="Rc89acdecb19041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4953b80c6c4976" /><Relationship Type="http://schemas.openxmlformats.org/officeDocument/2006/relationships/notesSlide" Target="/ppt/notesSlides/notesSlide11.xml" Id="R953133a52c294f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2a176e7c42408b" /><Relationship Type="http://schemas.openxmlformats.org/officeDocument/2006/relationships/notesSlide" Target="/ppt/notesSlides/notesSlide12.xml" Id="R7619aecf46694b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08db45a4b44547" /><Relationship Type="http://schemas.openxmlformats.org/officeDocument/2006/relationships/notesSlide" Target="/ppt/notesSlides/notesSlide13.xml" Id="R47747cdfee5147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cdcf3123794c18" /><Relationship Type="http://schemas.openxmlformats.org/officeDocument/2006/relationships/notesSlide" Target="/ppt/notesSlides/notesSlide14.xml" Id="R7d64ee8c857747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eccd5faa6047f6" /><Relationship Type="http://schemas.openxmlformats.org/officeDocument/2006/relationships/notesSlide" Target="/ppt/notesSlides/notesSlide15.xml" Id="R83c8581c2b8d48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56c9b66b38c4132" /><Relationship Type="http://schemas.openxmlformats.org/officeDocument/2006/relationships/notesSlide" Target="/ppt/notesSlides/notesSlide16.xml" Id="Rbd5147e407624e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8eabd000d9439f" /><Relationship Type="http://schemas.openxmlformats.org/officeDocument/2006/relationships/notesSlide" Target="/ppt/notesSlides/notesSlide17.xml" Id="R28c68798af9943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9a17ebf40f4c2d" /><Relationship Type="http://schemas.openxmlformats.org/officeDocument/2006/relationships/notesSlide" Target="/ppt/notesSlides/notesSlide18.xml" Id="R4496d80accc04c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6cfc2e21cd44a7" /><Relationship Type="http://schemas.openxmlformats.org/officeDocument/2006/relationships/notesSlide" Target="/ppt/notesSlides/notesSlide19.xml" Id="Ra8161deb21f142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bb02ff3146c4db7" /><Relationship Type="http://schemas.openxmlformats.org/officeDocument/2006/relationships/notesSlide" Target="/ppt/notesSlides/notesSlide20.xml" Id="R5840b91c52db41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c6df29a94e442d9" /><Relationship Type="http://schemas.openxmlformats.org/officeDocument/2006/relationships/notesSlide" Target="/ppt/notesSlides/notesSlide21.xml" Id="R4c237cf0689f4e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49b4f12f12d4e96" /><Relationship Type="http://schemas.openxmlformats.org/officeDocument/2006/relationships/notesSlide" Target="/ppt/notesSlides/notesSlide22.xml" Id="R5d189bd9d79340e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5aa919598da44e8" /><Relationship Type="http://schemas.openxmlformats.org/officeDocument/2006/relationships/notesSlide" Target="/ppt/notesSlides/notesSlide23.xml" Id="R0103621829a343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9a67434765346ee" /><Relationship Type="http://schemas.openxmlformats.org/officeDocument/2006/relationships/notesSlide" Target="/ppt/notesSlides/notesSlide24.xml" Id="R0ec38f32261c44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b119964a274db5" /><Relationship Type="http://schemas.openxmlformats.org/officeDocument/2006/relationships/notesSlide" Target="/ppt/notesSlides/notesSlide25.xml" Id="Rc4facf8f5061489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939c58352774886" /><Relationship Type="http://schemas.openxmlformats.org/officeDocument/2006/relationships/notesSlide" Target="/ppt/notesSlides/notesSlide26.xml" Id="R3970c55e80cd44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128dba08a354cdc" /><Relationship Type="http://schemas.openxmlformats.org/officeDocument/2006/relationships/notesSlide" Target="/ppt/notesSlides/notesSlide27.xml" Id="Rd6a76bd76e2f4e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a13c33ef224614" /><Relationship Type="http://schemas.openxmlformats.org/officeDocument/2006/relationships/notesSlide" Target="/ppt/notesSlides/notesSlide28.xml" Id="R76b4ec2493184de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7ff8794b14b4379" /><Relationship Type="http://schemas.openxmlformats.org/officeDocument/2006/relationships/notesSlide" Target="/ppt/notesSlides/notesSlide29.xml" Id="Rf0709bf4314748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3f8ba35794b461d" /><Relationship Type="http://schemas.openxmlformats.org/officeDocument/2006/relationships/notesSlide" Target="/ppt/notesSlides/notesSlide30.xml" Id="R244e2dd4f6c54229"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ba15acb07fa4620"/>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6480CB-8A99-4EC1-82A9-C245F0E3C5CD}"/>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2</a:t>
            </a:r>
          </a:p>
        </p:txBody>
      </p:sp>
      <p:sp>
        <p:nvSpPr>
          <p:cNvPr id="3" name="">
            <a:extLst xmlns:a="http://schemas.openxmlformats.org/drawingml/2006/main">
              <a:ext uri="{FF2B5EF4-FFF2-40B4-BE49-F238E27FC236}">
                <a16:creationId xmlns:a16="http://schemas.microsoft.com/office/drawing/2014/main" id="{F61A879A-1CFC-4C1A-A1EB-5A52A8AD1E34}"/>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Sıradaki işi kim seçsin?</a:t>
            </a:r>
          </a:p>
        </p:txBody>
      </p:sp>
      <p:sp>
        <p:nvSpPr>
          <p:cNvPr id="4" name="">
            <a:extLst xmlns:a="http://schemas.openxmlformats.org/drawingml/2006/main">
              <a:ext uri="{FF2B5EF4-FFF2-40B4-BE49-F238E27FC236}">
                <a16:creationId xmlns:a16="http://schemas.microsoft.com/office/drawing/2014/main" id="{C39E6281-C46A-406D-83F5-109A923C36A9}"/>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Aynı işler, farklı servis sırası; doğru sonuç ve doğru zaman</a:t>
            </a:r>
          </a:p>
        </p:txBody>
      </p:sp>
      <p:sp>
        <p:nvSpPr>
          <p:cNvPr id="5" name="">
            <a:extLst xmlns:a="http://schemas.openxmlformats.org/drawingml/2006/main">
              <a:ext uri="{FF2B5EF4-FFF2-40B4-BE49-F238E27FC236}">
                <a16:creationId xmlns:a16="http://schemas.microsoft.com/office/drawing/2014/main" id="{2E32ABB4-9169-4AD8-BC7E-E8F80FA0BBDD}"/>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Tree>
    <p:extLst>
      <p:ext uri="{BB962C8B-B14F-4D97-AF65-F5344CB8AC3E}">
        <p14:creationId xmlns:p14="http://schemas.microsoft.com/office/powerpoint/2010/main" val="1706455468"/>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646101-7AB5-4E71-92F4-0B1153D0445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Servis sırası: hazır mı, eksik mi?</a:t>
            </a:r>
          </a:p>
        </p:txBody>
      </p:sp>
      <p:graphicFrame>
        <p:nvGraphicFramePr>
          <p:cNvPr id="9" name=""/>
          <p:cNvGraphicFramePr/>
          <p:nvPr/>
        </p:nvGraphicFramePr>
        <p:xfrm>
          <a:off xmlns:a="http://schemas.openxmlformats.org/drawingml/2006/main" x="609600" y="1857375"/>
          <a:ext xmlns:a="http://schemas.openxmlformats.org/drawingml/2006/main" cx="10972800" cy="2724150"/>
        </p:xfrm>
        <a:graphic xmlns:a="http://schemas.openxmlformats.org/drawingml/2006/main">
          <a:graphicData uri="http://schemas.openxmlformats.org/drawingml/2006/table">
            <a:tbl>
              <a:tblPr/>
              <a:tblGrid>
                <a:gridCol w="5486400"/>
                <a:gridCol w="5486400"/>
              </a:tblGrid>
              <a:tr h="544830">
                <a:tc>
                  <a:txBody>
                    <a:bodyPr/>
                    <a:lstStyle/>
                    <a:p>
                      <a:r>
                        <a:rPr sz="1800" b="1">
                          <a:solidFill>
                            <a:srgbClr val="FFFFFF"/>
                          </a:solidFill>
                          <a:latin typeface="Helvetica Neue"/>
                          <a:ea typeface="Helvetica Neue"/>
                          <a:cs typeface="Helvetica Neue"/>
                        </a:rPr>
                        <a:t>Mutfak modeli</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Teknik karşılık</a:t>
                      </a:r>
                    </a:p>
                  </a:txBody>
                  <a:tcPr marL="114300" marR="114300" marT="47625" marB="47625" anchor="ctr">
                    <a:solidFill>
                      <a:srgbClr val="122C42"/>
                    </a:solidFill>
                  </a:tcPr>
                </a:tc>
              </a:tr>
              <a:tr h="544830">
                <a:tc>
                  <a:txBody>
                    <a:bodyPr/>
                    <a:lstStyle/>
                    <a:p>
                      <a:r>
                        <a:rPr sz="1800" b="0">
                          <a:solidFill>
                            <a:srgbClr val="122C42"/>
                          </a:solidFill>
                          <a:latin typeface="Helvetica Neue"/>
                          <a:ea typeface="Helvetica Neue"/>
                          <a:cs typeface="Helvetica Neue"/>
                        </a:rPr>
                        <a:t>Aşçı</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Mantıksal CPU</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Adım imi olan iş kartı</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Thread / yürütme akışı</a:t>
                      </a:r>
                    </a:p>
                  </a:txBody>
                  <a:tcPr marL="114300" marR="114300" marT="47625" marB="47625" anchor="ctr">
                    <a:solidFill>
                      <a:srgbClr val="ECF0EC"/>
                    </a:solidFill>
                  </a:tcPr>
                </a:tc>
              </a:tr>
              <a:tr h="544830">
                <a:tc>
                  <a:txBody>
                    <a:bodyPr/>
                    <a:lstStyle/>
                    <a:p>
                      <a:r>
                        <a:rPr sz="1800" b="0">
                          <a:solidFill>
                            <a:srgbClr val="122C42"/>
                          </a:solidFill>
                          <a:latin typeface="Helvetica Neue"/>
                          <a:ea typeface="Helvetica Neue"/>
                          <a:cs typeface="Helvetica Neue"/>
                        </a:rPr>
                        <a:t>Malzemesi hazır kart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Ready</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Teslimat bekleyen kart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Waiting</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F8A33AC3-6097-4555-BD09-F4FD97043750}"/>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Teslimatı bekleyen işe en yüksek priority verirsek ilerler mi?</a:t>
            </a:r>
          </a:p>
        </p:txBody>
      </p:sp>
      <p:sp>
        <p:nvSpPr>
          <p:cNvPr id="4" name="">
            <a:extLst xmlns:a="http://schemas.openxmlformats.org/drawingml/2006/main">
              <a:ext uri="{FF2B5EF4-FFF2-40B4-BE49-F238E27FC236}">
                <a16:creationId xmlns:a16="http://schemas.microsoft.com/office/drawing/2014/main" id="{DDD02E12-83C4-44E0-AC3E-4621EA08321B}"/>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İndirme ve editör</a:t>
            </a:r>
          </a:p>
        </p:txBody>
      </p:sp>
      <p:sp>
        <p:nvSpPr>
          <p:cNvPr id="5" name="">
            <a:extLst xmlns:a="http://schemas.openxmlformats.org/drawingml/2006/main">
              <a:ext uri="{FF2B5EF4-FFF2-40B4-BE49-F238E27FC236}">
                <a16:creationId xmlns:a16="http://schemas.microsoft.com/office/drawing/2014/main" id="{5FB53334-0ACF-4F88-81CF-A8D1EA9C0C5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İndirme beklerken yazı yazarsın.</a:t>
            </a:r>
          </a:p>
        </p:txBody>
      </p:sp>
      <p:sp>
        <p:nvSpPr>
          <p:cNvPr id="6" name="">
            <a:extLst xmlns:a="http://schemas.openxmlformats.org/drawingml/2006/main">
              <a:ext uri="{FF2B5EF4-FFF2-40B4-BE49-F238E27FC236}">
                <a16:creationId xmlns:a16="http://schemas.microsoft.com/office/drawing/2014/main" id="{900FEE3D-D21E-4A7F-8A64-8F2BB4D046C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56E4EFA9-CBF6-48A0-9EEC-E78444A7DD1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30</a:t>
            </a:r>
          </a:p>
        </p:txBody>
      </p:sp>
    </p:spTree>
    <p:extLst>
      <p:ext uri="{BB962C8B-B14F-4D97-AF65-F5344CB8AC3E}">
        <p14:creationId xmlns:p14="http://schemas.microsoft.com/office/powerpoint/2010/main" val="314506582"/>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1210D3-4EBC-414A-9ED7-FF8FE9D3B3F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Seçim ve uygulama ayrı işler</a:t>
            </a:r>
          </a:p>
        </p:txBody>
      </p:sp>
      <p:sp>
        <p:nvSpPr>
          <p:cNvPr id="2" name="">
            <a:extLst xmlns:a="http://schemas.openxmlformats.org/drawingml/2006/main">
              <a:ext uri="{FF2B5EF4-FFF2-40B4-BE49-F238E27FC236}">
                <a16:creationId xmlns:a16="http://schemas.microsoft.com/office/drawing/2014/main" id="{9695C625-0B00-406D-88E4-C4887E4A1A51}"/>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Scheduler</a:t>
            </a:r>
          </a:p>
        </p:txBody>
      </p:sp>
      <p:sp>
        <p:nvSpPr>
          <p:cNvPr id="3" name="">
            <a:extLst xmlns:a="http://schemas.openxmlformats.org/drawingml/2006/main">
              <a:ext uri="{FF2B5EF4-FFF2-40B4-BE49-F238E27FC236}">
                <a16:creationId xmlns:a16="http://schemas.microsoft.com/office/drawing/2014/main" id="{D673EA63-C281-4272-BBD4-41E905179CA2}"/>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Hangi uygun görev?</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Politika kararı</a:t>
            </a:r>
          </a:p>
        </p:txBody>
      </p:sp>
      <p:sp>
        <p:nvSpPr>
          <p:cNvPr id="4" name="">
            <a:extLst xmlns:a="http://schemas.openxmlformats.org/drawingml/2006/main">
              <a:ext uri="{FF2B5EF4-FFF2-40B4-BE49-F238E27FC236}">
                <a16:creationId xmlns:a16="http://schemas.microsoft.com/office/drawing/2014/main" id="{2192105C-55EE-484C-AEAD-0373F8F08262}"/>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Dispatcher</a:t>
            </a:r>
          </a:p>
        </p:txBody>
      </p:sp>
      <p:sp>
        <p:nvSpPr>
          <p:cNvPr id="5" name="">
            <a:extLst xmlns:a="http://schemas.openxmlformats.org/drawingml/2006/main">
              <a:ext uri="{FF2B5EF4-FFF2-40B4-BE49-F238E27FC236}">
                <a16:creationId xmlns:a16="http://schemas.microsoft.com/office/drawing/2014/main" id="{114E14D5-0666-4719-AACD-A2E5BBC242D3}"/>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Seçileni yürüt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Bağlamı yükle; kontrolü aktar</a:t>
            </a:r>
          </a:p>
        </p:txBody>
      </p:sp>
      <p:sp>
        <p:nvSpPr>
          <p:cNvPr id="6" name="">
            <a:extLst xmlns:a="http://schemas.openxmlformats.org/drawingml/2006/main">
              <a:ext uri="{FF2B5EF4-FFF2-40B4-BE49-F238E27FC236}">
                <a16:creationId xmlns:a16="http://schemas.microsoft.com/office/drawing/2014/main" id="{021AE51D-C9A5-473E-9C39-B5CCAC816CF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Arayüz akıcılığı</a:t>
            </a:r>
          </a:p>
        </p:txBody>
      </p:sp>
      <p:sp>
        <p:nvSpPr>
          <p:cNvPr id="7" name="">
            <a:extLst xmlns:a="http://schemas.openxmlformats.org/drawingml/2006/main">
              <a:ext uri="{FF2B5EF4-FFF2-40B4-BE49-F238E27FC236}">
                <a16:creationId xmlns:a16="http://schemas.microsoft.com/office/drawing/2014/main" id="{08447BE4-F363-420C-A126-01741C5C678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Uzun işlem varken kısa input işi gelir.</a:t>
            </a:r>
          </a:p>
        </p:txBody>
      </p:sp>
      <p:sp>
        <p:nvSpPr>
          <p:cNvPr id="8" name="">
            <a:extLst xmlns:a="http://schemas.openxmlformats.org/drawingml/2006/main">
              <a:ext uri="{FF2B5EF4-FFF2-40B4-BE49-F238E27FC236}">
                <a16:creationId xmlns:a16="http://schemas.microsoft.com/office/drawing/2014/main" id="{D123B0E4-2A13-4CF6-B1CE-3C59295834E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9" name="">
            <a:extLst xmlns:a="http://schemas.openxmlformats.org/drawingml/2006/main">
              <a:ext uri="{FF2B5EF4-FFF2-40B4-BE49-F238E27FC236}">
                <a16:creationId xmlns:a16="http://schemas.microsoft.com/office/drawing/2014/main" id="{0D5DF930-8780-4778-80C1-8A531870BDB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30</a:t>
            </a:r>
          </a:p>
        </p:txBody>
      </p:sp>
    </p:spTree>
    <p:extLst>
      <p:ext uri="{BB962C8B-B14F-4D97-AF65-F5344CB8AC3E}">
        <p14:creationId xmlns:p14="http://schemas.microsoft.com/office/powerpoint/2010/main" val="1378330953"/>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AE5AA6-7599-4B59-88D6-90CF7A61338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Neyi ölçüyoruz?</a:t>
            </a:r>
          </a:p>
        </p:txBody>
      </p:sp>
      <p:graphicFrame>
        <p:nvGraphicFramePr>
          <p:cNvPr id="9" name=""/>
          <p:cNvGraphicFramePr/>
          <p:nvPr/>
        </p:nvGraphicFramePr>
        <p:xfrm>
          <a:off xmlns:a="http://schemas.openxmlformats.org/drawingml/2006/main" x="609600" y="1857375"/>
          <a:ext xmlns:a="http://schemas.openxmlformats.org/drawingml/2006/main" cx="10972800" cy="2724150"/>
        </p:xfrm>
        <a:graphic xmlns:a="http://schemas.openxmlformats.org/drawingml/2006/main">
          <a:graphicData uri="http://schemas.openxmlformats.org/drawingml/2006/table">
            <a:tbl>
              <a:tblPr/>
              <a:tblGrid>
                <a:gridCol w="5486400"/>
                <a:gridCol w="5486400"/>
              </a:tblGrid>
              <a:tr h="544830">
                <a:tc>
                  <a:txBody>
                    <a:bodyPr/>
                    <a:lstStyle/>
                    <a:p>
                      <a:r>
                        <a:rPr sz="1800" b="1">
                          <a:solidFill>
                            <a:srgbClr val="FFFFFF"/>
                          </a:solidFill>
                          <a:latin typeface="Helvetica Neue"/>
                          <a:ea typeface="Helvetica Neue"/>
                          <a:cs typeface="Helvetica Neue"/>
                        </a:rPr>
                        <a:t>Metrik</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Bu modelde tanım</a:t>
                      </a:r>
                    </a:p>
                  </a:txBody>
                  <a:tcPr marL="114300" marR="114300" marT="47625" marB="47625" anchor="ctr">
                    <a:solidFill>
                      <a:srgbClr val="122C42"/>
                    </a:solidFill>
                  </a:tcPr>
                </a:tc>
              </a:tr>
              <a:tr h="544830">
                <a:tc>
                  <a:txBody>
                    <a:bodyPr/>
                    <a:lstStyle/>
                    <a:p>
                      <a:r>
                        <a:rPr sz="1800" b="0">
                          <a:solidFill>
                            <a:srgbClr val="122C42"/>
                          </a:solidFill>
                          <a:latin typeface="Helvetica Neue"/>
                          <a:ea typeface="Helvetica Neue"/>
                          <a:cs typeface="Helvetica Neue"/>
                        </a:rPr>
                        <a:t>Turnaround 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Completion C − arrival A</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Waiting W</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T − burst B (I/O yok)</a:t>
                      </a:r>
                    </a:p>
                  </a:txBody>
                  <a:tcPr marL="114300" marR="114300" marT="47625" marB="47625" anchor="ctr">
                    <a:solidFill>
                      <a:srgbClr val="ECF0EC"/>
                    </a:solidFill>
                  </a:tcPr>
                </a:tc>
              </a:tr>
              <a:tr h="544830">
                <a:tc>
                  <a:txBody>
                    <a:bodyPr/>
                    <a:lstStyle/>
                    <a:p>
                      <a:r>
                        <a:rPr sz="1800" b="0">
                          <a:solidFill>
                            <a:srgbClr val="122C42"/>
                          </a:solidFill>
                          <a:latin typeface="Helvetica Neue"/>
                          <a:ea typeface="Helvetica Neue"/>
                          <a:cs typeface="Helvetica Neue"/>
                        </a:rPr>
                        <a:t>Response 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İlk CPU başlangıcı S − A</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Throughput / utilization</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Biten iş / süre; busy / elapsed</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30039DEB-C676-4D99-ABED-81CB6ECE3ADE}"/>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A=2,S=5,C=12,B=4: T,W,R?</a:t>
            </a:r>
          </a:p>
        </p:txBody>
      </p:sp>
      <p:sp>
        <p:nvSpPr>
          <p:cNvPr id="4" name="">
            <a:extLst xmlns:a="http://schemas.openxmlformats.org/drawingml/2006/main">
              <a:ext uri="{FF2B5EF4-FFF2-40B4-BE49-F238E27FC236}">
                <a16:creationId xmlns:a16="http://schemas.microsoft.com/office/drawing/2014/main" id="{A61B3695-481B-4B4A-B7AD-DCF447EB6686}"/>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API gecikmesi</a:t>
            </a:r>
          </a:p>
        </p:txBody>
      </p:sp>
      <p:sp>
        <p:nvSpPr>
          <p:cNvPr id="5" name="">
            <a:extLst xmlns:a="http://schemas.openxmlformats.org/drawingml/2006/main">
              <a:ext uri="{FF2B5EF4-FFF2-40B4-BE49-F238E27FC236}">
                <a16:creationId xmlns:a16="http://schemas.microsoft.com/office/drawing/2014/main" id="{A13ACB3E-969B-4B20-B4DB-8F3EDF7CDF3C}"/>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CPU ilk kez hemen çalışsa da yanıt geç gelebilir.</a:t>
            </a:r>
          </a:p>
        </p:txBody>
      </p:sp>
      <p:sp>
        <p:nvSpPr>
          <p:cNvPr id="6" name="">
            <a:extLst xmlns:a="http://schemas.openxmlformats.org/drawingml/2006/main">
              <a:ext uri="{FF2B5EF4-FFF2-40B4-BE49-F238E27FC236}">
                <a16:creationId xmlns:a16="http://schemas.microsoft.com/office/drawing/2014/main" id="{03295454-63F9-423A-8487-8617BD8641E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43F41000-D186-4F20-BC21-942C66D8313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30</a:t>
            </a:r>
          </a:p>
        </p:txBody>
      </p:sp>
    </p:spTree>
    <p:extLst>
      <p:ext uri="{BB962C8B-B14F-4D97-AF65-F5344CB8AC3E}">
        <p14:creationId xmlns:p14="http://schemas.microsoft.com/office/powerpoint/2010/main" val="36023236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AC98D2-58F1-4F82-BEB7-8948A6BCF41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Tek veri kümesi, beş politika</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2743200"/>
                <a:gridCol w="2743200"/>
                <a:gridCol w="2743200"/>
                <a:gridCol w="2743200"/>
              </a:tblGrid>
              <a:tr h="649605">
                <a:tc>
                  <a:txBody>
                    <a:bodyPr/>
                    <a:lstStyle/>
                    <a:p>
                      <a:r>
                        <a:rPr sz="1800"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Arrival A</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Burst B</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Priority</a:t>
                      </a:r>
                    </a:p>
                  </a:txBody>
                  <a:tcPr marL="114300" marR="114300" marT="47625" marB="47625" anchor="ctr">
                    <a:solidFill>
                      <a:srgbClr val="122C42"/>
                    </a:solidFill>
                  </a:tcPr>
                </a:tc>
              </a:tr>
              <a:tr h="649605">
                <a:tc>
                  <a:txBody>
                    <a:bodyPr/>
                    <a:lstStyle/>
                    <a:p>
                      <a:r>
                        <a:rPr sz="1800"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r>
              <a:tr h="649605">
                <a:tc>
                  <a:txBody>
                    <a:bodyPr/>
                    <a:lstStyle/>
                    <a:p>
                      <a:r>
                        <a:rPr sz="1800"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ECF0EC"/>
                    </a:solidFill>
                  </a:tcPr>
                </a:tc>
              </a:tr>
              <a:tr h="649605">
                <a:tc>
                  <a:txBody>
                    <a:bodyPr/>
                    <a:lstStyle/>
                    <a:p>
                      <a:r>
                        <a:rPr sz="1800"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9</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FFFFFF"/>
                    </a:solidFill>
                  </a:tcPr>
                </a:tc>
              </a:tr>
              <a:tr h="649605">
                <a:tc>
                  <a:txBody>
                    <a:bodyPr/>
                    <a:lstStyle/>
                    <a:p>
                      <a:r>
                        <a:rPr sz="1800"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4349D78F-A7A7-4D02-84E3-BBCAEE0EB455}"/>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t=0’da SJF gelecekteki P2 için CPU’yu boş mu tutar?</a:t>
            </a:r>
          </a:p>
        </p:txBody>
      </p:sp>
      <p:sp>
        <p:nvSpPr>
          <p:cNvPr id="4" name="">
            <a:extLst xmlns:a="http://schemas.openxmlformats.org/drawingml/2006/main">
              <a:ext uri="{FF2B5EF4-FFF2-40B4-BE49-F238E27FC236}">
                <a16:creationId xmlns:a16="http://schemas.microsoft.com/office/drawing/2014/main" id="{E5D20441-D218-4CA0-9E59-6ED0FBD469F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2CB18AEA-49EF-4C6E-9C45-2AFD00F215E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30</a:t>
            </a:r>
          </a:p>
        </p:txBody>
      </p:sp>
    </p:spTree>
    <p:extLst>
      <p:ext uri="{BB962C8B-B14F-4D97-AF65-F5344CB8AC3E}">
        <p14:creationId xmlns:p14="http://schemas.microsoft.com/office/powerpoint/2010/main" val="101961035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4477B7-DC45-429B-813E-CC1560C8C62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FCFS: gelen sırasıyla</a:t>
            </a:r>
          </a:p>
        </p:txBody>
      </p:sp>
      <p:sp>
        <p:nvSpPr>
          <p:cNvPr id="2" name="">
            <a:extLst xmlns:a="http://schemas.openxmlformats.org/drawingml/2006/main">
              <a:ext uri="{FF2B5EF4-FFF2-40B4-BE49-F238E27FC236}">
                <a16:creationId xmlns:a16="http://schemas.microsoft.com/office/drawing/2014/main" id="{DF0C5F71-D80B-4DEB-BB9C-B81E9AF8D34D}"/>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İz: P1 0–8 → P2 8–12 → P3 12–21 → P4 21–26</a:t>
            </a:r>
          </a:p>
        </p:txBody>
      </p:sp>
      <p:graphicFrame>
        <p:nvGraphicFramePr>
          <p:cNvPr id="11" name=""/>
          <p:cNvGraphicFramePr/>
          <p:nvPr/>
        </p:nvGraphicFramePr>
        <p:xfrm>
          <a:off xmlns:a="http://schemas.openxmlformats.org/drawingml/2006/main" x="609600" y="2571750"/>
          <a:ext xmlns:a="http://schemas.openxmlformats.org/drawingml/2006/main" cx="10972800" cy="2009775"/>
        </p:xfrm>
        <a:graphic xmlns:a="http://schemas.openxmlformats.org/drawingml/2006/main">
          <a:graphicData uri="http://schemas.openxmlformats.org/drawingml/2006/table">
            <a:tbl>
              <a:tblPr/>
              <a:tblGrid>
                <a:gridCol w="2194560"/>
                <a:gridCol w="2194560"/>
                <a:gridCol w="2194560"/>
                <a:gridCol w="2194560"/>
                <a:gridCol w="2194560"/>
              </a:tblGrid>
              <a:tr h="401955">
                <a:tc>
                  <a:txBody>
                    <a:bodyPr/>
                    <a:lstStyle/>
                    <a:p>
                      <a:r>
                        <a:rPr sz="1575"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C</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W</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R</a:t>
                      </a:r>
                    </a:p>
                  </a:txBody>
                  <a:tcPr marL="114300" marR="114300" marT="47625" marB="47625" anchor="ctr">
                    <a:solidFill>
                      <a:srgbClr val="122C42"/>
                    </a:solidFill>
                  </a:tcPr>
                </a:tc>
              </a:tr>
              <a:tr h="401955">
                <a:tc>
                  <a:txBody>
                    <a:bodyPr/>
                    <a:lstStyle/>
                    <a:p>
                      <a:r>
                        <a:rPr sz="1575"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11</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r>
              <a:tr h="401955">
                <a:tc>
                  <a:txBody>
                    <a:bodyPr/>
                    <a:lstStyle/>
                    <a:p>
                      <a:r>
                        <a:rPr sz="1575"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21</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10</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19</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10</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26</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18</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23</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18</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C09F28F5-B4B2-4892-8AB5-A55966F36117}"/>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P4 hangi süreyi CPU bekler?</a:t>
            </a:r>
          </a:p>
        </p:txBody>
      </p:sp>
      <p:sp>
        <p:nvSpPr>
          <p:cNvPr id="5" name="">
            <a:extLst xmlns:a="http://schemas.openxmlformats.org/drawingml/2006/main">
              <a:ext uri="{FF2B5EF4-FFF2-40B4-BE49-F238E27FC236}">
                <a16:creationId xmlns:a16="http://schemas.microsoft.com/office/drawing/2014/main" id="{642FD2B8-C3DE-4161-B41D-37140C20B0B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Tek worker’da iş kuyruğu</a:t>
            </a:r>
          </a:p>
        </p:txBody>
      </p:sp>
      <p:sp>
        <p:nvSpPr>
          <p:cNvPr id="6" name="">
            <a:extLst xmlns:a="http://schemas.openxmlformats.org/drawingml/2006/main">
              <a:ext uri="{FF2B5EF4-FFF2-40B4-BE49-F238E27FC236}">
                <a16:creationId xmlns:a16="http://schemas.microsoft.com/office/drawing/2014/main" id="{A08C2032-C7DC-4240-A40C-C06C946928F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Uzun rapor kısa işi arkasında tutar.</a:t>
            </a:r>
          </a:p>
        </p:txBody>
      </p:sp>
      <p:sp>
        <p:nvSpPr>
          <p:cNvPr id="7" name="">
            <a:extLst xmlns:a="http://schemas.openxmlformats.org/drawingml/2006/main">
              <a:ext uri="{FF2B5EF4-FFF2-40B4-BE49-F238E27FC236}">
                <a16:creationId xmlns:a16="http://schemas.microsoft.com/office/drawing/2014/main" id="{B6FB4326-068C-45A1-888A-6DD808CF72D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8" name="">
            <a:extLst xmlns:a="http://schemas.openxmlformats.org/drawingml/2006/main">
              <a:ext uri="{FF2B5EF4-FFF2-40B4-BE49-F238E27FC236}">
                <a16:creationId xmlns:a16="http://schemas.microsoft.com/office/drawing/2014/main" id="{22A784FA-6F41-47E1-A0B2-884B17352B3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30</a:t>
            </a:r>
          </a:p>
        </p:txBody>
      </p:sp>
    </p:spTree>
    <p:extLst>
      <p:ext uri="{BB962C8B-B14F-4D97-AF65-F5344CB8AC3E}">
        <p14:creationId xmlns:p14="http://schemas.microsoft.com/office/powerpoint/2010/main" val="454368357"/>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0EF191-0051-457F-B804-81BB9EFB1AA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SJF: yalnız hazır kısa işi seç</a:t>
            </a:r>
          </a:p>
        </p:txBody>
      </p:sp>
      <p:sp>
        <p:nvSpPr>
          <p:cNvPr id="2" name="">
            <a:extLst xmlns:a="http://schemas.openxmlformats.org/drawingml/2006/main">
              <a:ext uri="{FF2B5EF4-FFF2-40B4-BE49-F238E27FC236}">
                <a16:creationId xmlns:a16="http://schemas.microsoft.com/office/drawing/2014/main" id="{EB0B351D-C935-4146-9B4A-082C4B0FF5CA}"/>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İz: P1 0–8 → P2 8–12 → P4 12–17 → P3 17–26</a:t>
            </a:r>
          </a:p>
        </p:txBody>
      </p:sp>
      <p:graphicFrame>
        <p:nvGraphicFramePr>
          <p:cNvPr id="11" name=""/>
          <p:cNvGraphicFramePr/>
          <p:nvPr/>
        </p:nvGraphicFramePr>
        <p:xfrm>
          <a:off xmlns:a="http://schemas.openxmlformats.org/drawingml/2006/main" x="609600" y="2571750"/>
          <a:ext xmlns:a="http://schemas.openxmlformats.org/drawingml/2006/main" cx="10972800" cy="2009775"/>
        </p:xfrm>
        <a:graphic xmlns:a="http://schemas.openxmlformats.org/drawingml/2006/main">
          <a:graphicData uri="http://schemas.openxmlformats.org/drawingml/2006/table">
            <a:tbl>
              <a:tblPr/>
              <a:tblGrid>
                <a:gridCol w="2194560"/>
                <a:gridCol w="2194560"/>
                <a:gridCol w="2194560"/>
                <a:gridCol w="2194560"/>
                <a:gridCol w="2194560"/>
              </a:tblGrid>
              <a:tr h="401955">
                <a:tc>
                  <a:txBody>
                    <a:bodyPr/>
                    <a:lstStyle/>
                    <a:p>
                      <a:r>
                        <a:rPr sz="1575"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C</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W</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R</a:t>
                      </a:r>
                    </a:p>
                  </a:txBody>
                  <a:tcPr marL="114300" marR="114300" marT="47625" marB="47625" anchor="ctr">
                    <a:solidFill>
                      <a:srgbClr val="122C42"/>
                    </a:solidFill>
                  </a:tcPr>
                </a:tc>
              </a:tr>
              <a:tr h="401955">
                <a:tc>
                  <a:txBody>
                    <a:bodyPr/>
                    <a:lstStyle/>
                    <a:p>
                      <a:r>
                        <a:rPr sz="1575"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11</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r>
              <a:tr h="401955">
                <a:tc>
                  <a:txBody>
                    <a:bodyPr/>
                    <a:lstStyle/>
                    <a:p>
                      <a:r>
                        <a:rPr sz="1575"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26</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24</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17</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9</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9</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B82C8DFA-6BD8-464D-B404-9B4EAA8844D7}"/>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P3’ün beklemesi FCFS’ye göre neden arttı?</a:t>
            </a:r>
          </a:p>
        </p:txBody>
      </p:sp>
      <p:sp>
        <p:nvSpPr>
          <p:cNvPr id="5" name="">
            <a:extLst xmlns:a="http://schemas.openxmlformats.org/drawingml/2006/main">
              <a:ext uri="{FF2B5EF4-FFF2-40B4-BE49-F238E27FC236}">
                <a16:creationId xmlns:a16="http://schemas.microsoft.com/office/drawing/2014/main" id="{0126C689-33EC-4604-BA20-F7472BD5695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Hızlı kasa</a:t>
            </a:r>
          </a:p>
        </p:txBody>
      </p:sp>
      <p:sp>
        <p:nvSpPr>
          <p:cNvPr id="6" name="">
            <a:extLst xmlns:a="http://schemas.openxmlformats.org/drawingml/2006/main">
              <a:ext uri="{FF2B5EF4-FFF2-40B4-BE49-F238E27FC236}">
                <a16:creationId xmlns:a16="http://schemas.microsoft.com/office/drawing/2014/main" id="{904C72BC-10EE-4595-952D-A20D26E8FCF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Kısa talepler için hızlı sıra bulunur.</a:t>
            </a:r>
          </a:p>
        </p:txBody>
      </p:sp>
      <p:sp>
        <p:nvSpPr>
          <p:cNvPr id="7" name="">
            <a:extLst xmlns:a="http://schemas.openxmlformats.org/drawingml/2006/main">
              <a:ext uri="{FF2B5EF4-FFF2-40B4-BE49-F238E27FC236}">
                <a16:creationId xmlns:a16="http://schemas.microsoft.com/office/drawing/2014/main" id="{360E36CF-4A6D-408F-8AEB-E11272DA57C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8" name="">
            <a:extLst xmlns:a="http://schemas.openxmlformats.org/drawingml/2006/main">
              <a:ext uri="{FF2B5EF4-FFF2-40B4-BE49-F238E27FC236}">
                <a16:creationId xmlns:a16="http://schemas.microsoft.com/office/drawing/2014/main" id="{074E76A3-61ED-48B8-81E2-03E2352DFC2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30</a:t>
            </a:r>
          </a:p>
        </p:txBody>
      </p:sp>
    </p:spTree>
    <p:extLst>
      <p:ext uri="{BB962C8B-B14F-4D97-AF65-F5344CB8AC3E}">
        <p14:creationId xmlns:p14="http://schemas.microsoft.com/office/powerpoint/2010/main" val="1367274988"/>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6D2FEF-55F0-49BD-BB1A-BA05DC12D89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Geleceği bilmiyoruz: burst tahmini</a:t>
            </a:r>
          </a:p>
        </p:txBody>
      </p:sp>
      <p:sp>
        <p:nvSpPr>
          <p:cNvPr id="2" name="">
            <a:extLst xmlns:a="http://schemas.openxmlformats.org/drawingml/2006/main">
              <a:ext uri="{FF2B5EF4-FFF2-40B4-BE49-F238E27FC236}">
                <a16:creationId xmlns:a16="http://schemas.microsoft.com/office/drawing/2014/main" id="{E03A8006-3DB0-4174-A83F-F4A770767E04}"/>
              </a:ext>
            </a:extLst>
          </p:cNvPr>
          <p:cNvSpPr>
            <a:spLocks xmlns:a="http://schemas.openxmlformats.org/drawingml/2006/main" noGrp="1"/>
          </p:cNvSpPr>
          <p:nvPr/>
        </p:nvSpPr>
        <p:spPr>
          <a:xfrm xmlns:a="http://schemas.openxmlformats.org/drawingml/2006/main">
            <a:off x="742950" y="2524125"/>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τ_next = α × actual + (1−α) × τ_previous</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α=0.5, τ=10, actual=6 → τ_next=8</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sonraki actual=4 → τ_next=6</a:t>
            </a:r>
          </a:p>
        </p:txBody>
      </p:sp>
      <p:sp>
        <p:nvSpPr>
          <p:cNvPr id="3" name="">
            <a:extLst xmlns:a="http://schemas.openxmlformats.org/drawingml/2006/main">
              <a:ext uri="{FF2B5EF4-FFF2-40B4-BE49-F238E27FC236}">
                <a16:creationId xmlns:a16="http://schemas.microsoft.com/office/drawing/2014/main" id="{9CBCE808-2EC8-4475-8B27-6EACB0AED563}"/>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α=1 ve son actual=4 olsaydı?</a:t>
            </a:r>
          </a:p>
        </p:txBody>
      </p:sp>
      <p:sp>
        <p:nvSpPr>
          <p:cNvPr id="4" name="">
            <a:extLst xmlns:a="http://schemas.openxmlformats.org/drawingml/2006/main">
              <a:ext uri="{FF2B5EF4-FFF2-40B4-BE49-F238E27FC236}">
                <a16:creationId xmlns:a16="http://schemas.microsoft.com/office/drawing/2014/main" id="{9FCA4567-7A1C-441F-A87B-9E6414F3CEA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Değişen uygulama yükü</a:t>
            </a:r>
          </a:p>
        </p:txBody>
      </p:sp>
      <p:sp>
        <p:nvSpPr>
          <p:cNvPr id="5" name="">
            <a:extLst xmlns:a="http://schemas.openxmlformats.org/drawingml/2006/main">
              <a:ext uri="{FF2B5EF4-FFF2-40B4-BE49-F238E27FC236}">
                <a16:creationId xmlns:a16="http://schemas.microsoft.com/office/drawing/2014/main" id="{FFDBFF18-FBB1-4893-A5E5-8C8F7737612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Editör idle, indexing ve input arasında farklı burst üretir.</a:t>
            </a:r>
          </a:p>
        </p:txBody>
      </p:sp>
      <p:sp>
        <p:nvSpPr>
          <p:cNvPr id="6" name="">
            <a:extLst xmlns:a="http://schemas.openxmlformats.org/drawingml/2006/main">
              <a:ext uri="{FF2B5EF4-FFF2-40B4-BE49-F238E27FC236}">
                <a16:creationId xmlns:a16="http://schemas.microsoft.com/office/drawing/2014/main" id="{CE2F5430-CA29-4EDF-9824-F0743725628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C5C983EC-5AD5-487A-9B1A-417D838FC4C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30</a:t>
            </a:r>
          </a:p>
        </p:txBody>
      </p:sp>
    </p:spTree>
    <p:extLst>
      <p:ext uri="{BB962C8B-B14F-4D97-AF65-F5344CB8AC3E}">
        <p14:creationId xmlns:p14="http://schemas.microsoft.com/office/powerpoint/2010/main" val="124294732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E25A8D-FB0F-46EE-B8ED-8AD92D5A2BA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SRTF: kalan işi karşılaştır</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5486400"/>
                <a:gridCol w="5486400"/>
              </a:tblGrid>
              <a:tr h="541338">
                <a:tc>
                  <a:txBody>
                    <a:bodyPr/>
                    <a:lstStyle/>
                    <a:p>
                      <a:r>
                        <a:rPr sz="1800" b="1">
                          <a:solidFill>
                            <a:srgbClr val="FFFFFF"/>
                          </a:solidFill>
                          <a:latin typeface="Helvetica Neue"/>
                          <a:ea typeface="Helvetica Neue"/>
                          <a:cs typeface="Helvetica Neue"/>
                        </a:rPr>
                        <a:t>Olay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Karar</a:t>
                      </a:r>
                    </a:p>
                  </a:txBody>
                  <a:tcPr marL="114300" marR="114300" marT="47625" marB="47625" anchor="ctr">
                    <a:solidFill>
                      <a:srgbClr val="122C42"/>
                    </a:solidFill>
                  </a:tcPr>
                </a:tc>
              </a:tr>
              <a:tr h="541338">
                <a:tc>
                  <a:txBody>
                    <a:bodyPr/>
                    <a:lstStyle/>
                    <a:p>
                      <a:r>
                        <a:rPr sz="1800" b="0">
                          <a:solidFill>
                            <a:srgbClr val="122C42"/>
                          </a:solidFill>
                          <a:latin typeface="Helvetica Neue"/>
                          <a:ea typeface="Helvetica Neue"/>
                          <a:cs typeface="Helvetica Neue"/>
                        </a:rPr>
                        <a:t>t=0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P1 başlar:8</a:t>
                      </a:r>
                    </a:p>
                  </a:txBody>
                  <a:tcPr marL="114300" marR="114300" marT="47625" marB="47625" anchor="ctr">
                    <a:solidFill>
                      <a:srgbClr val="FFFFFF"/>
                    </a:solidFill>
                  </a:tcPr>
                </a:tc>
              </a:tr>
              <a:tr h="541338">
                <a:tc>
                  <a:txBody>
                    <a:bodyPr/>
                    <a:lstStyle/>
                    <a:p>
                      <a:r>
                        <a:rPr sz="1800" b="0">
                          <a:solidFill>
                            <a:srgbClr val="122C42"/>
                          </a:solidFill>
                          <a:latin typeface="Helvetica Neue"/>
                          <a:ea typeface="Helvetica Neue"/>
                          <a:cs typeface="Helvetica Neue"/>
                        </a:rPr>
                        <a:t>t=1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P1 kalan7 &gt; yeni P2=4: preempt</a:t>
                      </a:r>
                    </a:p>
                  </a:txBody>
                  <a:tcPr marL="114300" marR="114300" marT="47625" marB="47625" anchor="ctr">
                    <a:solidFill>
                      <a:srgbClr val="ECF0EC"/>
                    </a:solidFill>
                  </a:tcPr>
                </a:tc>
              </a:tr>
              <a:tr h="541338">
                <a:tc>
                  <a:txBody>
                    <a:bodyPr/>
                    <a:lstStyle/>
                    <a:p>
                      <a:r>
                        <a:rPr sz="1800" b="0">
                          <a:solidFill>
                            <a:srgbClr val="122C42"/>
                          </a:solidFill>
                          <a:latin typeface="Helvetica Neue"/>
                          <a:ea typeface="Helvetica Neue"/>
                          <a:cs typeface="Helvetica Neue"/>
                        </a:rPr>
                        <a:t>t=2,3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P2 kalan3,2: devam</a:t>
                      </a:r>
                    </a:p>
                  </a:txBody>
                  <a:tcPr marL="114300" marR="114300" marT="47625" marB="47625" anchor="ctr">
                    <a:solidFill>
                      <a:srgbClr val="FFFFFF"/>
                    </a:solidFill>
                  </a:tcPr>
                </a:tc>
              </a:tr>
              <a:tr h="541338">
                <a:tc>
                  <a:txBody>
                    <a:bodyPr/>
                    <a:lstStyle/>
                    <a:p>
                      <a:r>
                        <a:rPr sz="1800" b="0">
                          <a:solidFill>
                            <a:srgbClr val="122C42"/>
                          </a:solidFill>
                          <a:latin typeface="Helvetica Neue"/>
                          <a:ea typeface="Helvetica Neue"/>
                          <a:cs typeface="Helvetica Neue"/>
                        </a:rPr>
                        <a:t>t=5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P4=5 &lt; P1=7 &lt; P3=9</a:t>
                      </a:r>
                    </a:p>
                  </a:txBody>
                  <a:tcPr marL="114300" marR="114300" marT="47625" marB="47625" anchor="ctr">
                    <a:solidFill>
                      <a:srgbClr val="ECF0EC"/>
                    </a:solidFill>
                  </a:tcPr>
                </a:tc>
              </a:tr>
              <a:tr h="541338">
                <a:tc>
                  <a:txBody>
                    <a:bodyPr/>
                    <a:lstStyle/>
                    <a:p>
                      <a:r>
                        <a:rPr sz="1800" b="0">
                          <a:solidFill>
                            <a:srgbClr val="122C42"/>
                          </a:solidFill>
                          <a:latin typeface="Helvetica Neue"/>
                          <a:ea typeface="Helvetica Neue"/>
                          <a:cs typeface="Helvetica Neue"/>
                        </a:rPr>
                        <a:t>İz</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P1 0–1; P2 1–5; P4 5–10; P1 10–17; P3 17–26</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7214090-1862-4DC8-9A03-8D9FA5685536}"/>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t=3’te P1’in eski8 burst’üyle mi karar veririz?</a:t>
            </a:r>
          </a:p>
        </p:txBody>
      </p:sp>
      <p:sp>
        <p:nvSpPr>
          <p:cNvPr id="4" name="">
            <a:extLst xmlns:a="http://schemas.openxmlformats.org/drawingml/2006/main">
              <a:ext uri="{FF2B5EF4-FFF2-40B4-BE49-F238E27FC236}">
                <a16:creationId xmlns:a16="http://schemas.microsoft.com/office/drawing/2014/main" id="{23AEC0D2-1492-492C-9DBE-6F67AD57467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F4A50659-60A3-4137-B660-B19FFBBB7B4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30</a:t>
            </a:r>
          </a:p>
        </p:txBody>
      </p:sp>
    </p:spTree>
    <p:extLst>
      <p:ext uri="{BB962C8B-B14F-4D97-AF65-F5344CB8AC3E}">
        <p14:creationId xmlns:p14="http://schemas.microsoft.com/office/powerpoint/2010/main" val="75940671"/>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D0C111-FD12-4BB8-9008-0BA9EB69A1F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hizmet ile toplam bekleme farklı</a:t>
            </a:r>
          </a:p>
        </p:txBody>
      </p:sp>
      <p:sp>
        <p:nvSpPr>
          <p:cNvPr id="2" name="">
            <a:extLst xmlns:a="http://schemas.openxmlformats.org/drawingml/2006/main">
              <a:ext uri="{FF2B5EF4-FFF2-40B4-BE49-F238E27FC236}">
                <a16:creationId xmlns:a16="http://schemas.microsoft.com/office/drawing/2014/main" id="{9EC7A86C-C566-4471-84A4-0948AD89CD48}"/>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SRTF ortalama W=6.5, T=13, R=4.25</a:t>
            </a:r>
          </a:p>
        </p:txBody>
      </p:sp>
      <p:graphicFrame>
        <p:nvGraphicFramePr>
          <p:cNvPr id="11" name=""/>
          <p:cNvGraphicFramePr/>
          <p:nvPr/>
        </p:nvGraphicFramePr>
        <p:xfrm>
          <a:off xmlns:a="http://schemas.openxmlformats.org/drawingml/2006/main" x="609600" y="2571750"/>
          <a:ext xmlns:a="http://schemas.openxmlformats.org/drawingml/2006/main" cx="10972800" cy="2009775"/>
        </p:xfrm>
        <a:graphic xmlns:a="http://schemas.openxmlformats.org/drawingml/2006/main">
          <a:graphicData uri="http://schemas.openxmlformats.org/drawingml/2006/table">
            <a:tbl>
              <a:tblPr/>
              <a:tblGrid>
                <a:gridCol w="2194560"/>
                <a:gridCol w="2194560"/>
                <a:gridCol w="2194560"/>
                <a:gridCol w="2194560"/>
                <a:gridCol w="2194560"/>
              </a:tblGrid>
              <a:tr h="401955">
                <a:tc>
                  <a:txBody>
                    <a:bodyPr/>
                    <a:lstStyle/>
                    <a:p>
                      <a:r>
                        <a:rPr sz="1575"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C</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W</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R</a:t>
                      </a:r>
                    </a:p>
                  </a:txBody>
                  <a:tcPr marL="114300" marR="114300" marT="47625" marB="47625" anchor="ctr">
                    <a:solidFill>
                      <a:srgbClr val="122C42"/>
                    </a:solidFill>
                  </a:tcPr>
                </a:tc>
              </a:tr>
              <a:tr h="401955">
                <a:tc>
                  <a:txBody>
                    <a:bodyPr/>
                    <a:lstStyle/>
                    <a:p>
                      <a:r>
                        <a:rPr sz="1575"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17</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9</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17</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5</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ECF0EC"/>
                    </a:solidFill>
                  </a:tcPr>
                </a:tc>
              </a:tr>
              <a:tr h="401955">
                <a:tc>
                  <a:txBody>
                    <a:bodyPr/>
                    <a:lstStyle/>
                    <a:p>
                      <a:r>
                        <a:rPr sz="1575"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26</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24</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FFFFFF"/>
                    </a:solidFill>
                  </a:tcPr>
                </a:tc>
              </a:tr>
              <a:tr h="401955">
                <a:tc>
                  <a:txBody>
                    <a:bodyPr/>
                    <a:lstStyle/>
                    <a:p>
                      <a:r>
                        <a:rPr sz="1575"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10</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673B4CEB-E7E6-4A82-8235-7EDC5A44B5A2}"/>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R=0 ise W de sıfır olmak zorunda mı?</a:t>
            </a:r>
          </a:p>
        </p:txBody>
      </p:sp>
      <p:sp>
        <p:nvSpPr>
          <p:cNvPr id="5" name="">
            <a:extLst xmlns:a="http://schemas.openxmlformats.org/drawingml/2006/main">
              <a:ext uri="{FF2B5EF4-FFF2-40B4-BE49-F238E27FC236}">
                <a16:creationId xmlns:a16="http://schemas.microsoft.com/office/drawing/2014/main" id="{63C26421-1579-4E6C-BA70-CA9D790A44C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Başladı ama bitmedi</a:t>
            </a:r>
          </a:p>
        </p:txBody>
      </p:sp>
      <p:sp>
        <p:nvSpPr>
          <p:cNvPr id="6" name="">
            <a:extLst xmlns:a="http://schemas.openxmlformats.org/drawingml/2006/main">
              <a:ext uri="{FF2B5EF4-FFF2-40B4-BE49-F238E27FC236}">
                <a16:creationId xmlns:a16="http://schemas.microsoft.com/office/drawing/2014/main" id="{FA7BE1D4-DC39-4EE8-9F09-B5DE06007CC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Progress göstergesi hemen belirir, iş sonradan çok bekler.</a:t>
            </a:r>
          </a:p>
        </p:txBody>
      </p:sp>
      <p:sp>
        <p:nvSpPr>
          <p:cNvPr id="7" name="">
            <a:extLst xmlns:a="http://schemas.openxmlformats.org/drawingml/2006/main">
              <a:ext uri="{FF2B5EF4-FFF2-40B4-BE49-F238E27FC236}">
                <a16:creationId xmlns:a16="http://schemas.microsoft.com/office/drawing/2014/main" id="{6FE9DAAA-EC9C-448B-9B28-5EE1CED6935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8" name="">
            <a:extLst xmlns:a="http://schemas.openxmlformats.org/drawingml/2006/main">
              <a:ext uri="{FF2B5EF4-FFF2-40B4-BE49-F238E27FC236}">
                <a16:creationId xmlns:a16="http://schemas.microsoft.com/office/drawing/2014/main" id="{AC7028F0-BF06-41E0-B4D4-A9C819FE22E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30</a:t>
            </a:r>
          </a:p>
        </p:txBody>
      </p:sp>
    </p:spTree>
    <p:extLst>
      <p:ext uri="{BB962C8B-B14F-4D97-AF65-F5344CB8AC3E}">
        <p14:creationId xmlns:p14="http://schemas.microsoft.com/office/powerpoint/2010/main" val="1540237610"/>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A93C1B-5B65-4907-A193-5E8614C0D4C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RR: servis turunun kesin kuralları</a:t>
            </a:r>
          </a:p>
        </p:txBody>
      </p:sp>
      <p:sp>
        <p:nvSpPr>
          <p:cNvPr id="2" name="">
            <a:extLst xmlns:a="http://schemas.openxmlformats.org/drawingml/2006/main">
              <a:ext uri="{FF2B5EF4-FFF2-40B4-BE49-F238E27FC236}">
                <a16:creationId xmlns:a16="http://schemas.microsoft.com/office/drawing/2014/main" id="{21F79D9C-A87B-4324-8C97-54B43054E342}"/>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07BC9D5-93B2-430D-8200-52D9DDA9BF53}"/>
              </a:ext>
            </a:extLst>
          </p:cNvPr>
          <p:cNvSpPr>
            <a:spLocks xmlns:a="http://schemas.openxmlformats.org/drawingml/2006/main" noGrp="1"/>
          </p:cNvSpPr>
          <p:nvPr/>
        </p:nvSpPr>
        <p:spPr>
          <a:xfrm xmlns:a="http://schemas.openxmlformats.org/drawingml/2006/main">
            <a:off x="1200150" y="19526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Quantum q=2; FIFO ready queue</a:t>
            </a:r>
          </a:p>
        </p:txBody>
      </p:sp>
      <p:sp>
        <p:nvSpPr>
          <p:cNvPr id="4" name="">
            <a:extLst xmlns:a="http://schemas.openxmlformats.org/drawingml/2006/main">
              <a:ext uri="{FF2B5EF4-FFF2-40B4-BE49-F238E27FC236}">
                <a16:creationId xmlns:a16="http://schemas.microsoft.com/office/drawing/2014/main" id="{DEEFFCAB-8709-434B-BDC9-BC198E4C92F3}"/>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731B69F-85D5-4C84-B974-C590B7C0ECE4}"/>
              </a:ext>
            </a:extLst>
          </p:cNvPr>
          <p:cNvSpPr>
            <a:spLocks xmlns:a="http://schemas.openxmlformats.org/drawingml/2006/main" noGrp="1"/>
          </p:cNvSpPr>
          <p:nvPr/>
        </p:nvSpPr>
        <p:spPr>
          <a:xfrm xmlns:a="http://schemas.openxmlformats.org/drawingml/2006/main">
            <a:off x="1200150" y="2819400"/>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Aralık sonundaki arrivals önce kuyruğa eklenir</a:t>
            </a:r>
          </a:p>
        </p:txBody>
      </p:sp>
      <p:sp>
        <p:nvSpPr>
          <p:cNvPr id="6" name="">
            <a:extLst xmlns:a="http://schemas.openxmlformats.org/drawingml/2006/main">
              <a:ext uri="{FF2B5EF4-FFF2-40B4-BE49-F238E27FC236}">
                <a16:creationId xmlns:a16="http://schemas.microsoft.com/office/drawing/2014/main" id="{38A378CD-7373-431F-BC65-AC96DD43C085}"/>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51C4D99-3141-471F-8CB2-5127CA4F077A}"/>
              </a:ext>
            </a:extLst>
          </p:cNvPr>
          <p:cNvSpPr>
            <a:spLocks xmlns:a="http://schemas.openxmlformats.org/drawingml/2006/main" noGrp="1"/>
          </p:cNvSpPr>
          <p:nvPr/>
        </p:nvSpPr>
        <p:spPr>
          <a:xfrm xmlns:a="http://schemas.openxmlformats.org/drawingml/2006/main">
            <a:off x="1200150" y="368617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Bitmeyen current sonra kuyruğun sonuna döner</a:t>
            </a:r>
          </a:p>
        </p:txBody>
      </p:sp>
      <p:sp>
        <p:nvSpPr>
          <p:cNvPr id="8" name="">
            <a:extLst xmlns:a="http://schemas.openxmlformats.org/drawingml/2006/main">
              <a:ext uri="{FF2B5EF4-FFF2-40B4-BE49-F238E27FC236}">
                <a16:creationId xmlns:a16="http://schemas.microsoft.com/office/drawing/2014/main" id="{77A06C26-E62D-4ECB-9857-2294687125C4}"/>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t=2 kuyruğu P2,P1,P3 yapsak aynı iz mi?</a:t>
            </a:r>
          </a:p>
        </p:txBody>
      </p:sp>
      <p:sp>
        <p:nvSpPr>
          <p:cNvPr id="9" name="">
            <a:extLst xmlns:a="http://schemas.openxmlformats.org/drawingml/2006/main">
              <a:ext uri="{FF2B5EF4-FFF2-40B4-BE49-F238E27FC236}">
                <a16:creationId xmlns:a16="http://schemas.microsoft.com/office/drawing/2014/main" id="{2F5CEAFA-3D6A-483E-8EBC-9E3C51BD2B2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Paylaşılan etkileşim</a:t>
            </a:r>
          </a:p>
        </p:txBody>
      </p:sp>
      <p:sp>
        <p:nvSpPr>
          <p:cNvPr id="10" name="">
            <a:extLst xmlns:a="http://schemas.openxmlformats.org/drawingml/2006/main">
              <a:ext uri="{FF2B5EF4-FFF2-40B4-BE49-F238E27FC236}">
                <a16:creationId xmlns:a16="http://schemas.microsoft.com/office/drawing/2014/main" id="{27665CEE-912F-48DE-A23C-64AFD175D01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Birçok kullanıcı sırayla kısa CPU fırsatı alır.</a:t>
            </a:r>
          </a:p>
        </p:txBody>
      </p:sp>
      <p:sp>
        <p:nvSpPr>
          <p:cNvPr id="11" name="">
            <a:extLst xmlns:a="http://schemas.openxmlformats.org/drawingml/2006/main">
              <a:ext uri="{FF2B5EF4-FFF2-40B4-BE49-F238E27FC236}">
                <a16:creationId xmlns:a16="http://schemas.microsoft.com/office/drawing/2014/main" id="{0EEF29FB-F4EF-4889-809A-87E63A67FD3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2" name="">
            <a:extLst xmlns:a="http://schemas.openxmlformats.org/drawingml/2006/main">
              <a:ext uri="{FF2B5EF4-FFF2-40B4-BE49-F238E27FC236}">
                <a16:creationId xmlns:a16="http://schemas.microsoft.com/office/drawing/2014/main" id="{0BCAAD29-B4C4-44A6-BA5D-17A21C32163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30</a:t>
            </a:r>
          </a:p>
        </p:txBody>
      </p:sp>
    </p:spTree>
    <p:extLst>
      <p:ext uri="{BB962C8B-B14F-4D97-AF65-F5344CB8AC3E}">
        <p14:creationId xmlns:p14="http://schemas.microsoft.com/office/powerpoint/2010/main" val="1948786517"/>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57011E-9141-4EBF-83BA-BB26EB94D89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RR izini kendin takip et</a:t>
            </a:r>
          </a:p>
        </p:txBody>
      </p:sp>
      <p:sp>
        <p:nvSpPr>
          <p:cNvPr id="2" name="">
            <a:extLst xmlns:a="http://schemas.openxmlformats.org/drawingml/2006/main">
              <a:ext uri="{FF2B5EF4-FFF2-40B4-BE49-F238E27FC236}">
                <a16:creationId xmlns:a16="http://schemas.microsoft.com/office/drawing/2014/main" id="{1B13671E-B86F-419A-B9FB-583E432CFF74}"/>
              </a:ext>
            </a:extLst>
          </p:cNvPr>
          <p:cNvSpPr>
            <a:spLocks xmlns:a="http://schemas.openxmlformats.org/drawingml/2006/main" noGrp="1"/>
          </p:cNvSpPr>
          <p:nvPr/>
        </p:nvSpPr>
        <p:spPr>
          <a:xfrm xmlns:a="http://schemas.openxmlformats.org/drawingml/2006/main">
            <a:off x="742950" y="2524125"/>
            <a:ext cx="10715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0–2 P1   | 2–4 P2   | 4–6 P3</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6–8 P1   | 8–10 P4  | 10–12 P2✓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12–14 P3 | 14–16 P1 | 16–18 P4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18–20 P3 | 20–22 P1✓| 22–23 P4✓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23–26 P3✓</a:t>
            </a:r>
          </a:p>
        </p:txBody>
      </p:sp>
      <p:sp>
        <p:nvSpPr>
          <p:cNvPr id="3" name="">
            <a:extLst xmlns:a="http://schemas.openxmlformats.org/drawingml/2006/main">
              <a:ext uri="{FF2B5EF4-FFF2-40B4-BE49-F238E27FC236}">
                <a16:creationId xmlns:a16="http://schemas.microsoft.com/office/drawing/2014/main" id="{FD908E52-BAED-43F7-938A-A619F2F5FDFD}"/>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P4 arrival3; neden first service8?</a:t>
            </a:r>
          </a:p>
        </p:txBody>
      </p:sp>
      <p:sp>
        <p:nvSpPr>
          <p:cNvPr id="4" name="">
            <a:extLst xmlns:a="http://schemas.openxmlformats.org/drawingml/2006/main">
              <a:ext uri="{FF2B5EF4-FFF2-40B4-BE49-F238E27FC236}">
                <a16:creationId xmlns:a16="http://schemas.microsoft.com/office/drawing/2014/main" id="{FC01CC9B-EB68-4A32-90B0-83DE37AFC38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5465DDB9-8D07-4C96-8880-A719E228C94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30</a:t>
            </a:r>
          </a:p>
        </p:txBody>
      </p:sp>
    </p:spTree>
    <p:extLst>
      <p:ext uri="{BB962C8B-B14F-4D97-AF65-F5344CB8AC3E}">
        <p14:creationId xmlns:p14="http://schemas.microsoft.com/office/powerpoint/2010/main" val="161025612"/>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F2BACA-8B0F-474E-841A-48C7FD4A731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RR sonucu: tek kazanan metrik yok</a:t>
            </a:r>
          </a:p>
        </p:txBody>
      </p:sp>
      <p:sp>
        <p:nvSpPr>
          <p:cNvPr id="2" name="">
            <a:extLst xmlns:a="http://schemas.openxmlformats.org/drawingml/2006/main">
              <a:ext uri="{FF2B5EF4-FFF2-40B4-BE49-F238E27FC236}">
                <a16:creationId xmlns:a16="http://schemas.microsoft.com/office/drawing/2014/main" id="{7CAE2D7C-850D-47B2-903B-55F4A406153E}"/>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W=12.75, T=19.25, R=2</a:t>
            </a:r>
          </a:p>
        </p:txBody>
      </p:sp>
      <p:graphicFrame>
        <p:nvGraphicFramePr>
          <p:cNvPr id="9" name=""/>
          <p:cNvGraphicFramePr/>
          <p:nvPr/>
        </p:nvGraphicFramePr>
        <p:xfrm>
          <a:off xmlns:a="http://schemas.openxmlformats.org/drawingml/2006/main" x="609600" y="2571750"/>
          <a:ext xmlns:a="http://schemas.openxmlformats.org/drawingml/2006/main" cx="10972800" cy="2533650"/>
        </p:xfrm>
        <a:graphic xmlns:a="http://schemas.openxmlformats.org/drawingml/2006/main">
          <a:graphicData uri="http://schemas.openxmlformats.org/drawingml/2006/table">
            <a:tbl>
              <a:tblPr/>
              <a:tblGrid>
                <a:gridCol w="2194560"/>
                <a:gridCol w="2194560"/>
                <a:gridCol w="2194560"/>
                <a:gridCol w="2194560"/>
                <a:gridCol w="2194560"/>
              </a:tblGrid>
              <a:tr h="506730">
                <a:tc>
                  <a:txBody>
                    <a:bodyPr/>
                    <a:lstStyle/>
                    <a:p>
                      <a:r>
                        <a:rPr sz="1575"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C</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W</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575" b="1">
                          <a:solidFill>
                            <a:srgbClr val="FFFFFF"/>
                          </a:solidFill>
                          <a:latin typeface="Helvetica Neue"/>
                          <a:ea typeface="Helvetica Neue"/>
                          <a:cs typeface="Helvetica Neue"/>
                        </a:rPr>
                        <a:t>R</a:t>
                      </a:r>
                    </a:p>
                  </a:txBody>
                  <a:tcPr marL="114300" marR="114300" marT="47625" marB="47625" anchor="ctr">
                    <a:solidFill>
                      <a:srgbClr val="122C42"/>
                    </a:solidFill>
                  </a:tcPr>
                </a:tc>
              </a:tr>
              <a:tr h="506730">
                <a:tc>
                  <a:txBody>
                    <a:bodyPr/>
                    <a:lstStyle/>
                    <a:p>
                      <a:r>
                        <a:rPr sz="1575"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22</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14</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22</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0</a:t>
                      </a:r>
                    </a:p>
                  </a:txBody>
                  <a:tcPr marL="114300" marR="114300" marT="47625" marB="47625" anchor="ctr">
                    <a:solidFill>
                      <a:srgbClr val="FFFFFF"/>
                    </a:solidFill>
                  </a:tcPr>
                </a:tc>
              </a:tr>
              <a:tr h="506730">
                <a:tc>
                  <a:txBody>
                    <a:bodyPr/>
                    <a:lstStyle/>
                    <a:p>
                      <a:r>
                        <a:rPr sz="1575"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12</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7</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11</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a:t>
                      </a:r>
                    </a:p>
                  </a:txBody>
                  <a:tcPr marL="114300" marR="114300" marT="47625" marB="47625" anchor="ctr">
                    <a:solidFill>
                      <a:srgbClr val="ECF0EC"/>
                    </a:solidFill>
                  </a:tcPr>
                </a:tc>
              </a:tr>
              <a:tr h="506730">
                <a:tc>
                  <a:txBody>
                    <a:bodyPr/>
                    <a:lstStyle/>
                    <a:p>
                      <a:r>
                        <a:rPr sz="1575"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26</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24</a:t>
                      </a:r>
                    </a:p>
                  </a:txBody>
                  <a:tcPr marL="114300" marR="114300" marT="47625" marB="47625" anchor="ctr">
                    <a:solidFill>
                      <a:srgbClr val="FFFFFF"/>
                    </a:solidFill>
                  </a:tcPr>
                </a:tc>
                <a:tc>
                  <a:txBody>
                    <a:bodyPr/>
                    <a:lstStyle/>
                    <a:p>
                      <a:r>
                        <a:rPr sz="1575" b="0">
                          <a:solidFill>
                            <a:srgbClr val="122C42"/>
                          </a:solidFill>
                          <a:latin typeface="Helvetica Neue"/>
                          <a:ea typeface="Helvetica Neue"/>
                          <a:cs typeface="Helvetica Neue"/>
                        </a:rPr>
                        <a:t>2</a:t>
                      </a:r>
                    </a:p>
                  </a:txBody>
                  <a:tcPr marL="114300" marR="114300" marT="47625" marB="47625" anchor="ctr">
                    <a:solidFill>
                      <a:srgbClr val="FFFFFF"/>
                    </a:solidFill>
                  </a:tcPr>
                </a:tc>
              </a:tr>
              <a:tr h="506730">
                <a:tc>
                  <a:txBody>
                    <a:bodyPr/>
                    <a:lstStyle/>
                    <a:p>
                      <a:r>
                        <a:rPr sz="1575"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23</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15</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20</a:t>
                      </a:r>
                    </a:p>
                  </a:txBody>
                  <a:tcPr marL="114300" marR="114300" marT="47625" marB="47625" anchor="ctr">
                    <a:solidFill>
                      <a:srgbClr val="ECF0EC"/>
                    </a:solidFill>
                  </a:tcPr>
                </a:tc>
                <a:tc>
                  <a:txBody>
                    <a:bodyPr/>
                    <a:lstStyle/>
                    <a:p>
                      <a:r>
                        <a:rPr sz="1575" b="0">
                          <a:solidFill>
                            <a:srgbClr val="122C42"/>
                          </a:solidFill>
                          <a:latin typeface="Helvetica Neue"/>
                          <a:ea typeface="Helvetica Neue"/>
                          <a:cs typeface="Helvetica Neue"/>
                        </a:rPr>
                        <a:t>5</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8E084710-858F-42FF-9FB0-B435460D7D77}"/>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RR mi SRTF mi daha iyi?</a:t>
            </a:r>
          </a:p>
        </p:txBody>
      </p:sp>
      <p:sp>
        <p:nvSpPr>
          <p:cNvPr id="5" name="">
            <a:extLst xmlns:a="http://schemas.openxmlformats.org/drawingml/2006/main">
              <a:ext uri="{FF2B5EF4-FFF2-40B4-BE49-F238E27FC236}">
                <a16:creationId xmlns:a16="http://schemas.microsoft.com/office/drawing/2014/main" id="{A84A8243-FF50-4BA8-ACB3-7F8E0CC7652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6" name="">
            <a:extLst xmlns:a="http://schemas.openxmlformats.org/drawingml/2006/main">
              <a:ext uri="{FF2B5EF4-FFF2-40B4-BE49-F238E27FC236}">
                <a16:creationId xmlns:a16="http://schemas.microsoft.com/office/drawing/2014/main" id="{483452BC-4DAD-4875-B1FC-4E1F9C764F2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30</a:t>
            </a:r>
          </a:p>
        </p:txBody>
      </p:sp>
    </p:spTree>
    <p:extLst>
      <p:ext uri="{BB962C8B-B14F-4D97-AF65-F5344CB8AC3E}">
        <p14:creationId xmlns:p14="http://schemas.microsoft.com/office/powerpoint/2010/main" val="1996999444"/>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2B654C-CF85-4BCF-B1C1-097EA14D03B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Maliyeti geri koy: quantum bedava değil</a:t>
            </a:r>
          </a:p>
        </p:txBody>
      </p:sp>
      <p:graphicFrame>
        <p:nvGraphicFramePr>
          <p:cNvPr id="9" name=""/>
          <p:cNvGraphicFramePr/>
          <p:nvPr/>
        </p:nvGraphicFramePr>
        <p:xfrm>
          <a:off xmlns:a="http://schemas.openxmlformats.org/drawingml/2006/main" x="609600" y="1857375"/>
          <a:ext xmlns:a="http://schemas.openxmlformats.org/drawingml/2006/main" cx="10972800" cy="2724150"/>
        </p:xfrm>
        <a:graphic xmlns:a="http://schemas.openxmlformats.org/drawingml/2006/main">
          <a:graphicData uri="http://schemas.openxmlformats.org/drawingml/2006/table">
            <a:tbl>
              <a:tblPr/>
              <a:tblGrid>
                <a:gridCol w="2743200"/>
                <a:gridCol w="2743200"/>
                <a:gridCol w="2743200"/>
                <a:gridCol w="2743200"/>
              </a:tblGrid>
              <a:tr h="544830">
                <a:tc>
                  <a:txBody>
                    <a:bodyPr/>
                    <a:lstStyle/>
                    <a:p>
                      <a:r>
                        <a:rPr sz="1800" b="1">
                          <a:solidFill>
                            <a:srgbClr val="FFFFFF"/>
                          </a:solidFill>
                          <a:latin typeface="Helvetica Neue"/>
                          <a:ea typeface="Helvetica Neue"/>
                          <a:cs typeface="Helvetica Neue"/>
                        </a:rPr>
                        <a:t>Policy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Mean W</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Mean T</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Mean R</a:t>
                      </a:r>
                    </a:p>
                  </a:txBody>
                  <a:tcPr marL="114300" marR="114300" marT="47625" marB="47625" anchor="ctr">
                    <a:solidFill>
                      <a:srgbClr val="122C42"/>
                    </a:solidFill>
                  </a:tcPr>
                </a:tc>
              </a:tr>
              <a:tr h="544830">
                <a:tc>
                  <a:txBody>
                    <a:bodyPr/>
                    <a:lstStyle/>
                    <a:p>
                      <a:r>
                        <a:rPr sz="1800" b="0">
                          <a:solidFill>
                            <a:srgbClr val="122C42"/>
                          </a:solidFill>
                          <a:latin typeface="Helvetica Neue"/>
                          <a:ea typeface="Helvetica Neue"/>
                          <a:cs typeface="Helvetica Neue"/>
                        </a:rPr>
                        <a:t>FCFS</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8.75</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15.25</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8.75</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SJF</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7.75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14.25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7.75</a:t>
                      </a:r>
                    </a:p>
                  </a:txBody>
                  <a:tcPr marL="114300" marR="114300" marT="47625" marB="47625" anchor="ctr">
                    <a:solidFill>
                      <a:srgbClr val="ECF0EC"/>
                    </a:solidFill>
                  </a:tcPr>
                </a:tc>
              </a:tr>
              <a:tr h="544830">
                <a:tc>
                  <a:txBody>
                    <a:bodyPr/>
                    <a:lstStyle/>
                    <a:p>
                      <a:r>
                        <a:rPr sz="1800" b="0">
                          <a:solidFill>
                            <a:srgbClr val="122C42"/>
                          </a:solidFill>
                          <a:latin typeface="Helvetica Neue"/>
                          <a:ea typeface="Helvetica Neue"/>
                          <a:cs typeface="Helvetica Neue"/>
                        </a:rPr>
                        <a:t>SRTF</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6.5</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4.25</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RR q=2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12.75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19.25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AD9021E7-349C-44ED-822A-DEACBB8A0900}"/>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Tek ready job varken q bitince mutlaka başka task switch olur mu?</a:t>
            </a:r>
          </a:p>
        </p:txBody>
      </p:sp>
      <p:sp>
        <p:nvSpPr>
          <p:cNvPr id="4" name="">
            <a:extLst xmlns:a="http://schemas.openxmlformats.org/drawingml/2006/main">
              <a:ext uri="{FF2B5EF4-FFF2-40B4-BE49-F238E27FC236}">
                <a16:creationId xmlns:a16="http://schemas.microsoft.com/office/drawing/2014/main" id="{066D9B7B-06D2-4937-84AA-97ECD96DB23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Çok küçük time slice</a:t>
            </a:r>
          </a:p>
        </p:txBody>
      </p:sp>
      <p:sp>
        <p:nvSpPr>
          <p:cNvPr id="5" name="">
            <a:extLst xmlns:a="http://schemas.openxmlformats.org/drawingml/2006/main">
              <a:ext uri="{FF2B5EF4-FFF2-40B4-BE49-F238E27FC236}">
                <a16:creationId xmlns:a16="http://schemas.microsoft.com/office/drawing/2014/main" id="{CB5F2EA3-51E5-4C62-AF86-1ACC02A67127}"/>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Kısa dilimler daha sık transfer potansiyeli yaratır.</a:t>
            </a:r>
          </a:p>
        </p:txBody>
      </p:sp>
      <p:sp>
        <p:nvSpPr>
          <p:cNvPr id="6" name="">
            <a:extLst xmlns:a="http://schemas.openxmlformats.org/drawingml/2006/main">
              <a:ext uri="{FF2B5EF4-FFF2-40B4-BE49-F238E27FC236}">
                <a16:creationId xmlns:a16="http://schemas.microsoft.com/office/drawing/2014/main" id="{AC4A4CA7-F760-417A-A186-3CED0C75FE9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1DE3B4D7-9BCF-42E0-9995-1C8BDBA8A1E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30</a:t>
            </a:r>
          </a:p>
        </p:txBody>
      </p:sp>
    </p:spTree>
    <p:extLst>
      <p:ext uri="{BB962C8B-B14F-4D97-AF65-F5344CB8AC3E}">
        <p14:creationId xmlns:p14="http://schemas.microsoft.com/office/powerpoint/2010/main" val="707652265"/>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A4F081-F828-4CA5-90B3-358211ABCF4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Priority: sayının yönünü yaz</a:t>
            </a:r>
          </a:p>
        </p:txBody>
      </p:sp>
      <p:sp>
        <p:nvSpPr>
          <p:cNvPr id="2" name="">
            <a:extLst xmlns:a="http://schemas.openxmlformats.org/drawingml/2006/main">
              <a:ext uri="{FF2B5EF4-FFF2-40B4-BE49-F238E27FC236}">
                <a16:creationId xmlns:a16="http://schemas.microsoft.com/office/drawing/2014/main" id="{4BC5A1BF-0604-4E34-8B9F-268E9232FCEE}"/>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Nonpreemptive iz: P1 0–8, P2 8–12, P4 12–17, P3 17–26</a:t>
            </a:r>
          </a:p>
        </p:txBody>
      </p:sp>
      <p:graphicFrame>
        <p:nvGraphicFramePr>
          <p:cNvPr id="11" name=""/>
          <p:cNvGraphicFramePr/>
          <p:nvPr/>
        </p:nvGraphicFramePr>
        <p:xfrm>
          <a:off xmlns:a="http://schemas.openxmlformats.org/drawingml/2006/main" x="609600" y="2571750"/>
          <a:ext xmlns:a="http://schemas.openxmlformats.org/drawingml/2006/main" cx="10972800" cy="2009775"/>
        </p:xfrm>
        <a:graphic xmlns:a="http://schemas.openxmlformats.org/drawingml/2006/main">
          <a:graphicData uri="http://schemas.openxmlformats.org/drawingml/2006/table">
            <a:tbl>
              <a:tblPr/>
              <a:tblGrid>
                <a:gridCol w="5486400"/>
                <a:gridCol w="5486400"/>
              </a:tblGrid>
              <a:tr h="401955">
                <a:tc>
                  <a:txBody>
                    <a:bodyPr/>
                    <a:lstStyle/>
                    <a:p>
                      <a:r>
                        <a:rPr sz="1800" b="1">
                          <a:solidFill>
                            <a:srgbClr val="FFFFFF"/>
                          </a:solidFill>
                          <a:latin typeface="Helvetica Neue"/>
                          <a:ea typeface="Helvetica Neue"/>
                          <a:cs typeface="Helvetica Neue"/>
                        </a:rPr>
                        <a:t>Job</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Öncelik</a:t>
                      </a:r>
                    </a:p>
                  </a:txBody>
                  <a:tcPr marL="114300" marR="114300" marT="47625" marB="47625" anchor="ctr">
                    <a:solidFill>
                      <a:srgbClr val="122C42"/>
                    </a:solidFill>
                  </a:tcPr>
                </a:tc>
              </a:tr>
              <a:tr h="401955">
                <a:tc>
                  <a:txBody>
                    <a:bodyPr/>
                    <a:lstStyle/>
                    <a:p>
                      <a:r>
                        <a:rPr sz="1800"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r>
              <a:tr h="401955">
                <a:tc>
                  <a:txBody>
                    <a:bodyPr/>
                    <a:lstStyle/>
                    <a:p>
                      <a:r>
                        <a:rPr sz="1800"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 (en yüksek)</a:t>
                      </a:r>
                    </a:p>
                  </a:txBody>
                  <a:tcPr marL="114300" marR="114300" marT="47625" marB="47625" anchor="ctr">
                    <a:solidFill>
                      <a:srgbClr val="ECF0EC"/>
                    </a:solidFill>
                  </a:tcPr>
                </a:tc>
              </a:tr>
              <a:tr h="401955">
                <a:tc>
                  <a:txBody>
                    <a:bodyPr/>
                    <a:lstStyle/>
                    <a:p>
                      <a:r>
                        <a:rPr sz="1800"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FFFFFF"/>
                    </a:solidFill>
                  </a:tcPr>
                </a:tc>
              </a:tr>
              <a:tr h="401955">
                <a:tc>
                  <a:txBody>
                    <a:bodyPr/>
                    <a:lstStyle/>
                    <a:p>
                      <a:r>
                        <a:rPr sz="1800" b="0">
                          <a:solidFill>
                            <a:srgbClr val="122C42"/>
                          </a:solidFill>
                          <a:latin typeface="Helvetica Neue"/>
                          <a:ea typeface="Helvetica Neue"/>
                          <a:cs typeface="Helvetica Neue"/>
                        </a:rPr>
                        <a:t>P4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EBED440C-2F3E-4342-91BB-3BDD8B29779A}"/>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P2 yüksek priority; neden t=1’de P1’i kesmiyor?</a:t>
            </a:r>
          </a:p>
        </p:txBody>
      </p:sp>
      <p:sp>
        <p:nvSpPr>
          <p:cNvPr id="5" name="">
            <a:extLst xmlns:a="http://schemas.openxmlformats.org/drawingml/2006/main">
              <a:ext uri="{FF2B5EF4-FFF2-40B4-BE49-F238E27FC236}">
                <a16:creationId xmlns:a16="http://schemas.microsoft.com/office/drawing/2014/main" id="{D9B099F7-90F0-4EBF-8FB4-808BB7ED710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Önemli işler</a:t>
            </a:r>
          </a:p>
        </p:txBody>
      </p:sp>
      <p:sp>
        <p:nvSpPr>
          <p:cNvPr id="6" name="">
            <a:extLst xmlns:a="http://schemas.openxmlformats.org/drawingml/2006/main">
              <a:ext uri="{FF2B5EF4-FFF2-40B4-BE49-F238E27FC236}">
                <a16:creationId xmlns:a16="http://schemas.microsoft.com/office/drawing/2014/main" id="{BB935424-C1C9-4600-B7B9-F173A767728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Servis sınıfı öncelik sırasını etkiler.</a:t>
            </a:r>
          </a:p>
        </p:txBody>
      </p:sp>
      <p:sp>
        <p:nvSpPr>
          <p:cNvPr id="7" name="">
            <a:extLst xmlns:a="http://schemas.openxmlformats.org/drawingml/2006/main">
              <a:ext uri="{FF2B5EF4-FFF2-40B4-BE49-F238E27FC236}">
                <a16:creationId xmlns:a16="http://schemas.microsoft.com/office/drawing/2014/main" id="{F678B7C3-2F4D-4AA8-BB43-8987032F868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8" name="">
            <a:extLst xmlns:a="http://schemas.openxmlformats.org/drawingml/2006/main">
              <a:ext uri="{FF2B5EF4-FFF2-40B4-BE49-F238E27FC236}">
                <a16:creationId xmlns:a16="http://schemas.microsoft.com/office/drawing/2014/main" id="{195F0CBC-F669-4B6C-8390-C04ED9AE58A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30</a:t>
            </a:r>
          </a:p>
        </p:txBody>
      </p:sp>
    </p:spTree>
    <p:extLst>
      <p:ext uri="{BB962C8B-B14F-4D97-AF65-F5344CB8AC3E}">
        <p14:creationId xmlns:p14="http://schemas.microsoft.com/office/powerpoint/2010/main" val="761982688"/>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C4FE51-844A-4B58-B2B9-76AB4816008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Starvation: sıra hiç gelmeyebilir</a:t>
            </a:r>
          </a:p>
        </p:txBody>
      </p:sp>
      <p:sp>
        <p:nvSpPr>
          <p:cNvPr id="2" name="">
            <a:extLst xmlns:a="http://schemas.openxmlformats.org/drawingml/2006/main">
              <a:ext uri="{FF2B5EF4-FFF2-40B4-BE49-F238E27FC236}">
                <a16:creationId xmlns:a16="http://schemas.microsoft.com/office/drawing/2014/main" id="{317558CE-0EF7-457F-AF48-BC8349686271}"/>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Sorun</a:t>
            </a:r>
          </a:p>
        </p:txBody>
      </p:sp>
      <p:sp>
        <p:nvSpPr>
          <p:cNvPr id="3" name="">
            <a:extLst xmlns:a="http://schemas.openxmlformats.org/drawingml/2006/main">
              <a:ext uri="{FF2B5EF4-FFF2-40B4-BE49-F238E27FC236}">
                <a16:creationId xmlns:a16="http://schemas.microsoft.com/office/drawing/2014/main" id="{744808E7-8434-4537-B572-A2ACA1296363}"/>
              </a:ext>
            </a:extLst>
          </p:cNvPr>
          <p:cNvSpPr>
            <a:spLocks xmlns:a="http://schemas.openxmlformats.org/drawingml/2006/main" noGrp="1"/>
          </p:cNvSpPr>
          <p:nvPr/>
        </p:nvSpPr>
        <p:spPr>
          <a:xfrm xmlns:a="http://schemas.openxmlformats.org/drawingml/2006/main">
            <a:off x="6096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Bitmeyen yüksek-priority ready akışı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Düşük queue hiç seçilmez</a:t>
            </a:r>
          </a:p>
        </p:txBody>
      </p:sp>
      <p:sp>
        <p:nvSpPr>
          <p:cNvPr id="4" name="">
            <a:extLst xmlns:a="http://schemas.openxmlformats.org/drawingml/2006/main">
              <a:ext uri="{FF2B5EF4-FFF2-40B4-BE49-F238E27FC236}">
                <a16:creationId xmlns:a16="http://schemas.microsoft.com/office/drawing/2014/main" id="{4B4F086F-21DA-4B25-A775-5962A7828EB0}"/>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Aging / paylaşım</a:t>
            </a:r>
          </a:p>
        </p:txBody>
      </p:sp>
      <p:sp>
        <p:nvSpPr>
          <p:cNvPr id="5" name="">
            <a:extLst xmlns:a="http://schemas.openxmlformats.org/drawingml/2006/main">
              <a:ext uri="{FF2B5EF4-FFF2-40B4-BE49-F238E27FC236}">
                <a16:creationId xmlns:a16="http://schemas.microsoft.com/office/drawing/2014/main" id="{1D9493D7-B4E1-473B-B114-FF115CB49441}"/>
              </a:ext>
            </a:extLst>
          </p:cNvPr>
          <p:cNvSpPr>
            <a:spLocks xmlns:a="http://schemas.openxmlformats.org/drawingml/2006/main" noGrp="1"/>
          </p:cNvSpPr>
          <p:nvPr/>
        </p:nvSpPr>
        <p:spPr>
          <a:xfrm xmlns:a="http://schemas.openxmlformats.org/drawingml/2006/main">
            <a:off x="62865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Bekledikçe priority iyileştirme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Queue’lar arası hizmet kuralı</a:t>
            </a:r>
          </a:p>
        </p:txBody>
      </p:sp>
      <p:sp>
        <p:nvSpPr>
          <p:cNvPr id="6" name="">
            <a:extLst xmlns:a="http://schemas.openxmlformats.org/drawingml/2006/main">
              <a:ext uri="{FF2B5EF4-FFF2-40B4-BE49-F238E27FC236}">
                <a16:creationId xmlns:a16="http://schemas.microsoft.com/office/drawing/2014/main" id="{DACA9888-7C6A-4F5D-A123-077CB20F2AF7}"/>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Her queue RR kullanıyor; starvation biter mi?</a:t>
            </a:r>
          </a:p>
        </p:txBody>
      </p:sp>
      <p:sp>
        <p:nvSpPr>
          <p:cNvPr id="7" name="">
            <a:extLst xmlns:a="http://schemas.openxmlformats.org/drawingml/2006/main">
              <a:ext uri="{FF2B5EF4-FFF2-40B4-BE49-F238E27FC236}">
                <a16:creationId xmlns:a16="http://schemas.microsoft.com/office/drawing/2014/main" id="{EE60F1C2-AF13-437D-B93A-924820C73DD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Düşük sınıf batch işi</a:t>
            </a:r>
          </a:p>
        </p:txBody>
      </p:sp>
      <p:sp>
        <p:nvSpPr>
          <p:cNvPr id="8" name="">
            <a:extLst xmlns:a="http://schemas.openxmlformats.org/drawingml/2006/main">
              <a:ext uri="{FF2B5EF4-FFF2-40B4-BE49-F238E27FC236}">
                <a16:creationId xmlns:a16="http://schemas.microsoft.com/office/drawing/2014/main" id="{798CC594-44A1-4DC2-8F9A-C85164A8EA5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İnteraktif yük bitmezse batch ertelenir.</a:t>
            </a:r>
          </a:p>
        </p:txBody>
      </p:sp>
      <p:sp>
        <p:nvSpPr>
          <p:cNvPr id="9" name="">
            <a:extLst xmlns:a="http://schemas.openxmlformats.org/drawingml/2006/main">
              <a:ext uri="{FF2B5EF4-FFF2-40B4-BE49-F238E27FC236}">
                <a16:creationId xmlns:a16="http://schemas.microsoft.com/office/drawing/2014/main" id="{6B035AEE-A8D7-4425-A7E0-C1A4B3C149D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0" name="">
            <a:extLst xmlns:a="http://schemas.openxmlformats.org/drawingml/2006/main">
              <a:ext uri="{FF2B5EF4-FFF2-40B4-BE49-F238E27FC236}">
                <a16:creationId xmlns:a16="http://schemas.microsoft.com/office/drawing/2014/main" id="{45A45E70-DC6E-42B0-A6A5-88EE7EF721A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30</a:t>
            </a:r>
          </a:p>
        </p:txBody>
      </p:sp>
    </p:spTree>
    <p:extLst>
      <p:ext uri="{BB962C8B-B14F-4D97-AF65-F5344CB8AC3E}">
        <p14:creationId xmlns:p14="http://schemas.microsoft.com/office/powerpoint/2010/main" val="198779267"/>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B2F189-9BDF-4BCC-B213-BD82B54195F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MLFQ: davranışa göre servis seviyesi</a:t>
            </a:r>
          </a:p>
        </p:txBody>
      </p:sp>
      <p:graphicFrame>
        <p:nvGraphicFramePr>
          <p:cNvPr id="9" name=""/>
          <p:cNvGraphicFramePr/>
          <p:nvPr/>
        </p:nvGraphicFramePr>
        <p:xfrm>
          <a:off xmlns:a="http://schemas.openxmlformats.org/drawingml/2006/main" x="609600" y="1857375"/>
          <a:ext xmlns:a="http://schemas.openxmlformats.org/drawingml/2006/main" cx="10972800" cy="2724150"/>
        </p:xfrm>
        <a:graphic xmlns:a="http://schemas.openxmlformats.org/drawingml/2006/main">
          <a:graphicData uri="http://schemas.openxmlformats.org/drawingml/2006/table">
            <a:tbl>
              <a:tblPr/>
              <a:tblGrid>
                <a:gridCol w="5486400"/>
                <a:gridCol w="5486400"/>
              </a:tblGrid>
              <a:tr h="544830">
                <a:tc>
                  <a:txBody>
                    <a:bodyPr/>
                    <a:lstStyle/>
                    <a:p>
                      <a:r>
                        <a:rPr sz="1800" b="1">
                          <a:solidFill>
                            <a:srgbClr val="FFFFFF"/>
                          </a:solidFill>
                          <a:latin typeface="Helvetica Neue"/>
                          <a:ea typeface="Helvetica Neue"/>
                          <a:cs typeface="Helvetica Neue"/>
                        </a:rPr>
                        <a:t>Seviye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Öğretim kuralı</a:t>
                      </a:r>
                    </a:p>
                  </a:txBody>
                  <a:tcPr marL="114300" marR="114300" marT="47625" marB="47625" anchor="ctr">
                    <a:solidFill>
                      <a:srgbClr val="122C42"/>
                    </a:solidFill>
                  </a:tcPr>
                </a:tc>
              </a:tr>
              <a:tr h="544830">
                <a:tc>
                  <a:txBody>
                    <a:bodyPr/>
                    <a:lstStyle/>
                    <a:p>
                      <a:r>
                        <a:rPr sz="1800" b="0">
                          <a:solidFill>
                            <a:srgbClr val="122C42"/>
                          </a:solidFill>
                          <a:latin typeface="Helvetica Neue"/>
                          <a:ea typeface="Helvetica Neue"/>
                          <a:cs typeface="Helvetica Neue"/>
                        </a:rPr>
                        <a:t>Q0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8 useful CPU; bitmezse Q1</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Q1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16 ek useful CPU; bitmezse Q2</a:t>
                      </a:r>
                    </a:p>
                  </a:txBody>
                  <a:tcPr marL="114300" marR="114300" marT="47625" marB="47625" anchor="ctr">
                    <a:solidFill>
                      <a:srgbClr val="ECF0EC"/>
                    </a:solidFill>
                  </a:tcPr>
                </a:tc>
              </a:tr>
              <a:tr h="544830">
                <a:tc>
                  <a:txBody>
                    <a:bodyPr/>
                    <a:lstStyle/>
                    <a:p>
                      <a:r>
                        <a:rPr sz="1800" b="0">
                          <a:solidFill>
                            <a:srgbClr val="122C42"/>
                          </a:solidFill>
                          <a:latin typeface="Helvetica Neue"/>
                          <a:ea typeface="Helvetica Neue"/>
                          <a:cs typeface="Helvetica Neue"/>
                        </a:rPr>
                        <a:t>Q2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FCFS; üst queue öncelikli</a:t>
                      </a:r>
                    </a:p>
                  </a:txBody>
                  <a:tcPr marL="114300" marR="114300" marT="47625" marB="47625" anchor="ctr">
                    <a:solidFill>
                      <a:srgbClr val="FFFFFF"/>
                    </a:solidFill>
                  </a:tcPr>
                </a:tc>
              </a:tr>
              <a:tr h="544830">
                <a:tc>
                  <a:txBody>
                    <a:bodyPr/>
                    <a:lstStyle/>
                    <a:p>
                      <a:r>
                        <a:rPr sz="1800" b="0">
                          <a:solidFill>
                            <a:srgbClr val="122C42"/>
                          </a:solidFill>
                          <a:latin typeface="Helvetica Neue"/>
                          <a:ea typeface="Helvetica Neue"/>
                          <a:cs typeface="Helvetica Neue"/>
                        </a:rPr>
                        <a:t>Tek30 birim job</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8 +16 +6 =30</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EEB88C74-86F6-43C2-B9BB-99D278F477AF}"/>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Job her seferinde7 CPU biriminde yield yaparsa Q0’da kalmalı mı?</a:t>
            </a:r>
          </a:p>
        </p:txBody>
      </p:sp>
      <p:sp>
        <p:nvSpPr>
          <p:cNvPr id="4" name="">
            <a:extLst xmlns:a="http://schemas.openxmlformats.org/drawingml/2006/main">
              <a:ext uri="{FF2B5EF4-FFF2-40B4-BE49-F238E27FC236}">
                <a16:creationId xmlns:a16="http://schemas.microsoft.com/office/drawing/2014/main" id="{2B7AD242-BE5D-418B-9E5E-A91039D11AF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Değişen iş karakteri</a:t>
            </a:r>
          </a:p>
        </p:txBody>
      </p:sp>
      <p:sp>
        <p:nvSpPr>
          <p:cNvPr id="5" name="">
            <a:extLst xmlns:a="http://schemas.openxmlformats.org/drawingml/2006/main">
              <a:ext uri="{FF2B5EF4-FFF2-40B4-BE49-F238E27FC236}">
                <a16:creationId xmlns:a16="http://schemas.microsoft.com/office/drawing/2014/main" id="{EE5C242D-D3B8-4175-8F8D-81E64553014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Kısa interactive burst ile uzun hesaplama ayrılır.</a:t>
            </a:r>
          </a:p>
        </p:txBody>
      </p:sp>
      <p:sp>
        <p:nvSpPr>
          <p:cNvPr id="6" name="">
            <a:extLst xmlns:a="http://schemas.openxmlformats.org/drawingml/2006/main">
              <a:ext uri="{FF2B5EF4-FFF2-40B4-BE49-F238E27FC236}">
                <a16:creationId xmlns:a16="http://schemas.microsoft.com/office/drawing/2014/main" id="{108606FC-B5F8-4272-95A0-1E0E0D8AC64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264B7D06-F74F-4E67-BF00-02442CC20FD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30</a:t>
            </a:r>
          </a:p>
        </p:txBody>
      </p:sp>
    </p:spTree>
    <p:extLst>
      <p:ext uri="{BB962C8B-B14F-4D97-AF65-F5344CB8AC3E}">
        <p14:creationId xmlns:p14="http://schemas.microsoft.com/office/powerpoint/2010/main" val="1619740910"/>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B57B22-0FA8-480C-8B08-A94C641C624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Çoklu CPU: hangi görev, nerede?</a:t>
            </a:r>
          </a:p>
        </p:txBody>
      </p:sp>
      <p:sp>
        <p:nvSpPr>
          <p:cNvPr id="2" name="">
            <a:extLst xmlns:a="http://schemas.openxmlformats.org/drawingml/2006/main">
              <a:ext uri="{FF2B5EF4-FFF2-40B4-BE49-F238E27FC236}">
                <a16:creationId xmlns:a16="http://schemas.microsoft.com/office/drawing/2014/main" id="{F183AB95-D53D-48B3-97AB-45DE02AC62A9}"/>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Ortak queue</a:t>
            </a:r>
          </a:p>
        </p:txBody>
      </p:sp>
      <p:sp>
        <p:nvSpPr>
          <p:cNvPr id="3" name="">
            <a:extLst xmlns:a="http://schemas.openxmlformats.org/drawingml/2006/main">
              <a:ext uri="{FF2B5EF4-FFF2-40B4-BE49-F238E27FC236}">
                <a16:creationId xmlns:a16="http://schemas.microsoft.com/office/drawing/2014/main" id="{E8548938-4A70-429F-A53E-36F960DF8852}"/>
              </a:ext>
            </a:extLst>
          </p:cNvPr>
          <p:cNvSpPr>
            <a:spLocks xmlns:a="http://schemas.openxmlformats.org/drawingml/2006/main" noGrp="1"/>
          </p:cNvSpPr>
          <p:nvPr/>
        </p:nvSpPr>
        <p:spPr>
          <a:xfrm xmlns:a="http://schemas.openxmlformats.org/drawingml/2006/main">
            <a:off x="6096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Global seçim kolay</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Shared access contention</a:t>
            </a:r>
          </a:p>
        </p:txBody>
      </p:sp>
      <p:sp>
        <p:nvSpPr>
          <p:cNvPr id="4" name="">
            <a:extLst xmlns:a="http://schemas.openxmlformats.org/drawingml/2006/main">
              <a:ext uri="{FF2B5EF4-FFF2-40B4-BE49-F238E27FC236}">
                <a16:creationId xmlns:a16="http://schemas.microsoft.com/office/drawing/2014/main" id="{1E2F68BA-E623-4172-8618-B387F55FA1DC}"/>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Per-CPU queues</a:t>
            </a:r>
          </a:p>
        </p:txBody>
      </p:sp>
      <p:sp>
        <p:nvSpPr>
          <p:cNvPr id="5" name="">
            <a:extLst xmlns:a="http://schemas.openxmlformats.org/drawingml/2006/main">
              <a:ext uri="{FF2B5EF4-FFF2-40B4-BE49-F238E27FC236}">
                <a16:creationId xmlns:a16="http://schemas.microsoft.com/office/drawing/2014/main" id="{FA3C7D58-80BF-4F98-89DF-67C582461D91}"/>
              </a:ext>
            </a:extLst>
          </p:cNvPr>
          <p:cNvSpPr>
            <a:spLocks xmlns:a="http://schemas.openxmlformats.org/drawingml/2006/main" noGrp="1"/>
          </p:cNvSpPr>
          <p:nvPr/>
        </p:nvSpPr>
        <p:spPr>
          <a:xfrm xmlns:a="http://schemas.openxmlformats.org/drawingml/2006/main">
            <a:off x="62865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Locality ve erişim avantajı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Imbalance; balancing gerekir</a:t>
            </a:r>
          </a:p>
        </p:txBody>
      </p:sp>
      <p:sp>
        <p:nvSpPr>
          <p:cNvPr id="6" name="">
            <a:extLst xmlns:a="http://schemas.openxmlformats.org/drawingml/2006/main">
              <a:ext uri="{FF2B5EF4-FFF2-40B4-BE49-F238E27FC236}">
                <a16:creationId xmlns:a16="http://schemas.microsoft.com/office/drawing/2014/main" id="{E3AB5C4C-F166-4DB4-B23D-0EA6000AFD75}"/>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Bir thread iki CPU’da aynı anda yürütülebilir mi?</a:t>
            </a:r>
          </a:p>
        </p:txBody>
      </p:sp>
      <p:sp>
        <p:nvSpPr>
          <p:cNvPr id="7" name="">
            <a:extLst xmlns:a="http://schemas.openxmlformats.org/drawingml/2006/main">
              <a:ext uri="{FF2B5EF4-FFF2-40B4-BE49-F238E27FC236}">
                <a16:creationId xmlns:a16="http://schemas.microsoft.com/office/drawing/2014/main" id="{1D9F5285-3C7D-46C9-806E-880A128E361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Build worker havuzu</a:t>
            </a:r>
          </a:p>
        </p:txBody>
      </p:sp>
      <p:sp>
        <p:nvSpPr>
          <p:cNvPr id="8" name="">
            <a:extLst xmlns:a="http://schemas.openxmlformats.org/drawingml/2006/main">
              <a:ext uri="{FF2B5EF4-FFF2-40B4-BE49-F238E27FC236}">
                <a16:creationId xmlns:a16="http://schemas.microsoft.com/office/drawing/2014/main" id="{623BE42C-6A8B-485E-8DCF-E989623E412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Birden çok independent compile işi CPU’lara yayılır.</a:t>
            </a:r>
          </a:p>
        </p:txBody>
      </p:sp>
      <p:sp>
        <p:nvSpPr>
          <p:cNvPr id="9" name="">
            <a:extLst xmlns:a="http://schemas.openxmlformats.org/drawingml/2006/main">
              <a:ext uri="{FF2B5EF4-FFF2-40B4-BE49-F238E27FC236}">
                <a16:creationId xmlns:a16="http://schemas.microsoft.com/office/drawing/2014/main" id="{31D5BAE1-F571-4994-B2D6-E3CBDCCCFD6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0" name="">
            <a:extLst xmlns:a="http://schemas.openxmlformats.org/drawingml/2006/main">
              <a:ext uri="{FF2B5EF4-FFF2-40B4-BE49-F238E27FC236}">
                <a16:creationId xmlns:a16="http://schemas.microsoft.com/office/drawing/2014/main" id="{91C35AE2-8099-4ADA-BE29-243B5D01101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30</a:t>
            </a:r>
          </a:p>
        </p:txBody>
      </p:sp>
    </p:spTree>
    <p:extLst>
      <p:ext uri="{BB962C8B-B14F-4D97-AF65-F5344CB8AC3E}">
        <p14:creationId xmlns:p14="http://schemas.microsoft.com/office/powerpoint/2010/main" val="1052601515"/>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185884-63FC-4A46-9A6B-A1FF05CD937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İki logical CPU iki tam core değildir</a:t>
            </a:r>
          </a:p>
        </p:txBody>
      </p:sp>
      <p:sp>
        <p:nvSpPr>
          <p:cNvPr id="2" name="">
            <a:extLst xmlns:a="http://schemas.openxmlformats.org/drawingml/2006/main">
              <a:ext uri="{FF2B5EF4-FFF2-40B4-BE49-F238E27FC236}">
                <a16:creationId xmlns:a16="http://schemas.microsoft.com/office/drawing/2014/main" id="{97958C69-B9E0-4F61-BB68-9E37C6480939}"/>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D8F5A02-572A-4F87-85C4-F75D1EB30E53}"/>
              </a:ext>
            </a:extLst>
          </p:cNvPr>
          <p:cNvSpPr>
            <a:spLocks xmlns:a="http://schemas.openxmlformats.org/drawingml/2006/main" noGrp="1"/>
          </p:cNvSpPr>
          <p:nvPr/>
        </p:nvSpPr>
        <p:spPr>
          <a:xfrm xmlns:a="http://schemas.openxmlformats.org/drawingml/2006/main">
            <a:off x="1200150" y="19526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SMT thread’leri fiziksel execution kaynaklarını paylaşır</a:t>
            </a:r>
          </a:p>
        </p:txBody>
      </p:sp>
      <p:sp>
        <p:nvSpPr>
          <p:cNvPr id="4" name="">
            <a:extLst xmlns:a="http://schemas.openxmlformats.org/drawingml/2006/main">
              <a:ext uri="{FF2B5EF4-FFF2-40B4-BE49-F238E27FC236}">
                <a16:creationId xmlns:a16="http://schemas.microsoft.com/office/drawing/2014/main" id="{69B24B56-2B37-431D-8472-43519EB0A2C1}"/>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FACD61A-F830-4064-9001-8A01507E3899}"/>
              </a:ext>
            </a:extLst>
          </p:cNvPr>
          <p:cNvSpPr>
            <a:spLocks xmlns:a="http://schemas.openxmlformats.org/drawingml/2006/main" noGrp="1"/>
          </p:cNvSpPr>
          <p:nvPr/>
        </p:nvSpPr>
        <p:spPr>
          <a:xfrm xmlns:a="http://schemas.openxmlformats.org/drawingml/2006/main">
            <a:off x="1200150" y="2819400"/>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Affinity allowed CPU kümesini sınırlar</a:t>
            </a:r>
          </a:p>
        </p:txBody>
      </p:sp>
      <p:sp>
        <p:nvSpPr>
          <p:cNvPr id="6" name="">
            <a:extLst xmlns:a="http://schemas.openxmlformats.org/drawingml/2006/main">
              <a:ext uri="{FF2B5EF4-FFF2-40B4-BE49-F238E27FC236}">
                <a16:creationId xmlns:a16="http://schemas.microsoft.com/office/drawing/2014/main" id="{2BE0AA2F-8602-407E-97EF-C0E4B1899CC5}"/>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520A2C46-C18F-4BAD-97E5-7A040D8952FA}"/>
              </a:ext>
            </a:extLst>
          </p:cNvPr>
          <p:cNvSpPr>
            <a:spLocks xmlns:a="http://schemas.openxmlformats.org/drawingml/2006/main" noGrp="1"/>
          </p:cNvSpPr>
          <p:nvPr/>
        </p:nvSpPr>
        <p:spPr>
          <a:xfrm xmlns:a="http://schemas.openxmlformats.org/drawingml/2006/main">
            <a:off x="1200150" y="368617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NUMA’da memory placement migration maliyetini etkiler</a:t>
            </a:r>
          </a:p>
        </p:txBody>
      </p:sp>
      <p:sp>
        <p:nvSpPr>
          <p:cNvPr id="8" name="">
            <a:extLst xmlns:a="http://schemas.openxmlformats.org/drawingml/2006/main">
              <a:ext uri="{FF2B5EF4-FFF2-40B4-BE49-F238E27FC236}">
                <a16:creationId xmlns:a16="http://schemas.microsoft.com/office/drawing/2014/main" id="{73A581E1-0B36-49F8-8B16-08FB1D7F5963}"/>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taskset ile pinning izolasyon sağlar mı?</a:t>
            </a:r>
          </a:p>
        </p:txBody>
      </p:sp>
      <p:sp>
        <p:nvSpPr>
          <p:cNvPr id="9" name="">
            <a:extLst xmlns:a="http://schemas.openxmlformats.org/drawingml/2006/main">
              <a:ext uri="{FF2B5EF4-FFF2-40B4-BE49-F238E27FC236}">
                <a16:creationId xmlns:a16="http://schemas.microsoft.com/office/drawing/2014/main" id="{2F26119E-378A-43E2-A78B-BD164E723BB7}"/>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CPU’ya sabitlenmiş worker</a:t>
            </a:r>
          </a:p>
        </p:txBody>
      </p:sp>
      <p:sp>
        <p:nvSpPr>
          <p:cNvPr id="10" name="">
            <a:extLst xmlns:a="http://schemas.openxmlformats.org/drawingml/2006/main">
              <a:ext uri="{FF2B5EF4-FFF2-40B4-BE49-F238E27FC236}">
                <a16:creationId xmlns:a16="http://schemas.microsoft.com/office/drawing/2014/main" id="{62032D10-FA7E-40B2-99F6-A569BEA6D50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Aynı allowed CPU’da iki iş yarışır.</a:t>
            </a:r>
          </a:p>
        </p:txBody>
      </p:sp>
      <p:sp>
        <p:nvSpPr>
          <p:cNvPr id="11" name="">
            <a:extLst xmlns:a="http://schemas.openxmlformats.org/drawingml/2006/main">
              <a:ext uri="{FF2B5EF4-FFF2-40B4-BE49-F238E27FC236}">
                <a16:creationId xmlns:a16="http://schemas.microsoft.com/office/drawing/2014/main" id="{1783D6F8-D3EA-4E82-8437-3EBE2F63C8D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2" name="">
            <a:extLst xmlns:a="http://schemas.openxmlformats.org/drawingml/2006/main">
              <a:ext uri="{FF2B5EF4-FFF2-40B4-BE49-F238E27FC236}">
                <a16:creationId xmlns:a16="http://schemas.microsoft.com/office/drawing/2014/main" id="{49B9A55C-58F2-4E87-8FE4-AC401CA86B2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30</a:t>
            </a:r>
          </a:p>
        </p:txBody>
      </p:sp>
    </p:spTree>
    <p:extLst>
      <p:ext uri="{BB962C8B-B14F-4D97-AF65-F5344CB8AC3E}">
        <p14:creationId xmlns:p14="http://schemas.microsoft.com/office/powerpoint/2010/main" val="1932546393"/>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4D0CF9-B630-4803-9A2E-8C278CD7794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Gerçek zaman: geç doğru sonuç da yanlış olabilir</a:t>
            </a:r>
          </a:p>
        </p:txBody>
      </p:sp>
      <p:sp>
        <p:nvSpPr>
          <p:cNvPr id="2" name="">
            <a:extLst xmlns:a="http://schemas.openxmlformats.org/drawingml/2006/main">
              <a:ext uri="{FF2B5EF4-FFF2-40B4-BE49-F238E27FC236}">
                <a16:creationId xmlns:a16="http://schemas.microsoft.com/office/drawing/2014/main" id="{E405A0B7-0D38-4839-96F5-75AC1904E0F5}"/>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Hard real time</a:t>
            </a:r>
          </a:p>
        </p:txBody>
      </p:sp>
      <p:sp>
        <p:nvSpPr>
          <p:cNvPr id="3" name="">
            <a:extLst xmlns:a="http://schemas.openxmlformats.org/drawingml/2006/main">
              <a:ext uri="{FF2B5EF4-FFF2-40B4-BE49-F238E27FC236}">
                <a16:creationId xmlns:a16="http://schemas.microsoft.com/office/drawing/2014/main" id="{EAF16B09-B512-4DD6-A561-1CD87F286E96}"/>
              </a:ext>
            </a:extLst>
          </p:cNvPr>
          <p:cNvSpPr>
            <a:spLocks xmlns:a="http://schemas.openxmlformats.org/drawingml/2006/main" noGrp="1"/>
          </p:cNvSpPr>
          <p:nvPr/>
        </p:nvSpPr>
        <p:spPr>
          <a:xfrm xmlns:a="http://schemas.openxmlformats.org/drawingml/2006/main">
            <a:off x="6096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Deadline correctness’ın parçası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Stated assumptions içinde bound gerekir</a:t>
            </a:r>
          </a:p>
        </p:txBody>
      </p:sp>
      <p:sp>
        <p:nvSpPr>
          <p:cNvPr id="4" name="">
            <a:extLst xmlns:a="http://schemas.openxmlformats.org/drawingml/2006/main">
              <a:ext uri="{FF2B5EF4-FFF2-40B4-BE49-F238E27FC236}">
                <a16:creationId xmlns:a16="http://schemas.microsoft.com/office/drawing/2014/main" id="{ED234304-BD35-4953-8B5C-B8653E62E950}"/>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Soft real time</a:t>
            </a:r>
          </a:p>
        </p:txBody>
      </p:sp>
      <p:sp>
        <p:nvSpPr>
          <p:cNvPr id="5" name="">
            <a:extLst xmlns:a="http://schemas.openxmlformats.org/drawingml/2006/main">
              <a:ext uri="{FF2B5EF4-FFF2-40B4-BE49-F238E27FC236}">
                <a16:creationId xmlns:a16="http://schemas.microsoft.com/office/drawing/2014/main" id="{E331597B-1C4F-43AC-B65C-C7C3477E9DFB}"/>
              </a:ext>
            </a:extLst>
          </p:cNvPr>
          <p:cNvSpPr>
            <a:spLocks xmlns:a="http://schemas.openxmlformats.org/drawingml/2006/main" noGrp="1"/>
          </p:cNvSpPr>
          <p:nvPr/>
        </p:nvSpPr>
        <p:spPr>
          <a:xfrm xmlns:a="http://schemas.openxmlformats.org/drawingml/2006/main">
            <a:off x="62865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Bazı lateness kaliteyi düşürür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Örn. dropped media frame</a:t>
            </a:r>
          </a:p>
        </p:txBody>
      </p:sp>
      <p:sp>
        <p:nvSpPr>
          <p:cNvPr id="6" name="">
            <a:extLst xmlns:a="http://schemas.openxmlformats.org/drawingml/2006/main">
              <a:ext uri="{FF2B5EF4-FFF2-40B4-BE49-F238E27FC236}">
                <a16:creationId xmlns:a16="http://schemas.microsoft.com/office/drawing/2014/main" id="{B912B420-E1B2-46D2-9536-4635E2E62F6B}"/>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En hızlı ortalama çalışan algoritma hard RT kanıtı mı?</a:t>
            </a:r>
          </a:p>
        </p:txBody>
      </p:sp>
      <p:sp>
        <p:nvSpPr>
          <p:cNvPr id="7" name="">
            <a:extLst xmlns:a="http://schemas.openxmlformats.org/drawingml/2006/main">
              <a:ext uri="{FF2B5EF4-FFF2-40B4-BE49-F238E27FC236}">
                <a16:creationId xmlns:a16="http://schemas.microsoft.com/office/drawing/2014/main" id="{47B8C9FA-E74D-4650-805A-EE3085E37A2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Ses tamponu ve kontrol döngüsü</a:t>
            </a:r>
          </a:p>
        </p:txBody>
      </p:sp>
      <p:sp>
        <p:nvSpPr>
          <p:cNvPr id="8" name="">
            <a:extLst xmlns:a="http://schemas.openxmlformats.org/drawingml/2006/main">
              <a:ext uri="{FF2B5EF4-FFF2-40B4-BE49-F238E27FC236}">
                <a16:creationId xmlns:a16="http://schemas.microsoft.com/office/drawing/2014/main" id="{3BB5BF74-6E74-4290-8885-5E41C691285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Ses geç kalırsa dropout olabilir; bazı kontrol deadline’ları correctness gereğidir.</a:t>
            </a:r>
          </a:p>
        </p:txBody>
      </p:sp>
      <p:sp>
        <p:nvSpPr>
          <p:cNvPr id="9" name="">
            <a:extLst xmlns:a="http://schemas.openxmlformats.org/drawingml/2006/main">
              <a:ext uri="{FF2B5EF4-FFF2-40B4-BE49-F238E27FC236}">
                <a16:creationId xmlns:a16="http://schemas.microsoft.com/office/drawing/2014/main" id="{A3A67149-9699-4A0B-B86A-7464074845B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0" name="">
            <a:extLst xmlns:a="http://schemas.openxmlformats.org/drawingml/2006/main">
              <a:ext uri="{FF2B5EF4-FFF2-40B4-BE49-F238E27FC236}">
                <a16:creationId xmlns:a16="http://schemas.microsoft.com/office/drawing/2014/main" id="{3A692C32-5175-42F9-B491-FD0AFDF19A2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30</a:t>
            </a:r>
          </a:p>
        </p:txBody>
      </p:sp>
    </p:spTree>
    <p:extLst>
      <p:ext uri="{BB962C8B-B14F-4D97-AF65-F5344CB8AC3E}">
        <p14:creationId xmlns:p14="http://schemas.microsoft.com/office/powerpoint/2010/main" val="25366936"/>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1E2A74-641C-4E90-A960-587A82F26E7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Task ile job’u ayır; modeli sabitle</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5486400"/>
                <a:gridCol w="5486400"/>
              </a:tblGrid>
              <a:tr h="649605">
                <a:tc>
                  <a:txBody>
                    <a:bodyPr/>
                    <a:lstStyle/>
                    <a:p>
                      <a:r>
                        <a:rPr sz="1800" b="1">
                          <a:solidFill>
                            <a:srgbClr val="FFFFFF"/>
                          </a:solidFill>
                          <a:latin typeface="Helvetica Neue"/>
                          <a:ea typeface="Helvetica Neue"/>
                          <a:cs typeface="Helvetica Neue"/>
                        </a:rPr>
                        <a:t>Sembol</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Tanım</a:t>
                      </a:r>
                    </a:p>
                  </a:txBody>
                  <a:tcPr marL="114300" marR="114300" marT="47625" marB="47625" anchor="ctr">
                    <a:solidFill>
                      <a:srgbClr val="122C42"/>
                    </a:solidFill>
                  </a:tcPr>
                </a:tc>
              </a:tr>
              <a:tr h="649605">
                <a:tc>
                  <a:txBody>
                    <a:bodyPr/>
                    <a:lstStyle/>
                    <a:p>
                      <a:r>
                        <a:rPr sz="1800" b="0">
                          <a:solidFill>
                            <a:srgbClr val="122C42"/>
                          </a:solidFill>
                          <a:latin typeface="Helvetica Neue"/>
                          <a:ea typeface="Helvetica Neue"/>
                          <a:cs typeface="Helvetica Neue"/>
                        </a:rPr>
                        <a:t>Task</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Tekrarlayan job kaynağı</a:t>
                      </a:r>
                    </a:p>
                  </a:txBody>
                  <a:tcPr marL="114300" marR="114300" marT="47625" marB="47625" anchor="ctr">
                    <a:solidFill>
                      <a:srgbClr val="FFFFFF"/>
                    </a:solidFill>
                  </a:tcPr>
                </a:tc>
              </a:tr>
              <a:tr h="649605">
                <a:tc>
                  <a:txBody>
                    <a:bodyPr/>
                    <a:lstStyle/>
                    <a:p>
                      <a:r>
                        <a:rPr sz="1800" b="0">
                          <a:solidFill>
                            <a:srgbClr val="122C42"/>
                          </a:solidFill>
                          <a:latin typeface="Helvetica Neue"/>
                          <a:ea typeface="Helvetica Neue"/>
                          <a:cs typeface="Helvetica Neue"/>
                        </a:rPr>
                        <a:t>r / C</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Release / worst-case execution demand</a:t>
                      </a:r>
                    </a:p>
                  </a:txBody>
                  <a:tcPr marL="114300" marR="114300" marT="47625" marB="47625" anchor="ctr">
                    <a:solidFill>
                      <a:srgbClr val="ECF0EC"/>
                    </a:solidFill>
                  </a:tcPr>
                </a:tc>
              </a:tr>
              <a:tr h="649605">
                <a:tc>
                  <a:txBody>
                    <a:bodyPr/>
                    <a:lstStyle/>
                    <a:p>
                      <a:r>
                        <a:rPr sz="1800" b="0">
                          <a:solidFill>
                            <a:srgbClr val="122C42"/>
                          </a:solidFill>
                          <a:latin typeface="Helvetica Neue"/>
                          <a:ea typeface="Helvetica Neue"/>
                          <a:cs typeface="Helvetica Neue"/>
                        </a:rPr>
                        <a:t>T / D</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Period / relative deadline</a:t>
                      </a:r>
                    </a:p>
                  </a:txBody>
                  <a:tcPr marL="114300" marR="114300" marT="47625" marB="47625" anchor="ctr">
                    <a:solidFill>
                      <a:srgbClr val="FFFFFF"/>
                    </a:solidFill>
                  </a:tcPr>
                </a:tc>
              </a:tr>
              <a:tr h="649605">
                <a:tc>
                  <a:txBody>
                    <a:bodyPr/>
                    <a:lstStyle/>
                    <a:p>
                      <a:r>
                        <a:rPr sz="1800" b="0">
                          <a:solidFill>
                            <a:srgbClr val="122C42"/>
                          </a:solidFill>
                          <a:latin typeface="Helvetica Neue"/>
                          <a:ea typeface="Helvetica Neue"/>
                          <a:cs typeface="Helvetica Neue"/>
                        </a:rPr>
                        <a:t>d=r+D</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Absolute deadline</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67927926-E5FC-4292-B750-F93EA3EEF70A}"/>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Task T=50,D=50; r=100 olan job’ın d değeri?</a:t>
            </a:r>
          </a:p>
        </p:txBody>
      </p:sp>
      <p:sp>
        <p:nvSpPr>
          <p:cNvPr id="4" name="">
            <a:extLst xmlns:a="http://schemas.openxmlformats.org/drawingml/2006/main">
              <a:ext uri="{FF2B5EF4-FFF2-40B4-BE49-F238E27FC236}">
                <a16:creationId xmlns:a16="http://schemas.microsoft.com/office/drawing/2014/main" id="{7DCD6F4F-FFC9-4604-8AB2-63D874C382A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CFD43BB9-7980-4126-B418-DBDFCFA7CB3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30</a:t>
            </a:r>
          </a:p>
        </p:txBody>
      </p:sp>
    </p:spTree>
    <p:extLst>
      <p:ext uri="{BB962C8B-B14F-4D97-AF65-F5344CB8AC3E}">
        <p14:creationId xmlns:p14="http://schemas.microsoft.com/office/powerpoint/2010/main" val="61058530"/>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2F6891-D8F4-4A23-A3DD-7C94064C3C52}"/>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RM: kısa period, sabit yüksek priority</a:t>
            </a:r>
          </a:p>
        </p:txBody>
      </p:sp>
      <p:sp>
        <p:nvSpPr>
          <p:cNvPr id="2" name="">
            <a:extLst xmlns:a="http://schemas.openxmlformats.org/drawingml/2006/main">
              <a:ext uri="{FF2B5EF4-FFF2-40B4-BE49-F238E27FC236}">
                <a16:creationId xmlns:a16="http://schemas.microsoft.com/office/drawing/2014/main" id="{7F472FA9-159F-43FD-B7A5-5190AA88BD0F}"/>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İz: P1 0–20; P2 20–50; P1 50–70; P2 70–75</a:t>
            </a:r>
          </a:p>
        </p:txBody>
      </p:sp>
      <p:graphicFrame>
        <p:nvGraphicFramePr>
          <p:cNvPr id="11" name=""/>
          <p:cNvGraphicFramePr/>
          <p:nvPr/>
        </p:nvGraphicFramePr>
        <p:xfrm>
          <a:off xmlns:a="http://schemas.openxmlformats.org/drawingml/2006/main" x="609600" y="2571750"/>
          <a:ext xmlns:a="http://schemas.openxmlformats.org/drawingml/2006/main" cx="10972800" cy="2009775"/>
        </p:xfrm>
        <a:graphic xmlns:a="http://schemas.openxmlformats.org/drawingml/2006/main">
          <a:graphicData uri="http://schemas.openxmlformats.org/drawingml/2006/table">
            <a:tbl>
              <a:tblPr/>
              <a:tblGrid>
                <a:gridCol w="2743200"/>
                <a:gridCol w="2743200"/>
                <a:gridCol w="2743200"/>
                <a:gridCol w="2743200"/>
              </a:tblGrid>
              <a:tr h="502444">
                <a:tc>
                  <a:txBody>
                    <a:bodyPr/>
                    <a:lstStyle/>
                    <a:p>
                      <a:r>
                        <a:rPr sz="1800" b="1">
                          <a:solidFill>
                            <a:srgbClr val="FFFFFF"/>
                          </a:solidFill>
                          <a:latin typeface="Helvetica Neue"/>
                          <a:ea typeface="Helvetica Neue"/>
                          <a:cs typeface="Helvetica Neue"/>
                        </a:rPr>
                        <a:t>Task</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C</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T=D</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U</a:t>
                      </a:r>
                    </a:p>
                  </a:txBody>
                  <a:tcPr marL="114300" marR="114300" marT="47625" marB="47625" anchor="ctr">
                    <a:solidFill>
                      <a:srgbClr val="122C42"/>
                    </a:solidFill>
                  </a:tcPr>
                </a:tc>
              </a:tr>
              <a:tr h="502444">
                <a:tc>
                  <a:txBody>
                    <a:bodyPr/>
                    <a:lstStyle/>
                    <a:p>
                      <a:r>
                        <a:rPr sz="1800"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50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0.4</a:t>
                      </a:r>
                    </a:p>
                  </a:txBody>
                  <a:tcPr marL="114300" marR="114300" marT="47625" marB="47625" anchor="ctr">
                    <a:solidFill>
                      <a:srgbClr val="FFFFFF"/>
                    </a:solidFill>
                  </a:tcPr>
                </a:tc>
              </a:tr>
              <a:tr h="502444">
                <a:tc>
                  <a:txBody>
                    <a:bodyPr/>
                    <a:lstStyle/>
                    <a:p>
                      <a:r>
                        <a:rPr sz="1800"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100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0.35</a:t>
                      </a:r>
                    </a:p>
                  </a:txBody>
                  <a:tcPr marL="114300" marR="114300" marT="47625" marB="47625" anchor="ctr">
                    <a:solidFill>
                      <a:srgbClr val="ECF0EC"/>
                    </a:solidFill>
                  </a:tcPr>
                </a:tc>
              </a:tr>
              <a:tr h="502444">
                <a:tc>
                  <a:txBody>
                    <a:bodyPr/>
                    <a:lstStyle/>
                    <a:p>
                      <a:r>
                        <a:rPr sz="1800" b="0">
                          <a:solidFill>
                            <a:srgbClr val="122C42"/>
                          </a:solidFill>
                          <a:latin typeface="Helvetica Neue"/>
                          <a:ea typeface="Helvetica Neue"/>
                          <a:cs typeface="Helvetica Neue"/>
                        </a:rPr>
                        <a:t>Toplam</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0.75</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A0BA690-211E-4067-AA9A-EEFCC15BB67B}"/>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t=50’de P2 kalan5: neden yine duruyor?</a:t>
            </a:r>
          </a:p>
        </p:txBody>
      </p:sp>
      <p:sp>
        <p:nvSpPr>
          <p:cNvPr id="5" name="">
            <a:extLst xmlns:a="http://schemas.openxmlformats.org/drawingml/2006/main">
              <a:ext uri="{FF2B5EF4-FFF2-40B4-BE49-F238E27FC236}">
                <a16:creationId xmlns:a16="http://schemas.microsoft.com/office/drawing/2014/main" id="{F77BD0A9-6BD1-4433-BBDA-A30C05F4596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Periodic sensor işleri</a:t>
            </a:r>
          </a:p>
        </p:txBody>
      </p:sp>
      <p:sp>
        <p:nvSpPr>
          <p:cNvPr id="6" name="">
            <a:extLst xmlns:a="http://schemas.openxmlformats.org/drawingml/2006/main">
              <a:ext uri="{FF2B5EF4-FFF2-40B4-BE49-F238E27FC236}">
                <a16:creationId xmlns:a16="http://schemas.microsoft.com/office/drawing/2014/main" id="{0C3420FF-2D07-4DF0-B425-1FA39AEC436B}"/>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Sık görevler daha kısa period ile release edilir.</a:t>
            </a:r>
          </a:p>
        </p:txBody>
      </p:sp>
      <p:sp>
        <p:nvSpPr>
          <p:cNvPr id="7" name="">
            <a:extLst xmlns:a="http://schemas.openxmlformats.org/drawingml/2006/main">
              <a:ext uri="{FF2B5EF4-FFF2-40B4-BE49-F238E27FC236}">
                <a16:creationId xmlns:a16="http://schemas.microsoft.com/office/drawing/2014/main" id="{0AB7077E-FDB9-454A-8BE2-5CE19EFAB04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8" name="">
            <a:extLst xmlns:a="http://schemas.openxmlformats.org/drawingml/2006/main">
              <a:ext uri="{FF2B5EF4-FFF2-40B4-BE49-F238E27FC236}">
                <a16:creationId xmlns:a16="http://schemas.microsoft.com/office/drawing/2014/main" id="{775985F4-5879-43F8-817A-56B1F8E4CA7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30</a:t>
            </a:r>
          </a:p>
        </p:txBody>
      </p:sp>
    </p:spTree>
    <p:extLst>
      <p:ext uri="{BB962C8B-B14F-4D97-AF65-F5344CB8AC3E}">
        <p14:creationId xmlns:p14="http://schemas.microsoft.com/office/powerpoint/2010/main" val="1560939709"/>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A9F08A-9FB6-425D-95A6-2CA23F56E62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Yeterli test başarısızlık testi değildir</a:t>
            </a:r>
          </a:p>
        </p:txBody>
      </p:sp>
      <p:sp>
        <p:nvSpPr>
          <p:cNvPr id="2" name="">
            <a:extLst xmlns:a="http://schemas.openxmlformats.org/drawingml/2006/main">
              <a:ext uri="{FF2B5EF4-FFF2-40B4-BE49-F238E27FC236}">
                <a16:creationId xmlns:a16="http://schemas.microsoft.com/office/drawing/2014/main" id="{292B7301-1827-4B45-8AE7-C92A687F2BB9}"/>
              </a:ext>
            </a:extLst>
          </p:cNvPr>
          <p:cNvSpPr>
            <a:spLocks xmlns:a="http://schemas.openxmlformats.org/drawingml/2006/main" noGrp="1"/>
          </p:cNvSpPr>
          <p:nvPr/>
        </p:nvSpPr>
        <p:spPr>
          <a:xfrm xmlns:a="http://schemas.openxmlformats.org/drawingml/2006/main">
            <a:off x="742950" y="2524125"/>
            <a:ext cx="10715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Task A: C=1, T=D=2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Task B: C=2, T=D=4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U=1/2 +2/4 =1 &gt;0.8284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RM: A0–1, B1–2, A2–3, B3–4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Her4 birimde aynı pattern; deadline’lar sağlanır.</a:t>
            </a:r>
          </a:p>
        </p:txBody>
      </p:sp>
      <p:sp>
        <p:nvSpPr>
          <p:cNvPr id="3" name="">
            <a:extLst xmlns:a="http://schemas.openxmlformats.org/drawingml/2006/main">
              <a:ext uri="{FF2B5EF4-FFF2-40B4-BE49-F238E27FC236}">
                <a16:creationId xmlns:a16="http://schemas.microsoft.com/office/drawing/2014/main" id="{8839C848-0287-4422-9AA1-535C5ABE84B7}"/>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U=0.9 için RM sonucu doğrudan fail mi?</a:t>
            </a:r>
          </a:p>
        </p:txBody>
      </p:sp>
      <p:sp>
        <p:nvSpPr>
          <p:cNvPr id="4" name="">
            <a:extLst xmlns:a="http://schemas.openxmlformats.org/drawingml/2006/main">
              <a:ext uri="{FF2B5EF4-FFF2-40B4-BE49-F238E27FC236}">
                <a16:creationId xmlns:a16="http://schemas.microsoft.com/office/drawing/2014/main" id="{B2EF66D2-E1A7-4047-96C6-CA656BDCB79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C708CA7D-266A-49F3-B385-F8298012D0C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30</a:t>
            </a:r>
          </a:p>
        </p:txBody>
      </p:sp>
    </p:spTree>
    <p:extLst>
      <p:ext uri="{BB962C8B-B14F-4D97-AF65-F5344CB8AC3E}">
        <p14:creationId xmlns:p14="http://schemas.microsoft.com/office/powerpoint/2010/main" val="839208408"/>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8665D5-EE25-44EE-B5EE-888A16360AA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RM neden deadline kaçırıyor?</a:t>
            </a:r>
          </a:p>
        </p:txBody>
      </p:sp>
      <p:sp>
        <p:nvSpPr>
          <p:cNvPr id="2" name="">
            <a:extLst xmlns:a="http://schemas.openxmlformats.org/drawingml/2006/main">
              <a:ext uri="{FF2B5EF4-FFF2-40B4-BE49-F238E27FC236}">
                <a16:creationId xmlns:a16="http://schemas.microsoft.com/office/drawing/2014/main" id="{029F34AF-571E-4A37-99A1-EA76BDE4C8B4}"/>
              </a:ext>
            </a:extLst>
          </p:cNvPr>
          <p:cNvSpPr>
            <a:spLocks xmlns:a="http://schemas.openxmlformats.org/drawingml/2006/main" noGrp="1"/>
          </p:cNvSpPr>
          <p:nvPr/>
        </p:nvSpPr>
        <p:spPr>
          <a:xfrm xmlns:a="http://schemas.openxmlformats.org/drawingml/2006/main">
            <a:off x="742950" y="2524125"/>
            <a:ext cx="10715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P1: C=25,T=D=50; P2: C=35,T=D=80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U=0.5 +0.4375 =0.9375</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P1 0–25; P2 25–50; P1 50–75</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P2 75–85 → deadline80:5ms geç</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R0=35 → 35+ceil(35/50)×25=60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R1=60 → 35+ceil(60/50)×25=85 →85</a:t>
            </a:r>
          </a:p>
        </p:txBody>
      </p:sp>
      <p:sp>
        <p:nvSpPr>
          <p:cNvPr id="3" name="">
            <a:extLst xmlns:a="http://schemas.openxmlformats.org/drawingml/2006/main">
              <a:ext uri="{FF2B5EF4-FFF2-40B4-BE49-F238E27FC236}">
                <a16:creationId xmlns:a16="http://schemas.microsoft.com/office/drawing/2014/main" id="{C2AAC0C5-7C92-4A1E-A6A1-8478282AEA92}"/>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U&lt;1 olduğundan boş kapasite var; neden miss?</a:t>
            </a:r>
          </a:p>
        </p:txBody>
      </p:sp>
      <p:sp>
        <p:nvSpPr>
          <p:cNvPr id="4" name="">
            <a:extLst xmlns:a="http://schemas.openxmlformats.org/drawingml/2006/main">
              <a:ext uri="{FF2B5EF4-FFF2-40B4-BE49-F238E27FC236}">
                <a16:creationId xmlns:a16="http://schemas.microsoft.com/office/drawing/2014/main" id="{4F3C270A-4262-4B98-B5D2-7064999A7AA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B95ECCA3-5E24-48B0-AA75-93CE3630FAA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30</a:t>
            </a:r>
          </a:p>
        </p:txBody>
      </p:sp>
    </p:spTree>
    <p:extLst>
      <p:ext uri="{BB962C8B-B14F-4D97-AF65-F5344CB8AC3E}">
        <p14:creationId xmlns:p14="http://schemas.microsoft.com/office/powerpoint/2010/main" val="1264752200"/>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230123-8393-4F55-BD7B-5A3B220515D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EDF: şimdi hangi absolute deadline önce?</a:t>
            </a:r>
          </a:p>
        </p:txBody>
      </p:sp>
      <p:graphicFrame>
        <p:nvGraphicFramePr>
          <p:cNvPr id="9" name=""/>
          <p:cNvGraphicFramePr/>
          <p:nvPr/>
        </p:nvGraphicFramePr>
        <p:xfrm>
          <a:off xmlns:a="http://schemas.openxmlformats.org/drawingml/2006/main" x="609600" y="1857375"/>
          <a:ext xmlns:a="http://schemas.openxmlformats.org/drawingml/2006/main" cx="10972800" cy="2724150"/>
        </p:xfrm>
        <a:graphic xmlns:a="http://schemas.openxmlformats.org/drawingml/2006/main">
          <a:graphicData uri="http://schemas.openxmlformats.org/drawingml/2006/table">
            <a:tbl>
              <a:tblPr/>
              <a:tblGrid>
                <a:gridCol w="3657600"/>
                <a:gridCol w="3657600"/>
                <a:gridCol w="3657600"/>
              </a:tblGrid>
              <a:tr h="908050">
                <a:tc>
                  <a:txBody>
                    <a:bodyPr/>
                    <a:lstStyle/>
                    <a:p>
                      <a:r>
                        <a:rPr sz="1800" b="1">
                          <a:solidFill>
                            <a:srgbClr val="FFFFFF"/>
                          </a:solidFill>
                          <a:latin typeface="Helvetica Neue"/>
                          <a:ea typeface="Helvetica Neue"/>
                          <a:cs typeface="Helvetica Neue"/>
                        </a:rPr>
                        <a:t>t=50 ready job</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Absolute d</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Karar</a:t>
                      </a:r>
                    </a:p>
                  </a:txBody>
                  <a:tcPr marL="114300" marR="114300" marT="47625" marB="47625" anchor="ctr">
                    <a:solidFill>
                      <a:srgbClr val="122C42"/>
                    </a:solidFill>
                  </a:tcPr>
                </a:tc>
              </a:tr>
              <a:tr h="908050">
                <a:tc>
                  <a:txBody>
                    <a:bodyPr/>
                    <a:lstStyle/>
                    <a:p>
                      <a:r>
                        <a:rPr sz="1800" b="0">
                          <a:solidFill>
                            <a:srgbClr val="122C42"/>
                          </a:solidFill>
                          <a:latin typeface="Helvetica Neue"/>
                          <a:ea typeface="Helvetica Neue"/>
                          <a:cs typeface="Helvetica Neue"/>
                        </a:rPr>
                        <a:t>P2@0 kalan10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80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Devam50–60</a:t>
                      </a:r>
                    </a:p>
                  </a:txBody>
                  <a:tcPr marL="114300" marR="114300" marT="47625" marB="47625" anchor="ctr">
                    <a:solidFill>
                      <a:srgbClr val="FFFFFF"/>
                    </a:solidFill>
                  </a:tcPr>
                </a:tc>
              </a:tr>
              <a:tr h="908050">
                <a:tc>
                  <a:txBody>
                    <a:bodyPr/>
                    <a:lstStyle/>
                    <a:p>
                      <a:r>
                        <a:rPr sz="1800" b="0">
                          <a:solidFill>
                            <a:srgbClr val="122C42"/>
                          </a:solidFill>
                          <a:latin typeface="Helvetica Neue"/>
                          <a:ea typeface="Helvetica Neue"/>
                          <a:cs typeface="Helvetica Neue"/>
                        </a:rPr>
                        <a:t>P1@50 yeni25</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100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60–85 çalışır</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1AB348C0-EE87-4BA1-8E87-1331B3336C2B}"/>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t=80’de yeni P2 gelince P1 kesilir mi?</a:t>
            </a:r>
          </a:p>
        </p:txBody>
      </p:sp>
      <p:sp>
        <p:nvSpPr>
          <p:cNvPr id="4" name="">
            <a:extLst xmlns:a="http://schemas.openxmlformats.org/drawingml/2006/main">
              <a:ext uri="{FF2B5EF4-FFF2-40B4-BE49-F238E27FC236}">
                <a16:creationId xmlns:a16="http://schemas.microsoft.com/office/drawing/2014/main" id="{00332610-AAB9-47D7-8C9A-190792F3493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Deadline sırası</a:t>
            </a:r>
          </a:p>
        </p:txBody>
      </p:sp>
      <p:sp>
        <p:nvSpPr>
          <p:cNvPr id="5" name="">
            <a:extLst xmlns:a="http://schemas.openxmlformats.org/drawingml/2006/main">
              <a:ext uri="{FF2B5EF4-FFF2-40B4-BE49-F238E27FC236}">
                <a16:creationId xmlns:a16="http://schemas.microsoft.com/office/drawing/2014/main" id="{7BE4C9A7-03D1-4611-8EAE-D0E30881AF4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Released işler farklı bitiş zamanları ister.</a:t>
            </a:r>
          </a:p>
        </p:txBody>
      </p:sp>
      <p:sp>
        <p:nvSpPr>
          <p:cNvPr id="6" name="">
            <a:extLst xmlns:a="http://schemas.openxmlformats.org/drawingml/2006/main">
              <a:ext uri="{FF2B5EF4-FFF2-40B4-BE49-F238E27FC236}">
                <a16:creationId xmlns:a16="http://schemas.microsoft.com/office/drawing/2014/main" id="{D53D2F1E-DCBC-4944-88A3-38B253667B5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E2B3CD81-6945-4880-BB6C-ABD0966CA93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30</a:t>
            </a:r>
          </a:p>
        </p:txBody>
      </p:sp>
    </p:spTree>
    <p:extLst>
      <p:ext uri="{BB962C8B-B14F-4D97-AF65-F5344CB8AC3E}">
        <p14:creationId xmlns:p14="http://schemas.microsoft.com/office/powerpoint/2010/main" val="565410481"/>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8DC3E8-0F8B-4562-8830-07654FC3936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EDF izini uzat; theorem sınırını koru</a:t>
            </a:r>
          </a:p>
        </p:txBody>
      </p:sp>
      <p:sp>
        <p:nvSpPr>
          <p:cNvPr id="2" name="">
            <a:extLst xmlns:a="http://schemas.openxmlformats.org/drawingml/2006/main">
              <a:ext uri="{FF2B5EF4-FFF2-40B4-BE49-F238E27FC236}">
                <a16:creationId xmlns:a16="http://schemas.microsoft.com/office/drawing/2014/main" id="{B0F1F6CA-B764-41CB-8E5B-27A92DE9ACA3}"/>
              </a:ext>
            </a:extLst>
          </p:cNvPr>
          <p:cNvSpPr>
            <a:spLocks xmlns:a="http://schemas.openxmlformats.org/drawingml/2006/main" noGrp="1"/>
          </p:cNvSpPr>
          <p:nvPr/>
        </p:nvSpPr>
        <p:spPr>
          <a:xfrm xmlns:a="http://schemas.openxmlformats.org/drawingml/2006/main">
            <a:off x="742950" y="2524125"/>
            <a:ext cx="10715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85–100 P2@80 (d160)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100–125 P1@100 (d150)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125–145 P2@80;145–150 idle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150–175 P1@150 (d200)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175–210 P2@160 (d240)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210–235 P1@200 (d250)</a:t>
            </a:r>
          </a:p>
        </p:txBody>
      </p:sp>
      <p:sp>
        <p:nvSpPr>
          <p:cNvPr id="3" name="">
            <a:extLst xmlns:a="http://schemas.openxmlformats.org/drawingml/2006/main">
              <a:ext uri="{FF2B5EF4-FFF2-40B4-BE49-F238E27FC236}">
                <a16:creationId xmlns:a16="http://schemas.microsoft.com/office/drawing/2014/main" id="{1B833DC0-3E71-43A3-9744-B9726217285A}"/>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0–240 miss yok; tek başına sonsuz zaman kanıtı mı?</a:t>
            </a:r>
          </a:p>
        </p:txBody>
      </p:sp>
      <p:sp>
        <p:nvSpPr>
          <p:cNvPr id="4" name="">
            <a:extLst xmlns:a="http://schemas.openxmlformats.org/drawingml/2006/main">
              <a:ext uri="{FF2B5EF4-FFF2-40B4-BE49-F238E27FC236}">
                <a16:creationId xmlns:a16="http://schemas.microsoft.com/office/drawing/2014/main" id="{E2D43BD7-65E6-4E19-8D01-62975F0DBC6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5" name="">
            <a:extLst xmlns:a="http://schemas.openxmlformats.org/drawingml/2006/main">
              <a:ext uri="{FF2B5EF4-FFF2-40B4-BE49-F238E27FC236}">
                <a16:creationId xmlns:a16="http://schemas.microsoft.com/office/drawing/2014/main" id="{F6258C37-C511-4E95-8333-B7E73B8E718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30</a:t>
            </a:r>
          </a:p>
        </p:txBody>
      </p:sp>
    </p:spTree>
    <p:extLst>
      <p:ext uri="{BB962C8B-B14F-4D97-AF65-F5344CB8AC3E}">
        <p14:creationId xmlns:p14="http://schemas.microsoft.com/office/powerpoint/2010/main" val="563711382"/>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245653-B6B3-4CE3-8143-26CCB597301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Priority inversion: beklenen kaynak kimde?</a:t>
            </a:r>
          </a:p>
        </p:txBody>
      </p:sp>
      <p:sp>
        <p:nvSpPr>
          <p:cNvPr id="2" name="">
            <a:extLst xmlns:a="http://schemas.openxmlformats.org/drawingml/2006/main">
              <a:ext uri="{FF2B5EF4-FFF2-40B4-BE49-F238E27FC236}">
                <a16:creationId xmlns:a16="http://schemas.microsoft.com/office/drawing/2014/main" id="{CEC0BDEF-9D4D-42F1-8223-FB178638947C}"/>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Dependency</a:t>
            </a:r>
          </a:p>
        </p:txBody>
      </p:sp>
      <p:sp>
        <p:nvSpPr>
          <p:cNvPr id="3" name="">
            <a:extLst xmlns:a="http://schemas.openxmlformats.org/drawingml/2006/main">
              <a:ext uri="{FF2B5EF4-FFF2-40B4-BE49-F238E27FC236}">
                <a16:creationId xmlns:a16="http://schemas.microsoft.com/office/drawing/2014/main" id="{D02FD39B-761C-4BC9-A8BC-6FEAD0DC2796}"/>
              </a:ext>
            </a:extLst>
          </p:cNvPr>
          <p:cNvSpPr>
            <a:spLocks xmlns:a="http://schemas.openxmlformats.org/drawingml/2006/main" noGrp="1"/>
          </p:cNvSpPr>
          <p:nvPr/>
        </p:nvSpPr>
        <p:spPr>
          <a:xfrm xmlns:a="http://schemas.openxmlformats.org/drawingml/2006/main">
            <a:off x="6096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 yüksek: L’nin lock’unu bekliyor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 düşük: lock sahibi</a:t>
            </a:r>
          </a:p>
        </p:txBody>
      </p:sp>
      <p:sp>
        <p:nvSpPr>
          <p:cNvPr id="4" name="">
            <a:extLst xmlns:a="http://schemas.openxmlformats.org/drawingml/2006/main">
              <a:ext uri="{FF2B5EF4-FFF2-40B4-BE49-F238E27FC236}">
                <a16:creationId xmlns:a16="http://schemas.microsoft.com/office/drawing/2014/main" id="{CAF0CDFD-817A-44B5-8563-9551A26D9619}"/>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Interference</a:t>
            </a:r>
          </a:p>
        </p:txBody>
      </p:sp>
      <p:sp>
        <p:nvSpPr>
          <p:cNvPr id="5" name="">
            <a:extLst xmlns:a="http://schemas.openxmlformats.org/drawingml/2006/main">
              <a:ext uri="{FF2B5EF4-FFF2-40B4-BE49-F238E27FC236}">
                <a16:creationId xmlns:a16="http://schemas.microsoft.com/office/drawing/2014/main" id="{2D21EC39-60DF-411C-8600-EFC3E9CC4C14}"/>
              </a:ext>
            </a:extLst>
          </p:cNvPr>
          <p:cNvSpPr>
            <a:spLocks xmlns:a="http://schemas.openxmlformats.org/drawingml/2006/main" noGrp="1"/>
          </p:cNvSpPr>
          <p:nvPr/>
        </p:nvSpPr>
        <p:spPr>
          <a:xfrm xmlns:a="http://schemas.openxmlformats.org/drawingml/2006/main">
            <a:off x="6286500" y="2714625"/>
            <a:ext cx="5295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M orta: L’yi preempt eder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 dolaylı gecikir</a:t>
            </a:r>
          </a:p>
        </p:txBody>
      </p:sp>
      <p:sp>
        <p:nvSpPr>
          <p:cNvPr id="6" name="">
            <a:extLst xmlns:a="http://schemas.openxmlformats.org/drawingml/2006/main">
              <a:ext uri="{FF2B5EF4-FFF2-40B4-BE49-F238E27FC236}">
                <a16:creationId xmlns:a16="http://schemas.microsoft.com/office/drawing/2014/main" id="{1B77C7A8-E589-4E7D-AB41-5DA9DE136F72}"/>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H’yi daha da yüksek priority yapmak tek başına çözüm mü?</a:t>
            </a:r>
          </a:p>
        </p:txBody>
      </p:sp>
      <p:sp>
        <p:nvSpPr>
          <p:cNvPr id="7" name="">
            <a:extLst xmlns:a="http://schemas.openxmlformats.org/drawingml/2006/main">
              <a:ext uri="{FF2B5EF4-FFF2-40B4-BE49-F238E27FC236}">
                <a16:creationId xmlns:a16="http://schemas.microsoft.com/office/drawing/2014/main" id="{33DDD276-B820-479D-9DDB-C352D1C9B7C7}"/>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Paylaşılan logger lock’u</a:t>
            </a:r>
          </a:p>
        </p:txBody>
      </p:sp>
      <p:sp>
        <p:nvSpPr>
          <p:cNvPr id="8" name="">
            <a:extLst xmlns:a="http://schemas.openxmlformats.org/drawingml/2006/main">
              <a:ext uri="{FF2B5EF4-FFF2-40B4-BE49-F238E27FC236}">
                <a16:creationId xmlns:a16="http://schemas.microsoft.com/office/drawing/2014/main" id="{96E8EA1D-74BE-4A0C-80EB-3E42482FAF0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Önemli iş düşük işin tuttuğu kaynağı bekler.</a:t>
            </a:r>
          </a:p>
        </p:txBody>
      </p:sp>
      <p:sp>
        <p:nvSpPr>
          <p:cNvPr id="9" name="">
            <a:extLst xmlns:a="http://schemas.openxmlformats.org/drawingml/2006/main">
              <a:ext uri="{FF2B5EF4-FFF2-40B4-BE49-F238E27FC236}">
                <a16:creationId xmlns:a16="http://schemas.microsoft.com/office/drawing/2014/main" id="{23089EF6-41D4-4A1C-8635-F7A9FDC1ACC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10" name="">
            <a:extLst xmlns:a="http://schemas.openxmlformats.org/drawingml/2006/main">
              <a:ext uri="{FF2B5EF4-FFF2-40B4-BE49-F238E27FC236}">
                <a16:creationId xmlns:a16="http://schemas.microsoft.com/office/drawing/2014/main" id="{E5C8778D-477A-43D7-BF2C-08E48E333EB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30</a:t>
            </a:r>
          </a:p>
        </p:txBody>
      </p:sp>
    </p:spTree>
    <p:extLst>
      <p:ext uri="{BB962C8B-B14F-4D97-AF65-F5344CB8AC3E}">
        <p14:creationId xmlns:p14="http://schemas.microsoft.com/office/powerpoint/2010/main" val="1206739342"/>
      </p:ext>
    </p:extLst>
  </p:cSld>
</p:sld>
</file>

<file path=ppt/slides/slide2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0A6DE5-03EE-467F-BB33-E7E4606DE20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Linux: model ile gözlemi ayır</a:t>
            </a:r>
          </a:p>
        </p:txBody>
      </p:sp>
      <p:sp>
        <p:nvSpPr>
          <p:cNvPr id="2" name="">
            <a:extLst xmlns:a="http://schemas.openxmlformats.org/drawingml/2006/main">
              <a:ext uri="{FF2B5EF4-FFF2-40B4-BE49-F238E27FC236}">
                <a16:creationId xmlns:a16="http://schemas.microsoft.com/office/drawing/2014/main" id="{1F68F500-9AEA-4DFB-9ACD-CFD9F436BE58}"/>
              </a:ext>
            </a:extLst>
          </p:cNvPr>
          <p:cNvSpPr>
            <a:spLocks xmlns:a="http://schemas.openxmlformats.org/drawingml/2006/main" noGrp="1"/>
          </p:cNvSpPr>
          <p:nvPr/>
        </p:nvSpPr>
        <p:spPr>
          <a:xfrm xmlns:a="http://schemas.openxmlformats.org/drawingml/2006/main">
            <a:off x="742950" y="2524125"/>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uname -r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lscpu</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ps -o pid,cls,ni,psr,comm -p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chrt -p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taskset -pc "$$"</a:t>
            </a:r>
          </a:p>
        </p:txBody>
      </p:sp>
      <p:sp>
        <p:nvSpPr>
          <p:cNvPr id="3" name="">
            <a:extLst xmlns:a="http://schemas.openxmlformats.org/drawingml/2006/main">
              <a:ext uri="{FF2B5EF4-FFF2-40B4-BE49-F238E27FC236}">
                <a16:creationId xmlns:a16="http://schemas.microsoft.com/office/drawing/2014/main" id="{FA606D02-A7E5-4202-AD8F-0CB49CE1D6AB}"/>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PSR=2 gördüm; CPU2 bize ayrılmış mı?</a:t>
            </a:r>
          </a:p>
        </p:txBody>
      </p:sp>
      <p:sp>
        <p:nvSpPr>
          <p:cNvPr id="4" name="">
            <a:extLst xmlns:a="http://schemas.openxmlformats.org/drawingml/2006/main">
              <a:ext uri="{FF2B5EF4-FFF2-40B4-BE49-F238E27FC236}">
                <a16:creationId xmlns:a16="http://schemas.microsoft.com/office/drawing/2014/main" id="{6CA0E458-9CE0-4225-BC89-34649EC5E6DE}"/>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Gözlenen scheduler</a:t>
            </a:r>
          </a:p>
        </p:txBody>
      </p:sp>
      <p:sp>
        <p:nvSpPr>
          <p:cNvPr id="5" name="">
            <a:extLst xmlns:a="http://schemas.openxmlformats.org/drawingml/2006/main">
              <a:ext uri="{FF2B5EF4-FFF2-40B4-BE49-F238E27FC236}">
                <a16:creationId xmlns:a16="http://schemas.microsoft.com/office/drawing/2014/main" id="{A891E8ED-2A56-449F-B79E-9F4DC32CEE23}"/>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Dağıtım ve kernel farklı olabilir.</a:t>
            </a:r>
          </a:p>
        </p:txBody>
      </p:sp>
      <p:sp>
        <p:nvSpPr>
          <p:cNvPr id="6" name="">
            <a:extLst xmlns:a="http://schemas.openxmlformats.org/drawingml/2006/main">
              <a:ext uri="{FF2B5EF4-FFF2-40B4-BE49-F238E27FC236}">
                <a16:creationId xmlns:a16="http://schemas.microsoft.com/office/drawing/2014/main" id="{617016F7-8741-4377-B47A-D3288860DB6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E5926358-C1CD-4797-8721-3BDC44C0508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28 / 30</a:t>
            </a:r>
          </a:p>
        </p:txBody>
      </p:sp>
    </p:spTree>
    <p:extLst>
      <p:ext uri="{BB962C8B-B14F-4D97-AF65-F5344CB8AC3E}">
        <p14:creationId xmlns:p14="http://schemas.microsoft.com/office/powerpoint/2010/main" val="1808112922"/>
      </p:ext>
    </p:extLst>
  </p:cSld>
</p:sld>
</file>

<file path=ppt/slides/slide2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BF0912-25E7-4AD4-A622-7BFA809E51D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Offline lab ve ölçüm sınırları</a:t>
            </a:r>
          </a:p>
        </p:txBody>
      </p:sp>
      <p:sp>
        <p:nvSpPr>
          <p:cNvPr id="2" name="">
            <a:extLst xmlns:a="http://schemas.openxmlformats.org/drawingml/2006/main">
              <a:ext uri="{FF2B5EF4-FFF2-40B4-BE49-F238E27FC236}">
                <a16:creationId xmlns:a16="http://schemas.microsoft.com/office/drawing/2014/main" id="{B15233C9-ED23-4F7E-82FE-0A9991F870E8}"/>
              </a:ext>
            </a:extLst>
          </p:cNvPr>
          <p:cNvSpPr>
            <a:spLocks xmlns:a="http://schemas.openxmlformats.org/drawingml/2006/main" noGrp="1"/>
          </p:cNvSpPr>
          <p:nvPr/>
        </p:nvSpPr>
        <p:spPr>
          <a:xfrm xmlns:a="http://schemas.openxmlformats.org/drawingml/2006/main">
            <a:off x="742950" y="2524125"/>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lab/scheduler.py --algorithm srtf</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lab/scheduler.py --algorithm rr --quantum 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lab/scheduler.py --algorithm rr --switch-cost 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lab/scheduler.py --algorithm rm --until 240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lab/scheduler.py --algorithm edf --until 240</a:t>
            </a:r>
          </a:p>
        </p:txBody>
      </p:sp>
      <p:sp>
        <p:nvSpPr>
          <p:cNvPr id="3" name="">
            <a:extLst xmlns:a="http://schemas.openxmlformats.org/drawingml/2006/main">
              <a:ext uri="{FF2B5EF4-FFF2-40B4-BE49-F238E27FC236}">
                <a16:creationId xmlns:a16="http://schemas.microsoft.com/office/drawing/2014/main" id="{D3A790C2-068D-4347-88F5-FBCC7313CCFD}"/>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Lq14,λ7/s: Wq? Bu hangi queue için geçerli?</a:t>
            </a:r>
          </a:p>
        </p:txBody>
      </p:sp>
      <p:sp>
        <p:nvSpPr>
          <p:cNvPr id="4" name="">
            <a:extLst xmlns:a="http://schemas.openxmlformats.org/drawingml/2006/main">
              <a:ext uri="{FF2B5EF4-FFF2-40B4-BE49-F238E27FC236}">
                <a16:creationId xmlns:a16="http://schemas.microsoft.com/office/drawing/2014/main" id="{6B657B3D-53FF-4AAE-B2F7-8B11D3CEF23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Servis kuyruğu metrikleri</a:t>
            </a:r>
          </a:p>
        </p:txBody>
      </p:sp>
      <p:sp>
        <p:nvSpPr>
          <p:cNvPr id="5" name="">
            <a:extLst xmlns:a="http://schemas.openxmlformats.org/drawingml/2006/main">
              <a:ext uri="{FF2B5EF4-FFF2-40B4-BE49-F238E27FC236}">
                <a16:creationId xmlns:a16="http://schemas.microsoft.com/office/drawing/2014/main" id="{B944BE2C-CAFD-43A1-A03D-756B9B569E8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Queue depth ile arrival rate kaydedilir.</a:t>
            </a:r>
          </a:p>
        </p:txBody>
      </p:sp>
      <p:sp>
        <p:nvSpPr>
          <p:cNvPr id="6" name="">
            <a:extLst xmlns:a="http://schemas.openxmlformats.org/drawingml/2006/main">
              <a:ext uri="{FF2B5EF4-FFF2-40B4-BE49-F238E27FC236}">
                <a16:creationId xmlns:a16="http://schemas.microsoft.com/office/drawing/2014/main" id="{5B94F3BB-CE23-47BC-B0FB-6F5AD418097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7" name="">
            <a:extLst xmlns:a="http://schemas.openxmlformats.org/drawingml/2006/main">
              <a:ext uri="{FF2B5EF4-FFF2-40B4-BE49-F238E27FC236}">
                <a16:creationId xmlns:a16="http://schemas.microsoft.com/office/drawing/2014/main" id="{D7C36D1E-9122-4802-893F-913C14EDF7F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29 / 30</a:t>
            </a:r>
          </a:p>
        </p:txBody>
      </p:sp>
    </p:spTree>
    <p:extLst>
      <p:ext uri="{BB962C8B-B14F-4D97-AF65-F5344CB8AC3E}">
        <p14:creationId xmlns:p14="http://schemas.microsoft.com/office/powerpoint/2010/main" val="867904318"/>
      </p:ext>
    </p:extLst>
  </p:cSld>
</p:sld>
</file>

<file path=ppt/slides/slide3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71C602-9B43-477C-905E-64ED4EA607F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sonucu ve varsayımı söyle</a:t>
            </a:r>
          </a:p>
        </p:txBody>
      </p:sp>
      <p:sp>
        <p:nvSpPr>
          <p:cNvPr id="2" name="">
            <a:extLst xmlns:a="http://schemas.openxmlformats.org/drawingml/2006/main">
              <a:ext uri="{FF2B5EF4-FFF2-40B4-BE49-F238E27FC236}">
                <a16:creationId xmlns:a16="http://schemas.microsoft.com/office/drawing/2014/main" id="{E56459FB-9DBC-4EC6-965F-33AAD5CAF41A}"/>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0C239B0-137C-4DA5-A85B-1A162F7E1DB8}"/>
              </a:ext>
            </a:extLst>
          </p:cNvPr>
          <p:cNvSpPr>
            <a:spLocks xmlns:a="http://schemas.openxmlformats.org/drawingml/2006/main" noGrp="1"/>
          </p:cNvSpPr>
          <p:nvPr/>
        </p:nvSpPr>
        <p:spPr>
          <a:xfrm xmlns:a="http://schemas.openxmlformats.org/drawingml/2006/main">
            <a:off x="1200150" y="1952625"/>
            <a:ext cx="103822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R=0,W&gt;0; SJF optimal; RR endpoint: neden?</a:t>
            </a:r>
          </a:p>
        </p:txBody>
      </p:sp>
      <p:sp>
        <p:nvSpPr>
          <p:cNvPr id="4" name="">
            <a:extLst xmlns:a="http://schemas.openxmlformats.org/drawingml/2006/main">
              <a:ext uri="{FF2B5EF4-FFF2-40B4-BE49-F238E27FC236}">
                <a16:creationId xmlns:a16="http://schemas.microsoft.com/office/drawing/2014/main" id="{ABEB0E1C-4975-47F3-AA96-A88A6E318E22}"/>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52AACA8-5741-4C8E-951E-7F2E0079FE3F}"/>
              </a:ext>
            </a:extLst>
          </p:cNvPr>
          <p:cNvSpPr>
            <a:spLocks xmlns:a="http://schemas.openxmlformats.org/drawingml/2006/main" noGrp="1"/>
          </p:cNvSpPr>
          <p:nvPr/>
        </p:nvSpPr>
        <p:spPr>
          <a:xfrm xmlns:a="http://schemas.openxmlformats.org/drawingml/2006/main">
            <a:off x="1200150" y="3216275"/>
            <a:ext cx="103822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RM bound aşımı, U&lt;1 ve EDF guarantee: fark ne?</a:t>
            </a:r>
          </a:p>
        </p:txBody>
      </p:sp>
      <p:sp>
        <p:nvSpPr>
          <p:cNvPr id="6" name="">
            <a:extLst xmlns:a="http://schemas.openxmlformats.org/drawingml/2006/main">
              <a:ext uri="{FF2B5EF4-FFF2-40B4-BE49-F238E27FC236}">
                <a16:creationId xmlns:a16="http://schemas.microsoft.com/office/drawing/2014/main" id="{E2064D8A-8B23-43DD-8829-3A4BF294033B}"/>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EF328AC-4D73-4A47-BC4B-38350277C226}"/>
              </a:ext>
            </a:extLst>
          </p:cNvPr>
          <p:cNvSpPr>
            <a:spLocks xmlns:a="http://schemas.openxmlformats.org/drawingml/2006/main" noGrp="1"/>
          </p:cNvSpPr>
          <p:nvPr/>
        </p:nvSpPr>
        <p:spPr>
          <a:xfrm xmlns:a="http://schemas.openxmlformats.org/drawingml/2006/main">
            <a:off x="1200150" y="4479925"/>
            <a:ext cx="103822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Affinity,SMT ve EEVDF: hangi yanlış çıkarımlar?</a:t>
            </a:r>
          </a:p>
        </p:txBody>
      </p:sp>
      <p:sp>
        <p:nvSpPr>
          <p:cNvPr id="8" name="">
            <a:extLst xmlns:a="http://schemas.openxmlformats.org/drawingml/2006/main">
              <a:ext uri="{FF2B5EF4-FFF2-40B4-BE49-F238E27FC236}">
                <a16:creationId xmlns:a16="http://schemas.microsoft.com/office/drawing/2014/main" id="{A7A00116-B090-4258-B7CE-DDB8EEF0D5F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2</a:t>
            </a:r>
          </a:p>
        </p:txBody>
      </p:sp>
      <p:sp>
        <p:nvSpPr>
          <p:cNvPr id="9" name="">
            <a:extLst xmlns:a="http://schemas.openxmlformats.org/drawingml/2006/main">
              <a:ext uri="{FF2B5EF4-FFF2-40B4-BE49-F238E27FC236}">
                <a16:creationId xmlns:a16="http://schemas.microsoft.com/office/drawing/2014/main" id="{90F04853-01A3-4B52-8B88-88152C014BC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30 / 30</a:t>
            </a:r>
          </a:p>
        </p:txBody>
      </p:sp>
    </p:spTree>
    <p:extLst>
      <p:ext uri="{BB962C8B-B14F-4D97-AF65-F5344CB8AC3E}">
        <p14:creationId xmlns:p14="http://schemas.microsoft.com/office/powerpoint/2010/main" val="1525987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2026-10-07T19:41:15.5500000Z</dcterms:created>
  <dcterms:modified xsi:type="dcterms:W3CDTF">2026-10-07T19:41:15.5500000Z</dcterms:modified>
</coreProperties>
</file>