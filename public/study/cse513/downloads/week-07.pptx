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20fc43be8b425b" /><Relationship Type="http://schemas.openxmlformats.org/officeDocument/2006/relationships/extended-properties" Target="/docProps/app.xml" Id="R5d8ef80eccc543e0" /><Relationship Type="http://schemas.openxmlformats.org/officeDocument/2006/relationships/officeDocument" Target="/ppt/presentation.xml" Id="R180ecf950ac440b9" /></Relationships>
</file>

<file path=ppt/presentation.xml><?xml version="1.0" encoding="utf-8"?>
<p:presentation xmlns:p="http://schemas.openxmlformats.org/presentationml/2006/main">
  <p:sldMasterIdLst>
    <p:sldMasterId xmlns:r="http://schemas.openxmlformats.org/officeDocument/2006/relationships" id="2147483648" r:id="Reec35bea33764a4b"/>
  </p:sldMasterIdLst>
  <p:notesMasterIdLst>
    <p:notesMasterId xmlns:r="http://schemas.openxmlformats.org/officeDocument/2006/relationships" r:id="R329c33f65fd64d4c"/>
  </p:notesMasterIdLst>
  <p:sldIdLst>
    <p:sldId xmlns:r="http://schemas.openxmlformats.org/officeDocument/2006/relationships" id="256" r:id="R816ef8d0af36435a"/>
    <p:sldId xmlns:r="http://schemas.openxmlformats.org/officeDocument/2006/relationships" id="257" r:id="Rec5f9107a6dc42ef"/>
    <p:sldId xmlns:r="http://schemas.openxmlformats.org/officeDocument/2006/relationships" id="258" r:id="R728d7ea302d641c5"/>
    <p:sldId xmlns:r="http://schemas.openxmlformats.org/officeDocument/2006/relationships" id="259" r:id="Rf27bc18799904bec"/>
    <p:sldId xmlns:r="http://schemas.openxmlformats.org/officeDocument/2006/relationships" id="260" r:id="R60c5b20a49f14d97"/>
    <p:sldId xmlns:r="http://schemas.openxmlformats.org/officeDocument/2006/relationships" id="261" r:id="R92c60de138504d39"/>
    <p:sldId xmlns:r="http://schemas.openxmlformats.org/officeDocument/2006/relationships" id="262" r:id="Rbb8cd89d4fa14e42"/>
    <p:sldId xmlns:r="http://schemas.openxmlformats.org/officeDocument/2006/relationships" id="263" r:id="R7c4cdc440d414fb7"/>
    <p:sldId xmlns:r="http://schemas.openxmlformats.org/officeDocument/2006/relationships" id="264" r:id="R1ce84201176b4015"/>
    <p:sldId xmlns:r="http://schemas.openxmlformats.org/officeDocument/2006/relationships" id="265" r:id="R71edcc91454a472a"/>
    <p:sldId xmlns:r="http://schemas.openxmlformats.org/officeDocument/2006/relationships" id="266" r:id="R9fc573139b29410d"/>
    <p:sldId xmlns:r="http://schemas.openxmlformats.org/officeDocument/2006/relationships" id="267" r:id="R57c1e5a9c8db47ce"/>
    <p:sldId xmlns:r="http://schemas.openxmlformats.org/officeDocument/2006/relationships" id="268" r:id="Rf1b59166078d4744"/>
    <p:sldId xmlns:r="http://schemas.openxmlformats.org/officeDocument/2006/relationships" id="269" r:id="R4dea717af4d643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a7893dee0e4570" /><Relationship Type="http://schemas.openxmlformats.org/officeDocument/2006/relationships/slideMaster" Target="/ppt/slideMasters/slideMaster1.xml" Id="Reec35bea33764a4b" /><Relationship Type="http://schemas.openxmlformats.org/officeDocument/2006/relationships/notesMaster" Target="/ppt/notesMasters/notesMaster1.xml" Id="R329c33f65fd64d4c" /><Relationship Type="http://schemas.openxmlformats.org/officeDocument/2006/relationships/presProps" Target="/ppt/presProps.xml" Id="R852d022a75f54dcf" /><Relationship Type="http://schemas.openxmlformats.org/officeDocument/2006/relationships/tableStyles" Target="/ppt/tableStyles.xml" Id="Rfe72814a942d4742" /><Relationship Type="http://schemas.openxmlformats.org/officeDocument/2006/relationships/slide" Target="/ppt/slides/slide1.xml" Id="R816ef8d0af36435a" /><Relationship Type="http://schemas.openxmlformats.org/officeDocument/2006/relationships/slide" Target="/ppt/slides/slide2.xml" Id="Rec5f9107a6dc42ef" /><Relationship Type="http://schemas.openxmlformats.org/officeDocument/2006/relationships/slide" Target="/ppt/slides/slide3.xml" Id="R728d7ea302d641c5" /><Relationship Type="http://schemas.openxmlformats.org/officeDocument/2006/relationships/slide" Target="/ppt/slides/slide4.xml" Id="Rf27bc18799904bec" /><Relationship Type="http://schemas.openxmlformats.org/officeDocument/2006/relationships/slide" Target="/ppt/slides/slide5.xml" Id="R60c5b20a49f14d97" /><Relationship Type="http://schemas.openxmlformats.org/officeDocument/2006/relationships/slide" Target="/ppt/slides/slide6.xml" Id="R92c60de138504d39" /><Relationship Type="http://schemas.openxmlformats.org/officeDocument/2006/relationships/slide" Target="/ppt/slides/slide7.xml" Id="Rbb8cd89d4fa14e42" /><Relationship Type="http://schemas.openxmlformats.org/officeDocument/2006/relationships/slide" Target="/ppt/slides/slide8.xml" Id="R7c4cdc440d414fb7" /><Relationship Type="http://schemas.openxmlformats.org/officeDocument/2006/relationships/slide" Target="/ppt/slides/slide9.xml" Id="R1ce84201176b4015" /><Relationship Type="http://schemas.openxmlformats.org/officeDocument/2006/relationships/slide" Target="/ppt/slides/slide10.xml" Id="R71edcc91454a472a" /><Relationship Type="http://schemas.openxmlformats.org/officeDocument/2006/relationships/slide" Target="/ppt/slides/slide11.xml" Id="R9fc573139b29410d" /><Relationship Type="http://schemas.openxmlformats.org/officeDocument/2006/relationships/slide" Target="/ppt/slides/slide12.xml" Id="R57c1e5a9c8db47ce" /><Relationship Type="http://schemas.openxmlformats.org/officeDocument/2006/relationships/slide" Target="/ppt/slides/slide13.xml" Id="Rf1b59166078d4744" /><Relationship Type="http://schemas.openxmlformats.org/officeDocument/2006/relationships/slide" Target="/ppt/slides/slide14.xml" Id="R4dea717af4d643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4858704c074b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829cba599f4548" /><Relationship Type="http://schemas.openxmlformats.org/officeDocument/2006/relationships/notesMaster" Target="/ppt/notesMasters/notesMaster1.xml" Id="Rd1afc0c8ecae4e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cc8d5ef0fb4c04" /><Relationship Type="http://schemas.openxmlformats.org/officeDocument/2006/relationships/notesMaster" Target="/ppt/notesMasters/notesMaster1.xml" Id="Re433918c1e724a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4f9f967cab4dfb" /><Relationship Type="http://schemas.openxmlformats.org/officeDocument/2006/relationships/notesMaster" Target="/ppt/notesMasters/notesMaster1.xml" Id="R1aeb61ea289445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43bde66b2548fe" /><Relationship Type="http://schemas.openxmlformats.org/officeDocument/2006/relationships/notesMaster" Target="/ppt/notesMasters/notesMaster1.xml" Id="R089d7ee14d46443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d5970402e244e0" /><Relationship Type="http://schemas.openxmlformats.org/officeDocument/2006/relationships/notesMaster" Target="/ppt/notesMasters/notesMaster1.xml" Id="Ra2a96c99720843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a5ac30dbbf4b0a" /><Relationship Type="http://schemas.openxmlformats.org/officeDocument/2006/relationships/notesMaster" Target="/ppt/notesMasters/notesMaster1.xml" Id="R057cb9b61f1144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5a8cf140f8497b" /><Relationship Type="http://schemas.openxmlformats.org/officeDocument/2006/relationships/notesMaster" Target="/ppt/notesMasters/notesMaster1.xml" Id="Re97e48a1e7584e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996d00c41b4315" /><Relationship Type="http://schemas.openxmlformats.org/officeDocument/2006/relationships/notesMaster" Target="/ppt/notesMasters/notesMaster1.xml" Id="Rb6b3169da2f549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fca1c8ff4d4f9f" /><Relationship Type="http://schemas.openxmlformats.org/officeDocument/2006/relationships/notesMaster" Target="/ppt/notesMasters/notesMaster1.xml" Id="Rb70c86e58b3445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04914d398a47f6" /><Relationship Type="http://schemas.openxmlformats.org/officeDocument/2006/relationships/notesMaster" Target="/ppt/notesMasters/notesMaster1.xml" Id="R6f8b174e466144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d93a5ba88824fa3" /><Relationship Type="http://schemas.openxmlformats.org/officeDocument/2006/relationships/notesMaster" Target="/ppt/notesMasters/notesMaster1.xml" Id="Re9fce7e684e942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eb4bfdd800473d" /><Relationship Type="http://schemas.openxmlformats.org/officeDocument/2006/relationships/notesMaster" Target="/ppt/notesMasters/notesMaster1.xml" Id="Reef23912267c4a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b5c1fd5673491e" /><Relationship Type="http://schemas.openxmlformats.org/officeDocument/2006/relationships/notesMaster" Target="/ppt/notesMasters/notesMaster1.xml" Id="Rba28ba0859b84c0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f27520bf8e4c75" /><Relationship Type="http://schemas.openxmlformats.org/officeDocument/2006/relationships/notesMaster" Target="/ppt/notesMasters/notesMaster1.xml" Id="R22e8b0e172c84f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bir resmî sınav kapsamı değildir</a:t>
            </a:r>
          </a:p>
          <a:p xmlns:a="http://schemas.openxmlformats.org/drawingml/2006/main">
            <a:r>
              <a:t>Sorular bağımsız öğrenme alıştırmasıdır</a:t>
            </a:r>
          </a:p>
          <a:p xmlns:a="http://schemas.openxmlformats.org/drawingml/2006/main">
            <a:r>
              <a:t/>
            </a:r>
          </a:p>
          <a:p xmlns:a="http://schemas.openxmlformats.org/drawingml/2006/main">
            <a:r>
              <a:t>Resmî syllabus Week7’de ara sınav ve ders olmadığını belirtir. Tarih ve ayrıntılı sınav kapsamı ayrıca duyurulacaktır. Bu paket Week1–6’ya yönelik kişisel tekrar önerisidir; çıkacak soruları tahmin etmez, resmî deneme sınavı değildir. Yalnız hatırladığın tanım yerine model, olay ve sonucu açıklama becerini sınar.</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Önce soruyu görmeden tanımı ezberleme</a:t>
            </a:r>
          </a:p>
          <a:p xmlns:a="http://schemas.openxmlformats.org/drawingml/2006/main">
            <a:r>
              <a:t>Tahmin → küçük iz → gerekçe</a:t>
            </a:r>
          </a:p>
          <a:p xmlns:a="http://schemas.openxmlformats.org/drawingml/2006/main">
            <a:r>
              <a:t>Hata için ilgili haftaya dön</a:t>
            </a:r>
          </a:p>
          <a:p xmlns:a="http://schemas.openxmlformats.org/drawingml/2006/main">
            <a:r>
              <a:t>Kapsam/tarih için resmî duyuruyu kontrol et</a:t>
            </a:r>
          </a:p>
          <a:p xmlns:a="http://schemas.openxmlformats.org/drawingml/2006/main">
            <a:r>
              <a:t/>
            </a:r>
          </a:p>
          <a:p xmlns:a="http://schemas.openxmlformats.org/drawingml/2006/main">
            <a:r>
              <a:t>Kişisel süre önerisi üç kısa oturumdur, zorunlu değildir. İlk oturum process/scheduling; ikinci synchronization/deadlock; üçüncü memory/virtual memory. Her yanlış cevapta sadece doğru sonucu kopyalama: hangi koşulun yanlış yorumlandığını yaz. Bu çalışma resmî puan veya deadline belirlemez.</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 system call yapar, hemen döner</a:t>
            </a:r>
          </a:p>
          <a:p xmlns:a="http://schemas.openxmlformats.org/drawingml/2006/main">
            <a:r>
              <a:t>Q ağ cevabını bekler</a:t>
            </a:r>
          </a:p>
          <a:p xmlns:a="http://schemas.openxmlformats.org/drawingml/2006/main">
            <a:r>
              <a:t>Tek CPU’da iki thread ilerler</a:t>
            </a:r>
          </a:p>
          <a:p xmlns:a="http://schemas.openxmlformats.org/drawingml/2006/main">
            <a:r>
              <a:t/>
            </a:r>
          </a:p>
          <a:p xmlns:a="http://schemas.openxmlformats.org/drawingml/2006/main">
            <a:r>
              <a:t>Üç ayrı eksen kur: privilege mode, task identity ve readiness. Kernel’a giriş another task seçimi demek değildir. Bekleyen Q’nun network event’i gerçekleşmeden CPU allocation ilerleme sağlamaz. Tek CPU interleaving concurrency sağlayabilir, simultaneous yürütme kanıtı olmaz.</a:t>
            </a:r>
          </a:p>
          <a:p xmlns:a="http://schemas.openxmlformats.org/drawingml/2006/main">
            <a:r>
              <a:t/>
            </a:r>
          </a:p>
          <a:p xmlns:a="http://schemas.openxmlformats.org/drawingml/2006/main">
            <a:r>
              <a:t>SORUNUN YANITI: P’de başka task zorunlu değil. Q önce event ile ready olmalı. İki thread iki CPU yaratmaz.</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Private x=10; fork; child x=20</a:t>
            </a:r>
          </a:p>
          <a:p xmlns:a="http://schemas.openxmlformats.org/drawingml/2006/main">
            <a:r>
              <a:t>Parent wait sonrası x’i okur</a:t>
            </a:r>
          </a:p>
          <a:p xmlns:a="http://schemas.openxmlformats.org/drawingml/2006/main">
            <a:r>
              <a:t>Child başarılı exec yapar</a:t>
            </a:r>
          </a:p>
          <a:p xmlns:a="http://schemas.openxmlformats.org/drawingml/2006/main">
            <a:r>
              <a:t/>
            </a:r>
          </a:p>
          <a:p xmlns:a="http://schemas.openxmlformats.org/drawingml/2006/main">
            <a:r>
              <a:t>Varsayım single-threaded fork ve explicit shared memory yok. Parent ve child private adres alanları mantıksal olarak ayrı; COW implementation optimization’dır. wait bitişi toplar ve sıra sağlar; x değerlerini birleştirmez. Başarılı exec aynı PID’de yeni image ile sürer, eski programın sonraki satırına dönmez.</a:t>
            </a:r>
          </a:p>
          <a:p xmlns:a="http://schemas.openxmlformats.org/drawingml/2006/main">
            <a:r>
              <a:t/>
            </a:r>
          </a:p>
          <a:p xmlns:a="http://schemas.openxmlformats.org/drawingml/2006/main">
            <a:r>
              <a:t>SORUNUN YANITI: Parent x=10. Exec PID’yi değiştirmez; başarılı exec geri dönmez.</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burst3, B burst2; arrival0; quantum1</a:t>
            </a:r>
          </a:p>
          <a:p xmlns:a="http://schemas.openxmlformats.org/drawingml/2006/main">
            <a:r>
              <a:t>Başlangıç ready sırası A,B; context-switch cost0</a:t>
            </a:r>
          </a:p>
          <a:p xmlns:a="http://schemas.openxmlformats.org/drawingml/2006/main">
            <a:r>
              <a:t/>
            </a:r>
          </a:p>
          <a:p xmlns:a="http://schemas.openxmlformats.org/drawingml/2006/main">
            <a:r>
              <a:t>Bu modelde I/O yok ve yalnız bu iki job var. Zaman aralıklarını yarı açık düşün: [0,1) A. Burst bitmezse kuyruğun sonuna gider. Completion üzerinden turnaround hesapla; waiting=turnaround−CPU burst çünkü I/O yok. Formülü başka workload’da koşulsuz uygulama.</a:t>
            </a:r>
          </a:p>
          <a:p xmlns:a="http://schemas.openxmlformats.org/drawingml/2006/main">
            <a:r>
              <a:t/>
            </a:r>
          </a:p>
          <a:p xmlns:a="http://schemas.openxmlformats.org/drawingml/2006/main">
            <a:r>
              <a:t>SORUNUN YANITI: Sıra A,B,A,B,A. Completion A5,B4; turnaround5,4; waiting A2,B2.</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Kısa iş önce: hangi bilgi gerekir?</a:t>
            </a:r>
          </a:p>
          <a:p xmlns:a="http://schemas.openxmlformats.org/drawingml/2006/main">
            <a:r>
              <a:t>Priority: starvation olabilir mi?</a:t>
            </a:r>
          </a:p>
          <a:p xmlns:a="http://schemas.openxmlformats.org/drawingml/2006/main">
            <a:r>
              <a:t>Deadline: average yeterli mi?</a:t>
            </a:r>
          </a:p>
          <a:p xmlns:a="http://schemas.openxmlformats.org/drawingml/2006/main">
            <a:r>
              <a:t/>
            </a:r>
          </a:p>
          <a:p xmlns:a="http://schemas.openxmlformats.org/drawingml/2006/main">
            <a:r>
              <a:t>SJF için next burst uzunluğu bilgisi veya tahmini gereklidir. Priority workload’unda sürekli daha yüksek öncelikli işler belirli işi erteleyebilir. Deadline analysis worst-case execution, arrival ve resource assumptions ister. Bu slide gerçek zaman algoritmalarının resmî sınav kapsamını tanımlamaz; yalnız claim/assumption ayrımını sınar.</a:t>
            </a:r>
          </a:p>
          <a:p xmlns:a="http://schemas.openxmlformats.org/drawingml/2006/main">
            <a:r>
              <a:t/>
            </a:r>
          </a:p>
          <a:p xmlns:a="http://schemas.openxmlformats.org/drawingml/2006/main">
            <a:r>
              <a:t>SORUNUN YANITI: Burst bilgisi/tahmini; evet, fairness yoksa; hayır, average tek başına deadline garantisi değildir.</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Soyut counter0, iki read–add–write</a:t>
            </a:r>
          </a:p>
          <a:p xmlns:a="http://schemas.openxmlformats.org/drawingml/2006/main">
            <a:r>
              <a:t/>
            </a:r>
          </a:p>
          <a:p xmlns:a="http://schemas.openxmlformats.org/drawingml/2006/main">
            <a:r>
              <a:t>Verilen abstract modelde iki akış aynı eski değeri okuyor. İki write toplam2 değil1 bırakır. Tek CPU bu interleaving’i engellemez. Gerçek C’de unsynchronized conflicting erişim data race ve undefined behavior oluşturabilir; bu örneği çalıştırıp her zaman1 çıkacağı iddiası yapma. Mutex tüm RMW’yi korumalı veya uygun atomic operation kullanılmalı.</a:t>
            </a:r>
          </a:p>
          <a:p xmlns:a="http://schemas.openxmlformats.org/drawingml/2006/main">
            <a:r>
              <a:t/>
            </a:r>
          </a:p>
          <a:p xmlns:a="http://schemas.openxmlformats.org/drawingml/2006/main">
            <a:r>
              <a:t>SORUNUN YANITI: Final1; bütün RMW için protokol gerekir. Join tek başına aynı anda çalışan worker’ları dışlamaz.</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Worker: while(!ready) wait</a:t>
            </a:r>
          </a:p>
          <a:p xmlns:a="http://schemas.openxmlformats.org/drawingml/2006/main">
            <a:r>
              <a:t>Producer shared predicate’i değiştirir</a:t>
            </a:r>
          </a:p>
          <a:p xmlns:a="http://schemas.openxmlformats.org/drawingml/2006/main">
            <a:r>
              <a:t>Bir signal tek başına veri mi?</a:t>
            </a:r>
          </a:p>
          <a:p xmlns:a="http://schemas.openxmlformats.org/drawingml/2006/main">
            <a:r>
              <a:t/>
            </a:r>
          </a:p>
          <a:p xmlns:a="http://schemas.openxmlformats.org/drawingml/2006/main">
            <a:r>
              <a:t>Condition variable signal bir stored predicate değildir. Wait ile mutex release/reacquire protocol’ünü birlikte düşün. Wake sonrası predicate yeniden kontrol edilir; spurious wake veya başka tüketicinin işi alması mümkündür. Semaphore token gibi başka abstraction’larla signal’ı karıştırma.</a:t>
            </a:r>
          </a:p>
          <a:p xmlns:a="http://schemas.openxmlformats.org/drawingml/2006/main">
            <a:r>
              <a:t/>
            </a:r>
          </a:p>
          <a:p xmlns:a="http://schemas.openxmlformats.org/drawingml/2006/main">
            <a:r>
              <a:t>SORUNUN YANITI: Kalıcı doğruluk shared predicate ve doğru mutex protocol’ündedir; signal tek başına hazır veriyi garanti etmez.</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Single-instance exclusive: A→B→A</a:t>
            </a:r>
          </a:p>
          <a:p xmlns:a="http://schemas.openxmlformats.org/drawingml/2006/main">
            <a:r>
              <a:t>C→A, fakat C çevrimde değil</a:t>
            </a:r>
          </a:p>
          <a:p xmlns:a="http://schemas.openxmlformats.org/drawingml/2006/main">
            <a:r>
              <a:t>Bir resource type iki instance olsa?</a:t>
            </a:r>
          </a:p>
          <a:p xmlns:a="http://schemas.openxmlformats.org/drawingml/2006/main">
            <a:r>
              <a:t/>
            </a:r>
          </a:p>
          <a:p xmlns:a="http://schemas.openxmlformats.org/drawingml/2006/main">
            <a:r>
              <a:t>Model belirtmeden cycle sonucu verme. Mevcut single-instance exclusive wait-for ilişkileri çevrimdeki işlerin karşılıklı beklemesini gösterir. C de etkilenebilir fakat cycle member değildir. Multiple-instance resource-allocation cycle necessary fakat sufficient değildir; ilerleyebilen üçüncü holder karşı örnek kurabilir.</a:t>
            </a:r>
          </a:p>
          <a:p xmlns:a="http://schemas.openxmlformats.org/drawingml/2006/main">
            <a:r>
              <a:t/>
            </a:r>
          </a:p>
          <a:p xmlns:a="http://schemas.openxmlformats.org/drawingml/2006/main">
            <a:r>
              <a:t>SORUNUN YANITI: Single-instance modelde A,B deadlocked; C dolaylı etkilenebilir. Çok instance’da çevrim tek başına yetmez.</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 gelecekteki üst sınır</a:t>
            </a:r>
          </a:p>
          <a:p xmlns:a="http://schemas.openxmlformats.org/drawingml/2006/main">
            <a:r>
              <a:t>Need=Max−Allocation</a:t>
            </a:r>
          </a:p>
          <a:p xmlns:a="http://schemas.openxmlformats.org/drawingml/2006/main">
            <a:r>
              <a:t>Unsafe ile deadlocked eşit mi?</a:t>
            </a:r>
          </a:p>
          <a:p xmlns:a="http://schemas.openxmlformats.org/drawingml/2006/main">
            <a:r>
              <a:t/>
            </a:r>
          </a:p>
          <a:p xmlns:a="http://schemas.openxmlformats.org/drawingml/2006/main">
            <a:r>
              <a:t>Banker safety witness ilan edilen maksimumlar karşısında bir tamamlama sırası bulur. Bulamamak süreçlerin şu anda bütün Need’lerini talep edip bloklandığını göstermez. Detection mevcut outstanding request’i inceler. Bir örneği açıklarken safety ile actual waiting snapshot’ını ayrı yaz.</a:t>
            </a:r>
          </a:p>
          <a:p xmlns:a="http://schemas.openxmlformats.org/drawingml/2006/main">
            <a:r>
              <a:t/>
            </a:r>
          </a:p>
          <a:p xmlns:a="http://schemas.openxmlformats.org/drawingml/2006/main">
            <a:r>
              <a:t>SORUNUN YANITI: Hayır. Unsafe worst-case safety garantisinin bulunmamasıdır, mevcut deadlock kanıtı değil.</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Byte adres13; page size4byte</a:t>
            </a:r>
          </a:p>
          <a:p xmlns:a="http://schemas.openxmlformats.org/drawingml/2006/main">
            <a:r>
              <a:t>Page3 → frame5; mapping geçerli</a:t>
            </a:r>
          </a:p>
          <a:p xmlns:a="http://schemas.openxmlformats.org/drawingml/2006/main">
            <a:r>
              <a:t/>
            </a:r>
          </a:p>
          <a:p xmlns:a="http://schemas.openxmlformats.org/drawingml/2006/main">
            <a:r>
              <a:t>Page size öğretim için4byte seçildi, gerçek makine ölçümü değil. VPN=13//4=3, offset=13%4=1. Frame5 başlangıcı5×4=20, fiziksel byte address21. Sanal adres numerik olarak aynı olsa bile iki process mapping’i farklı olabilir. Permission ve present kontrolünü lookup hesabından ayrı düşün.</a:t>
            </a:r>
          </a:p>
          <a:p xmlns:a="http://schemas.openxmlformats.org/drawingml/2006/main">
            <a:r>
              <a:t/>
            </a:r>
          </a:p>
          <a:p xmlns:a="http://schemas.openxmlformats.org/drawingml/2006/main">
            <a:r>
              <a:t>SORUNUN YANITI: VPN3, offset1, physical21. Mapping/permission koşulları olmadan numeric dönüşüm yeterli değildir.</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TLB’de çeviri yok</a:t>
            </a:r>
          </a:p>
          <a:p xmlns:a="http://schemas.openxmlformats.org/drawingml/2006/main">
            <a:r>
              <a:t>Page table mapping present</a:t>
            </a:r>
          </a:p>
          <a:p xmlns:a="http://schemas.openxmlformats.org/drawingml/2006/main">
            <a:r>
              <a:t>Page backing storage’da olabilir</a:t>
            </a:r>
          </a:p>
          <a:p xmlns:a="http://schemas.openxmlformats.org/drawingml/2006/main">
            <a:r>
              <a:t/>
            </a:r>
          </a:p>
          <a:p xmlns:a="http://schemas.openxmlformats.org/drawingml/2006/main">
            <a:r>
              <a:t>TLB miss çeviri cache’inin kayıp girişidir; resident mapping ile giderilebilir, page fault şart değildir. Page fault farklı nedenlerle olabilir: absent page, permission veya copy-on-write gibi. Her fault mutlaka disk read değildir. Kernel entry ve task switch ayrımını burada tekrar kullan.</a:t>
            </a:r>
          </a:p>
          <a:p xmlns:a="http://schemas.openxmlformats.org/drawingml/2006/main">
            <a:r>
              <a:t/>
            </a:r>
          </a:p>
          <a:p xmlns:a="http://schemas.openxmlformats.org/drawingml/2006/main">
            <a:r>
              <a:t>SORUNUN YANITI: TLB miss ≠ page fault. Page fault ≠ her zaman disk. Ayrıntı mimari/kernel ve fault nedenine bağlıdır.</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Capacity2 frame; başlangıç boş</a:t>
            </a:r>
          </a:p>
          <a:p xmlns:a="http://schemas.openxmlformats.org/drawingml/2006/main">
            <a:r>
              <a:t>Reference string: 1,2,1,3</a:t>
            </a:r>
          </a:p>
          <a:p xmlns:a="http://schemas.openxmlformats.org/drawingml/2006/main">
            <a:r>
              <a:t/>
            </a:r>
          </a:p>
          <a:p xmlns:a="http://schemas.openxmlformats.org/drawingml/2006/main">
            <a:r>
              <a:t>FIFO insertion order tutar: tekrar1 erişimi FIFO yaşını yenilemez. LRU kullanım sırasını tutar: tekrar1 onu en recent yapar. Son3 erişiminde FIFO1’i, LRU2’yi atar. Bu kısa örnekte iki politika da3 fault yaşar; aynı fault sayısı aynı final resident set demek değildir. Gerçek performance için workload ve maliyet gerekir.</a:t>
            </a:r>
          </a:p>
          <a:p xmlns:a="http://schemas.openxmlformats.org/drawingml/2006/main">
            <a:r>
              <a:t/>
            </a:r>
          </a:p>
          <a:p xmlns:a="http://schemas.openxmlformats.org/drawingml/2006/main">
            <a:r>
              <a:t>SORUNUN YANITI: FIFO final{2,3}; LRU final{1,3}; her ikisi3fault.</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sağlam mekanizmayı kendi örneğinle anlat</a:t>
            </a:r>
          </a:p>
          <a:p xmlns:a="http://schemas.openxmlformats.org/drawingml/2006/main">
            <a:r>
              <a:t>Karışan iki kavramı karşılaştır</a:t>
            </a:r>
          </a:p>
          <a:p xmlns:a="http://schemas.openxmlformats.org/drawingml/2006/main">
            <a:r>
              <a:t>Resmî kapsam ve tarihi duyurudan doğrula</a:t>
            </a:r>
          </a:p>
          <a:p xmlns:a="http://schemas.openxmlformats.org/drawingml/2006/main">
            <a:r>
              <a:t/>
            </a:r>
          </a:p>
          <a:p xmlns:a="http://schemas.openxmlformats.org/drawingml/2006/main">
            <a:r>
              <a:t>Bu son bölüm çalışma geri bildirimidir, notlandırma rubric’i değildir. Doğru tahmin ile teknik açıklamayı ayır; açıklamayı başka sayılarla tekrar dene. Course syllabus ara sınav30% bildirir; bu kişisel materyal o sınavın sorularını veya puan dağılımını belirlemez. Resmî kapsam yayımlandığında kişisel rotanı ona göre güncelle.</a:t>
            </a:r>
          </a:p>
          <a:p xmlns:a="http://schemas.openxmlformats.org/drawingml/2006/main">
            <a:r>
              <a:t/>
            </a:r>
          </a:p>
          <a:p xmlns:a="http://schemas.openxmlformats.org/drawingml/2006/main">
            <a:r>
              <a:t>SORUNUN YANITI: Yanıt kişiseldir: hangi model, hangi mechanism ve hangi koşulun açıklanamadığını yaz.</a:t>
            </a:r>
          </a:p>
          <a:p xmlns:a="http://schemas.openxmlformats.org/drawingml/2006/main">
            <a:r>
              <a:t/>
            </a:r>
          </a:p>
          <a:p xmlns:a="http://schemas.openxmlformats.org/drawingml/2006/main">
            <a:r>
              <a:t>Kişisel tekrar çalışması. Resmî sınav kapsamı veya gerçek sınav sorusu değildir.</a:t>
            </a:r>
          </a:p>
          <a:p xmlns:a="http://schemas.openxmlformats.org/drawingml/2006/main">
            <a:r>
              <a:t/>
            </a:r>
          </a:p>
          <a:p xmlns:a="http://schemas.openxmlformats.org/drawingml/2006/main">
            <a:r>
              <a:t>https://mehmetgokturk.com/cse513/syllabus.html</a:t>
            </a:r>
          </a:p>
          <a:p xmlns:a="http://schemas.openxmlformats.org/drawingml/2006/main">
            <a:r>
              <a:t/>
            </a:r>
          </a:p>
          <a:p xmlns:a="http://schemas.openxmlformats.org/drawingml/2006/main">
            <a:r>
              <a:t>https://mehmetgokturk.com/cse513/syllabus.html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3c57aa7a534d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3e1dabc6ae49da" /><Relationship Type="http://schemas.openxmlformats.org/officeDocument/2006/relationships/slideLayout" Target="/ppt/slideLayouts/slideLayout1.xml" Id="R1abaf9c405be45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baf9c405be45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b883af7a174bcd" /><Relationship Type="http://schemas.openxmlformats.org/officeDocument/2006/relationships/notesSlide" Target="/ppt/notesSlides/notesSlide1.xml" Id="R575edc98d1a94d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27b85c04b14789" /><Relationship Type="http://schemas.openxmlformats.org/officeDocument/2006/relationships/notesSlide" Target="/ppt/notesSlides/notesSlide2.xml" Id="R584a80f7f68f42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bce05131514552" /><Relationship Type="http://schemas.openxmlformats.org/officeDocument/2006/relationships/notesSlide" Target="/ppt/notesSlides/notesSlide3.xml" Id="R128e08d31b5e42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2ce4e32d3447e4" /><Relationship Type="http://schemas.openxmlformats.org/officeDocument/2006/relationships/notesSlide" Target="/ppt/notesSlides/notesSlide4.xml" Id="Rb15cecb9825948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029d09b9c84d7b" /><Relationship Type="http://schemas.openxmlformats.org/officeDocument/2006/relationships/notesSlide" Target="/ppt/notesSlides/notesSlide5.xml" Id="Rc8c01d2a03f643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d86c1803ed497b" /><Relationship Type="http://schemas.openxmlformats.org/officeDocument/2006/relationships/notesSlide" Target="/ppt/notesSlides/notesSlide6.xml" Id="R558bb75abfc24c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b49fe546c5488d" /><Relationship Type="http://schemas.openxmlformats.org/officeDocument/2006/relationships/notesSlide" Target="/ppt/notesSlides/notesSlide7.xml" Id="R5fcfee53f76445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879b9c7e354c9a" /><Relationship Type="http://schemas.openxmlformats.org/officeDocument/2006/relationships/notesSlide" Target="/ppt/notesSlides/notesSlide8.xml" Id="Rf958f88eca4547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19658dbd404b88" /><Relationship Type="http://schemas.openxmlformats.org/officeDocument/2006/relationships/notesSlide" Target="/ppt/notesSlides/notesSlide9.xml" Id="R670c9687314e4b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073085368b4cd6" /><Relationship Type="http://schemas.openxmlformats.org/officeDocument/2006/relationships/notesSlide" Target="/ppt/notesSlides/notesSlide10.xml" Id="Re324dd115ab546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1eb3798eb9486e" /><Relationship Type="http://schemas.openxmlformats.org/officeDocument/2006/relationships/notesSlide" Target="/ppt/notesSlides/notesSlide11.xml" Id="Rf3720fc526fa4f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56f04b7d244160" /><Relationship Type="http://schemas.openxmlformats.org/officeDocument/2006/relationships/notesSlide" Target="/ppt/notesSlides/notesSlide12.xml" Id="R7ecedc3477e94f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bca8724d33d469d" /><Relationship Type="http://schemas.openxmlformats.org/officeDocument/2006/relationships/notesSlide" Target="/ppt/notesSlides/notesSlide13.xml" Id="R495bee78ebea42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7521d29011c4861" /><Relationship Type="http://schemas.openxmlformats.org/officeDocument/2006/relationships/notesSlide" Target="/ppt/notesSlides/notesSlide14.xml" Id="Rf4549a7e213e42ac"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88AD85-6F09-4E50-97EC-3B81DA835B64}"/>
              </a:ext>
            </a:extLst>
          </p:cNvPr>
          <p:cNvSpPr>
            <a:spLocks xmlns:a="http://schemas.openxmlformats.org/drawingml/2006/main" noGrp="1"/>
          </p:cNvSpPr>
          <p:nvPr/>
        </p:nvSpPr>
        <p:spPr>
          <a:xfrm xmlns:a="http://schemas.openxmlformats.org/drawingml/2006/main">
            <a:off x="571500" y="6191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87E83"/>
                </a:solidFill>
                <a:latin typeface="Helvetica Neue"/>
                <a:ea typeface="Helvetica Neue"/>
                <a:cs typeface="Helvetica Neue"/>
              </a:defRPr>
            </a:pPr>
            <a:r>
              <a:rPr sz="1725" b="1">
                <a:solidFill>
                  <a:srgbClr val="087E83"/>
                </a:solidFill>
                <a:latin typeface="Helvetica Neue"/>
                <a:ea typeface="Helvetica Neue"/>
                <a:cs typeface="Helvetica Neue"/>
              </a:rPr>
              <a:t>CSE513 · HAFTA 7</a:t>
            </a:r>
          </a:p>
        </p:txBody>
      </p:sp>
      <p:sp>
        <p:nvSpPr>
          <p:cNvPr id="2" name="">
            <a:extLst xmlns:a="http://schemas.openxmlformats.org/drawingml/2006/main">
              <a:ext uri="{FF2B5EF4-FFF2-40B4-BE49-F238E27FC236}">
                <a16:creationId xmlns:a16="http://schemas.microsoft.com/office/drawing/2014/main" id="{2D5841D0-7A4D-47E0-BEB9-FE8C6EF6081E}"/>
              </a:ext>
            </a:extLst>
          </p:cNvPr>
          <p:cNvSpPr>
            <a:spLocks xmlns:a="http://schemas.openxmlformats.org/drawingml/2006/main" noGrp="1"/>
          </p:cNvSpPr>
          <p:nvPr/>
        </p:nvSpPr>
        <p:spPr>
          <a:xfrm xmlns:a="http://schemas.openxmlformats.org/drawingml/2006/main">
            <a:off x="571500" y="1476375"/>
            <a:ext cx="5476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Ara sınav haftası:</a:t>
            </a:r>
          </a:p>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kişisel çalışma rotası</a:t>
            </a:r>
          </a:p>
        </p:txBody>
      </p:sp>
      <p:sp>
        <p:nvSpPr>
          <p:cNvPr id="3" name="">
            <a:extLst xmlns:a="http://schemas.openxmlformats.org/drawingml/2006/main">
              <a:ext uri="{FF2B5EF4-FFF2-40B4-BE49-F238E27FC236}">
                <a16:creationId xmlns:a16="http://schemas.microsoft.com/office/drawing/2014/main" id="{CB09504C-F8F5-4FF6-B5BC-4F45D3A0E58F}"/>
              </a:ext>
            </a:extLst>
          </p:cNvPr>
          <p:cNvSpPr>
            <a:spLocks xmlns:a="http://schemas.openxmlformats.org/drawingml/2006/main" noGrp="1"/>
          </p:cNvSpPr>
          <p:nvPr/>
        </p:nvSpPr>
        <p:spPr>
          <a:xfrm xmlns:a="http://schemas.openxmlformats.org/drawingml/2006/main">
            <a:off x="571500" y="361950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22C42"/>
                </a:solidFill>
                <a:latin typeface="Helvetica Neue"/>
                <a:ea typeface="Helvetica Neue"/>
                <a:cs typeface="Helvetica Neue"/>
              </a:defRPr>
            </a:pPr>
            <a:r>
              <a:rPr sz="2175" b="0">
                <a:solidFill>
                  <a:srgbClr val="122C42"/>
                </a:solidFill>
                <a:latin typeface="Helvetica Neue"/>
                <a:ea typeface="Helvetica Neue"/>
                <a:cs typeface="Helvetica Neue"/>
              </a:rPr>
              <a:t>Hafta1–6 mekanizmalarını kendi açıklamanla sınama</a:t>
            </a:r>
          </a:p>
        </p:txBody>
      </p:sp>
      <p:sp>
        <p:nvSpPr>
          <p:cNvPr id="4" name="">
            <a:extLst xmlns:a="http://schemas.openxmlformats.org/drawingml/2006/main">
              <a:ext uri="{FF2B5EF4-FFF2-40B4-BE49-F238E27FC236}">
                <a16:creationId xmlns:a16="http://schemas.microsoft.com/office/drawing/2014/main" id="{8B671EF9-F7EE-49C0-8E2D-6CD5629EE70E}"/>
              </a:ext>
            </a:extLst>
          </p:cNvPr>
          <p:cNvSpPr>
            <a:spLocks xmlns:a="http://schemas.openxmlformats.org/drawingml/2006/main" noGrp="1"/>
          </p:cNvSpPr>
          <p:nvPr/>
        </p:nvSpPr>
        <p:spPr>
          <a:xfrm xmlns:a="http://schemas.openxmlformats.org/drawingml/2006/main">
            <a:off x="571500" y="561975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C46225"/>
                </a:solidFill>
                <a:latin typeface="Helvetica Neue"/>
                <a:ea typeface="Helvetica Neue"/>
                <a:cs typeface="Helvetica Neue"/>
              </a:defRPr>
            </a:pPr>
            <a:r>
              <a:rPr sz="1800" b="1">
                <a:solidFill>
                  <a:srgbClr val="C46225"/>
                </a:solidFill>
                <a:latin typeface="Helvetica Neue"/>
                <a:ea typeface="Helvetica Neue"/>
                <a:cs typeface="Helvetica Neue"/>
              </a:rPr>
              <a:t>Tahmin et · dene · gerekçelendir</a:t>
            </a:r>
          </a:p>
        </p:txBody>
      </p:sp>
    </p:spTree>
    <p:extLst>
      <p:ext uri="{BB962C8B-B14F-4D97-AF65-F5344CB8AC3E}">
        <p14:creationId xmlns:p14="http://schemas.microsoft.com/office/powerpoint/2010/main" val="590183070"/>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129B30-B6F3-4D23-BDEB-4C398B958DA2}"/>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Çalışma yöntemini seç</a:t>
            </a:r>
          </a:p>
        </p:txBody>
      </p:sp>
      <p:sp>
        <p:nvSpPr>
          <p:cNvPr id="2" name="">
            <a:extLst xmlns:a="http://schemas.openxmlformats.org/drawingml/2006/main">
              <a:ext uri="{FF2B5EF4-FFF2-40B4-BE49-F238E27FC236}">
                <a16:creationId xmlns:a16="http://schemas.microsoft.com/office/drawing/2014/main" id="{812AD0E4-BDFC-4B97-8D61-29952FB4AA2D}"/>
              </a:ext>
            </a:extLst>
          </p:cNvPr>
          <p:cNvSpPr>
            <a:spLocks xmlns:a="http://schemas.openxmlformats.org/drawingml/2006/main" noGrp="1"/>
          </p:cNvSpPr>
          <p:nvPr/>
        </p:nvSpPr>
        <p:spPr>
          <a:xfrm xmlns:a="http://schemas.openxmlformats.org/drawingml/2006/main">
            <a:off x="609600" y="1952625"/>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B4B4D07-EDEA-4558-A935-91DAD923695B}"/>
              </a:ext>
            </a:extLst>
          </p:cNvPr>
          <p:cNvSpPr>
            <a:spLocks xmlns:a="http://schemas.openxmlformats.org/drawingml/2006/main" noGrp="1"/>
          </p:cNvSpPr>
          <p:nvPr/>
        </p:nvSpPr>
        <p:spPr>
          <a:xfrm xmlns:a="http://schemas.openxmlformats.org/drawingml/2006/main">
            <a:off x="1333500" y="1952625"/>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Önce soruyu görmeden tanımı ezberleme</a:t>
            </a:r>
          </a:p>
        </p:txBody>
      </p:sp>
      <p:sp>
        <p:nvSpPr>
          <p:cNvPr id="4" name="">
            <a:extLst xmlns:a="http://schemas.openxmlformats.org/drawingml/2006/main">
              <a:ext uri="{FF2B5EF4-FFF2-40B4-BE49-F238E27FC236}">
                <a16:creationId xmlns:a16="http://schemas.microsoft.com/office/drawing/2014/main" id="{1CED69CF-5B2F-4D7C-B1E8-CF28046CC002}"/>
              </a:ext>
            </a:extLst>
          </p:cNvPr>
          <p:cNvSpPr>
            <a:spLocks xmlns:a="http://schemas.openxmlformats.org/drawingml/2006/main" noGrp="1"/>
          </p:cNvSpPr>
          <p:nvPr/>
        </p:nvSpPr>
        <p:spPr>
          <a:xfrm xmlns:a="http://schemas.openxmlformats.org/drawingml/2006/main">
            <a:off x="609600" y="2900363"/>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DB2258C-7930-41B9-A9E2-7B74CDBCDD75}"/>
              </a:ext>
            </a:extLst>
          </p:cNvPr>
          <p:cNvSpPr>
            <a:spLocks xmlns:a="http://schemas.openxmlformats.org/drawingml/2006/main" noGrp="1"/>
          </p:cNvSpPr>
          <p:nvPr/>
        </p:nvSpPr>
        <p:spPr>
          <a:xfrm xmlns:a="http://schemas.openxmlformats.org/drawingml/2006/main">
            <a:off x="1333500" y="2900363"/>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Tahmin → küçük iz → gerekçe</a:t>
            </a:r>
          </a:p>
        </p:txBody>
      </p:sp>
      <p:sp>
        <p:nvSpPr>
          <p:cNvPr id="6" name="">
            <a:extLst xmlns:a="http://schemas.openxmlformats.org/drawingml/2006/main">
              <a:ext uri="{FF2B5EF4-FFF2-40B4-BE49-F238E27FC236}">
                <a16:creationId xmlns:a16="http://schemas.microsoft.com/office/drawing/2014/main" id="{2C707CFA-2603-4B3D-AA70-09ACA156CC63}"/>
              </a:ext>
            </a:extLst>
          </p:cNvPr>
          <p:cNvSpPr>
            <a:spLocks xmlns:a="http://schemas.openxmlformats.org/drawingml/2006/main" noGrp="1"/>
          </p:cNvSpPr>
          <p:nvPr/>
        </p:nvSpPr>
        <p:spPr>
          <a:xfrm xmlns:a="http://schemas.openxmlformats.org/drawingml/2006/main">
            <a:off x="609600" y="3848100"/>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FAEAE425-019E-40B9-A522-6F581CEEFD93}"/>
              </a:ext>
            </a:extLst>
          </p:cNvPr>
          <p:cNvSpPr>
            <a:spLocks xmlns:a="http://schemas.openxmlformats.org/drawingml/2006/main" noGrp="1"/>
          </p:cNvSpPr>
          <p:nvPr/>
        </p:nvSpPr>
        <p:spPr>
          <a:xfrm xmlns:a="http://schemas.openxmlformats.org/drawingml/2006/main">
            <a:off x="1333500" y="3848100"/>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Hata için ilgili haftaya dön</a:t>
            </a:r>
          </a:p>
        </p:txBody>
      </p:sp>
      <p:sp>
        <p:nvSpPr>
          <p:cNvPr id="8" name="">
            <a:extLst xmlns:a="http://schemas.openxmlformats.org/drawingml/2006/main">
              <a:ext uri="{FF2B5EF4-FFF2-40B4-BE49-F238E27FC236}">
                <a16:creationId xmlns:a16="http://schemas.microsoft.com/office/drawing/2014/main" id="{EF02F260-D396-47E6-9C9F-642B1C5E4E32}"/>
              </a:ext>
            </a:extLst>
          </p:cNvPr>
          <p:cNvSpPr>
            <a:spLocks xmlns:a="http://schemas.openxmlformats.org/drawingml/2006/main" noGrp="1"/>
          </p:cNvSpPr>
          <p:nvPr/>
        </p:nvSpPr>
        <p:spPr>
          <a:xfrm xmlns:a="http://schemas.openxmlformats.org/drawingml/2006/main">
            <a:off x="609600" y="4795838"/>
            <a:ext cx="43815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92934AEB-40C1-40C5-B92F-C6847842CEEE}"/>
              </a:ext>
            </a:extLst>
          </p:cNvPr>
          <p:cNvSpPr>
            <a:spLocks xmlns:a="http://schemas.openxmlformats.org/drawingml/2006/main" noGrp="1"/>
          </p:cNvSpPr>
          <p:nvPr/>
        </p:nvSpPr>
        <p:spPr>
          <a:xfrm xmlns:a="http://schemas.openxmlformats.org/drawingml/2006/main">
            <a:off x="1333500" y="4795838"/>
            <a:ext cx="10248900" cy="852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Kapsam/tarih için resmî duyuruyu kontrol et</a:t>
            </a:r>
          </a:p>
        </p:txBody>
      </p:sp>
      <p:sp>
        <p:nvSpPr>
          <p:cNvPr id="10" name="">
            <a:extLst xmlns:a="http://schemas.openxmlformats.org/drawingml/2006/main">
              <a:ext uri="{FF2B5EF4-FFF2-40B4-BE49-F238E27FC236}">
                <a16:creationId xmlns:a16="http://schemas.microsoft.com/office/drawing/2014/main" id="{3DBACCF1-37BE-4FCD-996A-EFAE9A15762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11" name="">
            <a:extLst xmlns:a="http://schemas.openxmlformats.org/drawingml/2006/main">
              <a:ext uri="{FF2B5EF4-FFF2-40B4-BE49-F238E27FC236}">
                <a16:creationId xmlns:a16="http://schemas.microsoft.com/office/drawing/2014/main" id="{75B9DC8E-9481-44B7-99DC-E191B3D3024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02 / 14</a:t>
            </a:r>
          </a:p>
        </p:txBody>
      </p:sp>
    </p:spTree>
    <p:extLst>
      <p:ext uri="{BB962C8B-B14F-4D97-AF65-F5344CB8AC3E}">
        <p14:creationId xmlns:p14="http://schemas.microsoft.com/office/powerpoint/2010/main" val="78894343"/>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11C4745-8B62-49CD-80F4-D281E4F8631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1 · Görev, mode ve event</a:t>
            </a:r>
          </a:p>
        </p:txBody>
      </p:sp>
      <p:sp>
        <p:nvSpPr>
          <p:cNvPr id="2" name="">
            <a:extLst xmlns:a="http://schemas.openxmlformats.org/drawingml/2006/main">
              <a:ext uri="{FF2B5EF4-FFF2-40B4-BE49-F238E27FC236}">
                <a16:creationId xmlns:a16="http://schemas.microsoft.com/office/drawing/2014/main" id="{FCEB0C2D-4370-45F1-99D1-D6F8A05110E6}"/>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AF6E8723-CF03-4079-B2D6-E13579DB2800}"/>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 system call yapar, hemen döner</a:t>
            </a:r>
          </a:p>
        </p:txBody>
      </p:sp>
      <p:sp>
        <p:nvSpPr>
          <p:cNvPr id="4" name="">
            <a:extLst xmlns:a="http://schemas.openxmlformats.org/drawingml/2006/main">
              <a:ext uri="{FF2B5EF4-FFF2-40B4-BE49-F238E27FC236}">
                <a16:creationId xmlns:a16="http://schemas.microsoft.com/office/drawing/2014/main" id="{274B7B21-10F8-47A3-9A01-E4E47170E0B3}"/>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0F10A17-3B1F-430A-A235-07E9C368322C}"/>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Q ağ cevabını bekler</a:t>
            </a:r>
          </a:p>
        </p:txBody>
      </p:sp>
      <p:sp>
        <p:nvSpPr>
          <p:cNvPr id="6" name="">
            <a:extLst xmlns:a="http://schemas.openxmlformats.org/drawingml/2006/main">
              <a:ext uri="{FF2B5EF4-FFF2-40B4-BE49-F238E27FC236}">
                <a16:creationId xmlns:a16="http://schemas.microsoft.com/office/drawing/2014/main" id="{FCF2C11B-A8EE-46FF-AC35-0C53E8E85EC3}"/>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64DBF2D7-3590-4865-AB3B-3A7EC5B05A10}"/>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Tek CPU’da iki thread ilerler</a:t>
            </a:r>
          </a:p>
        </p:txBody>
      </p:sp>
      <p:sp>
        <p:nvSpPr>
          <p:cNvPr id="8" name="">
            <a:extLst xmlns:a="http://schemas.openxmlformats.org/drawingml/2006/main">
              <a:ext uri="{FF2B5EF4-FFF2-40B4-BE49-F238E27FC236}">
                <a16:creationId xmlns:a16="http://schemas.microsoft.com/office/drawing/2014/main" id="{B6F60202-E714-47B3-9121-DA4DC23733E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9" name="">
            <a:extLst xmlns:a="http://schemas.openxmlformats.org/drawingml/2006/main">
              <a:ext uri="{FF2B5EF4-FFF2-40B4-BE49-F238E27FC236}">
                <a16:creationId xmlns:a16="http://schemas.microsoft.com/office/drawing/2014/main" id="{9F6CED0B-B787-41A1-9C39-A4DA57EDAB5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03 / 14</a:t>
            </a:r>
          </a:p>
        </p:txBody>
      </p:sp>
    </p:spTree>
    <p:extLst>
      <p:ext uri="{BB962C8B-B14F-4D97-AF65-F5344CB8AC3E}">
        <p14:creationId xmlns:p14="http://schemas.microsoft.com/office/powerpoint/2010/main" val="101604675"/>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7190AF-35D9-4C48-B54B-B9ABD40D037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2 · fork, exec, wait</a:t>
            </a:r>
          </a:p>
        </p:txBody>
      </p:sp>
      <p:sp>
        <p:nvSpPr>
          <p:cNvPr id="2" name="">
            <a:extLst xmlns:a="http://schemas.openxmlformats.org/drawingml/2006/main">
              <a:ext uri="{FF2B5EF4-FFF2-40B4-BE49-F238E27FC236}">
                <a16:creationId xmlns:a16="http://schemas.microsoft.com/office/drawing/2014/main" id="{CC274B26-84DD-4A9D-9D97-77F4ACA0BB20}"/>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7F2C37A-9CCE-4985-B7C6-7B0E885C3E97}"/>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Private x=10; fork; child x=20</a:t>
            </a:r>
          </a:p>
        </p:txBody>
      </p:sp>
      <p:sp>
        <p:nvSpPr>
          <p:cNvPr id="4" name="">
            <a:extLst xmlns:a="http://schemas.openxmlformats.org/drawingml/2006/main">
              <a:ext uri="{FF2B5EF4-FFF2-40B4-BE49-F238E27FC236}">
                <a16:creationId xmlns:a16="http://schemas.microsoft.com/office/drawing/2014/main" id="{04E3504B-1D67-4B19-AB21-3AC20394CAD8}"/>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2287A8C-56A7-4574-BEFC-6DAFEF116EB7}"/>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Parent wait sonrası x’i okur</a:t>
            </a:r>
          </a:p>
        </p:txBody>
      </p:sp>
      <p:sp>
        <p:nvSpPr>
          <p:cNvPr id="6" name="">
            <a:extLst xmlns:a="http://schemas.openxmlformats.org/drawingml/2006/main">
              <a:ext uri="{FF2B5EF4-FFF2-40B4-BE49-F238E27FC236}">
                <a16:creationId xmlns:a16="http://schemas.microsoft.com/office/drawing/2014/main" id="{DF3AF7B1-DE34-4720-BD2D-72941C68603D}"/>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5833F5F9-18B4-490D-8C1C-D3DB7E879E4C}"/>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Child başarılı exec yapar</a:t>
            </a:r>
          </a:p>
        </p:txBody>
      </p:sp>
      <p:sp>
        <p:nvSpPr>
          <p:cNvPr id="8" name="">
            <a:extLst xmlns:a="http://schemas.openxmlformats.org/drawingml/2006/main">
              <a:ext uri="{FF2B5EF4-FFF2-40B4-BE49-F238E27FC236}">
                <a16:creationId xmlns:a16="http://schemas.microsoft.com/office/drawing/2014/main" id="{61546998-9F7E-4327-A1B5-CEBA781CDD9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9" name="">
            <a:extLst xmlns:a="http://schemas.openxmlformats.org/drawingml/2006/main">
              <a:ext uri="{FF2B5EF4-FFF2-40B4-BE49-F238E27FC236}">
                <a16:creationId xmlns:a16="http://schemas.microsoft.com/office/drawing/2014/main" id="{F602E4F3-61B0-4583-B9CF-427CDC93A1E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04 / 14</a:t>
            </a:r>
          </a:p>
        </p:txBody>
      </p:sp>
    </p:spTree>
    <p:extLst>
      <p:ext uri="{BB962C8B-B14F-4D97-AF65-F5344CB8AC3E}">
        <p14:creationId xmlns:p14="http://schemas.microsoft.com/office/powerpoint/2010/main" val="400596010"/>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134177-B371-4461-BE3B-BC26F5DD59E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3 · Round robin izini tamamla</a:t>
            </a:r>
          </a:p>
        </p:txBody>
      </p:sp>
      <p:sp>
        <p:nvSpPr>
          <p:cNvPr id="2" name="">
            <a:extLst xmlns:a="http://schemas.openxmlformats.org/drawingml/2006/main">
              <a:ext uri="{FF2B5EF4-FFF2-40B4-BE49-F238E27FC236}">
                <a16:creationId xmlns:a16="http://schemas.microsoft.com/office/drawing/2014/main" id="{95205541-8C8D-47B7-80C0-1C3E1576FD5D}"/>
              </a:ext>
            </a:extLst>
          </p:cNvPr>
          <p:cNvSpPr>
            <a:spLocks xmlns:a="http://schemas.openxmlformats.org/drawingml/2006/main" noGrp="1"/>
          </p:cNvSpPr>
          <p:nvPr/>
        </p:nvSpPr>
        <p:spPr>
          <a:xfrm xmlns:a="http://schemas.openxmlformats.org/drawingml/2006/main">
            <a:off x="609600" y="17145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A burst3, B burst2; arrival0; quantum1</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Başlangıç ready sırası A,B; context-switch cost0</a:t>
            </a:r>
          </a:p>
        </p:txBody>
      </p:sp>
      <p:graphicFrame>
        <p:nvGraphicFramePr>
          <p:cNvPr id="8" name=""/>
          <p:cNvGraphicFramePr/>
          <p:nvPr/>
        </p:nvGraphicFramePr>
        <p:xfrm>
          <a:off xmlns:a="http://schemas.openxmlformats.org/drawingml/2006/main" x="609600" y="2486025"/>
          <a:ext xmlns:a="http://schemas.openxmlformats.org/drawingml/2006/main" cx="10972800" cy="3257550"/>
        </p:xfrm>
        <a:graphic xmlns:a="http://schemas.openxmlformats.org/drawingml/2006/main">
          <a:graphicData uri="http://schemas.openxmlformats.org/drawingml/2006/table">
            <a:tbl>
              <a:tblPr/>
              <a:tblGrid>
                <a:gridCol w="5486400"/>
                <a:gridCol w="5486400"/>
              </a:tblGrid>
              <a:tr h="542925">
                <a:tc>
                  <a:txBody>
                    <a:bodyPr/>
                    <a:lstStyle/>
                    <a:p>
                      <a:r>
                        <a:rPr sz="1800" b="1">
                          <a:solidFill>
                            <a:srgbClr val="FFFFFF"/>
                          </a:solidFill>
                          <a:latin typeface="Helvetica Neue"/>
                          <a:ea typeface="Helvetica Neue"/>
                          <a:cs typeface="Helvetica Neue"/>
                        </a:rPr>
                        <a:t>Aralık</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Task</a:t>
                      </a:r>
                    </a:p>
                  </a:txBody>
                  <a:tcPr marL="114300" marR="114300" marT="47625" marB="47625" anchor="ctr">
                    <a:solidFill>
                      <a:srgbClr val="122C42"/>
                    </a:solidFill>
                  </a:tcPr>
                </a:tc>
              </a:tr>
              <a:tr h="542925">
                <a:tc>
                  <a:txBody>
                    <a:bodyPr/>
                    <a:lstStyle/>
                    <a:p>
                      <a:r>
                        <a:rPr sz="1800" b="0">
                          <a:solidFill>
                            <a:srgbClr val="122C42"/>
                          </a:solidFill>
                          <a:latin typeface="Helvetica Neue"/>
                          <a:ea typeface="Helvetica Neue"/>
                          <a:cs typeface="Helvetica Neue"/>
                        </a:rPr>
                        <a:t>0–1</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a:t>
                      </a:r>
                    </a:p>
                  </a:txBody>
                  <a:tcPr marL="114300" marR="114300" marT="47625" marB="47625" anchor="ctr">
                    <a:solidFill>
                      <a:srgbClr val="FFFFFF"/>
                    </a:solidFill>
                  </a:tcPr>
                </a:tc>
              </a:tr>
              <a:tr h="542925">
                <a:tc>
                  <a:txBody>
                    <a:bodyPr/>
                    <a:lstStyle/>
                    <a:p>
                      <a:r>
                        <a:rPr sz="1800" b="0">
                          <a:solidFill>
                            <a:srgbClr val="122C42"/>
                          </a:solidFill>
                          <a:latin typeface="Helvetica Neue"/>
                          <a:ea typeface="Helvetica Neue"/>
                          <a:cs typeface="Helvetica Neue"/>
                        </a:rPr>
                        <a:t>1–2</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ECF0EC"/>
                    </a:solidFill>
                  </a:tcPr>
                </a:tc>
              </a:tr>
              <a:tr h="542925">
                <a:tc>
                  <a:txBody>
                    <a:bodyPr/>
                    <a:lstStyle/>
                    <a:p>
                      <a:r>
                        <a:rPr sz="1800" b="0">
                          <a:solidFill>
                            <a:srgbClr val="122C42"/>
                          </a:solidFill>
                          <a:latin typeface="Helvetica Neue"/>
                          <a:ea typeface="Helvetica Neue"/>
                          <a:cs typeface="Helvetica Neue"/>
                        </a:rPr>
                        <a:t>2–3</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FFFFFF"/>
                    </a:solidFill>
                  </a:tcPr>
                </a:tc>
              </a:tr>
              <a:tr h="542925">
                <a:tc>
                  <a:txBody>
                    <a:bodyPr/>
                    <a:lstStyle/>
                    <a:p>
                      <a:r>
                        <a:rPr sz="1800" b="0">
                          <a:solidFill>
                            <a:srgbClr val="122C42"/>
                          </a:solidFill>
                          <a:latin typeface="Helvetica Neue"/>
                          <a:ea typeface="Helvetica Neue"/>
                          <a:cs typeface="Helvetica Neue"/>
                        </a:rPr>
                        <a:t>3–4</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ECF0EC"/>
                    </a:solidFill>
                  </a:tcPr>
                </a:tc>
              </a:tr>
              <a:tr h="542925">
                <a:tc>
                  <a:txBody>
                    <a:bodyPr/>
                    <a:lstStyle/>
                    <a:p>
                      <a:r>
                        <a:rPr sz="1800" b="0">
                          <a:solidFill>
                            <a:srgbClr val="122C42"/>
                          </a:solidFill>
                          <a:latin typeface="Helvetica Neue"/>
                          <a:ea typeface="Helvetica Neue"/>
                          <a:cs typeface="Helvetica Neue"/>
                        </a:rPr>
                        <a:t>4–5</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D751DE7-57C6-469E-8A83-17DB1A2D9E10}"/>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5" name="">
            <a:extLst xmlns:a="http://schemas.openxmlformats.org/drawingml/2006/main">
              <a:ext uri="{FF2B5EF4-FFF2-40B4-BE49-F238E27FC236}">
                <a16:creationId xmlns:a16="http://schemas.microsoft.com/office/drawing/2014/main" id="{4C935779-9452-4DB1-90B7-A8FD2FB78F9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05 / 14</a:t>
            </a:r>
          </a:p>
        </p:txBody>
      </p:sp>
    </p:spTree>
    <p:extLst>
      <p:ext uri="{BB962C8B-B14F-4D97-AF65-F5344CB8AC3E}">
        <p14:creationId xmlns:p14="http://schemas.microsoft.com/office/powerpoint/2010/main" val="1822673145"/>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12C5FC-7626-41A9-91CB-06F955767D99}"/>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4 · Scheduling iddiasının sınırı</a:t>
            </a:r>
          </a:p>
        </p:txBody>
      </p:sp>
      <p:sp>
        <p:nvSpPr>
          <p:cNvPr id="2" name="">
            <a:extLst xmlns:a="http://schemas.openxmlformats.org/drawingml/2006/main">
              <a:ext uri="{FF2B5EF4-FFF2-40B4-BE49-F238E27FC236}">
                <a16:creationId xmlns:a16="http://schemas.microsoft.com/office/drawing/2014/main" id="{4A8B160A-05ED-4163-8887-CAECB9D80728}"/>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73A49B5-6577-4113-9666-3E75D6A59DC2}"/>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Kısa iş önce: hangi bilgi gerekir?</a:t>
            </a:r>
          </a:p>
        </p:txBody>
      </p:sp>
      <p:sp>
        <p:nvSpPr>
          <p:cNvPr id="4" name="">
            <a:extLst xmlns:a="http://schemas.openxmlformats.org/drawingml/2006/main">
              <a:ext uri="{FF2B5EF4-FFF2-40B4-BE49-F238E27FC236}">
                <a16:creationId xmlns:a16="http://schemas.microsoft.com/office/drawing/2014/main" id="{A1834DED-A004-4EB1-8A94-7870B95AEBCC}"/>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5D51D90-896A-470D-B38B-09BB17094FA5}"/>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Priority: starvation olabilir mi?</a:t>
            </a:r>
          </a:p>
        </p:txBody>
      </p:sp>
      <p:sp>
        <p:nvSpPr>
          <p:cNvPr id="6" name="">
            <a:extLst xmlns:a="http://schemas.openxmlformats.org/drawingml/2006/main">
              <a:ext uri="{FF2B5EF4-FFF2-40B4-BE49-F238E27FC236}">
                <a16:creationId xmlns:a16="http://schemas.microsoft.com/office/drawing/2014/main" id="{6C8FAC21-2FA3-4B96-A2F3-BD07CE8F841F}"/>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05A80FB-DB7E-424B-B108-08C203CB4FB9}"/>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Deadline: average yeterli mi?</a:t>
            </a:r>
          </a:p>
        </p:txBody>
      </p:sp>
      <p:sp>
        <p:nvSpPr>
          <p:cNvPr id="8" name="">
            <a:extLst xmlns:a="http://schemas.openxmlformats.org/drawingml/2006/main">
              <a:ext uri="{FF2B5EF4-FFF2-40B4-BE49-F238E27FC236}">
                <a16:creationId xmlns:a16="http://schemas.microsoft.com/office/drawing/2014/main" id="{5F8C0598-282F-4784-B534-27C4389535A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9" name="">
            <a:extLst xmlns:a="http://schemas.openxmlformats.org/drawingml/2006/main">
              <a:ext uri="{FF2B5EF4-FFF2-40B4-BE49-F238E27FC236}">
                <a16:creationId xmlns:a16="http://schemas.microsoft.com/office/drawing/2014/main" id="{7E8CCEB0-70BD-4E52-84C3-054128C0B00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06 / 14</a:t>
            </a:r>
          </a:p>
        </p:txBody>
      </p:sp>
    </p:spTree>
    <p:extLst>
      <p:ext uri="{BB962C8B-B14F-4D97-AF65-F5344CB8AC3E}">
        <p14:creationId xmlns:p14="http://schemas.microsoft.com/office/powerpoint/2010/main" val="1043324554"/>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E55098-D502-48AB-B700-82DDB2879819}"/>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5 · Kayıp güncelleme</a:t>
            </a:r>
          </a:p>
        </p:txBody>
      </p:sp>
      <p:sp>
        <p:nvSpPr>
          <p:cNvPr id="2" name="">
            <a:extLst xmlns:a="http://schemas.openxmlformats.org/drawingml/2006/main">
              <a:ext uri="{FF2B5EF4-FFF2-40B4-BE49-F238E27FC236}">
                <a16:creationId xmlns:a16="http://schemas.microsoft.com/office/drawing/2014/main" id="{B2946321-AA8B-449B-85E4-4A6480CDAD79}"/>
              </a:ext>
            </a:extLst>
          </p:cNvPr>
          <p:cNvSpPr>
            <a:spLocks xmlns:a="http://schemas.openxmlformats.org/drawingml/2006/main" noGrp="1"/>
          </p:cNvSpPr>
          <p:nvPr/>
        </p:nvSpPr>
        <p:spPr>
          <a:xfrm xmlns:a="http://schemas.openxmlformats.org/drawingml/2006/main">
            <a:off x="609600" y="17621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Soyut counter0, iki read–add–write</a:t>
            </a:r>
          </a:p>
        </p:txBody>
      </p:sp>
      <p:sp>
        <p:nvSpPr>
          <p:cNvPr id="3" name="">
            <a:extLst xmlns:a="http://schemas.openxmlformats.org/drawingml/2006/main">
              <a:ext uri="{FF2B5EF4-FFF2-40B4-BE49-F238E27FC236}">
                <a16:creationId xmlns:a16="http://schemas.microsoft.com/office/drawing/2014/main" id="{8FF5EC8C-E509-479D-B2CE-0AA3C3B4F0DF}"/>
              </a:ext>
            </a:extLst>
          </p:cNvPr>
          <p:cNvSpPr>
            <a:spLocks xmlns:a="http://schemas.openxmlformats.org/drawingml/2006/main" noGrp="1"/>
          </p:cNvSpPr>
          <p:nvPr/>
        </p:nvSpPr>
        <p:spPr>
          <a:xfrm xmlns:a="http://schemas.openxmlformats.org/drawingml/2006/main">
            <a:off x="742950" y="2257425"/>
            <a:ext cx="107156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 read counter=0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 read counter=0</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A: write 1</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B: write 1</a:t>
            </a:r>
          </a:p>
        </p:txBody>
      </p:sp>
      <p:sp>
        <p:nvSpPr>
          <p:cNvPr id="4" name="">
            <a:extLst xmlns:a="http://schemas.openxmlformats.org/drawingml/2006/main">
              <a:ext uri="{FF2B5EF4-FFF2-40B4-BE49-F238E27FC236}">
                <a16:creationId xmlns:a16="http://schemas.microsoft.com/office/drawing/2014/main" id="{77F1C137-ABFF-46E1-9790-E60180C63FC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5" name="">
            <a:extLst xmlns:a="http://schemas.openxmlformats.org/drawingml/2006/main">
              <a:ext uri="{FF2B5EF4-FFF2-40B4-BE49-F238E27FC236}">
                <a16:creationId xmlns:a16="http://schemas.microsoft.com/office/drawing/2014/main" id="{C2F19BBD-611B-4A13-B724-C2B13BDB6D2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07 / 14</a:t>
            </a:r>
          </a:p>
        </p:txBody>
      </p:sp>
    </p:spTree>
    <p:extLst>
      <p:ext uri="{BB962C8B-B14F-4D97-AF65-F5344CB8AC3E}">
        <p14:creationId xmlns:p14="http://schemas.microsoft.com/office/powerpoint/2010/main" val="1557593115"/>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895FEC5-8E23-4980-87A4-9D1B3B6BEDA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6 · Condition variable neyi saklar?</a:t>
            </a:r>
          </a:p>
        </p:txBody>
      </p:sp>
      <p:sp>
        <p:nvSpPr>
          <p:cNvPr id="2" name="">
            <a:extLst xmlns:a="http://schemas.openxmlformats.org/drawingml/2006/main">
              <a:ext uri="{FF2B5EF4-FFF2-40B4-BE49-F238E27FC236}">
                <a16:creationId xmlns:a16="http://schemas.microsoft.com/office/drawing/2014/main" id="{CE8100F9-0638-4D88-B219-0CF504DA31CC}"/>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BA24031E-7E00-40AC-BE3C-E43877DEF931}"/>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Worker: while(!ready) wait</a:t>
            </a:r>
          </a:p>
        </p:txBody>
      </p:sp>
      <p:sp>
        <p:nvSpPr>
          <p:cNvPr id="4" name="">
            <a:extLst xmlns:a="http://schemas.openxmlformats.org/drawingml/2006/main">
              <a:ext uri="{FF2B5EF4-FFF2-40B4-BE49-F238E27FC236}">
                <a16:creationId xmlns:a16="http://schemas.microsoft.com/office/drawing/2014/main" id="{389B3D0A-C360-4380-912E-6A78266ECFD8}"/>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2447217-A5F9-4ACE-BF41-9211F5FB8DC2}"/>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Producer shared predicate’i değiştirir</a:t>
            </a:r>
          </a:p>
        </p:txBody>
      </p:sp>
      <p:sp>
        <p:nvSpPr>
          <p:cNvPr id="6" name="">
            <a:extLst xmlns:a="http://schemas.openxmlformats.org/drawingml/2006/main">
              <a:ext uri="{FF2B5EF4-FFF2-40B4-BE49-F238E27FC236}">
                <a16:creationId xmlns:a16="http://schemas.microsoft.com/office/drawing/2014/main" id="{5F3A18D5-CBD9-4C46-84BD-0F6A052638B8}"/>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E354B85-A011-4168-8306-3119E5143999}"/>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Bir signal tek başına veri mi?</a:t>
            </a:r>
          </a:p>
        </p:txBody>
      </p:sp>
      <p:sp>
        <p:nvSpPr>
          <p:cNvPr id="8" name="">
            <a:extLst xmlns:a="http://schemas.openxmlformats.org/drawingml/2006/main">
              <a:ext uri="{FF2B5EF4-FFF2-40B4-BE49-F238E27FC236}">
                <a16:creationId xmlns:a16="http://schemas.microsoft.com/office/drawing/2014/main" id="{E9C98926-1DFB-4C8D-A79F-A94F09322A3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9" name="">
            <a:extLst xmlns:a="http://schemas.openxmlformats.org/drawingml/2006/main">
              <a:ext uri="{FF2B5EF4-FFF2-40B4-BE49-F238E27FC236}">
                <a16:creationId xmlns:a16="http://schemas.microsoft.com/office/drawing/2014/main" id="{8B604026-756B-44CB-9FCE-5AA3E1C694A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08 / 14</a:t>
            </a:r>
          </a:p>
        </p:txBody>
      </p:sp>
    </p:spTree>
    <p:extLst>
      <p:ext uri="{BB962C8B-B14F-4D97-AF65-F5344CB8AC3E}">
        <p14:creationId xmlns:p14="http://schemas.microsoft.com/office/powerpoint/2010/main" val="88917967"/>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ED8AC8-980C-4972-A5C7-C06543585CA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7 · Deadlock grafiği</a:t>
            </a:r>
          </a:p>
        </p:txBody>
      </p:sp>
      <p:sp>
        <p:nvSpPr>
          <p:cNvPr id="2" name="">
            <a:extLst xmlns:a="http://schemas.openxmlformats.org/drawingml/2006/main">
              <a:ext uri="{FF2B5EF4-FFF2-40B4-BE49-F238E27FC236}">
                <a16:creationId xmlns:a16="http://schemas.microsoft.com/office/drawing/2014/main" id="{84FBC575-DF8B-4FE1-AE48-38333C5C36B7}"/>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89284741-3847-4C37-9CE8-881D3640E04E}"/>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Single-instance exclusive: A→B→A</a:t>
            </a:r>
          </a:p>
        </p:txBody>
      </p:sp>
      <p:sp>
        <p:nvSpPr>
          <p:cNvPr id="4" name="">
            <a:extLst xmlns:a="http://schemas.openxmlformats.org/drawingml/2006/main">
              <a:ext uri="{FF2B5EF4-FFF2-40B4-BE49-F238E27FC236}">
                <a16:creationId xmlns:a16="http://schemas.microsoft.com/office/drawing/2014/main" id="{4569116A-7129-4C81-9D96-325E342A547B}"/>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009EBF2-FDDA-470A-9617-B0B32B6B9369}"/>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C→A, fakat C çevrimde değil</a:t>
            </a:r>
          </a:p>
        </p:txBody>
      </p:sp>
      <p:sp>
        <p:nvSpPr>
          <p:cNvPr id="6" name="">
            <a:extLst xmlns:a="http://schemas.openxmlformats.org/drawingml/2006/main">
              <a:ext uri="{FF2B5EF4-FFF2-40B4-BE49-F238E27FC236}">
                <a16:creationId xmlns:a16="http://schemas.microsoft.com/office/drawing/2014/main" id="{383FE22D-08F1-4F32-8B18-311756A082F6}"/>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E5FBAE5-CA84-444E-8EAB-7537FFF0C33A}"/>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Bir resource type iki instance olsa?</a:t>
            </a:r>
          </a:p>
        </p:txBody>
      </p:sp>
      <p:sp>
        <p:nvSpPr>
          <p:cNvPr id="8" name="">
            <a:extLst xmlns:a="http://schemas.openxmlformats.org/drawingml/2006/main">
              <a:ext uri="{FF2B5EF4-FFF2-40B4-BE49-F238E27FC236}">
                <a16:creationId xmlns:a16="http://schemas.microsoft.com/office/drawing/2014/main" id="{564E031E-AFF0-49EB-9D21-163FA99FDB1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9" name="">
            <a:extLst xmlns:a="http://schemas.openxmlformats.org/drawingml/2006/main">
              <a:ext uri="{FF2B5EF4-FFF2-40B4-BE49-F238E27FC236}">
                <a16:creationId xmlns:a16="http://schemas.microsoft.com/office/drawing/2014/main" id="{BB28E4B6-4D0E-44F3-B018-F9944336790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09 / 14</a:t>
            </a:r>
          </a:p>
        </p:txBody>
      </p:sp>
    </p:spTree>
    <p:extLst>
      <p:ext uri="{BB962C8B-B14F-4D97-AF65-F5344CB8AC3E}">
        <p14:creationId xmlns:p14="http://schemas.microsoft.com/office/powerpoint/2010/main" val="1368473359"/>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29062FE-D551-411F-B038-9D108820EB5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8 · Safe, unsafe ve mevcut request</a:t>
            </a:r>
          </a:p>
        </p:txBody>
      </p:sp>
      <p:sp>
        <p:nvSpPr>
          <p:cNvPr id="2" name="">
            <a:extLst xmlns:a="http://schemas.openxmlformats.org/drawingml/2006/main">
              <a:ext uri="{FF2B5EF4-FFF2-40B4-BE49-F238E27FC236}">
                <a16:creationId xmlns:a16="http://schemas.microsoft.com/office/drawing/2014/main" id="{E84EF527-ACBB-45EC-BF4F-DFB760E6EC29}"/>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8CB2152-7AF1-4F07-BEF5-D15A79A81E07}"/>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Max gelecekteki üst sınır</a:t>
            </a:r>
          </a:p>
        </p:txBody>
      </p:sp>
      <p:sp>
        <p:nvSpPr>
          <p:cNvPr id="4" name="">
            <a:extLst xmlns:a="http://schemas.openxmlformats.org/drawingml/2006/main">
              <a:ext uri="{FF2B5EF4-FFF2-40B4-BE49-F238E27FC236}">
                <a16:creationId xmlns:a16="http://schemas.microsoft.com/office/drawing/2014/main" id="{B718DF7D-415F-4C3A-BBAC-A40CE558133E}"/>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1B16165-FE54-4B6D-BE30-7A8CCEA65584}"/>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Need=Max−Allocation</a:t>
            </a:r>
          </a:p>
        </p:txBody>
      </p:sp>
      <p:sp>
        <p:nvSpPr>
          <p:cNvPr id="6" name="">
            <a:extLst xmlns:a="http://schemas.openxmlformats.org/drawingml/2006/main">
              <a:ext uri="{FF2B5EF4-FFF2-40B4-BE49-F238E27FC236}">
                <a16:creationId xmlns:a16="http://schemas.microsoft.com/office/drawing/2014/main" id="{708E2F43-F780-4015-BA33-C468812E1337}"/>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A9D282D7-6367-40CC-B41D-DD300B551D2C}"/>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Unsafe ile deadlocked eşit mi?</a:t>
            </a:r>
          </a:p>
        </p:txBody>
      </p:sp>
      <p:sp>
        <p:nvSpPr>
          <p:cNvPr id="8" name="">
            <a:extLst xmlns:a="http://schemas.openxmlformats.org/drawingml/2006/main">
              <a:ext uri="{FF2B5EF4-FFF2-40B4-BE49-F238E27FC236}">
                <a16:creationId xmlns:a16="http://schemas.microsoft.com/office/drawing/2014/main" id="{C4F71176-2068-40F0-A255-A56EFF6524A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9" name="">
            <a:extLst xmlns:a="http://schemas.openxmlformats.org/drawingml/2006/main">
              <a:ext uri="{FF2B5EF4-FFF2-40B4-BE49-F238E27FC236}">
                <a16:creationId xmlns:a16="http://schemas.microsoft.com/office/drawing/2014/main" id="{A43DEABF-A772-48A1-B163-861484022103}"/>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10 / 14</a:t>
            </a:r>
          </a:p>
        </p:txBody>
      </p:sp>
    </p:spTree>
    <p:extLst>
      <p:ext uri="{BB962C8B-B14F-4D97-AF65-F5344CB8AC3E}">
        <p14:creationId xmlns:p14="http://schemas.microsoft.com/office/powerpoint/2010/main" val="1470988294"/>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7EF48D-DFDD-4950-843E-E852684FB07E}"/>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9 · Adres çevirme: küçük sayılar</a:t>
            </a:r>
          </a:p>
        </p:txBody>
      </p:sp>
      <p:sp>
        <p:nvSpPr>
          <p:cNvPr id="2" name="">
            <a:extLst xmlns:a="http://schemas.openxmlformats.org/drawingml/2006/main">
              <a:ext uri="{FF2B5EF4-FFF2-40B4-BE49-F238E27FC236}">
                <a16:creationId xmlns:a16="http://schemas.microsoft.com/office/drawing/2014/main" id="{08C11BAB-965A-4064-AA55-3D75CEBD1CB9}"/>
              </a:ext>
            </a:extLst>
          </p:cNvPr>
          <p:cNvSpPr>
            <a:spLocks xmlns:a="http://schemas.openxmlformats.org/drawingml/2006/main" noGrp="1"/>
          </p:cNvSpPr>
          <p:nvPr/>
        </p:nvSpPr>
        <p:spPr>
          <a:xfrm xmlns:a="http://schemas.openxmlformats.org/drawingml/2006/main">
            <a:off x="609600" y="17145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Byte adres13; page size4byte</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Page3 → frame5; mapping geçerli</a:t>
            </a:r>
          </a:p>
        </p:txBody>
      </p:sp>
      <p:graphicFrame>
        <p:nvGraphicFramePr>
          <p:cNvPr id="8" name=""/>
          <p:cNvGraphicFramePr/>
          <p:nvPr/>
        </p:nvGraphicFramePr>
        <p:xfrm>
          <a:off xmlns:a="http://schemas.openxmlformats.org/drawingml/2006/main" x="609600" y="2486025"/>
          <a:ext xmlns:a="http://schemas.openxmlformats.org/drawingml/2006/main" cx="10972800" cy="3257550"/>
        </p:xfrm>
        <a:graphic xmlns:a="http://schemas.openxmlformats.org/drawingml/2006/main">
          <a:graphicData uri="http://schemas.openxmlformats.org/drawingml/2006/table">
            <a:tbl>
              <a:tblPr/>
              <a:tblGrid>
                <a:gridCol w="5486400"/>
                <a:gridCol w="5486400"/>
              </a:tblGrid>
              <a:tr h="814388">
                <a:tc>
                  <a:txBody>
                    <a:bodyPr/>
                    <a:lstStyle/>
                    <a:p>
                      <a:r>
                        <a:rPr sz="1800" b="1">
                          <a:solidFill>
                            <a:srgbClr val="FFFFFF"/>
                          </a:solidFill>
                          <a:latin typeface="Helvetica Neue"/>
                          <a:ea typeface="Helvetica Neue"/>
                          <a:cs typeface="Helvetica Neue"/>
                        </a:rPr>
                        <a:t>Soru</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Değer</a:t>
                      </a:r>
                    </a:p>
                  </a:txBody>
                  <a:tcPr marL="114300" marR="114300" marT="47625" marB="47625" anchor="ctr">
                    <a:solidFill>
                      <a:srgbClr val="122C42"/>
                    </a:solidFill>
                  </a:tcPr>
                </a:tc>
              </a:tr>
              <a:tr h="814388">
                <a:tc>
                  <a:txBody>
                    <a:bodyPr/>
                    <a:lstStyle/>
                    <a:p>
                      <a:r>
                        <a:rPr sz="1800" b="0">
                          <a:solidFill>
                            <a:srgbClr val="122C42"/>
                          </a:solidFill>
                          <a:latin typeface="Helvetica Neue"/>
                          <a:ea typeface="Helvetica Neue"/>
                          <a:cs typeface="Helvetica Neue"/>
                        </a:rPr>
                        <a:t>VPN</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FFFFFF"/>
                    </a:solidFill>
                  </a:tcPr>
                </a:tc>
              </a:tr>
              <a:tr h="814388">
                <a:tc>
                  <a:txBody>
                    <a:bodyPr/>
                    <a:lstStyle/>
                    <a:p>
                      <a:r>
                        <a:rPr sz="1800" b="0">
                          <a:solidFill>
                            <a:srgbClr val="122C42"/>
                          </a:solidFill>
                          <a:latin typeface="Helvetica Neue"/>
                          <a:ea typeface="Helvetica Neue"/>
                          <a:cs typeface="Helvetica Neue"/>
                        </a:rPr>
                        <a:t>Offset</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ECF0EC"/>
                    </a:solidFill>
                  </a:tcPr>
                </a:tc>
              </a:tr>
              <a:tr h="814388">
                <a:tc>
                  <a:txBody>
                    <a:bodyPr/>
                    <a:lstStyle/>
                    <a:p>
                      <a:r>
                        <a:rPr sz="1800" b="0">
                          <a:solidFill>
                            <a:srgbClr val="122C42"/>
                          </a:solidFill>
                          <a:latin typeface="Helvetica Neue"/>
                          <a:ea typeface="Helvetica Neue"/>
                          <a:cs typeface="Helvetica Neue"/>
                        </a:rPr>
                        <a:t>Physical address</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095E070-4053-4370-9713-A3C9DA165F2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5" name="">
            <a:extLst xmlns:a="http://schemas.openxmlformats.org/drawingml/2006/main">
              <a:ext uri="{FF2B5EF4-FFF2-40B4-BE49-F238E27FC236}">
                <a16:creationId xmlns:a16="http://schemas.microsoft.com/office/drawing/2014/main" id="{D2E02D11-B959-4AE5-A9C3-ADDDE2D6515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11 / 14</a:t>
            </a:r>
          </a:p>
        </p:txBody>
      </p:sp>
    </p:spTree>
    <p:extLst>
      <p:ext uri="{BB962C8B-B14F-4D97-AF65-F5344CB8AC3E}">
        <p14:creationId xmlns:p14="http://schemas.microsoft.com/office/powerpoint/2010/main" val="1992315361"/>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CCE4BD9-DFB0-4B49-99A8-463A751FE7E9}"/>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10 · TLB miss ile page fault</a:t>
            </a:r>
          </a:p>
        </p:txBody>
      </p:sp>
      <p:sp>
        <p:nvSpPr>
          <p:cNvPr id="2" name="">
            <a:extLst xmlns:a="http://schemas.openxmlformats.org/drawingml/2006/main">
              <a:ext uri="{FF2B5EF4-FFF2-40B4-BE49-F238E27FC236}">
                <a16:creationId xmlns:a16="http://schemas.microsoft.com/office/drawing/2014/main" id="{1250535F-DCDA-479C-9DA1-89D7201FB72F}"/>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8E9E85A8-D03B-4491-A892-C2ECFFF4D7D2}"/>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TLB’de çeviri yok</a:t>
            </a:r>
          </a:p>
        </p:txBody>
      </p:sp>
      <p:sp>
        <p:nvSpPr>
          <p:cNvPr id="4" name="">
            <a:extLst xmlns:a="http://schemas.openxmlformats.org/drawingml/2006/main">
              <a:ext uri="{FF2B5EF4-FFF2-40B4-BE49-F238E27FC236}">
                <a16:creationId xmlns:a16="http://schemas.microsoft.com/office/drawing/2014/main" id="{21183591-43F2-4BBF-9C8A-1E7EB22CF443}"/>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1FC2799-6FEA-4602-B0A0-A9B1B4CA3069}"/>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Page table mapping present</a:t>
            </a:r>
          </a:p>
        </p:txBody>
      </p:sp>
      <p:sp>
        <p:nvSpPr>
          <p:cNvPr id="6" name="">
            <a:extLst xmlns:a="http://schemas.openxmlformats.org/drawingml/2006/main">
              <a:ext uri="{FF2B5EF4-FFF2-40B4-BE49-F238E27FC236}">
                <a16:creationId xmlns:a16="http://schemas.microsoft.com/office/drawing/2014/main" id="{E36540A5-6337-4537-A6E8-A25F0CE53F4C}"/>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310E7AE-FD70-4BB4-83CB-64C43B303F77}"/>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Page backing storage’da olabilir</a:t>
            </a:r>
          </a:p>
        </p:txBody>
      </p:sp>
      <p:sp>
        <p:nvSpPr>
          <p:cNvPr id="8" name="">
            <a:extLst xmlns:a="http://schemas.openxmlformats.org/drawingml/2006/main">
              <a:ext uri="{FF2B5EF4-FFF2-40B4-BE49-F238E27FC236}">
                <a16:creationId xmlns:a16="http://schemas.microsoft.com/office/drawing/2014/main" id="{739409B6-50A5-40C3-86C9-EA16C04766E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9" name="">
            <a:extLst xmlns:a="http://schemas.openxmlformats.org/drawingml/2006/main">
              <a:ext uri="{FF2B5EF4-FFF2-40B4-BE49-F238E27FC236}">
                <a16:creationId xmlns:a16="http://schemas.microsoft.com/office/drawing/2014/main" id="{2C6D3F7C-35B0-4359-837C-A963574798D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12 / 14</a:t>
            </a:r>
          </a:p>
        </p:txBody>
      </p:sp>
    </p:spTree>
    <p:extLst>
      <p:ext uri="{BB962C8B-B14F-4D97-AF65-F5344CB8AC3E}">
        <p14:creationId xmlns:p14="http://schemas.microsoft.com/office/powerpoint/2010/main" val="1069164349"/>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93E2C5-72C5-4872-9865-2DB62F05028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11 · Replacement izi</a:t>
            </a:r>
          </a:p>
        </p:txBody>
      </p:sp>
      <p:sp>
        <p:nvSpPr>
          <p:cNvPr id="2" name="">
            <a:extLst xmlns:a="http://schemas.openxmlformats.org/drawingml/2006/main">
              <a:ext uri="{FF2B5EF4-FFF2-40B4-BE49-F238E27FC236}">
                <a16:creationId xmlns:a16="http://schemas.microsoft.com/office/drawing/2014/main" id="{1429D10E-1D0C-442A-8284-FB33FD34A170}"/>
              </a:ext>
            </a:extLst>
          </p:cNvPr>
          <p:cNvSpPr>
            <a:spLocks xmlns:a="http://schemas.openxmlformats.org/drawingml/2006/main" noGrp="1"/>
          </p:cNvSpPr>
          <p:nvPr/>
        </p:nvSpPr>
        <p:spPr>
          <a:xfrm xmlns:a="http://schemas.openxmlformats.org/drawingml/2006/main">
            <a:off x="609600" y="17145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Capacity2 frame; başlangıç boş</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Reference string: 1,2,1,3</a:t>
            </a:r>
          </a:p>
        </p:txBody>
      </p:sp>
      <p:graphicFrame>
        <p:nvGraphicFramePr>
          <p:cNvPr id="8" name=""/>
          <p:cNvGraphicFramePr/>
          <p:nvPr/>
        </p:nvGraphicFramePr>
        <p:xfrm>
          <a:off xmlns:a="http://schemas.openxmlformats.org/drawingml/2006/main" x="609600" y="2486025"/>
          <a:ext xmlns:a="http://schemas.openxmlformats.org/drawingml/2006/main" cx="10972800" cy="3257550"/>
        </p:xfrm>
        <a:graphic xmlns:a="http://schemas.openxmlformats.org/drawingml/2006/main">
          <a:graphicData uri="http://schemas.openxmlformats.org/drawingml/2006/table">
            <a:tbl>
              <a:tblPr/>
              <a:tblGrid>
                <a:gridCol w="3657600"/>
                <a:gridCol w="3657600"/>
                <a:gridCol w="3657600"/>
              </a:tblGrid>
              <a:tr h="1085850">
                <a:tc>
                  <a:txBody>
                    <a:bodyPr/>
                    <a:lstStyle/>
                    <a:p>
                      <a:r>
                        <a:rPr sz="1800" b="1">
                          <a:solidFill>
                            <a:srgbClr val="FFFFFF"/>
                          </a:solidFill>
                          <a:latin typeface="Helvetica Neue"/>
                          <a:ea typeface="Helvetica Neue"/>
                          <a:cs typeface="Helvetica Neue"/>
                        </a:rPr>
                        <a:t>Politika</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Son erişimde victim</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Toplam fault</a:t>
                      </a:r>
                    </a:p>
                  </a:txBody>
                  <a:tcPr marL="114300" marR="114300" marT="47625" marB="47625" anchor="ctr">
                    <a:solidFill>
                      <a:srgbClr val="122C42"/>
                    </a:solidFill>
                  </a:tcPr>
                </a:tc>
              </a:tr>
              <a:tr h="1085850">
                <a:tc>
                  <a:txBody>
                    <a:bodyPr/>
                    <a:lstStyle/>
                    <a:p>
                      <a:r>
                        <a:rPr sz="1800" b="0">
                          <a:solidFill>
                            <a:srgbClr val="122C42"/>
                          </a:solidFill>
                          <a:latin typeface="Helvetica Neue"/>
                          <a:ea typeface="Helvetica Neue"/>
                          <a:cs typeface="Helvetica Neue"/>
                        </a:rPr>
                        <a:t>FIFO</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FFFFFF"/>
                    </a:solidFill>
                  </a:tcPr>
                </a:tc>
              </a:tr>
              <a:tr h="1085850">
                <a:tc>
                  <a:txBody>
                    <a:bodyPr/>
                    <a:lstStyle/>
                    <a:p>
                      <a:r>
                        <a:rPr sz="1800" b="0">
                          <a:solidFill>
                            <a:srgbClr val="122C42"/>
                          </a:solidFill>
                          <a:latin typeface="Helvetica Neue"/>
                          <a:ea typeface="Helvetica Neue"/>
                          <a:cs typeface="Helvetica Neue"/>
                        </a:rPr>
                        <a:t>LRU</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1CCFA417-98DD-4779-891E-AE53602A5BE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5" name="">
            <a:extLst xmlns:a="http://schemas.openxmlformats.org/drawingml/2006/main">
              <a:ext uri="{FF2B5EF4-FFF2-40B4-BE49-F238E27FC236}">
                <a16:creationId xmlns:a16="http://schemas.microsoft.com/office/drawing/2014/main" id="{242F56EE-54E4-4E44-8D3C-492E2EA30C8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13 / 14</a:t>
            </a:r>
          </a:p>
        </p:txBody>
      </p:sp>
    </p:spTree>
    <p:extLst>
      <p:ext uri="{BB962C8B-B14F-4D97-AF65-F5344CB8AC3E}">
        <p14:creationId xmlns:p14="http://schemas.microsoft.com/office/powerpoint/2010/main" val="426993311"/>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4F5B96-DC8E-4B53-94B0-1800C5825A8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12 · Kişisel eksik haritası</a:t>
            </a:r>
          </a:p>
        </p:txBody>
      </p:sp>
      <p:sp>
        <p:nvSpPr>
          <p:cNvPr id="2" name="">
            <a:extLst xmlns:a="http://schemas.openxmlformats.org/drawingml/2006/main">
              <a:ext uri="{FF2B5EF4-FFF2-40B4-BE49-F238E27FC236}">
                <a16:creationId xmlns:a16="http://schemas.microsoft.com/office/drawing/2014/main" id="{AD93CE41-EFE1-4BCF-8716-7D47CC6A7B38}"/>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4448682-18F3-4440-A29B-041DB3500326}"/>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En sağlam mekanizmayı kendi örneğinle anlat</a:t>
            </a:r>
          </a:p>
        </p:txBody>
      </p:sp>
      <p:sp>
        <p:nvSpPr>
          <p:cNvPr id="4" name="">
            <a:extLst xmlns:a="http://schemas.openxmlformats.org/drawingml/2006/main">
              <a:ext uri="{FF2B5EF4-FFF2-40B4-BE49-F238E27FC236}">
                <a16:creationId xmlns:a16="http://schemas.microsoft.com/office/drawing/2014/main" id="{07174C08-D902-4129-AB1D-DE43F6B6FD90}"/>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02086BF-CCF2-4CCA-83B9-78D614E1439C}"/>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Karışan iki kavramı karşılaştır</a:t>
            </a:r>
          </a:p>
        </p:txBody>
      </p:sp>
      <p:sp>
        <p:nvSpPr>
          <p:cNvPr id="6" name="">
            <a:extLst xmlns:a="http://schemas.openxmlformats.org/drawingml/2006/main">
              <a:ext uri="{FF2B5EF4-FFF2-40B4-BE49-F238E27FC236}">
                <a16:creationId xmlns:a16="http://schemas.microsoft.com/office/drawing/2014/main" id="{8788A316-8710-4383-87D0-67D1A0199964}"/>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71EC45E-CFEE-4E93-B170-4EC07E88A6E9}"/>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Resmî kapsam ve tarihi duyurudan doğrula</a:t>
            </a:r>
          </a:p>
        </p:txBody>
      </p:sp>
      <p:sp>
        <p:nvSpPr>
          <p:cNvPr id="8" name="">
            <a:extLst xmlns:a="http://schemas.openxmlformats.org/drawingml/2006/main">
              <a:ext uri="{FF2B5EF4-FFF2-40B4-BE49-F238E27FC236}">
                <a16:creationId xmlns:a16="http://schemas.microsoft.com/office/drawing/2014/main" id="{2E816CBF-ECB4-4A0B-851A-B51BB9CF266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7</a:t>
            </a:r>
          </a:p>
        </p:txBody>
      </p:sp>
      <p:sp>
        <p:nvSpPr>
          <p:cNvPr id="9" name="">
            <a:extLst xmlns:a="http://schemas.openxmlformats.org/drawingml/2006/main">
              <a:ext uri="{FF2B5EF4-FFF2-40B4-BE49-F238E27FC236}">
                <a16:creationId xmlns:a16="http://schemas.microsoft.com/office/drawing/2014/main" id="{744103DE-ADBD-477F-BC56-A3DEC13BFE60}"/>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14 / 14</a:t>
            </a:r>
          </a:p>
        </p:txBody>
      </p:sp>
    </p:spTree>
    <p:extLst>
      <p:ext uri="{BB962C8B-B14F-4D97-AF65-F5344CB8AC3E}">
        <p14:creationId xmlns:p14="http://schemas.microsoft.com/office/powerpoint/2010/main" val="984973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2026-10-07T20:19:43.2410000Z</dcterms:created>
  <dcterms:modified xsi:type="dcterms:W3CDTF">2026-10-07T20:19:43.2410000Z</dcterms:modified>
</coreProperties>
</file>