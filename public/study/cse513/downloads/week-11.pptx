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3a0b0175e443d9" /><Relationship Type="http://schemas.openxmlformats.org/officeDocument/2006/relationships/extended-properties" Target="/docProps/app.xml" Id="Rcda004bb83b74902" /><Relationship Type="http://schemas.openxmlformats.org/officeDocument/2006/relationships/officeDocument" Target="/ppt/presentation.xml" Id="R20b157a49f3d478c" /></Relationships>
</file>

<file path=ppt/presentation.xml><?xml version="1.0" encoding="utf-8"?>
<p:presentation xmlns:p="http://schemas.openxmlformats.org/presentationml/2006/main">
  <p:sldMasterIdLst>
    <p:sldMasterId xmlns:r="http://schemas.openxmlformats.org/officeDocument/2006/relationships" id="2147483648" r:id="R7ae69754f33345ce"/>
  </p:sldMasterIdLst>
  <p:notesMasterIdLst>
    <p:notesMasterId xmlns:r="http://schemas.openxmlformats.org/officeDocument/2006/relationships" r:id="R37fa6e03d64d4cc7"/>
  </p:notesMasterIdLst>
  <p:sldIdLst>
    <p:sldId xmlns:r="http://schemas.openxmlformats.org/officeDocument/2006/relationships" id="256" r:id="Rff3cb60735934a02"/>
    <p:sldId xmlns:r="http://schemas.openxmlformats.org/officeDocument/2006/relationships" id="257" r:id="R850a2286b48a47c1"/>
    <p:sldId xmlns:r="http://schemas.openxmlformats.org/officeDocument/2006/relationships" id="258" r:id="R9cf1dbd6abd34517"/>
    <p:sldId xmlns:r="http://schemas.openxmlformats.org/officeDocument/2006/relationships" id="259" r:id="R8097f6af34144339"/>
    <p:sldId xmlns:r="http://schemas.openxmlformats.org/officeDocument/2006/relationships" id="260" r:id="R90c1528eb8ba4260"/>
    <p:sldId xmlns:r="http://schemas.openxmlformats.org/officeDocument/2006/relationships" id="261" r:id="R26b4e162a96f4dd4"/>
    <p:sldId xmlns:r="http://schemas.openxmlformats.org/officeDocument/2006/relationships" id="262" r:id="R02e69cb1e4ea4700"/>
    <p:sldId xmlns:r="http://schemas.openxmlformats.org/officeDocument/2006/relationships" id="263" r:id="Rb857fb29d3f04366"/>
    <p:sldId xmlns:r="http://schemas.openxmlformats.org/officeDocument/2006/relationships" id="264" r:id="R6d359b1b168f44ad"/>
    <p:sldId xmlns:r="http://schemas.openxmlformats.org/officeDocument/2006/relationships" id="265" r:id="R25a659ac38434af1"/>
    <p:sldId xmlns:r="http://schemas.openxmlformats.org/officeDocument/2006/relationships" id="266" r:id="R0dcdd53ed3aa43d7"/>
    <p:sldId xmlns:r="http://schemas.openxmlformats.org/officeDocument/2006/relationships" id="267" r:id="R9415636277f54b71"/>
    <p:sldId xmlns:r="http://schemas.openxmlformats.org/officeDocument/2006/relationships" id="268" r:id="R4573e05c37894046"/>
    <p:sldId xmlns:r="http://schemas.openxmlformats.org/officeDocument/2006/relationships" id="269" r:id="R8c4dc621a47e42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51c5626a3045a1" /><Relationship Type="http://schemas.openxmlformats.org/officeDocument/2006/relationships/slideMaster" Target="/ppt/slideMasters/slideMaster1.xml" Id="R7ae69754f33345ce" /><Relationship Type="http://schemas.openxmlformats.org/officeDocument/2006/relationships/notesMaster" Target="/ppt/notesMasters/notesMaster1.xml" Id="R37fa6e03d64d4cc7" /><Relationship Type="http://schemas.openxmlformats.org/officeDocument/2006/relationships/presProps" Target="/ppt/presProps.xml" Id="R0dd58317867643eb" /><Relationship Type="http://schemas.openxmlformats.org/officeDocument/2006/relationships/tableStyles" Target="/ppt/tableStyles.xml" Id="Rb3feab7a679b4d23" /><Relationship Type="http://schemas.openxmlformats.org/officeDocument/2006/relationships/slide" Target="/ppt/slides/slide1.xml" Id="Rff3cb60735934a02" /><Relationship Type="http://schemas.openxmlformats.org/officeDocument/2006/relationships/slide" Target="/ppt/slides/slide2.xml" Id="R850a2286b48a47c1" /><Relationship Type="http://schemas.openxmlformats.org/officeDocument/2006/relationships/slide" Target="/ppt/slides/slide3.xml" Id="R9cf1dbd6abd34517" /><Relationship Type="http://schemas.openxmlformats.org/officeDocument/2006/relationships/slide" Target="/ppt/slides/slide4.xml" Id="R8097f6af34144339" /><Relationship Type="http://schemas.openxmlformats.org/officeDocument/2006/relationships/slide" Target="/ppt/slides/slide5.xml" Id="R90c1528eb8ba4260" /><Relationship Type="http://schemas.openxmlformats.org/officeDocument/2006/relationships/slide" Target="/ppt/slides/slide6.xml" Id="R26b4e162a96f4dd4" /><Relationship Type="http://schemas.openxmlformats.org/officeDocument/2006/relationships/slide" Target="/ppt/slides/slide7.xml" Id="R02e69cb1e4ea4700" /><Relationship Type="http://schemas.openxmlformats.org/officeDocument/2006/relationships/slide" Target="/ppt/slides/slide8.xml" Id="Rb857fb29d3f04366" /><Relationship Type="http://schemas.openxmlformats.org/officeDocument/2006/relationships/slide" Target="/ppt/slides/slide9.xml" Id="R6d359b1b168f44ad" /><Relationship Type="http://schemas.openxmlformats.org/officeDocument/2006/relationships/slide" Target="/ppt/slides/slide10.xml" Id="R25a659ac38434af1" /><Relationship Type="http://schemas.openxmlformats.org/officeDocument/2006/relationships/slide" Target="/ppt/slides/slide11.xml" Id="R0dcdd53ed3aa43d7" /><Relationship Type="http://schemas.openxmlformats.org/officeDocument/2006/relationships/slide" Target="/ppt/slides/slide12.xml" Id="R9415636277f54b71" /><Relationship Type="http://schemas.openxmlformats.org/officeDocument/2006/relationships/slide" Target="/ppt/slides/slide13.xml" Id="R4573e05c37894046" /><Relationship Type="http://schemas.openxmlformats.org/officeDocument/2006/relationships/slide" Target="/ppt/slides/slide14.xml" Id="R8c4dc621a47e42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c9a20d81c34b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45eb729c6247ed" /><Relationship Type="http://schemas.openxmlformats.org/officeDocument/2006/relationships/notesMaster" Target="/ppt/notesMasters/notesMaster1.xml" Id="R2f5332068d1748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b9daa6026543cf" /><Relationship Type="http://schemas.openxmlformats.org/officeDocument/2006/relationships/notesMaster" Target="/ppt/notesMasters/notesMaster1.xml" Id="R9e59f63dcec944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e04d9a63b84f93" /><Relationship Type="http://schemas.openxmlformats.org/officeDocument/2006/relationships/notesMaster" Target="/ppt/notesMasters/notesMaster1.xml" Id="Rf2461b6988bc44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0ede8e5b2d402c" /><Relationship Type="http://schemas.openxmlformats.org/officeDocument/2006/relationships/notesMaster" Target="/ppt/notesMasters/notesMaster1.xml" Id="R79e1075276e247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19eb0daead40ed" /><Relationship Type="http://schemas.openxmlformats.org/officeDocument/2006/relationships/notesMaster" Target="/ppt/notesMasters/notesMaster1.xml" Id="Raf4195643d464e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f05053e9e64ec5" /><Relationship Type="http://schemas.openxmlformats.org/officeDocument/2006/relationships/notesMaster" Target="/ppt/notesMasters/notesMaster1.xml" Id="R1d3c6b9141bc4d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017897303b486d" /><Relationship Type="http://schemas.openxmlformats.org/officeDocument/2006/relationships/notesMaster" Target="/ppt/notesMasters/notesMaster1.xml" Id="R970792058b0046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33cd53c27345f2" /><Relationship Type="http://schemas.openxmlformats.org/officeDocument/2006/relationships/notesMaster" Target="/ppt/notesMasters/notesMaster1.xml" Id="Rd88fce695c1e49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9d77e0caaf44e3" /><Relationship Type="http://schemas.openxmlformats.org/officeDocument/2006/relationships/notesMaster" Target="/ppt/notesMasters/notesMaster1.xml" Id="R8d5afb8baf8d44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1b8cb14e9845e1" /><Relationship Type="http://schemas.openxmlformats.org/officeDocument/2006/relationships/notesMaster" Target="/ppt/notesMasters/notesMaster1.xml" Id="R964f33106eb84a1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6456406e744c78" /><Relationship Type="http://schemas.openxmlformats.org/officeDocument/2006/relationships/notesMaster" Target="/ppt/notesMasters/notesMaster1.xml" Id="R54551a051d7747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a6f4dee6da450c" /><Relationship Type="http://schemas.openxmlformats.org/officeDocument/2006/relationships/notesMaster" Target="/ppt/notesMasters/notesMaster1.xml" Id="Ra8e105842c5240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dbf81c5f8a24fe8" /><Relationship Type="http://schemas.openxmlformats.org/officeDocument/2006/relationships/notesMaster" Target="/ppt/notesMasters/notesMaster1.xml" Id="R6d12681a80f347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ed06c85a00545df" /><Relationship Type="http://schemas.openxmlformats.org/officeDocument/2006/relationships/notesMaster" Target="/ppt/notesMasters/notesMaster1.xml" Id="R3a9f012ec63d46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Hafta11–14 için ortak hazırlık rehberi</a:t>
            </a:r>
          </a:p>
          <a:p xmlns:a="http://schemas.openxmlformats.org/drawingml/2006/main">
            <a:r>
              <a:t>Resmî allocation veya marking rubric değildir</a:t>
            </a:r>
          </a:p>
          <a:p xmlns:a="http://schemas.openxmlformats.org/drawingml/2006/main">
            <a:r>
              <a:t/>
            </a:r>
          </a:p>
          <a:p xmlns:a="http://schemas.openxmlformats.org/drawingml/2006/main">
            <a:r>
              <a:t>Resmî sayfa her öğrenci için atanacak research paper üzerinde15dakikalık İngilizce sunum bildirir. Paper list, speaking order, question time ve marking rubric henüz duyurulmamıştır. Bu rehber dört hafta için aynı kişisel hazırlık aracıdır; gerçek paper veya konuşma slotu atamaz. Resmî assigned paper geldikten sonra şablonu o makaleyle doldur.</a:t>
            </a:r>
          </a:p>
          <a:p xmlns:a="http://schemas.openxmlformats.org/drawingml/2006/main">
            <a:r>
              <a:t/>
            </a:r>
          </a:p>
          <a:p xmlns:a="http://schemas.openxmlformats.org/drawingml/2006/main">
            <a:r>
              <a:t>Ortak makale sunumu rehberi. Atanmış makale veya öğrenci sırası iddia edilmez.</a:t>
            </a:r>
          </a:p>
          <a:p xmlns:a="http://schemas.openxmlformats.org/drawingml/2006/main">
            <a:r>
              <a:t/>
            </a:r>
          </a:p>
          <a:p xmlns:a="http://schemas.openxmlformats.org/drawingml/2006/main">
            <a:r>
              <a:t>https://mehmetgokturk.com/cse513/presentations.html</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https://mehmetgokturk.com/cse513/presentations.html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Resmî format ve değerlendirmenin kaynağı presentations ve syllabus sayfalarıdır. “Half of final-exam questions” soru kapsamıdır; course grade’in50%’si anlamına gelmez. Final sınav course grade’in40%’sidir. Soru süresinin15dakikaya dahil olup olmadığı duyurulmamış: planını doğrulanana kadar esnek tut. Bu rehber puanlı bir değerlendirme şeması eklemez.</a:t>
            </a:r>
          </a:p>
          <a:p xmlns:a="http://schemas.openxmlformats.org/drawingml/2006/main">
            <a:r>
              <a:t/>
            </a:r>
          </a:p>
          <a:p xmlns:a="http://schemas.openxmlformats.org/drawingml/2006/main">
            <a:r>
              <a:t>Ortak makale sunumu rehberi. Atanmış makale veya öğrenci sırası iddia edilmez.</a:t>
            </a:r>
          </a:p>
          <a:p xmlns:a="http://schemas.openxmlformats.org/drawingml/2006/main">
            <a:r>
              <a:t/>
            </a:r>
          </a:p>
          <a:p xmlns:a="http://schemas.openxmlformats.org/drawingml/2006/main">
            <a:r>
              <a:t>https://mehmetgokturk.com/cse513/presentations.html</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https://mehmetgokturk.com/cse513/presentations.html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Orijinal paper sürümünü ve citation’ı kaydet</a:t>
            </a:r>
          </a:p>
          <a:p xmlns:a="http://schemas.openxmlformats.org/drawingml/2006/main">
            <a:r>
              <a:t>Abstract → problem → mechanism → evaluation</a:t>
            </a:r>
          </a:p>
          <a:p xmlns:a="http://schemas.openxmlformats.org/drawingml/2006/main">
            <a:r>
              <a:t>Bilmediğin terimleri course haftalarına bağla</a:t>
            </a:r>
          </a:p>
          <a:p xmlns:a="http://schemas.openxmlformats.org/drawingml/2006/main">
            <a:r>
              <a:t>Desteklenmeyen çıkarımı soru olarak tut</a:t>
            </a:r>
          </a:p>
          <a:p xmlns:a="http://schemas.openxmlformats.org/drawingml/2006/main">
            <a:r>
              <a:t/>
            </a:r>
          </a:p>
          <a:p xmlns:a="http://schemas.openxmlformats.org/drawingml/2006/main">
            <a:r>
              <a:t>Bir blog veya AI summary paper’ın yerine geçmez. Orijinal makalenin section ve figure’larını okuyarak kendi açıklamanı kur. Paper henüz atanmamışsa bu guide ile okuma yöntemini çalış; rastgele bir paper’ı official allocation gibi gösterme. Alternatif okumalar kişisel isteğe bağlı olabilir.</a:t>
            </a:r>
          </a:p>
          <a:p xmlns:a="http://schemas.openxmlformats.org/drawingml/2006/main">
            <a:r>
              <a:t/>
            </a:r>
          </a:p>
          <a:p xmlns:a="http://schemas.openxmlformats.org/drawingml/2006/main">
            <a:r>
              <a:t>Ortak makale sunumu rehberi. Atanmış makale veya öğrenci sırası iddia edilmez.</a:t>
            </a:r>
          </a:p>
          <a:p xmlns:a="http://schemas.openxmlformats.org/drawingml/2006/main">
            <a:r>
              <a:t/>
            </a:r>
          </a:p>
          <a:p xmlns:a="http://schemas.openxmlformats.org/drawingml/2006/main">
            <a:r>
              <a:t>https://mehmetgokturk.com/cse513/presentations.html</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https://mehmetgokturk.com/cse513/presentations.html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Hangi kullanıcı veya workload etkileniyor?</a:t>
            </a:r>
          </a:p>
          <a:p xmlns:a="http://schemas.openxmlformats.org/drawingml/2006/main">
            <a:r>
              <a:t>Mevcut çözüm nerede yetmiyor?</a:t>
            </a:r>
          </a:p>
          <a:p xmlns:a="http://schemas.openxmlformats.org/drawingml/2006/main">
            <a:r>
              <a:t>Makale hangi hedefi seçiyor?</a:t>
            </a:r>
          </a:p>
          <a:p xmlns:a="http://schemas.openxmlformats.org/drawingml/2006/main">
            <a:r>
              <a:t/>
            </a:r>
          </a:p>
          <a:p xmlns:a="http://schemas.openxmlformats.org/drawingml/2006/main">
            <a:r>
              <a:t>İlk slaytta paper başlığını tekrarlamak yerine somut problemi söyle. “Daha iyi performance” hangi metric için hangi workload’da sorusunu açık bırakır. Paper’ın hedefini kendi ürün tercihinle değiştirme. Motivation ile gösterilmiş result’ı ayır. Bu rehber gerçek paper içeriği üretmez; boş alanları senin original reading’in doldurmalı.</a:t>
            </a:r>
          </a:p>
          <a:p xmlns:a="http://schemas.openxmlformats.org/drawingml/2006/main">
            <a:r>
              <a:t/>
            </a:r>
          </a:p>
          <a:p xmlns:a="http://schemas.openxmlformats.org/drawingml/2006/main">
            <a:r>
              <a:t>SORUNUN YANITI: İyi problem cümlesi: [workload] mevcut[mechanism] ile [specific limit] yaşar; paper [objective] hedefler.</a:t>
            </a:r>
          </a:p>
          <a:p xmlns:a="http://schemas.openxmlformats.org/drawingml/2006/main">
            <a:r>
              <a:t/>
            </a:r>
          </a:p>
          <a:p xmlns:a="http://schemas.openxmlformats.org/drawingml/2006/main">
            <a:r>
              <a:t>Ortak makale sunumu rehberi. Atanmış makale veya öğrenci sırası iddia edilmez.</a:t>
            </a:r>
          </a:p>
          <a:p xmlns:a="http://schemas.openxmlformats.org/drawingml/2006/main">
            <a:r>
              <a:t/>
            </a:r>
          </a:p>
          <a:p xmlns:a="http://schemas.openxmlformats.org/drawingml/2006/main">
            <a:r>
              <a:t>https://mehmetgokturk.com/cse513/presentations.html</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https://mehmetgokturk.com/cse513/presentations.html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Bir sistemi anlamak için desteklediği failure model, hardware, scale ve workload’ı bil. Paper’ın açık söylemediği şeyi garanti gibi sunma; “not stated” de. Crash, Byzantine, trusted kernel veya memory consistency gibi varsayımlar sonucu değiştirebilir. Bunların hepsinin paper’da olması gerekmez; uygun olanları seç.</a:t>
            </a:r>
          </a:p>
          <a:p xmlns:a="http://schemas.openxmlformats.org/drawingml/2006/main">
            <a:r>
              <a:t/>
            </a:r>
          </a:p>
          <a:p xmlns:a="http://schemas.openxmlformats.org/drawingml/2006/main">
            <a:r>
              <a:t>Ortak makale sunumu rehberi. Atanmış makale veya öğrenci sırası iddia edilmez.</a:t>
            </a:r>
          </a:p>
          <a:p xmlns:a="http://schemas.openxmlformats.org/drawingml/2006/main">
            <a:r>
              <a:t/>
            </a:r>
          </a:p>
          <a:p xmlns:a="http://schemas.openxmlformats.org/drawingml/2006/main">
            <a:r>
              <a:t>https://mehmetgokturk.com/cse513/presentations.html</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https://mehmetgokturk.com/cse513/presentations.html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Başlangıç state’i</a:t>
            </a:r>
          </a:p>
          <a:p xmlns:a="http://schemas.openxmlformats.org/drawingml/2006/main">
            <a:r>
              <a:t>Karar noktası</a:t>
            </a:r>
          </a:p>
          <a:p xmlns:a="http://schemas.openxmlformats.org/drawingml/2006/main">
            <a:r>
              <a:t>Değişen state</a:t>
            </a:r>
          </a:p>
          <a:p xmlns:a="http://schemas.openxmlformats.org/drawingml/2006/main">
            <a:r>
              <a:t>Sonuç ve hata yolu</a:t>
            </a:r>
          </a:p>
          <a:p xmlns:a="http://schemas.openxmlformats.org/drawingml/2006/main">
            <a:r>
              <a:t/>
            </a:r>
          </a:p>
          <a:p xmlns:a="http://schemas.openxmlformats.org/drawingml/2006/main">
            <a:r>
              <a:t>Paper’ın bütün architecture figürünü küçültüp okunmaz hale getirme. Bir path seçip3–5adımda anlat. Basitleştirdiğin çizimde neyi dışarıda bıraktığını belirt. Analojiyi mechanism’i açmak için kullan; proof veya protocol koşullarının yerine geçirme. Course bağlantısı process, concurrency, memory, storage, isolation veya coordination olabilir.</a:t>
            </a:r>
          </a:p>
          <a:p xmlns:a="http://schemas.openxmlformats.org/drawingml/2006/main">
            <a:r>
              <a:t/>
            </a:r>
          </a:p>
          <a:p xmlns:a="http://schemas.openxmlformats.org/drawingml/2006/main">
            <a:r>
              <a:t>Ortak makale sunumu rehberi. Atanmış makale veya öğrenci sırası iddia edilmez.</a:t>
            </a:r>
          </a:p>
          <a:p xmlns:a="http://schemas.openxmlformats.org/drawingml/2006/main">
            <a:r>
              <a:t/>
            </a:r>
          </a:p>
          <a:p xmlns:a="http://schemas.openxmlformats.org/drawingml/2006/main">
            <a:r>
              <a:t>https://mehmetgokturk.com/cse513/presentations.html</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https://mehmetgokturk.com/cse513/presentations.html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Safety mi liveness mı?</a:t>
            </a:r>
          </a:p>
          <a:p xmlns:a="http://schemas.openxmlformats.org/drawingml/2006/main">
            <a:r>
              <a:t>Latency mi throughput mu?</a:t>
            </a:r>
          </a:p>
          <a:p xmlns:a="http://schemas.openxmlformats.org/drawingml/2006/main">
            <a:r>
              <a:t>Formal guarantee mi observed result mı?</a:t>
            </a:r>
          </a:p>
          <a:p xmlns:a="http://schemas.openxmlformats.org/drawingml/2006/main">
            <a:r>
              <a:t/>
            </a:r>
          </a:p>
          <a:p xmlns:a="http://schemas.openxmlformats.org/drawingml/2006/main">
            <a:r>
              <a:t>“Works better” açıklama değildir. Claim’i paper’daki kanıt türüyle eşleştir. Testte hata görülmemesi tüm execution’larda doğru olduğunun ispatı olmaz. Daha düşük mean latency tail veya bütün workload’lar için daha iyi sonuç anlamına gelmez. Author’ın sınırlı claim’ini genişletme.</a:t>
            </a:r>
          </a:p>
          <a:p xmlns:a="http://schemas.openxmlformats.org/drawingml/2006/main">
            <a:r>
              <a:t/>
            </a:r>
          </a:p>
          <a:p xmlns:a="http://schemas.openxmlformats.org/drawingml/2006/main">
            <a:r>
              <a:t>SORUNUN YANITI: İddia cümlesine metric/model/boundary ekle; kanıtı proof, experiment veya örnek olarak etiketle.</a:t>
            </a:r>
          </a:p>
          <a:p xmlns:a="http://schemas.openxmlformats.org/drawingml/2006/main">
            <a:r>
              <a:t/>
            </a:r>
          </a:p>
          <a:p xmlns:a="http://schemas.openxmlformats.org/drawingml/2006/main">
            <a:r>
              <a:t>Ortak makale sunumu rehberi. Atanmış makale veya öğrenci sırası iddia edilmez.</a:t>
            </a:r>
          </a:p>
          <a:p xmlns:a="http://schemas.openxmlformats.org/drawingml/2006/main">
            <a:r>
              <a:t/>
            </a:r>
          </a:p>
          <a:p xmlns:a="http://schemas.openxmlformats.org/drawingml/2006/main">
            <a:r>
              <a:t>https://mehmetgokturk.com/cse513/presentations.html</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https://mehmetgokturk.com/cse513/presentations.html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Orijinal axis, unit, legend ve error representation korunmalı. Crop veya yeniden çizim yaptıysan label ve citation ekle. Percentile, average ve throughput farklı şeylerdir. Normalized bar1.0’ın baseline’ını söyle. Bu rehber hiçbir deney sonucu uydurmaz; tablo örnek sonuç değil, okuma checklist’idir.</a:t>
            </a:r>
          </a:p>
          <a:p xmlns:a="http://schemas.openxmlformats.org/drawingml/2006/main">
            <a:r>
              <a:t/>
            </a:r>
          </a:p>
          <a:p xmlns:a="http://schemas.openxmlformats.org/drawingml/2006/main">
            <a:r>
              <a:t>Ortak makale sunumu rehberi. Atanmış makale veya öğrenci sırası iddia edilmez.</a:t>
            </a:r>
          </a:p>
          <a:p xmlns:a="http://schemas.openxmlformats.org/drawingml/2006/main">
            <a:r>
              <a:t/>
            </a:r>
          </a:p>
          <a:p xmlns:a="http://schemas.openxmlformats.org/drawingml/2006/main">
            <a:r>
              <a:t>https://mehmetgokturk.com/cse513/presentations.html</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https://mehmetgokturk.com/cse513/presentations.html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edilmeyen koşulları ayır</a:t>
            </a:r>
          </a:p>
          <a:p xmlns:a="http://schemas.openxmlformats.org/drawingml/2006/main">
            <a:r>
              <a:t>Mekanizmanın maliyetini belirt</a:t>
            </a:r>
          </a:p>
          <a:p xmlns:a="http://schemas.openxmlformats.org/drawingml/2006/main">
            <a:r>
              <a:t>Alternatif açıklamayı kanıtla kıyasla</a:t>
            </a:r>
          </a:p>
          <a:p xmlns:a="http://schemas.openxmlformats.org/drawingml/2006/main">
            <a:r>
              <a:t>Gelecek çalışma ile achieved result’ı ayır</a:t>
            </a:r>
          </a:p>
          <a:p xmlns:a="http://schemas.openxmlformats.org/drawingml/2006/main">
            <a:r>
              <a:t/>
            </a:r>
          </a:p>
          <a:p xmlns:a="http://schemas.openxmlformats.org/drawingml/2006/main">
            <a:r>
              <a:t>Eleştiri “daha fazla deney yapmalıydı” gibi genel cümle değil. Hangi claim için hangi experiment eksik olduğunu söyle. Bir assumed environment dışındaki uygulama sonuçlarını bilmiyorsan belirsizliği açık bırak. Basit bir paper bile dar scope’ta güçlü kanıt sunabilir.</a:t>
            </a:r>
          </a:p>
          <a:p xmlns:a="http://schemas.openxmlformats.org/drawingml/2006/main">
            <a:r>
              <a:t/>
            </a:r>
          </a:p>
          <a:p xmlns:a="http://schemas.openxmlformats.org/drawingml/2006/main">
            <a:r>
              <a:t>Ortak makale sunumu rehberi. Atanmış makale veya öğrenci sırası iddia edilmez.</a:t>
            </a:r>
          </a:p>
          <a:p xmlns:a="http://schemas.openxmlformats.org/drawingml/2006/main">
            <a:r>
              <a:t/>
            </a:r>
          </a:p>
          <a:p xmlns:a="http://schemas.openxmlformats.org/drawingml/2006/main">
            <a:r>
              <a:t>https://mehmetgokturk.com/cse513/presentations.html</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https://mehmetgokturk.com/cse513/presentations.html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süre dağılımı öneridir, official marking veya question-time düzenlemesi değildir. Plan toplam15dakika sunum konuşmasıdır. Resmî duyuru Q&amp;A’yı bu sürede tutarsa anlatımı kısalt. Slayt sayısına değil, anlaşılır düşünce adımlarına odaklan. Geçişleri ve figure açıklamasını yüksek sesle prova et.</a:t>
            </a:r>
          </a:p>
          <a:p xmlns:a="http://schemas.openxmlformats.org/drawingml/2006/main">
            <a:r>
              <a:t/>
            </a:r>
          </a:p>
          <a:p xmlns:a="http://schemas.openxmlformats.org/drawingml/2006/main">
            <a:r>
              <a:t>Ortak makale sunumu rehberi. Atanmış makale veya öğrenci sırası iddia edilmez.</a:t>
            </a:r>
          </a:p>
          <a:p xmlns:a="http://schemas.openxmlformats.org/drawingml/2006/main">
            <a:r>
              <a:t/>
            </a:r>
          </a:p>
          <a:p xmlns:a="http://schemas.openxmlformats.org/drawingml/2006/main">
            <a:r>
              <a:t>https://mehmetgokturk.com/cse513/presentations.html</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https://mehmetgokturk.com/cse513/presentations.html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a:t>
            </a:r>
          </a:p>
          <a:p xmlns:a="http://schemas.openxmlformats.org/drawingml/2006/main">
            <a:r>
              <a:t>“The mechanism works by …”</a:t>
            </a:r>
          </a:p>
          <a:p xmlns:a="http://schemas.openxmlformats.org/drawingml/2006/main">
            <a:r>
              <a:t>“The evidence supports … under …”</a:t>
            </a:r>
          </a:p>
          <a:p xmlns:a="http://schemas.openxmlformats.org/drawingml/2006/main">
            <a:r>
              <a:t>“The paper does not establish …”</a:t>
            </a:r>
          </a:p>
          <a:p xmlns:a="http://schemas.openxmlformats.org/drawingml/2006/main">
            <a:r>
              <a:t/>
            </a:r>
          </a:p>
          <a:p xmlns:a="http://schemas.openxmlformats.org/drawingml/2006/main">
            <a:r>
              <a:t>Bunlar başlangıç cümleleridir, paper summary değildir. Technical term’i ilk kullanımda açıkla; gereksiz uzun cümleye kaçma. İki dakika içinde bir mechanism’i çizerek İngilizce anlatmayı dene. Söyleyemediğin bir claim’i slayta sırf etkileyici diye yazma.</a:t>
            </a:r>
          </a:p>
          <a:p xmlns:a="http://schemas.openxmlformats.org/drawingml/2006/main">
            <a:r>
              <a:t/>
            </a:r>
          </a:p>
          <a:p xmlns:a="http://schemas.openxmlformats.org/drawingml/2006/main">
            <a:r>
              <a:t>Ortak makale sunumu rehberi. Atanmış makale veya öğrenci sırası iddia edilmez.</a:t>
            </a:r>
          </a:p>
          <a:p xmlns:a="http://schemas.openxmlformats.org/drawingml/2006/main">
            <a:r>
              <a:t/>
            </a:r>
          </a:p>
          <a:p xmlns:a="http://schemas.openxmlformats.org/drawingml/2006/main">
            <a:r>
              <a:t>https://mehmetgokturk.com/cse513/presentations.html</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https://mehmetgokturk.com/cse513/presentations.html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Paper’da nerede gösteriliyor?</a:t>
            </a:r>
          </a:p>
          <a:p xmlns:a="http://schemas.openxmlformats.org/drawingml/2006/main">
            <a:r>
              <a:t>Sonuç mu yoksa inference mı?</a:t>
            </a:r>
          </a:p>
          <a:p xmlns:a="http://schemas.openxmlformats.org/drawingml/2006/main">
            <a:r>
              <a:t>Bilmiyorsan hangi test gerekir?</a:t>
            </a:r>
          </a:p>
          <a:p xmlns:a="http://schemas.openxmlformats.org/drawingml/2006/main">
            <a:r>
              <a:t/>
            </a:r>
          </a:p>
          <a:p xmlns:a="http://schemas.openxmlformats.org/drawingml/2006/main">
            <a:r>
              <a:t>Yanıtlamak için figure veya section’ı referans ver. Kendi çıkarımını “my interpretation” olarak etiketle. Bilmiyorsan uydurma: paper’ın bunu ölçmediğini ve nasıl sınanabileceğini söyle. Resmî question time ve rubric henüz duyurulmadığı için guide bunları belirlemez.</a:t>
            </a:r>
          </a:p>
          <a:p xmlns:a="http://schemas.openxmlformats.org/drawingml/2006/main">
            <a:r>
              <a:t/>
            </a:r>
          </a:p>
          <a:p xmlns:a="http://schemas.openxmlformats.org/drawingml/2006/main">
            <a:r>
              <a:t>SORUNUN YANITI: “The paper measures X; Y is not tested. My interpretation is …; to check it, we would …”</a:t>
            </a:r>
          </a:p>
          <a:p xmlns:a="http://schemas.openxmlformats.org/drawingml/2006/main">
            <a:r>
              <a:t/>
            </a:r>
          </a:p>
          <a:p xmlns:a="http://schemas.openxmlformats.org/drawingml/2006/main">
            <a:r>
              <a:t>Ortak makale sunumu rehberi. Atanmış makale veya öğrenci sırası iddia edilmez.</a:t>
            </a:r>
          </a:p>
          <a:p xmlns:a="http://schemas.openxmlformats.org/drawingml/2006/main">
            <a:r>
              <a:t/>
            </a:r>
          </a:p>
          <a:p xmlns:a="http://schemas.openxmlformats.org/drawingml/2006/main">
            <a:r>
              <a:t>https://mehmetgokturk.com/cse513/presentations.html</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https://mehmetgokturk.com/cse513/presentations.html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citation ve tarih/sürüm</a:t>
            </a:r>
          </a:p>
          <a:p xmlns:a="http://schemas.openxmlformats.org/drawingml/2006/main">
            <a:r>
              <a:t>Bir cümlede problem</a:t>
            </a:r>
          </a:p>
          <a:p xmlns:a="http://schemas.openxmlformats.org/drawingml/2006/main">
            <a:r>
              <a:t>Bir mechanism çizimi</a:t>
            </a:r>
          </a:p>
          <a:p xmlns:a="http://schemas.openxmlformats.org/drawingml/2006/main">
            <a:r>
              <a:t>Bir claim–evidence bağlantısı</a:t>
            </a:r>
          </a:p>
          <a:p xmlns:a="http://schemas.openxmlformats.org/drawingml/2006/main">
            <a:r>
              <a:t>Bir sınır veya soru</a:t>
            </a:r>
          </a:p>
          <a:p xmlns:a="http://schemas.openxmlformats.org/drawingml/2006/main">
            <a:r>
              <a:t/>
            </a:r>
          </a:p>
          <a:p xmlns:a="http://schemas.openxmlformats.org/drawingml/2006/main">
            <a:r>
              <a:t>Resmî sayfa final sınav sorularının yarısının student presentations kaynaklı olacağını söylüyor. Bu nedenle yalnız kendi paper’ını değil, duyurulan diğer sunumları da izle. Bu kart official exam coverage veya soru tahmini değildir. Released materials ve hocanın guidance’ını çalışma kaynağına ekle.</a:t>
            </a:r>
          </a:p>
          <a:p xmlns:a="http://schemas.openxmlformats.org/drawingml/2006/main">
            <a:r>
              <a:t/>
            </a:r>
          </a:p>
          <a:p xmlns:a="http://schemas.openxmlformats.org/drawingml/2006/main">
            <a:r>
              <a:t>Ortak makale sunumu rehberi. Atanmış makale veya öğrenci sırası iddia edilmez.</a:t>
            </a:r>
          </a:p>
          <a:p xmlns:a="http://schemas.openxmlformats.org/drawingml/2006/main">
            <a:r>
              <a:t/>
            </a:r>
          </a:p>
          <a:p xmlns:a="http://schemas.openxmlformats.org/drawingml/2006/main">
            <a:r>
              <a:t>https://mehmetgokturk.com/cse513/presentations.html</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https://mehmetgokturk.com/cse513/presentations.html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Orijinal paper ve citation var mı?</a:t>
            </a:r>
          </a:p>
          <a:p xmlns:a="http://schemas.openxmlformats.org/drawingml/2006/main">
            <a:r>
              <a:t>Problem–mechanism–evidence açık mı?</a:t>
            </a:r>
          </a:p>
          <a:p xmlns:a="http://schemas.openxmlformats.org/drawingml/2006/main">
            <a:r>
              <a:t>İngilizce süre provası yapıldı mı?</a:t>
            </a:r>
          </a:p>
          <a:p xmlns:a="http://schemas.openxmlformats.org/drawingml/2006/main">
            <a:r>
              <a:t>Resmî assignment/slot/rubric doğrulandı mı?</a:t>
            </a:r>
          </a:p>
          <a:p xmlns:a="http://schemas.openxmlformats.org/drawingml/2006/main">
            <a:r>
              <a:t/>
            </a:r>
          </a:p>
          <a:p xmlns:a="http://schemas.openxmlformats.org/drawingml/2006/main">
            <a:r>
              <a:t>Bu kişisel checklist resmî puan vermez. Paper veya slot duyurulmadıysa “pending official allocation” olarak göster; boşluğu uydurma bilgilerle doldurma. Dört sunum haftasının takvim linkleri aynı ortak rehbere dönebilir, fakat o haftada kimin konuştuğuna dair kanıt değildir. Resmî duyurular geldiğinde kişisel planını güncelle.</a:t>
            </a:r>
          </a:p>
          <a:p xmlns:a="http://schemas.openxmlformats.org/drawingml/2006/main">
            <a:r>
              <a:t/>
            </a:r>
          </a:p>
          <a:p xmlns:a="http://schemas.openxmlformats.org/drawingml/2006/main">
            <a:r>
              <a:t>SORUNUN YANITI: Kendi hazır oluşunu somut eksiklerle açıkla. Resmî paper ve slot bu rehber tarafından atanmaz.</a:t>
            </a:r>
          </a:p>
          <a:p xmlns:a="http://schemas.openxmlformats.org/drawingml/2006/main">
            <a:r>
              <a:t/>
            </a:r>
          </a:p>
          <a:p xmlns:a="http://schemas.openxmlformats.org/drawingml/2006/main">
            <a:r>
              <a:t>Ortak makale sunumu rehberi. Atanmış makale veya öğrenci sırası iddia edilmez.</a:t>
            </a:r>
          </a:p>
          <a:p xmlns:a="http://schemas.openxmlformats.org/drawingml/2006/main">
            <a:r>
              <a:t/>
            </a:r>
          </a:p>
          <a:p xmlns:a="http://schemas.openxmlformats.org/drawingml/2006/main">
            <a:r>
              <a:t>https://mehmetgokturk.com/cse513/presentations.html</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https://mehmetgokturk.com/cse513/presentations.html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dd7cf5611e48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ded222786f47ed" /><Relationship Type="http://schemas.openxmlformats.org/officeDocument/2006/relationships/slideLayout" Target="/ppt/slideLayouts/slideLayout1.xml" Id="R126ae583ad9645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6ae583ad9645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ca679aca2d4dab" /><Relationship Type="http://schemas.openxmlformats.org/officeDocument/2006/relationships/notesSlide" Target="/ppt/notesSlides/notesSlide1.xml" Id="Rf4db446bd10343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36a8ce5fa4439e" /><Relationship Type="http://schemas.openxmlformats.org/officeDocument/2006/relationships/notesSlide" Target="/ppt/notesSlides/notesSlide2.xml" Id="R7e1661c084b341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18c1ea0f544826" /><Relationship Type="http://schemas.openxmlformats.org/officeDocument/2006/relationships/notesSlide" Target="/ppt/notesSlides/notesSlide3.xml" Id="R90f8991a109a46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2668ec8b7247d2" /><Relationship Type="http://schemas.openxmlformats.org/officeDocument/2006/relationships/notesSlide" Target="/ppt/notesSlides/notesSlide4.xml" Id="R86568c4d93f644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9faf64d2dc4612" /><Relationship Type="http://schemas.openxmlformats.org/officeDocument/2006/relationships/notesSlide" Target="/ppt/notesSlides/notesSlide5.xml" Id="R1df4ff6cb60c42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efc1b981b649ad" /><Relationship Type="http://schemas.openxmlformats.org/officeDocument/2006/relationships/notesSlide" Target="/ppt/notesSlides/notesSlide6.xml" Id="Rb0ced54da3da4c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74188a951284438" /><Relationship Type="http://schemas.openxmlformats.org/officeDocument/2006/relationships/notesSlide" Target="/ppt/notesSlides/notesSlide7.xml" Id="R1fbefe28997c4b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13b945252d4d2c" /><Relationship Type="http://schemas.openxmlformats.org/officeDocument/2006/relationships/notesSlide" Target="/ppt/notesSlides/notesSlide8.xml" Id="R54fa9205140c42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35d0ae74054003" /><Relationship Type="http://schemas.openxmlformats.org/officeDocument/2006/relationships/notesSlide" Target="/ppt/notesSlides/notesSlide9.xml" Id="R382772815fd047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92787e11f4b4f63" /><Relationship Type="http://schemas.openxmlformats.org/officeDocument/2006/relationships/notesSlide" Target="/ppt/notesSlides/notesSlide10.xml" Id="Re9822ae372794a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982c23750524e2b" /><Relationship Type="http://schemas.openxmlformats.org/officeDocument/2006/relationships/notesSlide" Target="/ppt/notesSlides/notesSlide11.xml" Id="Rba5161c3479142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11022f1453146b5" /><Relationship Type="http://schemas.openxmlformats.org/officeDocument/2006/relationships/notesSlide" Target="/ppt/notesSlides/notesSlide12.xml" Id="R527b754d0e2f4a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c29bd783ce04031" /><Relationship Type="http://schemas.openxmlformats.org/officeDocument/2006/relationships/notesSlide" Target="/ppt/notesSlides/notesSlide13.xml" Id="Rc6370fcb781449a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e3633b02c824531" /><Relationship Type="http://schemas.openxmlformats.org/officeDocument/2006/relationships/notesSlide" Target="/ppt/notesSlides/notesSlide14.xml" Id="Rbc9388dbcaed453f"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03418F-DAAB-4100-9496-ED8D9ACC43BA}"/>
              </a:ext>
            </a:extLst>
          </p:cNvPr>
          <p:cNvSpPr>
            <a:spLocks xmlns:a="http://schemas.openxmlformats.org/drawingml/2006/main" noGrp="1"/>
          </p:cNvSpPr>
          <p:nvPr/>
        </p:nvSpPr>
        <p:spPr>
          <a:xfrm xmlns:a="http://schemas.openxmlformats.org/drawingml/2006/main">
            <a:off x="571500" y="61912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87E83"/>
                </a:solidFill>
                <a:latin typeface="Helvetica Neue"/>
                <a:ea typeface="Helvetica Neue"/>
                <a:cs typeface="Helvetica Neue"/>
              </a:defRPr>
            </a:pPr>
            <a:r>
              <a:rPr sz="1725" b="1">
                <a:solidFill>
                  <a:srgbClr val="087E83"/>
                </a:solidFill>
                <a:latin typeface="Helvetica Neue"/>
                <a:ea typeface="Helvetica Neue"/>
                <a:cs typeface="Helvetica Neue"/>
              </a:rPr>
              <a:t>CSE513 · HAFTA 11</a:t>
            </a:r>
          </a:p>
        </p:txBody>
      </p:sp>
      <p:sp>
        <p:nvSpPr>
          <p:cNvPr id="2" name="">
            <a:extLst xmlns:a="http://schemas.openxmlformats.org/drawingml/2006/main">
              <a:ext uri="{FF2B5EF4-FFF2-40B4-BE49-F238E27FC236}">
                <a16:creationId xmlns:a16="http://schemas.microsoft.com/office/drawing/2014/main" id="{59740AF0-A31F-49CE-89C7-BE0BBAC989E9}"/>
              </a:ext>
            </a:extLst>
          </p:cNvPr>
          <p:cNvSpPr>
            <a:spLocks xmlns:a="http://schemas.openxmlformats.org/drawingml/2006/main" noGrp="1"/>
          </p:cNvSpPr>
          <p:nvPr/>
        </p:nvSpPr>
        <p:spPr>
          <a:xfrm xmlns:a="http://schemas.openxmlformats.org/drawingml/2006/main">
            <a:off x="571500" y="1476375"/>
            <a:ext cx="54768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1">
                <a:solidFill>
                  <a:srgbClr val="122C42"/>
                </a:solidFill>
                <a:latin typeface="Helvetica Neue"/>
                <a:ea typeface="Helvetica Neue"/>
                <a:cs typeface="Helvetica Neue"/>
              </a:defRPr>
            </a:pPr>
            <a:r>
              <a:rPr sz="4050" b="1">
                <a:solidFill>
                  <a:srgbClr val="122C42"/>
                </a:solidFill>
                <a:latin typeface="Helvetica Neue"/>
                <a:ea typeface="Helvetica Neue"/>
                <a:cs typeface="Helvetica Neue"/>
              </a:rPr>
              <a:t>Bir makaleyi</a:t>
            </a:r>
          </a:p>
          <a:p xmlns:a="http://schemas.openxmlformats.org/drawingml/2006/main">
            <a:pPr>
              <a:defRPr sz="4050" b="1">
                <a:solidFill>
                  <a:srgbClr val="122C42"/>
                </a:solidFill>
                <a:latin typeface="Helvetica Neue"/>
                <a:ea typeface="Helvetica Neue"/>
                <a:cs typeface="Helvetica Neue"/>
              </a:defRPr>
            </a:pPr>
            <a:r>
              <a:rPr sz="4050" b="1">
                <a:solidFill>
                  <a:srgbClr val="122C42"/>
                </a:solidFill>
                <a:latin typeface="Helvetica Neue"/>
                <a:ea typeface="Helvetica Neue"/>
                <a:cs typeface="Helvetica Neue"/>
              </a:rPr>
              <a:t>kanıtıyla anlat</a:t>
            </a:r>
          </a:p>
        </p:txBody>
      </p:sp>
      <p:sp>
        <p:nvSpPr>
          <p:cNvPr id="3" name="">
            <a:extLst xmlns:a="http://schemas.openxmlformats.org/drawingml/2006/main">
              <a:ext uri="{FF2B5EF4-FFF2-40B4-BE49-F238E27FC236}">
                <a16:creationId xmlns:a16="http://schemas.microsoft.com/office/drawing/2014/main" id="{52D7AB41-CA39-4DCC-A57E-32EF08D286B7}"/>
              </a:ext>
            </a:extLst>
          </p:cNvPr>
          <p:cNvSpPr>
            <a:spLocks xmlns:a="http://schemas.openxmlformats.org/drawingml/2006/main" noGrp="1"/>
          </p:cNvSpPr>
          <p:nvPr/>
        </p:nvSpPr>
        <p:spPr>
          <a:xfrm xmlns:a="http://schemas.openxmlformats.org/drawingml/2006/main">
            <a:off x="571500" y="3619500"/>
            <a:ext cx="5286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22C42"/>
                </a:solidFill>
                <a:latin typeface="Helvetica Neue"/>
                <a:ea typeface="Helvetica Neue"/>
                <a:cs typeface="Helvetica Neue"/>
              </a:defRPr>
            </a:pPr>
            <a:r>
              <a:rPr sz="2175" b="0">
                <a:solidFill>
                  <a:srgbClr val="122C42"/>
                </a:solidFill>
                <a:latin typeface="Helvetica Neue"/>
                <a:ea typeface="Helvetica Neue"/>
                <a:cs typeface="Helvetica Neue"/>
              </a:rPr>
              <a:t>Problem, mekanizma ve kanıtı15dakikada anlat</a:t>
            </a:r>
          </a:p>
        </p:txBody>
      </p:sp>
      <p:sp>
        <p:nvSpPr>
          <p:cNvPr id="4" name="">
            <a:extLst xmlns:a="http://schemas.openxmlformats.org/drawingml/2006/main">
              <a:ext uri="{FF2B5EF4-FFF2-40B4-BE49-F238E27FC236}">
                <a16:creationId xmlns:a16="http://schemas.microsoft.com/office/drawing/2014/main" id="{135ED4CB-242B-4D51-AABF-53A0C51D4950}"/>
              </a:ext>
            </a:extLst>
          </p:cNvPr>
          <p:cNvSpPr>
            <a:spLocks xmlns:a="http://schemas.openxmlformats.org/drawingml/2006/main" noGrp="1"/>
          </p:cNvSpPr>
          <p:nvPr/>
        </p:nvSpPr>
        <p:spPr>
          <a:xfrm xmlns:a="http://schemas.openxmlformats.org/drawingml/2006/main">
            <a:off x="571500" y="561975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C46225"/>
                </a:solidFill>
                <a:latin typeface="Helvetica Neue"/>
                <a:ea typeface="Helvetica Neue"/>
                <a:cs typeface="Helvetica Neue"/>
              </a:defRPr>
            </a:pPr>
            <a:r>
              <a:rPr sz="1800" b="1">
                <a:solidFill>
                  <a:srgbClr val="C46225"/>
                </a:solidFill>
                <a:latin typeface="Helvetica Neue"/>
                <a:ea typeface="Helvetica Neue"/>
                <a:cs typeface="Helvetica Neue"/>
              </a:rPr>
              <a:t>Tahmin et · dene · gerekçelendir</a:t>
            </a:r>
          </a:p>
        </p:txBody>
      </p:sp>
    </p:spTree>
    <p:extLst>
      <p:ext uri="{BB962C8B-B14F-4D97-AF65-F5344CB8AC3E}">
        <p14:creationId xmlns:p14="http://schemas.microsoft.com/office/powerpoint/2010/main" val="407405901"/>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848073-260B-4545-8931-571144C9BAE0}"/>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Resmî bilgi ile öneriyi ayır</a:t>
            </a:r>
          </a:p>
        </p:txBody>
      </p:sp>
      <p:graphicFrame>
        <p:nvGraphicFramePr>
          <p:cNvPr id="6" name=""/>
          <p:cNvGraphicFramePr/>
          <p:nvPr/>
        </p:nvGraphicFramePr>
        <p:xfrm>
          <a:off xmlns:a="http://schemas.openxmlformats.org/drawingml/2006/main" x="609600" y="1857375"/>
          <a:ext xmlns:a="http://schemas.openxmlformats.org/drawingml/2006/main" cx="10972800" cy="3886200"/>
        </p:xfrm>
        <a:graphic xmlns:a="http://schemas.openxmlformats.org/drawingml/2006/main">
          <a:graphicData uri="http://schemas.openxmlformats.org/drawingml/2006/table">
            <a:tbl>
              <a:tblPr/>
              <a:tblGrid>
                <a:gridCol w="5486400"/>
                <a:gridCol w="5486400"/>
              </a:tblGrid>
              <a:tr h="647700">
                <a:tc>
                  <a:txBody>
                    <a:bodyPr/>
                    <a:lstStyle/>
                    <a:p>
                      <a:r>
                        <a:rPr sz="1800" b="1">
                          <a:solidFill>
                            <a:srgbClr val="FFFFFF"/>
                          </a:solidFill>
                          <a:latin typeface="Helvetica Neue"/>
                          <a:ea typeface="Helvetica Neue"/>
                          <a:cs typeface="Helvetica Neue"/>
                        </a:rPr>
                        <a:t>Resmî bilgi</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Durum</a:t>
                      </a:r>
                    </a:p>
                  </a:txBody>
                  <a:tcPr marL="114300" marR="114300" marT="47625" marB="47625" anchor="ctr">
                    <a:solidFill>
                      <a:srgbClr val="122C42"/>
                    </a:solidFill>
                  </a:tcPr>
                </a:tc>
              </a:tr>
              <a:tr h="647700">
                <a:tc>
                  <a:txBody>
                    <a:bodyPr/>
                    <a:lstStyle/>
                    <a:p>
                      <a:r>
                        <a:rPr sz="1800" b="0">
                          <a:solidFill>
                            <a:srgbClr val="122C42"/>
                          </a:solidFill>
                          <a:latin typeface="Helvetica Neue"/>
                          <a:ea typeface="Helvetica Neue"/>
                          <a:cs typeface="Helvetica Neue"/>
                        </a:rPr>
                        <a:t>Weeks11–14</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Student presentations</a:t>
                      </a:r>
                    </a:p>
                  </a:txBody>
                  <a:tcPr marL="114300" marR="114300" marT="47625" marB="47625" anchor="ctr">
                    <a:solidFill>
                      <a:srgbClr val="FFFFFF"/>
                    </a:solidFill>
                  </a:tcPr>
                </a:tc>
              </a:tr>
              <a:tr h="647700">
                <a:tc>
                  <a:txBody>
                    <a:bodyPr/>
                    <a:lstStyle/>
                    <a:p>
                      <a:r>
                        <a:rPr sz="1800" b="0">
                          <a:solidFill>
                            <a:srgbClr val="122C42"/>
                          </a:solidFill>
                          <a:latin typeface="Helvetica Neue"/>
                          <a:ea typeface="Helvetica Neue"/>
                          <a:cs typeface="Helvetica Neue"/>
                        </a:rPr>
                        <a:t>Süre/dil</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15dakika / English</a:t>
                      </a:r>
                    </a:p>
                  </a:txBody>
                  <a:tcPr marL="114300" marR="114300" marT="47625" marB="47625" anchor="ctr">
                    <a:solidFill>
                      <a:srgbClr val="ECF0EC"/>
                    </a:solidFill>
                  </a:tcPr>
                </a:tc>
              </a:tr>
              <a:tr h="647700">
                <a:tc>
                  <a:txBody>
                    <a:bodyPr/>
                    <a:lstStyle/>
                    <a:p>
                      <a:r>
                        <a:rPr sz="1800" b="0">
                          <a:solidFill>
                            <a:srgbClr val="122C42"/>
                          </a:solidFill>
                          <a:latin typeface="Helvetica Neue"/>
                          <a:ea typeface="Helvetica Neue"/>
                          <a:cs typeface="Helvetica Neue"/>
                        </a:rPr>
                        <a:t>Course weight</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Presentation15%</a:t>
                      </a:r>
                    </a:p>
                  </a:txBody>
                  <a:tcPr marL="114300" marR="114300" marT="47625" marB="47625" anchor="ctr">
                    <a:solidFill>
                      <a:srgbClr val="FFFFFF"/>
                    </a:solidFill>
                  </a:tcPr>
                </a:tc>
              </a:tr>
              <a:tr h="647700">
                <a:tc>
                  <a:txBody>
                    <a:bodyPr/>
                    <a:lstStyle/>
                    <a:p>
                      <a:r>
                        <a:rPr sz="1800" b="0">
                          <a:solidFill>
                            <a:srgbClr val="122C42"/>
                          </a:solidFill>
                          <a:latin typeface="Helvetica Neue"/>
                          <a:ea typeface="Helvetica Neue"/>
                          <a:cs typeface="Helvetica Neue"/>
                        </a:rPr>
                        <a:t>Final soruları</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Yarısı presentations kaynaklı</a:t>
                      </a:r>
                    </a:p>
                  </a:txBody>
                  <a:tcPr marL="114300" marR="114300" marT="47625" marB="47625" anchor="ctr">
                    <a:solidFill>
                      <a:srgbClr val="ECF0EC"/>
                    </a:solidFill>
                  </a:tcPr>
                </a:tc>
              </a:tr>
              <a:tr h="647700">
                <a:tc>
                  <a:txBody>
                    <a:bodyPr/>
                    <a:lstStyle/>
                    <a:p>
                      <a:r>
                        <a:rPr sz="1800" b="0">
                          <a:solidFill>
                            <a:srgbClr val="122C42"/>
                          </a:solidFill>
                          <a:latin typeface="Helvetica Neue"/>
                          <a:ea typeface="Helvetica Neue"/>
                          <a:cs typeface="Helvetica Neue"/>
                        </a:rPr>
                        <a:t>Paper/slot/rubric</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Duyurulacak</a:t>
                      </a:r>
                    </a:p>
                  </a:txBody>
                  <a:tcPr marL="114300" marR="114300" marT="47625" marB="47625"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9693A60-21FC-4F7E-88E0-71A43AA9800D}"/>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11</a:t>
            </a:r>
          </a:p>
        </p:txBody>
      </p:sp>
      <p:sp>
        <p:nvSpPr>
          <p:cNvPr id="4" name="">
            <a:extLst xmlns:a="http://schemas.openxmlformats.org/drawingml/2006/main">
              <a:ext uri="{FF2B5EF4-FFF2-40B4-BE49-F238E27FC236}">
                <a16:creationId xmlns:a16="http://schemas.microsoft.com/office/drawing/2014/main" id="{472DA034-E96E-469F-B415-24EB7C6F11C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02 / 14</a:t>
            </a:r>
          </a:p>
        </p:txBody>
      </p:sp>
    </p:spTree>
    <p:extLst>
      <p:ext uri="{BB962C8B-B14F-4D97-AF65-F5344CB8AC3E}">
        <p14:creationId xmlns:p14="http://schemas.microsoft.com/office/powerpoint/2010/main" val="1456377430"/>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F9F09EC-D9E9-4A1D-BC52-D22BDF00E32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Assigned paper geldiğinde başla</a:t>
            </a:r>
          </a:p>
        </p:txBody>
      </p:sp>
      <p:sp>
        <p:nvSpPr>
          <p:cNvPr id="2" name="">
            <a:extLst xmlns:a="http://schemas.openxmlformats.org/drawingml/2006/main">
              <a:ext uri="{FF2B5EF4-FFF2-40B4-BE49-F238E27FC236}">
                <a16:creationId xmlns:a16="http://schemas.microsoft.com/office/drawing/2014/main" id="{1EB80633-D1FE-45B5-85C5-6D979DFAE447}"/>
              </a:ext>
            </a:extLst>
          </p:cNvPr>
          <p:cNvSpPr>
            <a:spLocks xmlns:a="http://schemas.openxmlformats.org/drawingml/2006/main" noGrp="1"/>
          </p:cNvSpPr>
          <p:nvPr/>
        </p:nvSpPr>
        <p:spPr>
          <a:xfrm xmlns:a="http://schemas.openxmlformats.org/drawingml/2006/main">
            <a:off x="609600" y="1952625"/>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6499FF10-7E39-438F-B6FF-CC4EC4D55F21}"/>
              </a:ext>
            </a:extLst>
          </p:cNvPr>
          <p:cNvSpPr>
            <a:spLocks xmlns:a="http://schemas.openxmlformats.org/drawingml/2006/main" noGrp="1"/>
          </p:cNvSpPr>
          <p:nvPr/>
        </p:nvSpPr>
        <p:spPr>
          <a:xfrm xmlns:a="http://schemas.openxmlformats.org/drawingml/2006/main">
            <a:off x="1333500" y="1952625"/>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Orijinal paper sürümünü ve citation’ı kaydet</a:t>
            </a:r>
          </a:p>
        </p:txBody>
      </p:sp>
      <p:sp>
        <p:nvSpPr>
          <p:cNvPr id="4" name="">
            <a:extLst xmlns:a="http://schemas.openxmlformats.org/drawingml/2006/main">
              <a:ext uri="{FF2B5EF4-FFF2-40B4-BE49-F238E27FC236}">
                <a16:creationId xmlns:a16="http://schemas.microsoft.com/office/drawing/2014/main" id="{FBA4CBB1-487B-433F-B7F9-6C07E8420CBB}"/>
              </a:ext>
            </a:extLst>
          </p:cNvPr>
          <p:cNvSpPr>
            <a:spLocks xmlns:a="http://schemas.openxmlformats.org/drawingml/2006/main" noGrp="1"/>
          </p:cNvSpPr>
          <p:nvPr/>
        </p:nvSpPr>
        <p:spPr>
          <a:xfrm xmlns:a="http://schemas.openxmlformats.org/drawingml/2006/main">
            <a:off x="609600" y="2900363"/>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5A90221-6CBB-4852-B7FA-F7372514F9DF}"/>
              </a:ext>
            </a:extLst>
          </p:cNvPr>
          <p:cNvSpPr>
            <a:spLocks xmlns:a="http://schemas.openxmlformats.org/drawingml/2006/main" noGrp="1"/>
          </p:cNvSpPr>
          <p:nvPr/>
        </p:nvSpPr>
        <p:spPr>
          <a:xfrm xmlns:a="http://schemas.openxmlformats.org/drawingml/2006/main">
            <a:off x="1333500" y="2900363"/>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Abstract → problem → mechanism → evaluation</a:t>
            </a:r>
          </a:p>
        </p:txBody>
      </p:sp>
      <p:sp>
        <p:nvSpPr>
          <p:cNvPr id="6" name="">
            <a:extLst xmlns:a="http://schemas.openxmlformats.org/drawingml/2006/main">
              <a:ext uri="{FF2B5EF4-FFF2-40B4-BE49-F238E27FC236}">
                <a16:creationId xmlns:a16="http://schemas.microsoft.com/office/drawing/2014/main" id="{C18F51A6-2159-4E23-9A78-D55D6CDC3B3C}"/>
              </a:ext>
            </a:extLst>
          </p:cNvPr>
          <p:cNvSpPr>
            <a:spLocks xmlns:a="http://schemas.openxmlformats.org/drawingml/2006/main" noGrp="1"/>
          </p:cNvSpPr>
          <p:nvPr/>
        </p:nvSpPr>
        <p:spPr>
          <a:xfrm xmlns:a="http://schemas.openxmlformats.org/drawingml/2006/main">
            <a:off x="609600" y="3848100"/>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35902401-C157-435E-A822-96DBD04D1FC1}"/>
              </a:ext>
            </a:extLst>
          </p:cNvPr>
          <p:cNvSpPr>
            <a:spLocks xmlns:a="http://schemas.openxmlformats.org/drawingml/2006/main" noGrp="1"/>
          </p:cNvSpPr>
          <p:nvPr/>
        </p:nvSpPr>
        <p:spPr>
          <a:xfrm xmlns:a="http://schemas.openxmlformats.org/drawingml/2006/main">
            <a:off x="1333500" y="3848100"/>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Bilmediğin terimleri course haftalarına bağla</a:t>
            </a:r>
          </a:p>
        </p:txBody>
      </p:sp>
      <p:sp>
        <p:nvSpPr>
          <p:cNvPr id="8" name="">
            <a:extLst xmlns:a="http://schemas.openxmlformats.org/drawingml/2006/main">
              <a:ext uri="{FF2B5EF4-FFF2-40B4-BE49-F238E27FC236}">
                <a16:creationId xmlns:a16="http://schemas.microsoft.com/office/drawing/2014/main" id="{16C58B81-4D6B-4CC7-B1CA-B617DE39E0D1}"/>
              </a:ext>
            </a:extLst>
          </p:cNvPr>
          <p:cNvSpPr>
            <a:spLocks xmlns:a="http://schemas.openxmlformats.org/drawingml/2006/main" noGrp="1"/>
          </p:cNvSpPr>
          <p:nvPr/>
        </p:nvSpPr>
        <p:spPr>
          <a:xfrm xmlns:a="http://schemas.openxmlformats.org/drawingml/2006/main">
            <a:off x="609600" y="4795838"/>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B47179CB-6CBC-4067-B12C-2B5D5FE0BFD6}"/>
              </a:ext>
            </a:extLst>
          </p:cNvPr>
          <p:cNvSpPr>
            <a:spLocks xmlns:a="http://schemas.openxmlformats.org/drawingml/2006/main" noGrp="1"/>
          </p:cNvSpPr>
          <p:nvPr/>
        </p:nvSpPr>
        <p:spPr>
          <a:xfrm xmlns:a="http://schemas.openxmlformats.org/drawingml/2006/main">
            <a:off x="1333500" y="4795838"/>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Desteklenmeyen çıkarımı soru olarak tut</a:t>
            </a:r>
          </a:p>
        </p:txBody>
      </p:sp>
      <p:sp>
        <p:nvSpPr>
          <p:cNvPr id="10" name="">
            <a:extLst xmlns:a="http://schemas.openxmlformats.org/drawingml/2006/main">
              <a:ext uri="{FF2B5EF4-FFF2-40B4-BE49-F238E27FC236}">
                <a16:creationId xmlns:a16="http://schemas.microsoft.com/office/drawing/2014/main" id="{715E3B56-DAED-4B0E-ACF1-32B0E48E9C6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11</a:t>
            </a:r>
          </a:p>
        </p:txBody>
      </p:sp>
      <p:sp>
        <p:nvSpPr>
          <p:cNvPr id="11" name="">
            <a:extLst xmlns:a="http://schemas.openxmlformats.org/drawingml/2006/main">
              <a:ext uri="{FF2B5EF4-FFF2-40B4-BE49-F238E27FC236}">
                <a16:creationId xmlns:a16="http://schemas.microsoft.com/office/drawing/2014/main" id="{58C1BDF3-021F-4608-8F17-E83B059AE8B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03 / 14</a:t>
            </a:r>
          </a:p>
        </p:txBody>
      </p:sp>
    </p:spTree>
    <p:extLst>
      <p:ext uri="{BB962C8B-B14F-4D97-AF65-F5344CB8AC3E}">
        <p14:creationId xmlns:p14="http://schemas.microsoft.com/office/powerpoint/2010/main" val="1068844001"/>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10C314-CE7E-434B-8C58-C1376BDD68B4}"/>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Problem: hangi mevcut sınır?</a:t>
            </a:r>
          </a:p>
        </p:txBody>
      </p:sp>
      <p:sp>
        <p:nvSpPr>
          <p:cNvPr id="2" name="">
            <a:extLst xmlns:a="http://schemas.openxmlformats.org/drawingml/2006/main">
              <a:ext uri="{FF2B5EF4-FFF2-40B4-BE49-F238E27FC236}">
                <a16:creationId xmlns:a16="http://schemas.microsoft.com/office/drawing/2014/main" id="{13A61CEC-AFD2-4AF0-817F-3D95FAAF2BCE}"/>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38248C4E-711F-4200-8D9D-B42F54A6FA94}"/>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Hangi kullanıcı veya workload etkileniyor?</a:t>
            </a:r>
          </a:p>
        </p:txBody>
      </p:sp>
      <p:sp>
        <p:nvSpPr>
          <p:cNvPr id="4" name="">
            <a:extLst xmlns:a="http://schemas.openxmlformats.org/drawingml/2006/main">
              <a:ext uri="{FF2B5EF4-FFF2-40B4-BE49-F238E27FC236}">
                <a16:creationId xmlns:a16="http://schemas.microsoft.com/office/drawing/2014/main" id="{45D5D441-3ACE-45C6-A0A6-0CEB762204B5}"/>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731B6C7B-556A-471C-92A7-7331527359D3}"/>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Mevcut çözüm nerede yetmiyor?</a:t>
            </a:r>
          </a:p>
        </p:txBody>
      </p:sp>
      <p:sp>
        <p:nvSpPr>
          <p:cNvPr id="6" name="">
            <a:extLst xmlns:a="http://schemas.openxmlformats.org/drawingml/2006/main">
              <a:ext uri="{FF2B5EF4-FFF2-40B4-BE49-F238E27FC236}">
                <a16:creationId xmlns:a16="http://schemas.microsoft.com/office/drawing/2014/main" id="{B73D503C-4CBA-4B85-A370-99873372409D}"/>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28E4EE3F-166D-44C4-9E58-4AD1E054E948}"/>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Makale hangi hedefi seçiyor?</a:t>
            </a:r>
          </a:p>
        </p:txBody>
      </p:sp>
      <p:sp>
        <p:nvSpPr>
          <p:cNvPr id="8" name="">
            <a:extLst xmlns:a="http://schemas.openxmlformats.org/drawingml/2006/main">
              <a:ext uri="{FF2B5EF4-FFF2-40B4-BE49-F238E27FC236}">
                <a16:creationId xmlns:a16="http://schemas.microsoft.com/office/drawing/2014/main" id="{C9FA879D-5054-4D47-87C6-9A86282C36D2}"/>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11</a:t>
            </a:r>
          </a:p>
        </p:txBody>
      </p:sp>
      <p:sp>
        <p:nvSpPr>
          <p:cNvPr id="9" name="">
            <a:extLst xmlns:a="http://schemas.openxmlformats.org/drawingml/2006/main">
              <a:ext uri="{FF2B5EF4-FFF2-40B4-BE49-F238E27FC236}">
                <a16:creationId xmlns:a16="http://schemas.microsoft.com/office/drawing/2014/main" id="{0B62D69D-0230-4E0F-94BF-FA9C4E29B4C7}"/>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04 / 14</a:t>
            </a:r>
          </a:p>
        </p:txBody>
      </p:sp>
    </p:spTree>
    <p:extLst>
      <p:ext uri="{BB962C8B-B14F-4D97-AF65-F5344CB8AC3E}">
        <p14:creationId xmlns:p14="http://schemas.microsoft.com/office/powerpoint/2010/main" val="1788376326"/>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5D2AC94-AA0D-41A3-B16D-BD2B72816ADF}"/>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Model ve varsayımlar</a:t>
            </a:r>
          </a:p>
        </p:txBody>
      </p:sp>
      <p:graphicFrame>
        <p:nvGraphicFramePr>
          <p:cNvPr id="6" name=""/>
          <p:cNvGraphicFramePr/>
          <p:nvPr/>
        </p:nvGraphicFramePr>
        <p:xfrm>
          <a:off xmlns:a="http://schemas.openxmlformats.org/drawingml/2006/main" x="609600" y="1857375"/>
          <a:ext xmlns:a="http://schemas.openxmlformats.org/drawingml/2006/main" cx="10972800" cy="3886200"/>
        </p:xfrm>
        <a:graphic xmlns:a="http://schemas.openxmlformats.org/drawingml/2006/main">
          <a:graphicData uri="http://schemas.openxmlformats.org/drawingml/2006/table">
            <a:tbl>
              <a:tblPr/>
              <a:tblGrid>
                <a:gridCol w="5486400"/>
                <a:gridCol w="5486400"/>
              </a:tblGrid>
              <a:tr h="777240">
                <a:tc>
                  <a:txBody>
                    <a:bodyPr/>
                    <a:lstStyle/>
                    <a:p>
                      <a:r>
                        <a:rPr sz="1800" b="1">
                          <a:solidFill>
                            <a:srgbClr val="FFFFFF"/>
                          </a:solidFill>
                          <a:latin typeface="Helvetica Neue"/>
                          <a:ea typeface="Helvetica Neue"/>
                          <a:cs typeface="Helvetica Neue"/>
                        </a:rPr>
                        <a:t>Alan</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Doldurulacak soru</a:t>
                      </a:r>
                    </a:p>
                  </a:txBody>
                  <a:tcPr marL="114300" marR="114300" marT="47625" marB="47625" anchor="ctr">
                    <a:solidFill>
                      <a:srgbClr val="122C42"/>
                    </a:solidFill>
                  </a:tcPr>
                </a:tc>
              </a:tr>
              <a:tr h="777240">
                <a:tc>
                  <a:txBody>
                    <a:bodyPr/>
                    <a:lstStyle/>
                    <a:p>
                      <a:r>
                        <a:rPr sz="1800" b="0">
                          <a:solidFill>
                            <a:srgbClr val="122C42"/>
                          </a:solidFill>
                          <a:latin typeface="Helvetica Neue"/>
                          <a:ea typeface="Helvetica Neue"/>
                          <a:cs typeface="Helvetica Neue"/>
                        </a:rPr>
                        <a:t>Workload</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Ne, ne kadar, hangi dağılım?</a:t>
                      </a:r>
                    </a:p>
                  </a:txBody>
                  <a:tcPr marL="114300" marR="114300" marT="47625" marB="47625" anchor="ctr">
                    <a:solidFill>
                      <a:srgbClr val="FFFFFF"/>
                    </a:solidFill>
                  </a:tcPr>
                </a:tc>
              </a:tr>
              <a:tr h="777240">
                <a:tc>
                  <a:txBody>
                    <a:bodyPr/>
                    <a:lstStyle/>
                    <a:p>
                      <a:r>
                        <a:rPr sz="1800" b="0">
                          <a:solidFill>
                            <a:srgbClr val="122C42"/>
                          </a:solidFill>
                          <a:latin typeface="Helvetica Neue"/>
                          <a:ea typeface="Helvetica Neue"/>
                          <a:cs typeface="Helvetica Neue"/>
                        </a:rPr>
                        <a:t>Failure</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Hangi arızalar dahil?</a:t>
                      </a:r>
                    </a:p>
                  </a:txBody>
                  <a:tcPr marL="114300" marR="114300" marT="47625" marB="47625" anchor="ctr">
                    <a:solidFill>
                      <a:srgbClr val="ECF0EC"/>
                    </a:solidFill>
                  </a:tcPr>
                </a:tc>
              </a:tr>
              <a:tr h="777240">
                <a:tc>
                  <a:txBody>
                    <a:bodyPr/>
                    <a:lstStyle/>
                    <a:p>
                      <a:r>
                        <a:rPr sz="1800" b="0">
                          <a:solidFill>
                            <a:srgbClr val="122C42"/>
                          </a:solidFill>
                          <a:latin typeface="Helvetica Neue"/>
                          <a:ea typeface="Helvetica Neue"/>
                          <a:cs typeface="Helvetica Neue"/>
                        </a:rPr>
                        <a:t>Resources</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CPU/memory/storage/network ne?</a:t>
                      </a:r>
                    </a:p>
                  </a:txBody>
                  <a:tcPr marL="114300" marR="114300" marT="47625" marB="47625" anchor="ctr">
                    <a:solidFill>
                      <a:srgbClr val="FFFFFF"/>
                    </a:solidFill>
                  </a:tcPr>
                </a:tc>
              </a:tr>
              <a:tr h="777240">
                <a:tc>
                  <a:txBody>
                    <a:bodyPr/>
                    <a:lstStyle/>
                    <a:p>
                      <a:r>
                        <a:rPr sz="1800" b="0">
                          <a:solidFill>
                            <a:srgbClr val="122C42"/>
                          </a:solidFill>
                          <a:latin typeface="Helvetica Neue"/>
                          <a:ea typeface="Helvetica Neue"/>
                          <a:cs typeface="Helvetica Neue"/>
                        </a:rPr>
                        <a:t>Scope</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İddia hangi boundary’de?</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70E750B8-08B6-4FD9-9F83-84723C92B8BD}"/>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11</a:t>
            </a:r>
          </a:p>
        </p:txBody>
      </p:sp>
      <p:sp>
        <p:nvSpPr>
          <p:cNvPr id="4" name="">
            <a:extLst xmlns:a="http://schemas.openxmlformats.org/drawingml/2006/main">
              <a:ext uri="{FF2B5EF4-FFF2-40B4-BE49-F238E27FC236}">
                <a16:creationId xmlns:a16="http://schemas.microsoft.com/office/drawing/2014/main" id="{0D67CBE6-B725-4DDB-A42B-6499B57F4055}"/>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05 / 14</a:t>
            </a:r>
          </a:p>
        </p:txBody>
      </p:sp>
    </p:spTree>
    <p:extLst>
      <p:ext uri="{BB962C8B-B14F-4D97-AF65-F5344CB8AC3E}">
        <p14:creationId xmlns:p14="http://schemas.microsoft.com/office/powerpoint/2010/main" val="1443916549"/>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DBE8EC7-BAF1-4827-89B0-FC4B92AFCE7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Mekanizma: bir isteği izle</a:t>
            </a:r>
          </a:p>
        </p:txBody>
      </p:sp>
      <p:sp>
        <p:nvSpPr>
          <p:cNvPr id="2" name="">
            <a:extLst xmlns:a="http://schemas.openxmlformats.org/drawingml/2006/main">
              <a:ext uri="{FF2B5EF4-FFF2-40B4-BE49-F238E27FC236}">
                <a16:creationId xmlns:a16="http://schemas.microsoft.com/office/drawing/2014/main" id="{5F35D6A3-47FF-4229-82AC-66CE8116380E}"/>
              </a:ext>
            </a:extLst>
          </p:cNvPr>
          <p:cNvSpPr>
            <a:spLocks xmlns:a="http://schemas.openxmlformats.org/drawingml/2006/main" noGrp="1"/>
          </p:cNvSpPr>
          <p:nvPr/>
        </p:nvSpPr>
        <p:spPr>
          <a:xfrm xmlns:a="http://schemas.openxmlformats.org/drawingml/2006/main">
            <a:off x="609600" y="1952625"/>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4A646421-BC39-44F6-A084-C7E8C62E7BC3}"/>
              </a:ext>
            </a:extLst>
          </p:cNvPr>
          <p:cNvSpPr>
            <a:spLocks xmlns:a="http://schemas.openxmlformats.org/drawingml/2006/main" noGrp="1"/>
          </p:cNvSpPr>
          <p:nvPr/>
        </p:nvSpPr>
        <p:spPr>
          <a:xfrm xmlns:a="http://schemas.openxmlformats.org/drawingml/2006/main">
            <a:off x="1333500" y="1952625"/>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Başlangıç state’i</a:t>
            </a:r>
          </a:p>
        </p:txBody>
      </p:sp>
      <p:sp>
        <p:nvSpPr>
          <p:cNvPr id="4" name="">
            <a:extLst xmlns:a="http://schemas.openxmlformats.org/drawingml/2006/main">
              <a:ext uri="{FF2B5EF4-FFF2-40B4-BE49-F238E27FC236}">
                <a16:creationId xmlns:a16="http://schemas.microsoft.com/office/drawing/2014/main" id="{C5A2DE3D-06EA-4759-965F-D8331E07FF3E}"/>
              </a:ext>
            </a:extLst>
          </p:cNvPr>
          <p:cNvSpPr>
            <a:spLocks xmlns:a="http://schemas.openxmlformats.org/drawingml/2006/main" noGrp="1"/>
          </p:cNvSpPr>
          <p:nvPr/>
        </p:nvSpPr>
        <p:spPr>
          <a:xfrm xmlns:a="http://schemas.openxmlformats.org/drawingml/2006/main">
            <a:off x="609600" y="2900363"/>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7C5DDCAE-C3ED-461A-99BF-874319007D2E}"/>
              </a:ext>
            </a:extLst>
          </p:cNvPr>
          <p:cNvSpPr>
            <a:spLocks xmlns:a="http://schemas.openxmlformats.org/drawingml/2006/main" noGrp="1"/>
          </p:cNvSpPr>
          <p:nvPr/>
        </p:nvSpPr>
        <p:spPr>
          <a:xfrm xmlns:a="http://schemas.openxmlformats.org/drawingml/2006/main">
            <a:off x="1333500" y="2900363"/>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Karar noktası</a:t>
            </a:r>
          </a:p>
        </p:txBody>
      </p:sp>
      <p:sp>
        <p:nvSpPr>
          <p:cNvPr id="6" name="">
            <a:extLst xmlns:a="http://schemas.openxmlformats.org/drawingml/2006/main">
              <a:ext uri="{FF2B5EF4-FFF2-40B4-BE49-F238E27FC236}">
                <a16:creationId xmlns:a16="http://schemas.microsoft.com/office/drawing/2014/main" id="{4386425D-A062-40BF-B61C-776A9F17C981}"/>
              </a:ext>
            </a:extLst>
          </p:cNvPr>
          <p:cNvSpPr>
            <a:spLocks xmlns:a="http://schemas.openxmlformats.org/drawingml/2006/main" noGrp="1"/>
          </p:cNvSpPr>
          <p:nvPr/>
        </p:nvSpPr>
        <p:spPr>
          <a:xfrm xmlns:a="http://schemas.openxmlformats.org/drawingml/2006/main">
            <a:off x="609600" y="3848100"/>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84523D6F-8413-42C0-AD4A-7AB90CB17A0B}"/>
              </a:ext>
            </a:extLst>
          </p:cNvPr>
          <p:cNvSpPr>
            <a:spLocks xmlns:a="http://schemas.openxmlformats.org/drawingml/2006/main" noGrp="1"/>
          </p:cNvSpPr>
          <p:nvPr/>
        </p:nvSpPr>
        <p:spPr>
          <a:xfrm xmlns:a="http://schemas.openxmlformats.org/drawingml/2006/main">
            <a:off x="1333500" y="3848100"/>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Değişen state</a:t>
            </a:r>
          </a:p>
        </p:txBody>
      </p:sp>
      <p:sp>
        <p:nvSpPr>
          <p:cNvPr id="8" name="">
            <a:extLst xmlns:a="http://schemas.openxmlformats.org/drawingml/2006/main">
              <a:ext uri="{FF2B5EF4-FFF2-40B4-BE49-F238E27FC236}">
                <a16:creationId xmlns:a16="http://schemas.microsoft.com/office/drawing/2014/main" id="{DFA5E620-BFF2-4E65-8DF4-7CC4FBB71F0C}"/>
              </a:ext>
            </a:extLst>
          </p:cNvPr>
          <p:cNvSpPr>
            <a:spLocks xmlns:a="http://schemas.openxmlformats.org/drawingml/2006/main" noGrp="1"/>
          </p:cNvSpPr>
          <p:nvPr/>
        </p:nvSpPr>
        <p:spPr>
          <a:xfrm xmlns:a="http://schemas.openxmlformats.org/drawingml/2006/main">
            <a:off x="609600" y="4795838"/>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29EB057B-76C7-4CDF-81DC-D93FC8CA9AFB}"/>
              </a:ext>
            </a:extLst>
          </p:cNvPr>
          <p:cNvSpPr>
            <a:spLocks xmlns:a="http://schemas.openxmlformats.org/drawingml/2006/main" noGrp="1"/>
          </p:cNvSpPr>
          <p:nvPr/>
        </p:nvSpPr>
        <p:spPr>
          <a:xfrm xmlns:a="http://schemas.openxmlformats.org/drawingml/2006/main">
            <a:off x="1333500" y="4795838"/>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Sonuç ve hata yolu</a:t>
            </a:r>
          </a:p>
        </p:txBody>
      </p:sp>
      <p:sp>
        <p:nvSpPr>
          <p:cNvPr id="10" name="">
            <a:extLst xmlns:a="http://schemas.openxmlformats.org/drawingml/2006/main">
              <a:ext uri="{FF2B5EF4-FFF2-40B4-BE49-F238E27FC236}">
                <a16:creationId xmlns:a16="http://schemas.microsoft.com/office/drawing/2014/main" id="{3D237E0D-0BEF-499F-83B6-F650F328CB92}"/>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11</a:t>
            </a:r>
          </a:p>
        </p:txBody>
      </p:sp>
      <p:sp>
        <p:nvSpPr>
          <p:cNvPr id="11" name="">
            <a:extLst xmlns:a="http://schemas.openxmlformats.org/drawingml/2006/main">
              <a:ext uri="{FF2B5EF4-FFF2-40B4-BE49-F238E27FC236}">
                <a16:creationId xmlns:a16="http://schemas.microsoft.com/office/drawing/2014/main" id="{498E0B92-63A6-48B2-B0BD-FCA0B79D8966}"/>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06 / 14</a:t>
            </a:r>
          </a:p>
        </p:txBody>
      </p:sp>
    </p:spTree>
    <p:extLst>
      <p:ext uri="{BB962C8B-B14F-4D97-AF65-F5344CB8AC3E}">
        <p14:creationId xmlns:p14="http://schemas.microsoft.com/office/powerpoint/2010/main" val="339812945"/>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67FEA33-AE86-4EF3-8A72-86545B0998E9}"/>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İddia: neyin doğru olduğunu söylüyor?</a:t>
            </a:r>
          </a:p>
        </p:txBody>
      </p:sp>
      <p:sp>
        <p:nvSpPr>
          <p:cNvPr id="2" name="">
            <a:extLst xmlns:a="http://schemas.openxmlformats.org/drawingml/2006/main">
              <a:ext uri="{FF2B5EF4-FFF2-40B4-BE49-F238E27FC236}">
                <a16:creationId xmlns:a16="http://schemas.microsoft.com/office/drawing/2014/main" id="{A6A5C8E7-1AC2-4443-8206-3C88BAA38722}"/>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D53F0DB6-2B08-4538-9239-AD15A383A7DB}"/>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Safety mi liveness mı?</a:t>
            </a:r>
          </a:p>
        </p:txBody>
      </p:sp>
      <p:sp>
        <p:nvSpPr>
          <p:cNvPr id="4" name="">
            <a:extLst xmlns:a="http://schemas.openxmlformats.org/drawingml/2006/main">
              <a:ext uri="{FF2B5EF4-FFF2-40B4-BE49-F238E27FC236}">
                <a16:creationId xmlns:a16="http://schemas.microsoft.com/office/drawing/2014/main" id="{644C257F-68D6-40D9-86C1-BE297019218B}"/>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CEF88A6-2690-48CD-A8CA-09E46738A2E6}"/>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Latency mi throughput mu?</a:t>
            </a:r>
          </a:p>
        </p:txBody>
      </p:sp>
      <p:sp>
        <p:nvSpPr>
          <p:cNvPr id="6" name="">
            <a:extLst xmlns:a="http://schemas.openxmlformats.org/drawingml/2006/main">
              <a:ext uri="{FF2B5EF4-FFF2-40B4-BE49-F238E27FC236}">
                <a16:creationId xmlns:a16="http://schemas.microsoft.com/office/drawing/2014/main" id="{C19FD13F-E19C-4C06-A4CA-16C728F5D2F6}"/>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25CFF0C2-EBF7-47B6-AAAE-76511C810F1E}"/>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Formal guarantee mi observed result mı?</a:t>
            </a:r>
          </a:p>
        </p:txBody>
      </p:sp>
      <p:sp>
        <p:nvSpPr>
          <p:cNvPr id="8" name="">
            <a:extLst xmlns:a="http://schemas.openxmlformats.org/drawingml/2006/main">
              <a:ext uri="{FF2B5EF4-FFF2-40B4-BE49-F238E27FC236}">
                <a16:creationId xmlns:a16="http://schemas.microsoft.com/office/drawing/2014/main" id="{FE7460D7-A450-48B4-88B9-8CDD6EF5F38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11</a:t>
            </a:r>
          </a:p>
        </p:txBody>
      </p:sp>
      <p:sp>
        <p:nvSpPr>
          <p:cNvPr id="9" name="">
            <a:extLst xmlns:a="http://schemas.openxmlformats.org/drawingml/2006/main">
              <a:ext uri="{FF2B5EF4-FFF2-40B4-BE49-F238E27FC236}">
                <a16:creationId xmlns:a16="http://schemas.microsoft.com/office/drawing/2014/main" id="{8313D701-3D93-4F47-B5FF-B9B7E2978251}"/>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07 / 14</a:t>
            </a:r>
          </a:p>
        </p:txBody>
      </p:sp>
    </p:spTree>
    <p:extLst>
      <p:ext uri="{BB962C8B-B14F-4D97-AF65-F5344CB8AC3E}">
        <p14:creationId xmlns:p14="http://schemas.microsoft.com/office/powerpoint/2010/main" val="618235852"/>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281F0B-F8C2-4AF2-996C-B362D83905CD}"/>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Grafiği okutmadan sonucu söyleme</a:t>
            </a:r>
          </a:p>
        </p:txBody>
      </p:sp>
      <p:graphicFrame>
        <p:nvGraphicFramePr>
          <p:cNvPr id="6" name=""/>
          <p:cNvGraphicFramePr/>
          <p:nvPr/>
        </p:nvGraphicFramePr>
        <p:xfrm>
          <a:off xmlns:a="http://schemas.openxmlformats.org/drawingml/2006/main" x="609600" y="1857375"/>
          <a:ext xmlns:a="http://schemas.openxmlformats.org/drawingml/2006/main" cx="10972800" cy="3886200"/>
        </p:xfrm>
        <a:graphic xmlns:a="http://schemas.openxmlformats.org/drawingml/2006/main">
          <a:graphicData uri="http://schemas.openxmlformats.org/drawingml/2006/table">
            <a:tbl>
              <a:tblPr/>
              <a:tblGrid>
                <a:gridCol w="5486400"/>
                <a:gridCol w="5486400"/>
              </a:tblGrid>
              <a:tr h="777240">
                <a:tc>
                  <a:txBody>
                    <a:bodyPr/>
                    <a:lstStyle/>
                    <a:p>
                      <a:r>
                        <a:rPr sz="1800" b="1">
                          <a:solidFill>
                            <a:srgbClr val="FFFFFF"/>
                          </a:solidFill>
                          <a:latin typeface="Helvetica Neue"/>
                          <a:ea typeface="Helvetica Neue"/>
                          <a:cs typeface="Helvetica Neue"/>
                        </a:rPr>
                        <a:t>Kontrol</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Neden?</a:t>
                      </a:r>
                    </a:p>
                  </a:txBody>
                  <a:tcPr marL="114300" marR="114300" marT="47625" marB="47625" anchor="ctr">
                    <a:solidFill>
                      <a:srgbClr val="122C42"/>
                    </a:solidFill>
                  </a:tcPr>
                </a:tc>
              </a:tr>
              <a:tr h="777240">
                <a:tc>
                  <a:txBody>
                    <a:bodyPr/>
                    <a:lstStyle/>
                    <a:p>
                      <a:r>
                        <a:rPr sz="1800" b="0">
                          <a:solidFill>
                            <a:srgbClr val="122C42"/>
                          </a:solidFill>
                          <a:latin typeface="Helvetica Neue"/>
                          <a:ea typeface="Helvetica Neue"/>
                          <a:cs typeface="Helvetica Neue"/>
                        </a:rPr>
                        <a:t>Axis/unit</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Sayının anlamı</a:t>
                      </a:r>
                    </a:p>
                  </a:txBody>
                  <a:tcPr marL="114300" marR="114300" marT="47625" marB="47625" anchor="ctr">
                    <a:solidFill>
                      <a:srgbClr val="FFFFFF"/>
                    </a:solidFill>
                  </a:tcPr>
                </a:tc>
              </a:tr>
              <a:tr h="777240">
                <a:tc>
                  <a:txBody>
                    <a:bodyPr/>
                    <a:lstStyle/>
                    <a:p>
                      <a:r>
                        <a:rPr sz="1800" b="0">
                          <a:solidFill>
                            <a:srgbClr val="122C42"/>
                          </a:solidFill>
                          <a:latin typeface="Helvetica Neue"/>
                          <a:ea typeface="Helvetica Neue"/>
                          <a:cs typeface="Helvetica Neue"/>
                        </a:rPr>
                        <a:t>Baseline</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Karşılaştırmanın adaleti</a:t>
                      </a:r>
                    </a:p>
                  </a:txBody>
                  <a:tcPr marL="114300" marR="114300" marT="47625" marB="47625" anchor="ctr">
                    <a:solidFill>
                      <a:srgbClr val="ECF0EC"/>
                    </a:solidFill>
                  </a:tcPr>
                </a:tc>
              </a:tr>
              <a:tr h="777240">
                <a:tc>
                  <a:txBody>
                    <a:bodyPr/>
                    <a:lstStyle/>
                    <a:p>
                      <a:r>
                        <a:rPr sz="1800" b="0">
                          <a:solidFill>
                            <a:srgbClr val="122C42"/>
                          </a:solidFill>
                          <a:latin typeface="Helvetica Neue"/>
                          <a:ea typeface="Helvetica Neue"/>
                          <a:cs typeface="Helvetica Neue"/>
                        </a:rPr>
                        <a:t>Workload</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Sonucun kapsamı</a:t>
                      </a:r>
                    </a:p>
                  </a:txBody>
                  <a:tcPr marL="114300" marR="114300" marT="47625" marB="47625" anchor="ctr">
                    <a:solidFill>
                      <a:srgbClr val="FFFFFF"/>
                    </a:solidFill>
                  </a:tcPr>
                </a:tc>
              </a:tr>
              <a:tr h="777240">
                <a:tc>
                  <a:txBody>
                    <a:bodyPr/>
                    <a:lstStyle/>
                    <a:p>
                      <a:r>
                        <a:rPr sz="1800" b="0">
                          <a:solidFill>
                            <a:srgbClr val="122C42"/>
                          </a:solidFill>
                          <a:latin typeface="Helvetica Neue"/>
                          <a:ea typeface="Helvetica Neue"/>
                          <a:cs typeface="Helvetica Neue"/>
                        </a:rPr>
                        <a:t>Variance/repeats</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Belirsizliğin görünmesi</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7C7AE975-6C2D-4CEB-99B9-053AF3B17A4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11</a:t>
            </a:r>
          </a:p>
        </p:txBody>
      </p:sp>
      <p:sp>
        <p:nvSpPr>
          <p:cNvPr id="4" name="">
            <a:extLst xmlns:a="http://schemas.openxmlformats.org/drawingml/2006/main">
              <a:ext uri="{FF2B5EF4-FFF2-40B4-BE49-F238E27FC236}">
                <a16:creationId xmlns:a16="http://schemas.microsoft.com/office/drawing/2014/main" id="{27FC663F-7F88-4659-B64C-608834A81B05}"/>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08 / 14</a:t>
            </a:r>
          </a:p>
        </p:txBody>
      </p:sp>
    </p:spTree>
    <p:extLst>
      <p:ext uri="{BB962C8B-B14F-4D97-AF65-F5344CB8AC3E}">
        <p14:creationId xmlns:p14="http://schemas.microsoft.com/office/powerpoint/2010/main" val="1185265387"/>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9C0D622-C410-421E-B4D2-BBB8D0EB475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Sınırlar: makaleyi küçültmeden sorgula</a:t>
            </a:r>
          </a:p>
        </p:txBody>
      </p:sp>
      <p:sp>
        <p:nvSpPr>
          <p:cNvPr id="2" name="">
            <a:extLst xmlns:a="http://schemas.openxmlformats.org/drawingml/2006/main">
              <a:ext uri="{FF2B5EF4-FFF2-40B4-BE49-F238E27FC236}">
                <a16:creationId xmlns:a16="http://schemas.microsoft.com/office/drawing/2014/main" id="{DFBCAA73-4241-4FBA-BC39-11E233E3A202}"/>
              </a:ext>
            </a:extLst>
          </p:cNvPr>
          <p:cNvSpPr>
            <a:spLocks xmlns:a="http://schemas.openxmlformats.org/drawingml/2006/main" noGrp="1"/>
          </p:cNvSpPr>
          <p:nvPr/>
        </p:nvSpPr>
        <p:spPr>
          <a:xfrm xmlns:a="http://schemas.openxmlformats.org/drawingml/2006/main">
            <a:off x="609600" y="1952625"/>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D4A6C963-24E9-41FE-ADB7-B6FDD507B84F}"/>
              </a:ext>
            </a:extLst>
          </p:cNvPr>
          <p:cNvSpPr>
            <a:spLocks xmlns:a="http://schemas.openxmlformats.org/drawingml/2006/main" noGrp="1"/>
          </p:cNvSpPr>
          <p:nvPr/>
        </p:nvSpPr>
        <p:spPr>
          <a:xfrm xmlns:a="http://schemas.openxmlformats.org/drawingml/2006/main">
            <a:off x="1333500" y="1952625"/>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Test edilmeyen koşulları ayır</a:t>
            </a:r>
          </a:p>
        </p:txBody>
      </p:sp>
      <p:sp>
        <p:nvSpPr>
          <p:cNvPr id="4" name="">
            <a:extLst xmlns:a="http://schemas.openxmlformats.org/drawingml/2006/main">
              <a:ext uri="{FF2B5EF4-FFF2-40B4-BE49-F238E27FC236}">
                <a16:creationId xmlns:a16="http://schemas.microsoft.com/office/drawing/2014/main" id="{AAFBBA1E-39F5-492E-8AC1-2B1829252B09}"/>
              </a:ext>
            </a:extLst>
          </p:cNvPr>
          <p:cNvSpPr>
            <a:spLocks xmlns:a="http://schemas.openxmlformats.org/drawingml/2006/main" noGrp="1"/>
          </p:cNvSpPr>
          <p:nvPr/>
        </p:nvSpPr>
        <p:spPr>
          <a:xfrm xmlns:a="http://schemas.openxmlformats.org/drawingml/2006/main">
            <a:off x="609600" y="2900363"/>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8A32B093-8477-4778-83DE-648060DB54F4}"/>
              </a:ext>
            </a:extLst>
          </p:cNvPr>
          <p:cNvSpPr>
            <a:spLocks xmlns:a="http://schemas.openxmlformats.org/drawingml/2006/main" noGrp="1"/>
          </p:cNvSpPr>
          <p:nvPr/>
        </p:nvSpPr>
        <p:spPr>
          <a:xfrm xmlns:a="http://schemas.openxmlformats.org/drawingml/2006/main">
            <a:off x="1333500" y="2900363"/>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Mekanizmanın maliyetini belirt</a:t>
            </a:r>
          </a:p>
        </p:txBody>
      </p:sp>
      <p:sp>
        <p:nvSpPr>
          <p:cNvPr id="6" name="">
            <a:extLst xmlns:a="http://schemas.openxmlformats.org/drawingml/2006/main">
              <a:ext uri="{FF2B5EF4-FFF2-40B4-BE49-F238E27FC236}">
                <a16:creationId xmlns:a16="http://schemas.microsoft.com/office/drawing/2014/main" id="{24FAF2CA-3CC7-4D47-A8B6-E3DB25DD5D95}"/>
              </a:ext>
            </a:extLst>
          </p:cNvPr>
          <p:cNvSpPr>
            <a:spLocks xmlns:a="http://schemas.openxmlformats.org/drawingml/2006/main" noGrp="1"/>
          </p:cNvSpPr>
          <p:nvPr/>
        </p:nvSpPr>
        <p:spPr>
          <a:xfrm xmlns:a="http://schemas.openxmlformats.org/drawingml/2006/main">
            <a:off x="609600" y="3848100"/>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1DC51BEE-295D-4D42-B92F-8414873CFC48}"/>
              </a:ext>
            </a:extLst>
          </p:cNvPr>
          <p:cNvSpPr>
            <a:spLocks xmlns:a="http://schemas.openxmlformats.org/drawingml/2006/main" noGrp="1"/>
          </p:cNvSpPr>
          <p:nvPr/>
        </p:nvSpPr>
        <p:spPr>
          <a:xfrm xmlns:a="http://schemas.openxmlformats.org/drawingml/2006/main">
            <a:off x="1333500" y="3848100"/>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Alternatif açıklamayı kanıtla kıyasla</a:t>
            </a:r>
          </a:p>
        </p:txBody>
      </p:sp>
      <p:sp>
        <p:nvSpPr>
          <p:cNvPr id="8" name="">
            <a:extLst xmlns:a="http://schemas.openxmlformats.org/drawingml/2006/main">
              <a:ext uri="{FF2B5EF4-FFF2-40B4-BE49-F238E27FC236}">
                <a16:creationId xmlns:a16="http://schemas.microsoft.com/office/drawing/2014/main" id="{E6135290-7B98-43EB-9878-972645FDDB16}"/>
              </a:ext>
            </a:extLst>
          </p:cNvPr>
          <p:cNvSpPr>
            <a:spLocks xmlns:a="http://schemas.openxmlformats.org/drawingml/2006/main" noGrp="1"/>
          </p:cNvSpPr>
          <p:nvPr/>
        </p:nvSpPr>
        <p:spPr>
          <a:xfrm xmlns:a="http://schemas.openxmlformats.org/drawingml/2006/main">
            <a:off x="609600" y="4795838"/>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C21CCBFD-CA54-46B9-81B8-DF0222A7548F}"/>
              </a:ext>
            </a:extLst>
          </p:cNvPr>
          <p:cNvSpPr>
            <a:spLocks xmlns:a="http://schemas.openxmlformats.org/drawingml/2006/main" noGrp="1"/>
          </p:cNvSpPr>
          <p:nvPr/>
        </p:nvSpPr>
        <p:spPr>
          <a:xfrm xmlns:a="http://schemas.openxmlformats.org/drawingml/2006/main">
            <a:off x="1333500" y="4795838"/>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Gelecek çalışma ile achieved result’ı ayır</a:t>
            </a:r>
          </a:p>
        </p:txBody>
      </p:sp>
      <p:sp>
        <p:nvSpPr>
          <p:cNvPr id="10" name="">
            <a:extLst xmlns:a="http://schemas.openxmlformats.org/drawingml/2006/main">
              <a:ext uri="{FF2B5EF4-FFF2-40B4-BE49-F238E27FC236}">
                <a16:creationId xmlns:a16="http://schemas.microsoft.com/office/drawing/2014/main" id="{C5B0AD20-B9FC-4F5F-B5E5-EDF94BF5AA6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11</a:t>
            </a:r>
          </a:p>
        </p:txBody>
      </p:sp>
      <p:sp>
        <p:nvSpPr>
          <p:cNvPr id="11" name="">
            <a:extLst xmlns:a="http://schemas.openxmlformats.org/drawingml/2006/main">
              <a:ext uri="{FF2B5EF4-FFF2-40B4-BE49-F238E27FC236}">
                <a16:creationId xmlns:a16="http://schemas.microsoft.com/office/drawing/2014/main" id="{EF522491-FE6A-4E5F-8BC2-CD9AF96D5E95}"/>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09 / 14</a:t>
            </a:r>
          </a:p>
        </p:txBody>
      </p:sp>
    </p:spTree>
    <p:extLst>
      <p:ext uri="{BB962C8B-B14F-4D97-AF65-F5344CB8AC3E}">
        <p14:creationId xmlns:p14="http://schemas.microsoft.com/office/powerpoint/2010/main" val="317231585"/>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492281-DDB8-4739-A237-CFC11F47BB1C}"/>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15dakika için kişisel prova planı</a:t>
            </a:r>
          </a:p>
        </p:txBody>
      </p:sp>
      <p:graphicFrame>
        <p:nvGraphicFramePr>
          <p:cNvPr id="6" name=""/>
          <p:cNvGraphicFramePr/>
          <p:nvPr/>
        </p:nvGraphicFramePr>
        <p:xfrm>
          <a:off xmlns:a="http://schemas.openxmlformats.org/drawingml/2006/main" x="609600" y="1857375"/>
          <a:ext xmlns:a="http://schemas.openxmlformats.org/drawingml/2006/main" cx="10972800" cy="3886200"/>
        </p:xfrm>
        <a:graphic xmlns:a="http://schemas.openxmlformats.org/drawingml/2006/main">
          <a:graphicData uri="http://schemas.openxmlformats.org/drawingml/2006/table">
            <a:tbl>
              <a:tblPr/>
              <a:tblGrid>
                <a:gridCol w="5486400"/>
                <a:gridCol w="5486400"/>
              </a:tblGrid>
              <a:tr h="777240">
                <a:tc>
                  <a:txBody>
                    <a:bodyPr/>
                    <a:lstStyle/>
                    <a:p>
                      <a:r>
                        <a:rPr sz="1800" b="1">
                          <a:solidFill>
                            <a:srgbClr val="FFFFFF"/>
                          </a:solidFill>
                          <a:latin typeface="Helvetica Neue"/>
                          <a:ea typeface="Helvetica Neue"/>
                          <a:cs typeface="Helvetica Neue"/>
                        </a:rPr>
                        <a:t>Bölüm</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Önerilen dakika</a:t>
                      </a:r>
                    </a:p>
                  </a:txBody>
                  <a:tcPr marL="114300" marR="114300" marT="47625" marB="47625" anchor="ctr">
                    <a:solidFill>
                      <a:srgbClr val="122C42"/>
                    </a:solidFill>
                  </a:tcPr>
                </a:tc>
              </a:tr>
              <a:tr h="777240">
                <a:tc>
                  <a:txBody>
                    <a:bodyPr/>
                    <a:lstStyle/>
                    <a:p>
                      <a:r>
                        <a:rPr sz="1800" b="0">
                          <a:solidFill>
                            <a:srgbClr val="122C42"/>
                          </a:solidFill>
                          <a:latin typeface="Helvetica Neue"/>
                          <a:ea typeface="Helvetica Neue"/>
                          <a:cs typeface="Helvetica Neue"/>
                        </a:rPr>
                        <a:t>Problem ve model</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3</a:t>
                      </a:r>
                    </a:p>
                  </a:txBody>
                  <a:tcPr marL="114300" marR="114300" marT="47625" marB="47625" anchor="ctr">
                    <a:solidFill>
                      <a:srgbClr val="FFFFFF"/>
                    </a:solidFill>
                  </a:tcPr>
                </a:tc>
              </a:tr>
              <a:tr h="777240">
                <a:tc>
                  <a:txBody>
                    <a:bodyPr/>
                    <a:lstStyle/>
                    <a:p>
                      <a:r>
                        <a:rPr sz="1800" b="0">
                          <a:solidFill>
                            <a:srgbClr val="122C42"/>
                          </a:solidFill>
                          <a:latin typeface="Helvetica Neue"/>
                          <a:ea typeface="Helvetica Neue"/>
                          <a:cs typeface="Helvetica Neue"/>
                        </a:rPr>
                        <a:t>Mekanizma</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5</a:t>
                      </a:r>
                    </a:p>
                  </a:txBody>
                  <a:tcPr marL="114300" marR="114300" marT="47625" marB="47625" anchor="ctr">
                    <a:solidFill>
                      <a:srgbClr val="ECF0EC"/>
                    </a:solidFill>
                  </a:tcPr>
                </a:tc>
              </a:tr>
              <a:tr h="777240">
                <a:tc>
                  <a:txBody>
                    <a:bodyPr/>
                    <a:lstStyle/>
                    <a:p>
                      <a:r>
                        <a:rPr sz="1800" b="0">
                          <a:solidFill>
                            <a:srgbClr val="122C42"/>
                          </a:solidFill>
                          <a:latin typeface="Helvetica Neue"/>
                          <a:ea typeface="Helvetica Neue"/>
                          <a:cs typeface="Helvetica Neue"/>
                        </a:rPr>
                        <a:t>Kanıt</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4</a:t>
                      </a:r>
                    </a:p>
                  </a:txBody>
                  <a:tcPr marL="114300" marR="114300" marT="47625" marB="47625" anchor="ctr">
                    <a:solidFill>
                      <a:srgbClr val="FFFFFF"/>
                    </a:solidFill>
                  </a:tcPr>
                </a:tc>
              </a:tr>
              <a:tr h="777240">
                <a:tc>
                  <a:txBody>
                    <a:bodyPr/>
                    <a:lstStyle/>
                    <a:p>
                      <a:r>
                        <a:rPr sz="1800" b="0">
                          <a:solidFill>
                            <a:srgbClr val="122C42"/>
                          </a:solidFill>
                          <a:latin typeface="Helvetica Neue"/>
                          <a:ea typeface="Helvetica Neue"/>
                          <a:cs typeface="Helvetica Neue"/>
                        </a:rPr>
                        <a:t>Sınırlar ve sonuç</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3</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E2AEA610-722D-4A63-991A-277D57AABBB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11</a:t>
            </a:r>
          </a:p>
        </p:txBody>
      </p:sp>
      <p:sp>
        <p:nvSpPr>
          <p:cNvPr id="4" name="">
            <a:extLst xmlns:a="http://schemas.openxmlformats.org/drawingml/2006/main">
              <a:ext uri="{FF2B5EF4-FFF2-40B4-BE49-F238E27FC236}">
                <a16:creationId xmlns:a16="http://schemas.microsoft.com/office/drawing/2014/main" id="{2F21F3B6-E150-4443-B30C-45A43B3A78B6}"/>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10 / 14</a:t>
            </a:r>
          </a:p>
        </p:txBody>
      </p:sp>
    </p:spTree>
    <p:extLst>
      <p:ext uri="{BB962C8B-B14F-4D97-AF65-F5344CB8AC3E}">
        <p14:creationId xmlns:p14="http://schemas.microsoft.com/office/powerpoint/2010/main" val="1562758674"/>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2E20B2-DDAC-449B-8CB5-4B60E7D160A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İngilizce açıklamayı sadeleştir</a:t>
            </a:r>
          </a:p>
        </p:txBody>
      </p:sp>
      <p:sp>
        <p:nvSpPr>
          <p:cNvPr id="2" name="">
            <a:extLst xmlns:a="http://schemas.openxmlformats.org/drawingml/2006/main">
              <a:ext uri="{FF2B5EF4-FFF2-40B4-BE49-F238E27FC236}">
                <a16:creationId xmlns:a16="http://schemas.microsoft.com/office/drawing/2014/main" id="{CF0C22E4-6167-4F0B-85F3-A87ECCDAD09D}"/>
              </a:ext>
            </a:extLst>
          </p:cNvPr>
          <p:cNvSpPr>
            <a:spLocks xmlns:a="http://schemas.openxmlformats.org/drawingml/2006/main" noGrp="1"/>
          </p:cNvSpPr>
          <p:nvPr/>
        </p:nvSpPr>
        <p:spPr>
          <a:xfrm xmlns:a="http://schemas.openxmlformats.org/drawingml/2006/main">
            <a:off x="609600" y="1952625"/>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AF1CD6E-696A-4A66-A07A-2E699DBBA046}"/>
              </a:ext>
            </a:extLst>
          </p:cNvPr>
          <p:cNvSpPr>
            <a:spLocks xmlns:a="http://schemas.openxmlformats.org/drawingml/2006/main" noGrp="1"/>
          </p:cNvSpPr>
          <p:nvPr/>
        </p:nvSpPr>
        <p:spPr>
          <a:xfrm xmlns:a="http://schemas.openxmlformats.org/drawingml/2006/main">
            <a:off x="1333500" y="1952625"/>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“The problem is …”</a:t>
            </a:r>
          </a:p>
        </p:txBody>
      </p:sp>
      <p:sp>
        <p:nvSpPr>
          <p:cNvPr id="4" name="">
            <a:extLst xmlns:a="http://schemas.openxmlformats.org/drawingml/2006/main">
              <a:ext uri="{FF2B5EF4-FFF2-40B4-BE49-F238E27FC236}">
                <a16:creationId xmlns:a16="http://schemas.microsoft.com/office/drawing/2014/main" id="{59AE6DBC-FF8A-4D6B-AC76-478E8B42DF04}"/>
              </a:ext>
            </a:extLst>
          </p:cNvPr>
          <p:cNvSpPr>
            <a:spLocks xmlns:a="http://schemas.openxmlformats.org/drawingml/2006/main" noGrp="1"/>
          </p:cNvSpPr>
          <p:nvPr/>
        </p:nvSpPr>
        <p:spPr>
          <a:xfrm xmlns:a="http://schemas.openxmlformats.org/drawingml/2006/main">
            <a:off x="609600" y="2900363"/>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679B9D93-1AAC-43D8-A5BC-E1F1C59A8FEE}"/>
              </a:ext>
            </a:extLst>
          </p:cNvPr>
          <p:cNvSpPr>
            <a:spLocks xmlns:a="http://schemas.openxmlformats.org/drawingml/2006/main" noGrp="1"/>
          </p:cNvSpPr>
          <p:nvPr/>
        </p:nvSpPr>
        <p:spPr>
          <a:xfrm xmlns:a="http://schemas.openxmlformats.org/drawingml/2006/main">
            <a:off x="1333500" y="2900363"/>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“The mechanism works by …”</a:t>
            </a:r>
          </a:p>
        </p:txBody>
      </p:sp>
      <p:sp>
        <p:nvSpPr>
          <p:cNvPr id="6" name="">
            <a:extLst xmlns:a="http://schemas.openxmlformats.org/drawingml/2006/main">
              <a:ext uri="{FF2B5EF4-FFF2-40B4-BE49-F238E27FC236}">
                <a16:creationId xmlns:a16="http://schemas.microsoft.com/office/drawing/2014/main" id="{F6931BC4-E28F-4734-BD2E-74F9BE159962}"/>
              </a:ext>
            </a:extLst>
          </p:cNvPr>
          <p:cNvSpPr>
            <a:spLocks xmlns:a="http://schemas.openxmlformats.org/drawingml/2006/main" noGrp="1"/>
          </p:cNvSpPr>
          <p:nvPr/>
        </p:nvSpPr>
        <p:spPr>
          <a:xfrm xmlns:a="http://schemas.openxmlformats.org/drawingml/2006/main">
            <a:off x="609600" y="3848100"/>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F8BCDBBB-340F-4C06-A545-7F2A402FEFAA}"/>
              </a:ext>
            </a:extLst>
          </p:cNvPr>
          <p:cNvSpPr>
            <a:spLocks xmlns:a="http://schemas.openxmlformats.org/drawingml/2006/main" noGrp="1"/>
          </p:cNvSpPr>
          <p:nvPr/>
        </p:nvSpPr>
        <p:spPr>
          <a:xfrm xmlns:a="http://schemas.openxmlformats.org/drawingml/2006/main">
            <a:off x="1333500" y="3848100"/>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“The evidence supports … under …”</a:t>
            </a:r>
          </a:p>
        </p:txBody>
      </p:sp>
      <p:sp>
        <p:nvSpPr>
          <p:cNvPr id="8" name="">
            <a:extLst xmlns:a="http://schemas.openxmlformats.org/drawingml/2006/main">
              <a:ext uri="{FF2B5EF4-FFF2-40B4-BE49-F238E27FC236}">
                <a16:creationId xmlns:a16="http://schemas.microsoft.com/office/drawing/2014/main" id="{EC643305-A3F6-4CE2-9DDE-3FEB149EB50B}"/>
              </a:ext>
            </a:extLst>
          </p:cNvPr>
          <p:cNvSpPr>
            <a:spLocks xmlns:a="http://schemas.openxmlformats.org/drawingml/2006/main" noGrp="1"/>
          </p:cNvSpPr>
          <p:nvPr/>
        </p:nvSpPr>
        <p:spPr>
          <a:xfrm xmlns:a="http://schemas.openxmlformats.org/drawingml/2006/main">
            <a:off x="609600" y="4795838"/>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22BB3C3E-7153-4BEF-BB81-B2CF644847F3}"/>
              </a:ext>
            </a:extLst>
          </p:cNvPr>
          <p:cNvSpPr>
            <a:spLocks xmlns:a="http://schemas.openxmlformats.org/drawingml/2006/main" noGrp="1"/>
          </p:cNvSpPr>
          <p:nvPr/>
        </p:nvSpPr>
        <p:spPr>
          <a:xfrm xmlns:a="http://schemas.openxmlformats.org/drawingml/2006/main">
            <a:off x="1333500" y="4795838"/>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“The paper does not establish …”</a:t>
            </a:r>
          </a:p>
        </p:txBody>
      </p:sp>
      <p:sp>
        <p:nvSpPr>
          <p:cNvPr id="10" name="">
            <a:extLst xmlns:a="http://schemas.openxmlformats.org/drawingml/2006/main">
              <a:ext uri="{FF2B5EF4-FFF2-40B4-BE49-F238E27FC236}">
                <a16:creationId xmlns:a16="http://schemas.microsoft.com/office/drawing/2014/main" id="{7D4B83F0-24B4-435B-8FDB-10D2DB30E65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11</a:t>
            </a:r>
          </a:p>
        </p:txBody>
      </p:sp>
      <p:sp>
        <p:nvSpPr>
          <p:cNvPr id="11" name="">
            <a:extLst xmlns:a="http://schemas.openxmlformats.org/drawingml/2006/main">
              <a:ext uri="{FF2B5EF4-FFF2-40B4-BE49-F238E27FC236}">
                <a16:creationId xmlns:a16="http://schemas.microsoft.com/office/drawing/2014/main" id="{B197176D-33FA-4DC4-9E4F-E338A8018BCC}"/>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11 / 14</a:t>
            </a:r>
          </a:p>
        </p:txBody>
      </p:sp>
    </p:spTree>
    <p:extLst>
      <p:ext uri="{BB962C8B-B14F-4D97-AF65-F5344CB8AC3E}">
        <p14:creationId xmlns:p14="http://schemas.microsoft.com/office/powerpoint/2010/main" val="125219729"/>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A065266-3F3F-4416-A052-D7AC15043786}"/>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Soru geldiğinde kanıt sınırını koru</a:t>
            </a:r>
          </a:p>
        </p:txBody>
      </p:sp>
      <p:sp>
        <p:nvSpPr>
          <p:cNvPr id="2" name="">
            <a:extLst xmlns:a="http://schemas.openxmlformats.org/drawingml/2006/main">
              <a:ext uri="{FF2B5EF4-FFF2-40B4-BE49-F238E27FC236}">
                <a16:creationId xmlns:a16="http://schemas.microsoft.com/office/drawing/2014/main" id="{99E00AFD-2E7E-4CB6-86F9-4A6AC18E288B}"/>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02C02C5D-F4A8-44B0-A651-29CB253E130A}"/>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Paper’da nerede gösteriliyor?</a:t>
            </a:r>
          </a:p>
        </p:txBody>
      </p:sp>
      <p:sp>
        <p:nvSpPr>
          <p:cNvPr id="4" name="">
            <a:extLst xmlns:a="http://schemas.openxmlformats.org/drawingml/2006/main">
              <a:ext uri="{FF2B5EF4-FFF2-40B4-BE49-F238E27FC236}">
                <a16:creationId xmlns:a16="http://schemas.microsoft.com/office/drawing/2014/main" id="{1E39F2EC-CDA8-46A8-964F-E08E607B3132}"/>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684E1E3E-CA7A-4469-B769-29A1F3178FA0}"/>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Sonuç mu yoksa inference mı?</a:t>
            </a:r>
          </a:p>
        </p:txBody>
      </p:sp>
      <p:sp>
        <p:nvSpPr>
          <p:cNvPr id="6" name="">
            <a:extLst xmlns:a="http://schemas.openxmlformats.org/drawingml/2006/main">
              <a:ext uri="{FF2B5EF4-FFF2-40B4-BE49-F238E27FC236}">
                <a16:creationId xmlns:a16="http://schemas.microsoft.com/office/drawing/2014/main" id="{99298C9D-21C5-492F-95A8-DA61D15A9B36}"/>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3193D631-F674-444C-86F9-4E30BC66B246}"/>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Bilmiyorsan hangi test gerekir?</a:t>
            </a:r>
          </a:p>
        </p:txBody>
      </p:sp>
      <p:sp>
        <p:nvSpPr>
          <p:cNvPr id="8" name="">
            <a:extLst xmlns:a="http://schemas.openxmlformats.org/drawingml/2006/main">
              <a:ext uri="{FF2B5EF4-FFF2-40B4-BE49-F238E27FC236}">
                <a16:creationId xmlns:a16="http://schemas.microsoft.com/office/drawing/2014/main" id="{07414B03-F737-4CC3-9F9D-82B6BFDF4C3D}"/>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11</a:t>
            </a:r>
          </a:p>
        </p:txBody>
      </p:sp>
      <p:sp>
        <p:nvSpPr>
          <p:cNvPr id="9" name="">
            <a:extLst xmlns:a="http://schemas.openxmlformats.org/drawingml/2006/main">
              <a:ext uri="{FF2B5EF4-FFF2-40B4-BE49-F238E27FC236}">
                <a16:creationId xmlns:a16="http://schemas.microsoft.com/office/drawing/2014/main" id="{06A873CB-CCFA-4C51-85BB-72B3754A9935}"/>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12 / 14</a:t>
            </a:r>
          </a:p>
        </p:txBody>
      </p:sp>
    </p:spTree>
    <p:extLst>
      <p:ext uri="{BB962C8B-B14F-4D97-AF65-F5344CB8AC3E}">
        <p14:creationId xmlns:p14="http://schemas.microsoft.com/office/powerpoint/2010/main" val="464708739"/>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0848EE7-C6F6-4C58-931E-D2EA77EDE80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Diğer sunumlar için çalışma kartı</a:t>
            </a:r>
          </a:p>
        </p:txBody>
      </p:sp>
      <p:sp>
        <p:nvSpPr>
          <p:cNvPr id="2" name="">
            <a:extLst xmlns:a="http://schemas.openxmlformats.org/drawingml/2006/main">
              <a:ext uri="{FF2B5EF4-FFF2-40B4-BE49-F238E27FC236}">
                <a16:creationId xmlns:a16="http://schemas.microsoft.com/office/drawing/2014/main" id="{7E3E6DC4-353F-4437-93A8-F98788F96209}"/>
              </a:ext>
            </a:extLst>
          </p:cNvPr>
          <p:cNvSpPr>
            <a:spLocks xmlns:a="http://schemas.openxmlformats.org/drawingml/2006/main" noGrp="1"/>
          </p:cNvSpPr>
          <p:nvPr/>
        </p:nvSpPr>
        <p:spPr>
          <a:xfrm xmlns:a="http://schemas.openxmlformats.org/drawingml/2006/main">
            <a:off x="609600" y="1952625"/>
            <a:ext cx="43815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15F790A6-1E2F-4890-84EC-46634056B3F9}"/>
              </a:ext>
            </a:extLst>
          </p:cNvPr>
          <p:cNvSpPr>
            <a:spLocks xmlns:a="http://schemas.openxmlformats.org/drawingml/2006/main" noGrp="1"/>
          </p:cNvSpPr>
          <p:nvPr/>
        </p:nvSpPr>
        <p:spPr>
          <a:xfrm xmlns:a="http://schemas.openxmlformats.org/drawingml/2006/main">
            <a:off x="1333500" y="1952625"/>
            <a:ext cx="1024890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Paper citation ve tarih/sürüm</a:t>
            </a:r>
          </a:p>
        </p:txBody>
      </p:sp>
      <p:sp>
        <p:nvSpPr>
          <p:cNvPr id="4" name="">
            <a:extLst xmlns:a="http://schemas.openxmlformats.org/drawingml/2006/main">
              <a:ext uri="{FF2B5EF4-FFF2-40B4-BE49-F238E27FC236}">
                <a16:creationId xmlns:a16="http://schemas.microsoft.com/office/drawing/2014/main" id="{C5E5DD72-EE77-441B-85BE-2DE9C26FE42E}"/>
              </a:ext>
            </a:extLst>
          </p:cNvPr>
          <p:cNvSpPr>
            <a:spLocks xmlns:a="http://schemas.openxmlformats.org/drawingml/2006/main" noGrp="1"/>
          </p:cNvSpPr>
          <p:nvPr/>
        </p:nvSpPr>
        <p:spPr>
          <a:xfrm xmlns:a="http://schemas.openxmlformats.org/drawingml/2006/main">
            <a:off x="609600" y="2710815"/>
            <a:ext cx="43815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BF37A32-E106-4972-AF5A-DDD6CB6295F6}"/>
              </a:ext>
            </a:extLst>
          </p:cNvPr>
          <p:cNvSpPr>
            <a:spLocks xmlns:a="http://schemas.openxmlformats.org/drawingml/2006/main" noGrp="1"/>
          </p:cNvSpPr>
          <p:nvPr/>
        </p:nvSpPr>
        <p:spPr>
          <a:xfrm xmlns:a="http://schemas.openxmlformats.org/drawingml/2006/main">
            <a:off x="1333500" y="2710815"/>
            <a:ext cx="1024890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Bir cümlede problem</a:t>
            </a:r>
          </a:p>
        </p:txBody>
      </p:sp>
      <p:sp>
        <p:nvSpPr>
          <p:cNvPr id="6" name="">
            <a:extLst xmlns:a="http://schemas.openxmlformats.org/drawingml/2006/main">
              <a:ext uri="{FF2B5EF4-FFF2-40B4-BE49-F238E27FC236}">
                <a16:creationId xmlns:a16="http://schemas.microsoft.com/office/drawing/2014/main" id="{DFC2E074-26FC-474F-A332-EBEBBEF35552}"/>
              </a:ext>
            </a:extLst>
          </p:cNvPr>
          <p:cNvSpPr>
            <a:spLocks xmlns:a="http://schemas.openxmlformats.org/drawingml/2006/main" noGrp="1"/>
          </p:cNvSpPr>
          <p:nvPr/>
        </p:nvSpPr>
        <p:spPr>
          <a:xfrm xmlns:a="http://schemas.openxmlformats.org/drawingml/2006/main">
            <a:off x="609600" y="3469005"/>
            <a:ext cx="43815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EE8ED503-1398-4983-A6C3-4F301E1D6092}"/>
              </a:ext>
            </a:extLst>
          </p:cNvPr>
          <p:cNvSpPr>
            <a:spLocks xmlns:a="http://schemas.openxmlformats.org/drawingml/2006/main" noGrp="1"/>
          </p:cNvSpPr>
          <p:nvPr/>
        </p:nvSpPr>
        <p:spPr>
          <a:xfrm xmlns:a="http://schemas.openxmlformats.org/drawingml/2006/main">
            <a:off x="1333500" y="3469005"/>
            <a:ext cx="1024890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Bir mechanism çizimi</a:t>
            </a:r>
          </a:p>
        </p:txBody>
      </p:sp>
      <p:sp>
        <p:nvSpPr>
          <p:cNvPr id="8" name="">
            <a:extLst xmlns:a="http://schemas.openxmlformats.org/drawingml/2006/main">
              <a:ext uri="{FF2B5EF4-FFF2-40B4-BE49-F238E27FC236}">
                <a16:creationId xmlns:a16="http://schemas.microsoft.com/office/drawing/2014/main" id="{03FBE6B2-5B06-4FB8-99B8-65B3586F10E2}"/>
              </a:ext>
            </a:extLst>
          </p:cNvPr>
          <p:cNvSpPr>
            <a:spLocks xmlns:a="http://schemas.openxmlformats.org/drawingml/2006/main" noGrp="1"/>
          </p:cNvSpPr>
          <p:nvPr/>
        </p:nvSpPr>
        <p:spPr>
          <a:xfrm xmlns:a="http://schemas.openxmlformats.org/drawingml/2006/main">
            <a:off x="609600" y="4227195"/>
            <a:ext cx="43815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46E0A57A-7D01-4AF2-A247-64552E095F7B}"/>
              </a:ext>
            </a:extLst>
          </p:cNvPr>
          <p:cNvSpPr>
            <a:spLocks xmlns:a="http://schemas.openxmlformats.org/drawingml/2006/main" noGrp="1"/>
          </p:cNvSpPr>
          <p:nvPr/>
        </p:nvSpPr>
        <p:spPr>
          <a:xfrm xmlns:a="http://schemas.openxmlformats.org/drawingml/2006/main">
            <a:off x="1333500" y="4227195"/>
            <a:ext cx="1024890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Bir claim–evidence bağlantısı</a:t>
            </a:r>
          </a:p>
        </p:txBody>
      </p:sp>
      <p:sp>
        <p:nvSpPr>
          <p:cNvPr id="10" name="">
            <a:extLst xmlns:a="http://schemas.openxmlformats.org/drawingml/2006/main">
              <a:ext uri="{FF2B5EF4-FFF2-40B4-BE49-F238E27FC236}">
                <a16:creationId xmlns:a16="http://schemas.microsoft.com/office/drawing/2014/main" id="{EE4BB7B1-1668-4503-A9C2-9E32D602637B}"/>
              </a:ext>
            </a:extLst>
          </p:cNvPr>
          <p:cNvSpPr>
            <a:spLocks xmlns:a="http://schemas.openxmlformats.org/drawingml/2006/main" noGrp="1"/>
          </p:cNvSpPr>
          <p:nvPr/>
        </p:nvSpPr>
        <p:spPr>
          <a:xfrm xmlns:a="http://schemas.openxmlformats.org/drawingml/2006/main">
            <a:off x="609600" y="4985385"/>
            <a:ext cx="43815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05</a:t>
            </a:r>
          </a:p>
        </p:txBody>
      </p:sp>
      <p:sp>
        <p:nvSpPr>
          <p:cNvPr id="11" name="">
            <a:extLst xmlns:a="http://schemas.openxmlformats.org/drawingml/2006/main">
              <a:ext uri="{FF2B5EF4-FFF2-40B4-BE49-F238E27FC236}">
                <a16:creationId xmlns:a16="http://schemas.microsoft.com/office/drawing/2014/main" id="{BC0FE27D-F1C0-4F1E-B2D1-FD384AD640FF}"/>
              </a:ext>
            </a:extLst>
          </p:cNvPr>
          <p:cNvSpPr>
            <a:spLocks xmlns:a="http://schemas.openxmlformats.org/drawingml/2006/main" noGrp="1"/>
          </p:cNvSpPr>
          <p:nvPr/>
        </p:nvSpPr>
        <p:spPr>
          <a:xfrm xmlns:a="http://schemas.openxmlformats.org/drawingml/2006/main">
            <a:off x="1333500" y="4985385"/>
            <a:ext cx="10248900"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Bir sınır veya soru</a:t>
            </a:r>
          </a:p>
        </p:txBody>
      </p:sp>
      <p:sp>
        <p:nvSpPr>
          <p:cNvPr id="12" name="">
            <a:extLst xmlns:a="http://schemas.openxmlformats.org/drawingml/2006/main">
              <a:ext uri="{FF2B5EF4-FFF2-40B4-BE49-F238E27FC236}">
                <a16:creationId xmlns:a16="http://schemas.microsoft.com/office/drawing/2014/main" id="{91B11A90-3AEA-4D72-A047-8873BA4E449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11</a:t>
            </a:r>
          </a:p>
        </p:txBody>
      </p:sp>
      <p:sp>
        <p:nvSpPr>
          <p:cNvPr id="13" name="">
            <a:extLst xmlns:a="http://schemas.openxmlformats.org/drawingml/2006/main">
              <a:ext uri="{FF2B5EF4-FFF2-40B4-BE49-F238E27FC236}">
                <a16:creationId xmlns:a16="http://schemas.microsoft.com/office/drawing/2014/main" id="{305F724F-AEB4-4449-BC88-ACFF5E67EE2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13 / 14</a:t>
            </a:r>
          </a:p>
        </p:txBody>
      </p:sp>
    </p:spTree>
    <p:extLst>
      <p:ext uri="{BB962C8B-B14F-4D97-AF65-F5344CB8AC3E}">
        <p14:creationId xmlns:p14="http://schemas.microsoft.com/office/powerpoint/2010/main" val="2095630271"/>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09F36FE-BC3C-443A-BEFD-BB12210E279F}"/>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Hazır mıyım? Kişisel kontrol</a:t>
            </a:r>
          </a:p>
        </p:txBody>
      </p:sp>
      <p:sp>
        <p:nvSpPr>
          <p:cNvPr id="2" name="">
            <a:extLst xmlns:a="http://schemas.openxmlformats.org/drawingml/2006/main">
              <a:ext uri="{FF2B5EF4-FFF2-40B4-BE49-F238E27FC236}">
                <a16:creationId xmlns:a16="http://schemas.microsoft.com/office/drawing/2014/main" id="{206F9541-C80C-49B3-8A71-634EBA9FDA3C}"/>
              </a:ext>
            </a:extLst>
          </p:cNvPr>
          <p:cNvSpPr>
            <a:spLocks xmlns:a="http://schemas.openxmlformats.org/drawingml/2006/main" noGrp="1"/>
          </p:cNvSpPr>
          <p:nvPr/>
        </p:nvSpPr>
        <p:spPr>
          <a:xfrm xmlns:a="http://schemas.openxmlformats.org/drawingml/2006/main">
            <a:off x="609600" y="1952625"/>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876F7CE0-9424-4E90-9421-7CC24197808A}"/>
              </a:ext>
            </a:extLst>
          </p:cNvPr>
          <p:cNvSpPr>
            <a:spLocks xmlns:a="http://schemas.openxmlformats.org/drawingml/2006/main" noGrp="1"/>
          </p:cNvSpPr>
          <p:nvPr/>
        </p:nvSpPr>
        <p:spPr>
          <a:xfrm xmlns:a="http://schemas.openxmlformats.org/drawingml/2006/main">
            <a:off x="1333500" y="1952625"/>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Orijinal paper ve citation var mı?</a:t>
            </a:r>
          </a:p>
        </p:txBody>
      </p:sp>
      <p:sp>
        <p:nvSpPr>
          <p:cNvPr id="4" name="">
            <a:extLst xmlns:a="http://schemas.openxmlformats.org/drawingml/2006/main">
              <a:ext uri="{FF2B5EF4-FFF2-40B4-BE49-F238E27FC236}">
                <a16:creationId xmlns:a16="http://schemas.microsoft.com/office/drawing/2014/main" id="{3F4AAF6B-711E-416D-959E-49BBC94265AA}"/>
              </a:ext>
            </a:extLst>
          </p:cNvPr>
          <p:cNvSpPr>
            <a:spLocks xmlns:a="http://schemas.openxmlformats.org/drawingml/2006/main" noGrp="1"/>
          </p:cNvSpPr>
          <p:nvPr/>
        </p:nvSpPr>
        <p:spPr>
          <a:xfrm xmlns:a="http://schemas.openxmlformats.org/drawingml/2006/main">
            <a:off x="609600" y="2900363"/>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C025634E-D553-4223-A1B5-8C569C755E06}"/>
              </a:ext>
            </a:extLst>
          </p:cNvPr>
          <p:cNvSpPr>
            <a:spLocks xmlns:a="http://schemas.openxmlformats.org/drawingml/2006/main" noGrp="1"/>
          </p:cNvSpPr>
          <p:nvPr/>
        </p:nvSpPr>
        <p:spPr>
          <a:xfrm xmlns:a="http://schemas.openxmlformats.org/drawingml/2006/main">
            <a:off x="1333500" y="2900363"/>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Problem–mechanism–evidence açık mı?</a:t>
            </a:r>
          </a:p>
        </p:txBody>
      </p:sp>
      <p:sp>
        <p:nvSpPr>
          <p:cNvPr id="6" name="">
            <a:extLst xmlns:a="http://schemas.openxmlformats.org/drawingml/2006/main">
              <a:ext uri="{FF2B5EF4-FFF2-40B4-BE49-F238E27FC236}">
                <a16:creationId xmlns:a16="http://schemas.microsoft.com/office/drawing/2014/main" id="{3CF14AFF-E27F-49AF-B47F-457113E56B44}"/>
              </a:ext>
            </a:extLst>
          </p:cNvPr>
          <p:cNvSpPr>
            <a:spLocks xmlns:a="http://schemas.openxmlformats.org/drawingml/2006/main" noGrp="1"/>
          </p:cNvSpPr>
          <p:nvPr/>
        </p:nvSpPr>
        <p:spPr>
          <a:xfrm xmlns:a="http://schemas.openxmlformats.org/drawingml/2006/main">
            <a:off x="609600" y="3848100"/>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F0EECE00-D007-4B19-AE50-E96E74B41AA0}"/>
              </a:ext>
            </a:extLst>
          </p:cNvPr>
          <p:cNvSpPr>
            <a:spLocks xmlns:a="http://schemas.openxmlformats.org/drawingml/2006/main" noGrp="1"/>
          </p:cNvSpPr>
          <p:nvPr/>
        </p:nvSpPr>
        <p:spPr>
          <a:xfrm xmlns:a="http://schemas.openxmlformats.org/drawingml/2006/main">
            <a:off x="1333500" y="3848100"/>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İngilizce süre provası yapıldı mı?</a:t>
            </a:r>
          </a:p>
        </p:txBody>
      </p:sp>
      <p:sp>
        <p:nvSpPr>
          <p:cNvPr id="8" name="">
            <a:extLst xmlns:a="http://schemas.openxmlformats.org/drawingml/2006/main">
              <a:ext uri="{FF2B5EF4-FFF2-40B4-BE49-F238E27FC236}">
                <a16:creationId xmlns:a16="http://schemas.microsoft.com/office/drawing/2014/main" id="{DE810861-B20A-448C-BA4F-4716DED0DCD1}"/>
              </a:ext>
            </a:extLst>
          </p:cNvPr>
          <p:cNvSpPr>
            <a:spLocks xmlns:a="http://schemas.openxmlformats.org/drawingml/2006/main" noGrp="1"/>
          </p:cNvSpPr>
          <p:nvPr/>
        </p:nvSpPr>
        <p:spPr>
          <a:xfrm xmlns:a="http://schemas.openxmlformats.org/drawingml/2006/main">
            <a:off x="609600" y="4795838"/>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2072466B-B2E1-4787-8229-DCB7514ECACE}"/>
              </a:ext>
            </a:extLst>
          </p:cNvPr>
          <p:cNvSpPr>
            <a:spLocks xmlns:a="http://schemas.openxmlformats.org/drawingml/2006/main" noGrp="1"/>
          </p:cNvSpPr>
          <p:nvPr/>
        </p:nvSpPr>
        <p:spPr>
          <a:xfrm xmlns:a="http://schemas.openxmlformats.org/drawingml/2006/main">
            <a:off x="1333500" y="4795838"/>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Resmî assignment/slot/rubric doğrulandı mı?</a:t>
            </a:r>
          </a:p>
        </p:txBody>
      </p:sp>
      <p:sp>
        <p:nvSpPr>
          <p:cNvPr id="10" name="">
            <a:extLst xmlns:a="http://schemas.openxmlformats.org/drawingml/2006/main">
              <a:ext uri="{FF2B5EF4-FFF2-40B4-BE49-F238E27FC236}">
                <a16:creationId xmlns:a16="http://schemas.microsoft.com/office/drawing/2014/main" id="{301AF25A-E102-4DCF-A744-255FAC83EB7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11</a:t>
            </a:r>
          </a:p>
        </p:txBody>
      </p:sp>
      <p:sp>
        <p:nvSpPr>
          <p:cNvPr id="11" name="">
            <a:extLst xmlns:a="http://schemas.openxmlformats.org/drawingml/2006/main">
              <a:ext uri="{FF2B5EF4-FFF2-40B4-BE49-F238E27FC236}">
                <a16:creationId xmlns:a16="http://schemas.microsoft.com/office/drawing/2014/main" id="{4CB15691-CCDC-4B42-96C6-7F8CD80BD7E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14 / 14</a:t>
            </a:r>
          </a:p>
        </p:txBody>
      </p:sp>
    </p:spTree>
    <p:extLst>
      <p:ext uri="{BB962C8B-B14F-4D97-AF65-F5344CB8AC3E}">
        <p14:creationId xmlns:p14="http://schemas.microsoft.com/office/powerpoint/2010/main" val="4293096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2026-10-07T20:19:57.3690000Z</dcterms:created>
  <dcterms:modified xsi:type="dcterms:W3CDTF">2026-10-07T20:19:57.3690000Z</dcterms:modified>
</coreProperties>
</file>