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5e23212326476a" /><Relationship Type="http://schemas.openxmlformats.org/officeDocument/2006/relationships/extended-properties" Target="/docProps/app.xml" Id="R50f7567af527422a" /><Relationship Type="http://schemas.openxmlformats.org/officeDocument/2006/relationships/officeDocument" Target="/ppt/presentation.xml" Id="R6655c6da59b44a12" /></Relationships>
</file>

<file path=ppt/presentation.xml><?xml version="1.0" encoding="utf-8"?>
<p:presentation xmlns:p="http://schemas.openxmlformats.org/presentationml/2006/main">
  <p:sldMasterIdLst>
    <p:sldMasterId xmlns:r="http://schemas.openxmlformats.org/officeDocument/2006/relationships" id="2147483648" r:id="R42702a9a78a24f8e"/>
  </p:sldMasterIdLst>
  <p:notesMasterIdLst>
    <p:notesMasterId xmlns:r="http://schemas.openxmlformats.org/officeDocument/2006/relationships" r:id="Reccd5bc2458645c8"/>
  </p:notesMasterIdLst>
  <p:sldIdLst>
    <p:sldId xmlns:r="http://schemas.openxmlformats.org/officeDocument/2006/relationships" id="256" r:id="R5945d65fb3894b47"/>
    <p:sldId xmlns:r="http://schemas.openxmlformats.org/officeDocument/2006/relationships" id="257" r:id="R7a55a23ac02c439b"/>
    <p:sldId xmlns:r="http://schemas.openxmlformats.org/officeDocument/2006/relationships" id="258" r:id="R7d607ef194b44903"/>
    <p:sldId xmlns:r="http://schemas.openxmlformats.org/officeDocument/2006/relationships" id="259" r:id="Rb12d9ea81f5342cd"/>
    <p:sldId xmlns:r="http://schemas.openxmlformats.org/officeDocument/2006/relationships" id="260" r:id="Ra89cf143c23e4825"/>
    <p:sldId xmlns:r="http://schemas.openxmlformats.org/officeDocument/2006/relationships" id="261" r:id="R532c10d9e58848b5"/>
    <p:sldId xmlns:r="http://schemas.openxmlformats.org/officeDocument/2006/relationships" id="262" r:id="R65628ecf299344c4"/>
    <p:sldId xmlns:r="http://schemas.openxmlformats.org/officeDocument/2006/relationships" id="263" r:id="Rf8d485535f5646ef"/>
    <p:sldId xmlns:r="http://schemas.openxmlformats.org/officeDocument/2006/relationships" id="264" r:id="Rd3d5c5520a714a62"/>
    <p:sldId xmlns:r="http://schemas.openxmlformats.org/officeDocument/2006/relationships" id="265" r:id="R44875652d5d24853"/>
    <p:sldId xmlns:r="http://schemas.openxmlformats.org/officeDocument/2006/relationships" id="266" r:id="R0c4c314ede1b4e1c"/>
    <p:sldId xmlns:r="http://schemas.openxmlformats.org/officeDocument/2006/relationships" id="267" r:id="Ree120c98ea8b4f18"/>
    <p:sldId xmlns:r="http://schemas.openxmlformats.org/officeDocument/2006/relationships" id="268" r:id="R06b71f6a16c94623"/>
    <p:sldId xmlns:r="http://schemas.openxmlformats.org/officeDocument/2006/relationships" id="269" r:id="Ra331eeff8df742ec"/>
    <p:sldId xmlns:r="http://schemas.openxmlformats.org/officeDocument/2006/relationships" id="270" r:id="R9226d34dbc5e4eef"/>
    <p:sldId xmlns:r="http://schemas.openxmlformats.org/officeDocument/2006/relationships" id="271" r:id="Rb8cd16ff2ddd4f53"/>
    <p:sldId xmlns:r="http://schemas.openxmlformats.org/officeDocument/2006/relationships" id="272" r:id="R6cb03294f3fc42f2"/>
    <p:sldId xmlns:r="http://schemas.openxmlformats.org/officeDocument/2006/relationships" id="273" r:id="Rdbc501d79a244986"/>
    <p:sldId xmlns:r="http://schemas.openxmlformats.org/officeDocument/2006/relationships" id="274" r:id="Rb7b0624e560847b8"/>
    <p:sldId xmlns:r="http://schemas.openxmlformats.org/officeDocument/2006/relationships" id="275" r:id="R9d627c1f481342ee"/>
    <p:sldId xmlns:r="http://schemas.openxmlformats.org/officeDocument/2006/relationships" id="276" r:id="R9857bd30737d45e6"/>
    <p:sldId xmlns:r="http://schemas.openxmlformats.org/officeDocument/2006/relationships" id="277" r:id="R6eef4497c32b4600"/>
    <p:sldId xmlns:r="http://schemas.openxmlformats.org/officeDocument/2006/relationships" id="278" r:id="R377240b98fec47d0"/>
    <p:sldId xmlns:r="http://schemas.openxmlformats.org/officeDocument/2006/relationships" id="279" r:id="R52af62bbfc4046c4"/>
    <p:sldId xmlns:r="http://schemas.openxmlformats.org/officeDocument/2006/relationships" id="280" r:id="R6848c7150c5c461d"/>
    <p:sldId xmlns:r="http://schemas.openxmlformats.org/officeDocument/2006/relationships" id="281" r:id="R572a8e2723474dd5"/>
    <p:sldId xmlns:r="http://schemas.openxmlformats.org/officeDocument/2006/relationships" id="282" r:id="Rc56785de94e847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053903518d4855" /><Relationship Type="http://schemas.openxmlformats.org/officeDocument/2006/relationships/slideMaster" Target="/ppt/slideMasters/slideMaster1.xml" Id="R42702a9a78a24f8e" /><Relationship Type="http://schemas.openxmlformats.org/officeDocument/2006/relationships/notesMaster" Target="/ppt/notesMasters/notesMaster1.xml" Id="Reccd5bc2458645c8" /><Relationship Type="http://schemas.openxmlformats.org/officeDocument/2006/relationships/presProps" Target="/ppt/presProps.xml" Id="R76016db236da4568" /><Relationship Type="http://schemas.openxmlformats.org/officeDocument/2006/relationships/tableStyles" Target="/ppt/tableStyles.xml" Id="R26c01a193eec4d5c" /><Relationship Type="http://schemas.openxmlformats.org/officeDocument/2006/relationships/slide" Target="/ppt/slides/slide1.xml" Id="R5945d65fb3894b47" /><Relationship Type="http://schemas.openxmlformats.org/officeDocument/2006/relationships/slide" Target="/ppt/slides/slide2.xml" Id="R7a55a23ac02c439b" /><Relationship Type="http://schemas.openxmlformats.org/officeDocument/2006/relationships/slide" Target="/ppt/slides/slide3.xml" Id="R7d607ef194b44903" /><Relationship Type="http://schemas.openxmlformats.org/officeDocument/2006/relationships/slide" Target="/ppt/slides/slide4.xml" Id="Rb12d9ea81f5342cd" /><Relationship Type="http://schemas.openxmlformats.org/officeDocument/2006/relationships/slide" Target="/ppt/slides/slide5.xml" Id="Ra89cf143c23e4825" /><Relationship Type="http://schemas.openxmlformats.org/officeDocument/2006/relationships/slide" Target="/ppt/slides/slide6.xml" Id="R532c10d9e58848b5" /><Relationship Type="http://schemas.openxmlformats.org/officeDocument/2006/relationships/slide" Target="/ppt/slides/slide7.xml" Id="R65628ecf299344c4" /><Relationship Type="http://schemas.openxmlformats.org/officeDocument/2006/relationships/slide" Target="/ppt/slides/slide8.xml" Id="Rf8d485535f5646ef" /><Relationship Type="http://schemas.openxmlformats.org/officeDocument/2006/relationships/slide" Target="/ppt/slides/slide9.xml" Id="Rd3d5c5520a714a62" /><Relationship Type="http://schemas.openxmlformats.org/officeDocument/2006/relationships/slide" Target="/ppt/slides/slide10.xml" Id="R44875652d5d24853" /><Relationship Type="http://schemas.openxmlformats.org/officeDocument/2006/relationships/slide" Target="/ppt/slides/slide11.xml" Id="R0c4c314ede1b4e1c" /><Relationship Type="http://schemas.openxmlformats.org/officeDocument/2006/relationships/slide" Target="/ppt/slides/slide12.xml" Id="Ree120c98ea8b4f18" /><Relationship Type="http://schemas.openxmlformats.org/officeDocument/2006/relationships/slide" Target="/ppt/slides/slide13.xml" Id="R06b71f6a16c94623" /><Relationship Type="http://schemas.openxmlformats.org/officeDocument/2006/relationships/slide" Target="/ppt/slides/slide14.xml" Id="Ra331eeff8df742ec" /><Relationship Type="http://schemas.openxmlformats.org/officeDocument/2006/relationships/slide" Target="/ppt/slides/slide15.xml" Id="R9226d34dbc5e4eef" /><Relationship Type="http://schemas.openxmlformats.org/officeDocument/2006/relationships/slide" Target="/ppt/slides/slide16.xml" Id="Rb8cd16ff2ddd4f53" /><Relationship Type="http://schemas.openxmlformats.org/officeDocument/2006/relationships/slide" Target="/ppt/slides/slide17.xml" Id="R6cb03294f3fc42f2" /><Relationship Type="http://schemas.openxmlformats.org/officeDocument/2006/relationships/slide" Target="/ppt/slides/slide18.xml" Id="Rdbc501d79a244986" /><Relationship Type="http://schemas.openxmlformats.org/officeDocument/2006/relationships/slide" Target="/ppt/slides/slide19.xml" Id="Rb7b0624e560847b8" /><Relationship Type="http://schemas.openxmlformats.org/officeDocument/2006/relationships/slide" Target="/ppt/slides/slide20.xml" Id="R9d627c1f481342ee" /><Relationship Type="http://schemas.openxmlformats.org/officeDocument/2006/relationships/slide" Target="/ppt/slides/slide21.xml" Id="R9857bd30737d45e6" /><Relationship Type="http://schemas.openxmlformats.org/officeDocument/2006/relationships/slide" Target="/ppt/slides/slide22.xml" Id="R6eef4497c32b4600" /><Relationship Type="http://schemas.openxmlformats.org/officeDocument/2006/relationships/slide" Target="/ppt/slides/slide23.xml" Id="R377240b98fec47d0" /><Relationship Type="http://schemas.openxmlformats.org/officeDocument/2006/relationships/slide" Target="/ppt/slides/slide24.xml" Id="R52af62bbfc4046c4" /><Relationship Type="http://schemas.openxmlformats.org/officeDocument/2006/relationships/slide" Target="/ppt/slides/slide25.xml" Id="R6848c7150c5c461d" /><Relationship Type="http://schemas.openxmlformats.org/officeDocument/2006/relationships/slide" Target="/ppt/slides/slide26.xml" Id="R572a8e2723474dd5" /><Relationship Type="http://schemas.openxmlformats.org/officeDocument/2006/relationships/slide" Target="/ppt/slides/slide27.xml" Id="Rc56785de94e847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c894689d6146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26cceabd354681" /><Relationship Type="http://schemas.openxmlformats.org/officeDocument/2006/relationships/notesMaster" Target="/ppt/notesMasters/notesMaster1.xml" Id="R51efad18a2f04c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630e5bea5249e3" /><Relationship Type="http://schemas.openxmlformats.org/officeDocument/2006/relationships/notesMaster" Target="/ppt/notesMasters/notesMaster1.xml" Id="Ra01af0c14e3941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b9ad5c767647ad" /><Relationship Type="http://schemas.openxmlformats.org/officeDocument/2006/relationships/notesMaster" Target="/ppt/notesMasters/notesMaster1.xml" Id="R7441761cce6642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fcc656ff294d79" /><Relationship Type="http://schemas.openxmlformats.org/officeDocument/2006/relationships/notesMaster" Target="/ppt/notesMasters/notesMaster1.xml" Id="Rde24c42940bc41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bb5cc27d2c446b" /><Relationship Type="http://schemas.openxmlformats.org/officeDocument/2006/relationships/notesMaster" Target="/ppt/notesMasters/notesMaster1.xml" Id="Rcddca6c950224f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6669fba93a4b99" /><Relationship Type="http://schemas.openxmlformats.org/officeDocument/2006/relationships/notesMaster" Target="/ppt/notesMasters/notesMaster1.xml" Id="Rba051129ed7a42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b8edf9e44940de" /><Relationship Type="http://schemas.openxmlformats.org/officeDocument/2006/relationships/notesMaster" Target="/ppt/notesMasters/notesMaster1.xml" Id="R5285459f5c2648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9cfb28287e48fe" /><Relationship Type="http://schemas.openxmlformats.org/officeDocument/2006/relationships/notesMaster" Target="/ppt/notesMasters/notesMaster1.xml" Id="R930e70f6797445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c59445b6d14d61" /><Relationship Type="http://schemas.openxmlformats.org/officeDocument/2006/relationships/notesMaster" Target="/ppt/notesMasters/notesMaster1.xml" Id="R6de2bc35e29b4e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9db69889334792" /><Relationship Type="http://schemas.openxmlformats.org/officeDocument/2006/relationships/notesMaster" Target="/ppt/notesMasters/notesMaster1.xml" Id="R950ed22145d946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4c0a5e60a74f74" /><Relationship Type="http://schemas.openxmlformats.org/officeDocument/2006/relationships/notesMaster" Target="/ppt/notesMasters/notesMaster1.xml" Id="Rebcf3476364446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74f2d1629b4102" /><Relationship Type="http://schemas.openxmlformats.org/officeDocument/2006/relationships/notesMaster" Target="/ppt/notesMasters/notesMaster1.xml" Id="R8dd3996a7e4e40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ee1be2a8104e74" /><Relationship Type="http://schemas.openxmlformats.org/officeDocument/2006/relationships/notesMaster" Target="/ppt/notesMasters/notesMaster1.xml" Id="Rc80bcaefa9564c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4ff6d0400745e0" /><Relationship Type="http://schemas.openxmlformats.org/officeDocument/2006/relationships/notesMaster" Target="/ppt/notesMasters/notesMaster1.xml" Id="Rdc7922f37b3d47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e480cfd37f46be" /><Relationship Type="http://schemas.openxmlformats.org/officeDocument/2006/relationships/notesMaster" Target="/ppt/notesMasters/notesMaster1.xml" Id="Rfe01a6c3857e4d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e006f571ea4115" /><Relationship Type="http://schemas.openxmlformats.org/officeDocument/2006/relationships/notesMaster" Target="/ppt/notesMasters/notesMaster1.xml" Id="R383edb86f29e45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46a5edc861f44f1" /><Relationship Type="http://schemas.openxmlformats.org/officeDocument/2006/relationships/notesMaster" Target="/ppt/notesMasters/notesMaster1.xml" Id="Ra8402291f0ff42a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36baf8a5b04592" /><Relationship Type="http://schemas.openxmlformats.org/officeDocument/2006/relationships/notesMaster" Target="/ppt/notesMasters/notesMaster1.xml" Id="R0dc217d8cae5428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a2fb83a99f4c1d" /><Relationship Type="http://schemas.openxmlformats.org/officeDocument/2006/relationships/notesMaster" Target="/ppt/notesMasters/notesMaster1.xml" Id="Rc8dcbe3f0fdd43f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ece0e5b2304537" /><Relationship Type="http://schemas.openxmlformats.org/officeDocument/2006/relationships/notesMaster" Target="/ppt/notesMasters/notesMaster1.xml" Id="R8455cc558dc8483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c52d4c09ac4858" /><Relationship Type="http://schemas.openxmlformats.org/officeDocument/2006/relationships/notesMaster" Target="/ppt/notesMasters/notesMaster1.xml" Id="Rb91850764ea04e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77f4ce68414361" /><Relationship Type="http://schemas.openxmlformats.org/officeDocument/2006/relationships/notesMaster" Target="/ppt/notesMasters/notesMaster1.xml" Id="R49f53472e4c7420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a89c790b15b4204" /><Relationship Type="http://schemas.openxmlformats.org/officeDocument/2006/relationships/notesMaster" Target="/ppt/notesMasters/notesMaster1.xml" Id="R5dea32c79954490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78515f3f354d3b" /><Relationship Type="http://schemas.openxmlformats.org/officeDocument/2006/relationships/notesMaster" Target="/ppt/notesMasters/notesMaster1.xml" Id="Rb755efe9e54a48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b9dab2d5acc4d28" /><Relationship Type="http://schemas.openxmlformats.org/officeDocument/2006/relationships/notesMaster" Target="/ppt/notesMasters/notesMaster1.xml" Id="R0a864c9176cc4a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847f4d26e464900" /><Relationship Type="http://schemas.openxmlformats.org/officeDocument/2006/relationships/notesMaster" Target="/ppt/notesMasters/notesMaster1.xml" Id="R37131b052e79435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3c5c5f618664b48" /><Relationship Type="http://schemas.openxmlformats.org/officeDocument/2006/relationships/notesMaster" Target="/ppt/notesMasters/notesMaster1.xml" Id="Rf3982b8f3ec04e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CSE513 · Dönem haftası 8 / Ders seti 07</a:t>
            </a:r>
          </a:p>
          <a:p xmlns:a="http://schemas.openxmlformats.org/drawingml/2006/main">
            <a:r>
              <a:t>I/O, storage ve file systems</a:t>
            </a:r>
          </a:p>
          <a:p xmlns:a="http://schemas.openxmlformats.org/drawingml/2006/main">
            <a:r>
              <a:t/>
            </a:r>
          </a:p>
          <a:p xmlns:a="http://schemas.openxmlformats.org/drawingml/2006/main">
            <a:r>
              <a:t>Özgün PDF henüz yayımlanmamış: bu bölüm yayımlanan kapsamın OSTEP ve resmi arayüz kaynaklarıyla geliştirilmiş özgün öğretim uyarlamasıdır. Özgün PDF sayfa numarası uydurulmaz. Önce aygıta erişimi, sonra kalıcı state geçişlerini izleyeceğiz.</a:t>
            </a:r>
          </a:p>
          <a:p xmlns:a="http://schemas.openxmlformats.org/drawingml/2006/main">
            <a:r>
              <a:t/>
            </a:r>
          </a:p>
          <a:p xmlns:a="http://schemas.openxmlformats.org/drawingml/2006/main">
            <a:r>
              <a:t>PDF hazırlanıyor · Kapsam uyarlaması</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a:p xmlns:a="http://schemas.openxmlformats.org/drawingml/2006/main">
            <a:r>
              <a:t/>
            </a:r>
          </a:p>
          <a:p xmlns:a="http://schemas.openxmlformats.org/drawingml/2006/main">
            <a:r>
              <a:t>Kapak: AI üretimi kavramsal mutfak analojisi. Köken ve istem: 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CPU aygıt sonucunu nasıl öğrenir?</a:t>
            </a:r>
          </a:p>
          <a:p xmlns:a="http://schemas.openxmlformats.org/drawingml/2006/main">
            <a:r>
              <a:t>Bir crash sonrası hangi state kalır?</a:t>
            </a:r>
          </a:p>
          <a:p xmlns:a="http://schemas.openxmlformats.org/drawingml/2006/main">
            <a:r>
              <a:t>Görünürlük, tamamlanma ve kalıcılık ayrı.</a:t>
            </a:r>
          </a:p>
          <a:p xmlns:a="http://schemas.openxmlformats.org/drawingml/2006/main">
            <a:r>
              <a:t/>
            </a:r>
          </a:p>
          <a:p xmlns:a="http://schemas.openxmlformats.org/drawingml/2006/main">
            <a:r>
              <a:t>Okuyacağımız sayılar öğretici modeldir; gerçek SSD benchmark değildir. Her izde hangi katmanın isteği kabul ettiğini ve hangi katmanın veriyi kalıcı tuttuğunu adlandır. Günlük örnekler tasarım senaryolarıdır, belirli ürünlerin iç mimarisi iddia edilmez.</a:t>
            </a:r>
          </a:p>
          <a:p xmlns:a="http://schemas.openxmlformats.org/drawingml/2006/main">
            <a:r>
              <a:t/>
            </a:r>
          </a:p>
          <a:p xmlns:a="http://schemas.openxmlformats.org/drawingml/2006/main">
            <a:r>
              <a:t>GERÇEK HAYAT: Kaydet simgesi</a:t>
            </a:r>
          </a:p>
          <a:p xmlns:a="http://schemas.openxmlformats.org/drawingml/2006/main">
            <a:r>
              <a:t>Dosya kaydı hızlı döner.</a:t>
            </a:r>
          </a:p>
          <a:p xmlns:a="http://schemas.openxmlformats.org/drawingml/2006/main">
            <a:r>
              <a:t>Mekanizma: Başarılı çağrı ile power-loss dayanıklılığı ayrı sözleşmeler.</a:t>
            </a:r>
          </a:p>
          <a:p xmlns:a="http://schemas.openxmlformats.org/drawingml/2006/main">
            <a:r>
              <a:t>Ne zaman işe yarar: Uygulamanın neyi garanti ettiğini sor.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Sipariş kartı = I/O request.</a:t>
            </a:r>
          </a:p>
          <a:p xmlns:a="http://schemas.openxmlformats.org/drawingml/2006/main">
            <a:r>
              <a:t>Hazır zili = completion bildirimi.</a:t>
            </a:r>
          </a:p>
          <a:p xmlns:a="http://schemas.openxmlformats.org/drawingml/2006/main">
            <a:r>
              <a:t>Arşiv defteri = kalıcı state sezgisi.</a:t>
            </a:r>
          </a:p>
          <a:p xmlns:a="http://schemas.openxmlformats.org/drawingml/2006/main">
            <a:r>
              <a:t/>
            </a:r>
          </a:p>
          <a:p xmlns:a="http://schemas.openxmlformats.org/drawingml/2006/main">
            <a:r>
              <a:t>Zil veriyi taşımaz; yalnız hazır olduğunu haber verir. Tezgâh buffer sezgisidir ama gerçek DMA adresini, cache coherence’ı veya durable commit’i anlatmaz. Analojiden hemen request/driver/device/memory diyagramına dön. Kağıt deftere yazmayı disk atomicity garantisi sanma.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 system call → driver.</a:t>
            </a:r>
          </a:p>
          <a:p xmlns:a="http://schemas.openxmlformats.org/drawingml/2006/main">
            <a:r>
              <a:t>Driver aygıt arayüzünü yönetir.</a:t>
            </a:r>
          </a:p>
          <a:p xmlns:a="http://schemas.openxmlformats.org/drawingml/2006/main">
            <a:r>
              <a:t>Tamamlanınca bekleyen task ready olabilir.</a:t>
            </a:r>
          </a:p>
          <a:p xmlns:a="http://schemas.openxmlformats.org/drawingml/2006/main">
            <a:r>
              <a:t/>
            </a:r>
          </a:p>
          <a:p xmlns:a="http://schemas.openxmlformats.org/drawingml/2006/main">
            <a:r>
              <a:t>Cache-hit yolunda fiziksel aygıt I/O’su gerekmeyebilir. Blocking I/O ile asynchronous teslim arayüzlerini karıştırma: uygulama akışı ve aygıt completion ayrı olaydır. I/O completion hemen CPU sahibi olmak anlamına gelmez.</a:t>
            </a:r>
          </a:p>
          <a:p xmlns:a="http://schemas.openxmlformats.org/drawingml/2006/main">
            <a:r>
              <a:t/>
            </a:r>
          </a:p>
          <a:p xmlns:a="http://schemas.openxmlformats.org/drawingml/2006/main">
            <a:r>
              <a:t>GERÇEK HAYAT: Fotoğraf açma</a:t>
            </a:r>
          </a:p>
          <a:p xmlns:a="http://schemas.openxmlformats.org/drawingml/2006/main">
            <a:r>
              <a:t>İlk açma yavaş, tekrar açma hızlı olabilir.</a:t>
            </a:r>
          </a:p>
          <a:p xmlns:a="http://schemas.openxmlformats.org/drawingml/2006/main">
            <a:r>
              <a:t>Mekanizma: İkinci erişim cache’den karşılanabilir.</a:t>
            </a:r>
          </a:p>
          <a:p xmlns:a="http://schemas.openxmlformats.org/drawingml/2006/main">
            <a:r>
              <a:t>Ne zaman işe yarar: Çağrı sayısını aygıt okuma sayısı sanma.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https://pages.cs.wisc.edu/~remzi/OSTEP/file-devices.pdf</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Polling: durumu tekrar kontrol et.</a:t>
            </a:r>
          </a:p>
          <a:p xmlns:a="http://schemas.openxmlformats.org/drawingml/2006/main">
            <a:r>
              <a:t>Interrupt: aygıt olay bildirir.</a:t>
            </a:r>
          </a:p>
          <a:p xmlns:a="http://schemas.openxmlformats.org/drawingml/2006/main">
            <a:r>
              <a:t>Maliyet ve yük profili seçimde belirleyici.</a:t>
            </a:r>
          </a:p>
          <a:p xmlns:a="http://schemas.openxmlformats.org/drawingml/2006/main">
            <a:r>
              <a:t/>
            </a:r>
          </a:p>
          <a:p xmlns:a="http://schemas.openxmlformats.org/drawingml/2006/main">
            <a:r>
              <a:t>İki yöntem de completion öğrenme yöntemidir. Polling boşuna CPU harcayabilir; çok kısa bekleyişte interrupt overhead’i de önemlidir. Gerçek sistemler hibrit kullanabilir. Bu slayt tüm polling kötü veya tüm interrupt ücretsiz iddiası yapmaz.</a:t>
            </a:r>
          </a:p>
          <a:p xmlns:a="http://schemas.openxmlformats.org/drawingml/2006/main">
            <a:r>
              <a:t/>
            </a:r>
          </a:p>
          <a:p xmlns:a="http://schemas.openxmlformats.org/drawingml/2006/main">
            <a:r>
              <a:t>SORUNUN YANITI: Hayır; event işlenebilir ve aynı task devam edebilir.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https://pages.cs.wisc.edu/~remzi/OSTEP/file-devices.pdf</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CPU transferi hazırlar.</a:t>
            </a:r>
          </a:p>
          <a:p xmlns:a="http://schemas.openxmlformats.org/drawingml/2006/main">
            <a:r>
              <a:t>Device/controller memory transferini yapabilir.</a:t>
            </a:r>
          </a:p>
          <a:p xmlns:a="http://schemas.openxmlformats.org/drawingml/2006/main">
            <a:r>
              <a:t>Completion ve buffer ownership yine gerekir.</a:t>
            </a:r>
          </a:p>
          <a:p xmlns:a="http://schemas.openxmlformats.org/drawingml/2006/main">
            <a:r>
              <a:t/>
            </a:r>
          </a:p>
          <a:p xmlns:a="http://schemas.openxmlformats.org/drawingml/2006/main">
            <a:r>
              <a:t>DMA CPU’nun her veri kelimesini kopyalama yükünü azaltabilir; CPU’nun hiç işi kalmadığı anlamına gelmez. Driver DMA mapping ve yaşam döngüsünü yönetir. Öğrenci lab’ı gerçek DMA programlamaz.</a:t>
            </a:r>
          </a:p>
          <a:p xmlns:a="http://schemas.openxmlformats.org/drawingml/2006/main">
            <a:r>
              <a:t/>
            </a:r>
          </a:p>
          <a:p xmlns:a="http://schemas.openxmlformats.org/drawingml/2006/main">
            <a:r>
              <a:t>GERÇEK HAYAT: Büyük dosya aktarımı</a:t>
            </a:r>
          </a:p>
          <a:p xmlns:a="http://schemas.openxmlformats.org/drawingml/2006/main">
            <a:r>
              <a:t>CPU başka işe ilerleyebilir.</a:t>
            </a:r>
          </a:p>
          <a:p xmlns:a="http://schemas.openxmlformats.org/drawingml/2006/main">
            <a:r>
              <a:t>Mekanizma: Data transfer ile kontrol/completion işi ayrılır.</a:t>
            </a:r>
          </a:p>
          <a:p xmlns:a="http://schemas.openxmlformats.org/drawingml/2006/main">
            <a:r>
              <a:t>Ne zaman işe yarar: DMA’yı zero-cost sloganına dönüştürme.</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https://pages.cs.wisc.edu/~remzi/OSTEP/file-devices.pdf</a:t>
            </a:r>
          </a:p>
          <a:p xmlns:a="http://schemas.openxmlformats.org/drawingml/2006/main">
            <a:r>
              <a:t/>
            </a:r>
          </a:p>
          <a:p xmlns:a="http://schemas.openxmlformats.org/drawingml/2006/main">
            <a:r>
              <a:t>https://docs.kernel.org/core-api/dma-api-howto.html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CPU virtual address ≠ device DMA address.</a:t>
            </a:r>
          </a:p>
          <a:p xmlns:a="http://schemas.openxmlformats.org/drawingml/2006/main">
            <a:r>
              <a:t>Mapping ve IOMMU platforma bağlı.</a:t>
            </a:r>
          </a:p>
          <a:p xmlns:a="http://schemas.openxmlformats.org/drawingml/2006/main">
            <a:r>
              <a:t>Driver erişim ve ownership sırasını korur.</a:t>
            </a:r>
          </a:p>
          <a:p xmlns:a="http://schemas.openxmlformats.org/drawingml/2006/main">
            <a:r>
              <a:t/>
            </a:r>
          </a:p>
          <a:p xmlns:a="http://schemas.openxmlformats.org/drawingml/2006/main">
            <a:r>
              <a:t>Linux DMA API CPU virtual pointer’dan uygun aygıt adresini kurabilir; device aynı CPU page-table yolunu kullanmak zorunda değildir. IOMMU çevirme/koruma sağlayabilir, ama her ortamda aynı konfigürasyon varsayılmaz. Bu ayrımı kernel driver yazmadan teknik harita üzerinde incele.</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https://docs.kernel.org/core-api/dma-api-howto.html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Buffer: hız/boyut farkını köprüle.</a:t>
            </a:r>
          </a:p>
          <a:p xmlns:a="http://schemas.openxmlformats.org/drawingml/2006/main">
            <a:r>
              <a:t>Cache: tekrar erişimi ucuzlat.</a:t>
            </a:r>
          </a:p>
          <a:p xmlns:a="http://schemas.openxmlformats.org/drawingml/2006/main">
            <a:r>
              <a:t>Aynı memory bölgesi iki rol üstlenebilir.</a:t>
            </a:r>
          </a:p>
          <a:p xmlns:a="http://schemas.openxmlformats.org/drawingml/2006/main">
            <a:r>
              <a:t/>
            </a:r>
          </a:p>
          <a:p xmlns:a="http://schemas.openxmlformats.org/drawingml/2006/main">
            <a:r>
              <a:t>Model örneği: producer 6 öğe/s, consumer 4 öğe/s, capacity 10. Başlangıç boşsa sürekli fark 2 öğe/s nedeniyle 5 saniyede full olur; sonra backpressure, drop veya başka policy gerekir. Buffer kalıcı overload’u yok etmez.</a:t>
            </a:r>
          </a:p>
          <a:p xmlns:a="http://schemas.openxmlformats.org/drawingml/2006/main">
            <a:r>
              <a:t/>
            </a:r>
          </a:p>
          <a:p xmlns:a="http://schemas.openxmlformats.org/drawingml/2006/main">
            <a:r>
              <a:t>SORUNUN YANITI: Hayır; 10/(6−4)=5 saniye sonra dolar.</a:t>
            </a:r>
          </a:p>
          <a:p xmlns:a="http://schemas.openxmlformats.org/drawingml/2006/main">
            <a:r>
              <a:t/>
            </a:r>
          </a:p>
          <a:p xmlns:a="http://schemas.openxmlformats.org/drawingml/2006/main">
            <a:r>
              <a:t>GERÇEK HAYAT: Video akışı</a:t>
            </a:r>
          </a:p>
          <a:p xmlns:a="http://schemas.openxmlformats.org/drawingml/2006/main">
            <a:r>
              <a:t>Kısa dalgalanma buffer ile yumuşar.</a:t>
            </a:r>
          </a:p>
          <a:p xmlns:a="http://schemas.openxmlformats.org/drawingml/2006/main">
            <a:r>
              <a:t>Mekanizma: Uzun süreli hız farkı kuyruk büyütür.</a:t>
            </a:r>
          </a:p>
          <a:p xmlns:a="http://schemas.openxmlformats.org/drawingml/2006/main">
            <a:r>
              <a:t>Ne zaman işe yarar: Capacity ve overload politikasını birlikte tasarla.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Hit=0.1 ms; miss=5 ms model maliyeti.</a:t>
            </a:r>
          </a:p>
          <a:p xmlns:a="http://schemas.openxmlformats.org/drawingml/2006/main">
            <a:r>
              <a:t>Hit oranı 0.9 ise E=0.59 ms.</a:t>
            </a:r>
          </a:p>
          <a:p xmlns:a="http://schemas.openxmlformats.org/drawingml/2006/main">
            <a:r>
              <a:t>Ortalama tail latency garantisi değildir.</a:t>
            </a:r>
          </a:p>
          <a:p xmlns:a="http://schemas.openxmlformats.org/drawingml/2006/main">
            <a:r>
              <a:t/>
            </a:r>
          </a:p>
          <a:p xmlns:a="http://schemas.openxmlformats.org/drawingml/2006/main">
            <a:r>
              <a:t>E=0.9×0.1+0.1×5=0.59. Miss maliyeti burada toplam miss path olarak tanımlı; hit süresini ikinci kez ekleme. Dirty cache state’i writeback gerektirir. Kendi workload’unun reuse pattern’i yoksa başka benchmark’ın hit oranını taşıma.</a:t>
            </a:r>
          </a:p>
          <a:p xmlns:a="http://schemas.openxmlformats.org/drawingml/2006/main">
            <a:r>
              <a:t/>
            </a:r>
          </a:p>
          <a:p xmlns:a="http://schemas.openxmlformats.org/drawingml/2006/main">
            <a:r>
              <a:t>GERÇEK HAYAT: Tekrar okunan katalog</a:t>
            </a:r>
          </a:p>
          <a:p xmlns:a="http://schemas.openxmlformats.org/drawingml/2006/main">
            <a:r>
              <a:t>Popüler kayıtlar daha hızlı gelebilir.</a:t>
            </a:r>
          </a:p>
          <a:p xmlns:a="http://schemas.openxmlformats.org/drawingml/2006/main">
            <a:r>
              <a:t>Mekanizma: Reuse cache hit yaratır; cold veri başka yoldan gelir.</a:t>
            </a:r>
          </a:p>
          <a:p xmlns:a="http://schemas.openxmlformats.org/drawingml/2006/main">
            <a:r>
              <a:t>Ne zaman işe yarar: Hit ratio yanında tail ve cold-start ölç.</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HDD: seek + rotation + transfer.</a:t>
            </a:r>
          </a:p>
          <a:p xmlns:a="http://schemas.openxmlformats.org/drawingml/2006/main">
            <a:r>
              <a:t>SSD: flash/controller davranışı.</a:t>
            </a:r>
          </a:p>
          <a:p xmlns:a="http://schemas.openxmlformats.org/drawingml/2006/main">
            <a:r>
              <a:t>Random ve sequential aynı iş değildir.</a:t>
            </a:r>
          </a:p>
          <a:p xmlns:a="http://schemas.openxmlformats.org/drawingml/2006/main">
            <a:r>
              <a:t/>
            </a:r>
          </a:p>
          <a:p xmlns:a="http://schemas.openxmlformats.org/drawingml/2006/main">
            <a:r>
              <a:t>HDD’de fiziksel konum maliyeti baskın olabilir; SSD’de mekanik seek yoktur ama erase/program, garbage collection ve controller etkileri vardır. Donanım modeli/verisi olmadan sabit IOPS iddiası yapma. Workload boyutu, erişim deseni ve queue depth’i belirt.</a:t>
            </a:r>
          </a:p>
          <a:p xmlns:a="http://schemas.openxmlformats.org/drawingml/2006/main">
            <a:r>
              <a:t/>
            </a:r>
          </a:p>
          <a:p xmlns:a="http://schemas.openxmlformats.org/drawingml/2006/main">
            <a:r>
              <a:t>GERÇEK HAYAT: Yedekleme ile küçük sorgular</a:t>
            </a:r>
          </a:p>
          <a:p xmlns:a="http://schemas.openxmlformats.org/drawingml/2006/main">
            <a:r>
              <a:t>Aynı toplam byte farklı süre alır.</a:t>
            </a:r>
          </a:p>
          <a:p xmlns:a="http://schemas.openxmlformats.org/drawingml/2006/main">
            <a:r>
              <a:t>Mekanizma: Büyük ardışık transfer ve çok küçük random erişim farklı maliyet üretir.</a:t>
            </a:r>
          </a:p>
          <a:p xmlns:a="http://schemas.openxmlformats.org/drawingml/2006/main">
            <a:r>
              <a:t>Ne zaman işe yarar: Throughput ve latency metriklerini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https://pages.cs.wisc.edu/~remzi/OSTEP/file-disks.pdf</a:t>
            </a:r>
          </a:p>
          <a:p xmlns:a="http://schemas.openxmlformats.org/drawingml/2006/main">
            <a:r>
              <a:t/>
            </a:r>
          </a:p>
          <a:p xmlns:a="http://schemas.openxmlformats.org/drawingml/2006/main">
            <a:r>
              <a:t>https://pages.cs.wisc.edu/~remzi/OSTEP/file-ssd.pdf</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Seek 4 ms; rotation 3 ms.</a:t>
            </a:r>
          </a:p>
          <a:p xmlns:a="http://schemas.openxmlformats.org/drawingml/2006/main">
            <a:r>
              <a:t>Transfer 1 MiB / 100 MiB/s =10 ms.</a:t>
            </a:r>
          </a:p>
          <a:p xmlns:a="http://schemas.openxmlformats.org/drawingml/2006/main">
            <a:r>
              <a:t>Toplam model service time=17 ms.</a:t>
            </a:r>
          </a:p>
          <a:p xmlns:a="http://schemas.openxmlformats.org/drawingml/2006/main">
            <a:r>
              <a:t/>
            </a:r>
          </a:p>
          <a:p xmlns:a="http://schemas.openxmlformats.org/drawingml/2006/main">
            <a:r>
              <a:t>Bu sayılar öğretici varsayımdır, ürün spesifikasyonu değildir. Queueing ve OS/controller overhead’i dışarıda. İki 1MiB request birleştirilirse maliyet otomatik yarıya inmez; yeniden seek, yerleşim ve policy belirleyici.</a:t>
            </a:r>
          </a:p>
          <a:p xmlns:a="http://schemas.openxmlformats.org/drawingml/2006/main">
            <a:r>
              <a:t/>
            </a:r>
          </a:p>
          <a:p xmlns:a="http://schemas.openxmlformats.org/drawingml/2006/main">
            <a:r>
              <a:t>SORUNUN YANITI: 8+17=25 ms; service ile waiting’i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https://pages.cs.wisc.edu/~remzi/OSTEP/file-disks.pdf</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Interrupt veri mi taşır, event mi bildirir?</a:t>
            </a:r>
          </a:p>
          <a:p xmlns:a="http://schemas.openxmlformats.org/drawingml/2006/main">
            <a:r>
              <a:t>DMA driver işini sıfırlar mı?</a:t>
            </a:r>
          </a:p>
          <a:p xmlns:a="http://schemas.openxmlformats.org/drawingml/2006/main">
            <a:r>
              <a:t>Buffer overload’u sonsuza dek çözer mi?</a:t>
            </a:r>
          </a:p>
          <a:p xmlns:a="http://schemas.openxmlformats.org/drawingml/2006/main">
            <a:r>
              <a:t/>
            </a:r>
          </a:p>
          <a:p xmlns:a="http://schemas.openxmlformats.org/drawingml/2006/main">
            <a:r>
              <a:t>Kısa cevabını önce yaz, sonra gerekçeyi aç. 8–10 dakika ara önerilir. İkinci yarıda performanstan kalıcı durum doğruluğuna geçiyoruz.</a:t>
            </a:r>
          </a:p>
          <a:p xmlns:a="http://schemas.openxmlformats.org/drawingml/2006/main">
            <a:r>
              <a:t/>
            </a:r>
          </a:p>
          <a:p xmlns:a="http://schemas.openxmlformats.org/drawingml/2006/main">
            <a:r>
              <a:t>SORUNUN YANITI: Event bildirir; kontrol/mapping/completion işi kalır; sonlu buffer kalıcı overload’u çözmez.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Directory: name → file identity.</a:t>
            </a:r>
          </a:p>
          <a:p xmlns:a="http://schemas.openxmlformats.org/drawingml/2006/main">
            <a:r>
              <a:t>Metadata: boyut, sahiplik, blok eşlemeleri.</a:t>
            </a:r>
          </a:p>
          <a:p xmlns:a="http://schemas.openxmlformats.org/drawingml/2006/main">
            <a:r>
              <a:t>Data: kullanıcı içeriği.</a:t>
            </a:r>
          </a:p>
          <a:p xmlns:a="http://schemas.openxmlformats.org/drawingml/2006/main">
            <a:r>
              <a:t/>
            </a:r>
          </a:p>
          <a:p xmlns:a="http://schemas.openxmlformats.org/drawingml/2006/main">
            <a:r>
              <a:t>Basit UNIX-benzeri modelde isim directory entry’dedir; inode adı taşımak zorunda değildir. File descriptor açık bir erişim handle’ıdır, diskte dosyanın kendi kimliği değildir. Bu ayrım path lookup ile veri okumasını ayrı adımlar yapar.</a:t>
            </a:r>
          </a:p>
          <a:p xmlns:a="http://schemas.openxmlformats.org/drawingml/2006/main">
            <a:r>
              <a:t/>
            </a:r>
          </a:p>
          <a:p xmlns:a="http://schemas.openxmlformats.org/drawingml/2006/main">
            <a:r>
              <a:t>GERÇEK HAYAT: Dosyayı yeniden adlandırmak</a:t>
            </a:r>
          </a:p>
          <a:p xmlns:a="http://schemas.openxmlformats.org/drawingml/2006/main">
            <a:r>
              <a:t>İçerik aynıyken isim değişebilir.</a:t>
            </a:r>
          </a:p>
          <a:p xmlns:a="http://schemas.openxmlformats.org/drawingml/2006/main">
            <a:r>
              <a:t>Mekanizma: Directory eşlemesi ile dosya içeriği farklı state’tir.</a:t>
            </a:r>
          </a:p>
          <a:p xmlns:a="http://schemas.openxmlformats.org/drawingml/2006/main">
            <a:r>
              <a:t>Ne zaman işe yarar: Rename’i bütün byte’ların yeniden yazımı sanma.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https://pages.cs.wisc.edu/~remzi/OSTEP/file-implementation.pdf</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Path bileşenlerini çöz.</a:t>
            </a:r>
          </a:p>
          <a:p xmlns:a="http://schemas.openxmlformats.org/drawingml/2006/main">
            <a:r>
              <a:t>Yetkiyi kontrol et ve handle kur.</a:t>
            </a:r>
          </a:p>
          <a:p xmlns:a="http://schemas.openxmlformats.org/drawingml/2006/main">
            <a:r>
              <a:t>Offset → block mapping → cache/device.</a:t>
            </a:r>
          </a:p>
          <a:p xmlns:a="http://schemas.openxmlformats.org/drawingml/2006/main">
            <a:r>
              <a:t/>
            </a:r>
          </a:p>
          <a:p xmlns:a="http://schemas.openxmlformats.org/drawingml/2006/main">
            <a:r>
              <a:t>Öğretici filesystem’de /a/b için root directory, a directory ve b metadata’sı gerekli olabilir. Cache sonuçları physical I/O sayısını değiştirir. Açık handle’ın offset’ini pathname ile karıştırma. Gerçek filesystem index yapıları farklı olabilir.</a:t>
            </a:r>
          </a:p>
          <a:p xmlns:a="http://schemas.openxmlformats.org/drawingml/2006/main">
            <a:r>
              <a:t/>
            </a:r>
          </a:p>
          <a:p xmlns:a="http://schemas.openxmlformats.org/drawingml/2006/main">
            <a:r>
              <a:t>GERÇEK HAYAT: Binlerce küçük dosya</a:t>
            </a:r>
          </a:p>
          <a:p xmlns:a="http://schemas.openxmlformats.org/drawingml/2006/main">
            <a:r>
              <a:t>Az byte okunsa da metadata iş yükü yoğun olabilir.</a:t>
            </a:r>
          </a:p>
          <a:p xmlns:a="http://schemas.openxmlformats.org/drawingml/2006/main">
            <a:r>
              <a:t>Mekanizma: Path lookup ve metadata cache veri yoluna eklenir.</a:t>
            </a:r>
          </a:p>
          <a:p xmlns:a="http://schemas.openxmlformats.org/drawingml/2006/main">
            <a:r>
              <a:t>Ne zaman işe yarar: Yalnız payload throughput’u ölçme.</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https://pages.cs.wisc.edu/~remzi/OSTEP/file-implementation.pdf</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Bitmap/free list: ayrılmış bloklar.</a:t>
            </a:r>
          </a:p>
          <a:p xmlns:a="http://schemas.openxmlformats.org/drawingml/2006/main">
            <a:r>
              <a:t>Inode mapping: dosyanın blokları.</a:t>
            </a:r>
          </a:p>
          <a:p xmlns:a="http://schemas.openxmlformats.org/drawingml/2006/main">
            <a:r>
              <a:t>İkisi birbiriyle tutarlı olmalı.</a:t>
            </a:r>
          </a:p>
          <a:p xmlns:a="http://schemas.openxmlformats.org/drawingml/2006/main">
            <a:r>
              <a:t/>
            </a:r>
          </a:p>
          <a:p xmlns:a="http://schemas.openxmlformats.org/drawingml/2006/main">
            <a:r>
              <a:t>Modelimizde block4 file’a bağlı ve allocated; block5 serbesttir. Append block5’i doldurup allocated yapmalı ve inode’a eklemeli. in-memory mutex bu üç ayrı durable write’ı power-loss karşısında birleştirmez.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https://pages.cs.wisc.edu/~remzi/OSTEP/file-implementation.pdf</a:t>
            </a:r>
          </a:p>
          <a:p xmlns:a="http://schemas.openxmlformats.org/drawingml/2006/main">
            <a:r>
              <a:t/>
            </a:r>
          </a:p>
          <a:p xmlns:a="http://schemas.openxmlformats.org/drawingml/2006/main">
            <a:r>
              <a:t>https://pages.cs.wisc.edu/~remzi/OSTEP/file-journaling.pdf</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buffer → kernel cache → device.</a:t>
            </a:r>
          </a:p>
          <a:p xmlns:a="http://schemas.openxmlformats.org/drawingml/2006/main">
            <a:r>
              <a:t>Başarılı write tam byte sayısını garanti etmeyebilir.</a:t>
            </a:r>
          </a:p>
          <a:p xmlns:a="http://schemas.openxmlformats.org/drawingml/2006/main">
            <a:r>
              <a:t>Geri dönüş power-loss durability demek değildir.</a:t>
            </a:r>
          </a:p>
          <a:p xmlns:a="http://schemas.openxmlformats.org/drawingml/2006/main">
            <a:r>
              <a:t/>
            </a:r>
          </a:p>
          <a:p xmlns:a="http://schemas.openxmlformats.org/drawingml/2006/main">
            <a:r>
              <a:t>Gerçek kod partial write ve hata yollarını ele alır. fflush user-space tamponunu kernel’a iletebilir; fsync başka bir durable synchronization sözleşmesidir. Lab bu gerçek çağrıları ve disk davranışını emüle etmeye değil state ayrımına odaklanır.</a:t>
            </a:r>
          </a:p>
          <a:p xmlns:a="http://schemas.openxmlformats.org/drawingml/2006/main">
            <a:r>
              <a:t/>
            </a:r>
          </a:p>
          <a:p xmlns:a="http://schemas.openxmlformats.org/drawingml/2006/main">
            <a:r>
              <a:t>GERÇEK HAYAT: Log kaydı</a:t>
            </a:r>
          </a:p>
          <a:p xmlns:a="http://schemas.openxmlformats.org/drawingml/2006/main">
            <a:r>
              <a:t>Satır görünürken power loss sonrası kaybolabilir.</a:t>
            </a:r>
          </a:p>
          <a:p xmlns:a="http://schemas.openxmlformats.org/drawingml/2006/main">
            <a:r>
              <a:t>Mekanizma: Read visibility ile durable acknowledgment farklıdır.</a:t>
            </a:r>
          </a:p>
          <a:p xmlns:a="http://schemas.openxmlformats.org/drawingml/2006/main">
            <a:r>
              <a:t>Ne zaman işe yarar: Log’un kabul ve kalıcılık politikasını adlandır.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https://man7.org/linux/man-pages/man2/write.2.html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data/metadata synchronization.</a:t>
            </a:r>
          </a:p>
          <a:p xmlns:a="http://schemas.openxmlformats.org/drawingml/2006/main">
            <a:r>
              <a:t>Yeni directory entry ayrı kalıcılık konusu.</a:t>
            </a:r>
          </a:p>
          <a:p xmlns:a="http://schemas.openxmlformats.org/drawingml/2006/main">
            <a:r>
              <a:t>Return code ve storage contract önemlidir.</a:t>
            </a:r>
          </a:p>
          <a:p xmlns:a="http://schemas.openxmlformats.org/drawingml/2006/main">
            <a:r>
              <a:t/>
            </a:r>
          </a:p>
          <a:p xmlns:a="http://schemas.openxmlformats.org/drawingml/2006/main">
            <a:r>
              <a:t>Linux fsync dosya data ve ilgili metadata’yı storage’a senkronize eder; containing directory entry için directory fd’de ayrı fsync gerekebilir. Bu syscall sözleşmesini bütün filesystem/device/remote ortamlarında test etmeden sonsuz garanti gibi sunma. Rename ile crash durability farklı özelliklerdir.</a:t>
            </a:r>
          </a:p>
          <a:p xmlns:a="http://schemas.openxmlformats.org/drawingml/2006/main">
            <a:r>
              <a:t/>
            </a:r>
          </a:p>
          <a:p xmlns:a="http://schemas.openxmlformats.org/drawingml/2006/main">
            <a:r>
              <a:t>GERÇEK HAYAT: Yeni rapor dosyası</a:t>
            </a:r>
          </a:p>
          <a:p xmlns:a="http://schemas.openxmlformats.org/drawingml/2006/main">
            <a:r>
              <a:t>Dosya içeriği ile ismin bulunabilirliği ayrı.</a:t>
            </a:r>
          </a:p>
          <a:p xmlns:a="http://schemas.openxmlformats.org/drawingml/2006/main">
            <a:r>
              <a:t>Mekanizma: File ve directory kalıcı state yolları farklı.</a:t>
            </a:r>
          </a:p>
          <a:p xmlns:a="http://schemas.openxmlformats.org/drawingml/2006/main">
            <a:r>
              <a:t>Ne zaman işe yarar: Yeni dosya yayınlama protokolünü iki katmanla çiz.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https://man7.org/linux/man-pages/man2/fsync.2.html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Başlangıç OLD=[block4].</a:t>
            </a:r>
          </a:p>
          <a:p xmlns:a="http://schemas.openxmlformats.org/drawingml/2006/main">
            <a:r>
              <a:t>Hedef NEW=[block4,block5].</a:t>
            </a:r>
          </a:p>
          <a:p xmlns:a="http://schemas.openxmlformats.org/drawingml/2006/main">
            <a:r>
              <a:t>Her durable model step atomik; RAM kaybolur.</a:t>
            </a:r>
          </a:p>
          <a:p xmlns:a="http://schemas.openxmlformats.org/drawingml/2006/main">
            <a:r>
              <a:t/>
            </a:r>
          </a:p>
          <a:p xmlns:a="http://schemas.openxmlformats.org/drawingml/2006/main">
            <a:r>
              <a:t>Bu özgün oyuncak model gerçek disk torn-write/reordering emülatörü değildir. Yalnız belirlenen adımın durable olduğu kabul edilir. Crash her adım arasına konur. Adımlar tamamlanmadan ACK verilmez. Gerçek atomic write boyutunu bu modelden çıkarma.</a:t>
            </a:r>
          </a:p>
          <a:p xmlns:a="http://schemas.openxmlformats.org/drawingml/2006/main">
            <a:r>
              <a:t/>
            </a:r>
          </a:p>
          <a:p xmlns:a="http://schemas.openxmlformats.org/drawingml/2006/main">
            <a:r>
              <a:t>Model ≠ gerçek filesystem crash testi</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block5 yeni içerik.</a:t>
            </a:r>
          </a:p>
          <a:p xmlns:a="http://schemas.openxmlformats.org/drawingml/2006/main">
            <a:r>
              <a:t>B: bitmap block5’i allocated yapar.</a:t>
            </a:r>
          </a:p>
          <a:p xmlns:a="http://schemas.openxmlformats.org/drawingml/2006/main">
            <a:r>
              <a:t>I: inode block5’i ekler.</a:t>
            </a:r>
          </a:p>
          <a:p xmlns:a="http://schemas.openxmlformats.org/drawingml/2006/main">
            <a:r>
              <a:t/>
            </a:r>
          </a:p>
          <a:p xmlns:a="http://schemas.openxmlformats.org/drawingml/2006/main">
            <a:r>
              <a:t>D→B→I sırasının durable prefix’lerini incele. D sonrası metadata OLD kalır; kullanıcı append’i kaybetmiştir. D+B sonrası orphan allocation leak vardır. D+B+I sonrası NEW tutarlıdır. Farklı sıra, örneğin I önce, free block’a referans doğurabilir.</a:t>
            </a:r>
          </a:p>
          <a:p xmlns:a="http://schemas.openxmlformats.org/drawingml/2006/main">
            <a:r>
              <a:t/>
            </a:r>
          </a:p>
          <a:p xmlns:a="http://schemas.openxmlformats.org/drawingml/2006/main">
            <a:r>
              <a:t>SORUNUN YANITI: Hayır; allocated block5’e inode referansı yok.</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https://pages.cs.wisc.edu/~remzi/OSTEP/file-journaling.pdf</a:t>
            </a:r>
          </a:p>
          <a:p xmlns:a="http://schemas.openxmlformats.org/drawingml/2006/main">
            <a:r>
              <a:t/>
            </a:r>
          </a:p>
          <a:p xmlns:a="http://schemas.openxmlformats.org/drawingml/2006/main">
            <a:r>
              <a:t>https://docs.kernel.org/filesystems/ext4/journal.html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bağımsız yazma: 2³ state.</a:t>
            </a:r>
          </a:p>
          <a:p xmlns:a="http://schemas.openxmlformats.org/drawingml/2006/main">
            <a:r>
              <a:t>Metadata consistency ≠ data freshness.</a:t>
            </a:r>
          </a:p>
          <a:p xmlns:a="http://schemas.openxmlformats.org/drawingml/2006/main">
            <a:r>
              <a:t>OLD kaybı ile bozuk NEW’i ayır.</a:t>
            </a:r>
          </a:p>
          <a:p xmlns:a="http://schemas.openxmlformats.org/drawingml/2006/main">
            <a:r>
              <a:t/>
            </a:r>
          </a:p>
          <a:p xmlns:a="http://schemas.openxmlformats.org/drawingml/2006/main">
            <a:r>
              <a:t>Lab tüm sekiz D/B/I subset’ini sınıflandırır. I+B var, D yoksa metadata tutarlı ama yeni block eski içerik gösterir. D tek başına metadata’yı bozmaz ama istenen append görünmez. Bu sınıflandırma gerçek fsck’nin her veri niyetini bulabildiği iddiası değildir.</a:t>
            </a:r>
          </a:p>
          <a:p xmlns:a="http://schemas.openxmlformats.org/drawingml/2006/main">
            <a:r>
              <a:t/>
            </a:r>
          </a:p>
          <a:p xmlns:a="http://schemas.openxmlformats.org/drawingml/2006/main">
            <a:r>
              <a:t>GERÇEK HAYAT: Kayıp son mesaj</a:t>
            </a:r>
          </a:p>
          <a:p xmlns:a="http://schemas.openxmlformats.org/drawingml/2006/main">
            <a:r>
              <a:t>Dosya yapısı doğru olup son içerik eksik olabilir.</a:t>
            </a:r>
          </a:p>
          <a:p xmlns:a="http://schemas.openxmlformats.org/drawingml/2006/main">
            <a:r>
              <a:t>Mekanizma: Consistency ve user-level durability ayrı hedeflerdir.</a:t>
            </a:r>
          </a:p>
          <a:p xmlns:a="http://schemas.openxmlformats.org/drawingml/2006/main">
            <a:r>
              <a:t>Ne zaman işe yarar: Recovery sonucunu yalnız mount başarısıyla değerlendirme.</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https://pages.cs.wisc.edu/~remzi/OSTEP/file-journaling.pdf</a:t>
            </a:r>
          </a:p>
          <a:p xmlns:a="http://schemas.openxmlformats.org/drawingml/2006/main">
            <a:r>
              <a:t/>
            </a:r>
          </a:p>
          <a:p xmlns:a="http://schemas.openxmlformats.org/drawingml/2006/main">
            <a:r>
              <a:t>https://docs.kernel.org/filesystems/ext4/journal.html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Redo payload durable.</a:t>
            </a:r>
          </a:p>
          <a:p xmlns:a="http://schemas.openxmlformats.org/drawingml/2006/main">
            <a:r>
              <a:t>Commit payload’dan sonra durable.</a:t>
            </a:r>
          </a:p>
          <a:p xmlns:a="http://schemas.openxmlformats.org/drawingml/2006/main">
            <a:r>
              <a:t>Home install sonra; clear en son.</a:t>
            </a:r>
          </a:p>
          <a:p xmlns:a="http://schemas.openxmlformats.org/drawingml/2006/main">
            <a:r>
              <a:t/>
            </a:r>
          </a:p>
          <a:p xmlns:a="http://schemas.openxmlformats.org/drawingml/2006/main">
            <a:r>
              <a:t>Lab full-redo journal üç alanın hedef değerini saklar. Commit geçerli payload tamamlanmadan kalıcı olamaz; home writes commit’ten önce başlamaz. Recovery committed transaction’ı tekrar uygular. Bu full-data modeldir; her gerçek filesystem’in journaling modu böyle değildir.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https://pages.cs.wisc.edu/~remzi/OSTEP/file-journaling.pdf</a:t>
            </a:r>
          </a:p>
          <a:p xmlns:a="http://schemas.openxmlformats.org/drawingml/2006/main">
            <a:r>
              <a:t/>
            </a:r>
          </a:p>
          <a:p xmlns:a="http://schemas.openxmlformats.org/drawingml/2006/main">
            <a:r>
              <a:t>https://docs.kernel.org/filesystems/ext4/journal.html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 öncesi: uncommitted log yok sayılır.</a:t>
            </a:r>
          </a:p>
          <a:p xmlns:a="http://schemas.openxmlformats.org/drawingml/2006/main">
            <a:r>
              <a:t>Commit sonrası: replay → NEW.</a:t>
            </a:r>
          </a:p>
          <a:p xmlns:a="http://schemas.openxmlformats.org/drawingml/2006/main">
            <a:r>
              <a:t>İki recovery aynı sonuca ulaşmalı.</a:t>
            </a:r>
          </a:p>
          <a:p xmlns:a="http://schemas.openxmlformats.org/drawingml/2006/main">
            <a:r>
              <a:t/>
            </a:r>
          </a:p>
          <a:p xmlns:a="http://schemas.openxmlformats.org/drawingml/2006/main">
            <a:r>
              <a:t>Checkpoint eksik olabilir ama durable redo bilgisi tamamdır. Recovery log’u replay ettikten sonra clear eder; recovery sırasında crash ihtimalini model ikinci kez replay ile sınar. Lab’ımız adımlar-arası crash modelinde idempotent target-value writes kullanır.</a:t>
            </a:r>
          </a:p>
          <a:p xmlns:a="http://schemas.openxmlformats.org/drawingml/2006/main">
            <a:r>
              <a:t/>
            </a:r>
          </a:p>
          <a:p xmlns:a="http://schemas.openxmlformats.org/drawingml/2006/main">
            <a:r>
              <a:t>SORUNUN YANITI: Geçerli payload ile replay NEW’i kurar; yalnız home’a bakma.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https://pages.cs.wisc.edu/~remzi/OSTEP/file-journaling.pdf</a:t>
            </a:r>
          </a:p>
          <a:p xmlns:a="http://schemas.openxmlformats.org/drawingml/2006/main">
            <a:r>
              <a:t/>
            </a:r>
          </a:p>
          <a:p xmlns:a="http://schemas.openxmlformats.org/drawingml/2006/main">
            <a:r>
              <a:t>https://docs.kernel.org/filesystems/ext4/journal.html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 durable, payload eksik.</a:t>
            </a:r>
          </a:p>
          <a:p xmlns:a="http://schemas.openxmlformats.org/drawingml/2006/main">
            <a:r>
              <a:t>Recovery niyeti güvenle yeniden kuramaz.</a:t>
            </a:r>
          </a:p>
          <a:p xmlns:a="http://schemas.openxmlformats.org/drawingml/2006/main">
            <a:r>
              <a:t>Commit marker tek başına doğruluk değildir.</a:t>
            </a:r>
          </a:p>
          <a:p xmlns:a="http://schemas.openxmlformats.org/drawingml/2006/main">
            <a:r>
              <a:t/>
            </a:r>
          </a:p>
          <a:p xmlns:a="http://schemas.openxmlformats.org/drawingml/2006/main">
            <a:r>
              <a:t>Negatif lab testi erken commit state’ini oluşturur ve recovery bunu geçersiz journal olarak reddeder. Bu fail-closed oyuncak davranışıdır; gerçek filesystem log validation/checksum/recovery ayrıntıları farklıdır. Ordering kuralının neden gerektiğini gösterir.</a:t>
            </a:r>
          </a:p>
          <a:p xmlns:a="http://schemas.openxmlformats.org/drawingml/2006/main">
            <a:r>
              <a:t/>
            </a:r>
          </a:p>
          <a:p xmlns:a="http://schemas.openxmlformats.org/drawingml/2006/main">
            <a:r>
              <a:t>GERÇEK HAYAT: ACK’i erken göndermek</a:t>
            </a:r>
          </a:p>
          <a:p xmlns:a="http://schemas.openxmlformats.org/drawingml/2006/main">
            <a:r>
              <a:t>Sunucu done der ama redo state’i eksiktir.</a:t>
            </a:r>
          </a:p>
          <a:p xmlns:a="http://schemas.openxmlformats.org/drawingml/2006/main">
            <a:r>
              <a:t>Mekanizma: Durable ordering olmadan acknowledgment vaat edilen sonucu korumaz.</a:t>
            </a:r>
          </a:p>
          <a:p xmlns:a="http://schemas.openxmlformats.org/drawingml/2006/main">
            <a:r>
              <a:t>Ne zaman işe yarar: ACK boundary’sini crash noktalarıyla sınırla.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Metadata ve data journaling farklı.</a:t>
            </a:r>
          </a:p>
          <a:p xmlns:a="http://schemas.openxmlformats.org/drawingml/2006/main">
            <a:r>
              <a:t>Ordered data yaklaşımı başka bir protokol.</a:t>
            </a:r>
          </a:p>
          <a:p xmlns:a="http://schemas.openxmlformats.org/drawingml/2006/main">
            <a:r>
              <a:t>App transaction filesystem journal ile aynı değil.</a:t>
            </a:r>
          </a:p>
          <a:p xmlns:a="http://schemas.openxmlformats.org/drawingml/2006/main">
            <a:r>
              <a:t/>
            </a:r>
          </a:p>
          <a:p xmlns:a="http://schemas.openxmlformats.org/drawingml/2006/main">
            <a:r>
              <a:t>Journal kapsamı ile uygulama dayanıklılık hedefini eşle. Filesystem yapıları tutarlı kalırken son user bytes eksik olabilir. Backup kopyası ile journal farklı recovery kapsamlarına sahiptir. Tek bir rename veya journal bütün çok-dosyalı iş kuralını otomatik transaction yapmaz.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https://pages.cs.wisc.edu/~remzi/OSTEP/file-journaling.pdf</a:t>
            </a:r>
          </a:p>
          <a:p xmlns:a="http://schemas.openxmlformats.org/drawingml/2006/main">
            <a:r>
              <a:t/>
            </a:r>
          </a:p>
          <a:p xmlns:a="http://schemas.openxmlformats.org/drawingml/2006/main">
            <a:r>
              <a:t>https://docs.kernel.org/filesystems/ext4/journal.html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fsck state ilişkilerini kontrol edebilir.</a:t>
            </a:r>
          </a:p>
          <a:p xmlns:a="http://schemas.openxmlformats.org/drawingml/2006/main">
            <a:r>
              <a:t>Redo log tamamlanmış niyeti taşır.</a:t>
            </a:r>
          </a:p>
          <a:p xmlns:a="http://schemas.openxmlformats.org/drawingml/2006/main">
            <a:r>
              <a:t>Kaybolan user data her zaman çıkarılamaz.</a:t>
            </a:r>
          </a:p>
          <a:p xmlns:a="http://schemas.openxmlformats.org/drawingml/2006/main">
            <a:r>
              <a:t/>
            </a:r>
          </a:p>
          <a:p xmlns:a="http://schemas.openxmlformats.org/drawingml/2006/main">
            <a:r>
              <a:t>Lab’da allocated ile inode references farklıysa invariant ihlalidir. Bunun düzeltilmesi orijinal user bytes’ı veya beklenen append’i öğrenmek anlamına gelmez. Recovery tool, backup ve uygulama doğrulaması ayrı işlerdir. Host filesystem’de repair çalıştırmıyoruz.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https://pages.cs.wisc.edu/~remzi/OSTEP/file-journaling.pdf</a:t>
            </a:r>
          </a:p>
          <a:p xmlns:a="http://schemas.openxmlformats.org/drawingml/2006/main">
            <a:r>
              <a:t/>
            </a:r>
          </a:p>
          <a:p xmlns:a="http://schemas.openxmlformats.org/drawingml/2006/main">
            <a:r>
              <a:t>https://docs.kernel.org/filesystems/ext4/journal.html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crash_consistency.py --self-test</a:t>
            </a:r>
          </a:p>
          <a:p xmlns:a="http://schemas.openxmlformats.org/drawingml/2006/main">
            <a:r>
              <a:t>--mode naive --crash-after 2</a:t>
            </a:r>
          </a:p>
          <a:p xmlns:a="http://schemas.openxmlformats.org/drawingml/2006/main">
            <a:r>
              <a:t>--mode journal --crash-after 4</a:t>
            </a:r>
          </a:p>
          <a:p xmlns:a="http://schemas.openxmlformats.org/drawingml/2006/main">
            <a:r>
              <a:t/>
            </a:r>
          </a:p>
          <a:p xmlns:a="http://schemas.openxmlformats.org/drawingml/2006/main">
            <a:r>
              <a:t>Standart Python yalnız bellekte model çalıştırır. Mount, format, root yetkisi ve aygıt yazması yok. Sekiz naive subset, bütün journal prefix’leri, interrupted recovery ve early-commit negative case denetlenir. Önce kalacak state’i tahmin et, sonra JSON trace ile karşılaştır.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DMA ile interrupt’ın farkı?</a:t>
            </a:r>
          </a:p>
          <a:p xmlns:a="http://schemas.openxmlformats.org/drawingml/2006/main">
            <a:r>
              <a:t>Buffer ile cache’in hedefi?</a:t>
            </a:r>
          </a:p>
          <a:p xmlns:a="http://schemas.openxmlformats.org/drawingml/2006/main">
            <a:r>
              <a:t>write return ile durability aynı mı?</a:t>
            </a:r>
          </a:p>
          <a:p xmlns:a="http://schemas.openxmlformats.org/drawingml/2006/main">
            <a:r>
              <a:t>D+B sonrası invariant?</a:t>
            </a:r>
          </a:p>
          <a:p xmlns:a="http://schemas.openxmlformats.org/drawingml/2006/main">
            <a:r>
              <a:t>Commit sonrası recovery niçin replay?</a:t>
            </a:r>
          </a:p>
          <a:p xmlns:a="http://schemas.openxmlformats.org/drawingml/2006/main">
            <a:r>
              <a:t>Model hangi gerçek riski kapsamaz?</a:t>
            </a:r>
          </a:p>
          <a:p xmlns:a="http://schemas.openxmlformats.org/drawingml/2006/main">
            <a:r>
              <a:t/>
            </a:r>
          </a:p>
          <a:p xmlns:a="http://schemas.openxmlformats.org/drawingml/2006/main">
            <a:r>
              <a:t>Önce kısa gerekçelerini yaz. Aktif öğrenme ve lab ile 2–2.5 saat planla. Bu pratik resmi değerlendirme değildir. Hafta9 köprüsü: persistent storage’a erişen host, guest ve container hangi koruma sınırlarından geçer?</a:t>
            </a:r>
          </a:p>
          <a:p xmlns:a="http://schemas.openxmlformats.org/drawingml/2006/main">
            <a:r>
              <a:t/>
            </a:r>
          </a:p>
          <a:p xmlns:a="http://schemas.openxmlformats.org/drawingml/2006/main">
            <a:r>
              <a:t>SORUNUN YANITI: DMA data transfer, interrupt event bildirimi; buffer hız farkı/cache reuse; return kalıcılık değil; D+B leak; committed redo hedefi tamamlar; torn writes/device behavior kapsam dışı.</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b78f1e53b24f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e716cc098048ac" /><Relationship Type="http://schemas.openxmlformats.org/officeDocument/2006/relationships/slideLayout" Target="/ppt/slideLayouts/slideLayout1.xml" Id="R585a6fc8eaf84a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5a6fc8eaf84a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d5f270d1ed42e5" /><Relationship Type="http://schemas.openxmlformats.org/officeDocument/2006/relationships/image" Target="/ppt/media/image.png" Id="R290e5a23c4c34997" /><Relationship Type="http://schemas.openxmlformats.org/officeDocument/2006/relationships/notesSlide" Target="/ppt/notesSlides/notesSlide1.xml" Id="R78757721a3354c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cabc9a90044d87" /><Relationship Type="http://schemas.openxmlformats.org/officeDocument/2006/relationships/notesSlide" Target="/ppt/notesSlides/notesSlide2.xml" Id="Ra494146bb0dd48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f7e94b51124a84" /><Relationship Type="http://schemas.openxmlformats.org/officeDocument/2006/relationships/notesSlide" Target="/ppt/notesSlides/notesSlide3.xml" Id="Ra2ac0811b70546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ed333780704683" /><Relationship Type="http://schemas.openxmlformats.org/officeDocument/2006/relationships/notesSlide" Target="/ppt/notesSlides/notesSlide4.xml" Id="R410ddbd9aa4142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994b7512bc4f36" /><Relationship Type="http://schemas.openxmlformats.org/officeDocument/2006/relationships/notesSlide" Target="/ppt/notesSlides/notesSlide5.xml" Id="R2669a27f646245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3f0f7a094d4bd0" /><Relationship Type="http://schemas.openxmlformats.org/officeDocument/2006/relationships/notesSlide" Target="/ppt/notesSlides/notesSlide6.xml" Id="R9ead1d6654a543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8aafd5e5c645ad" /><Relationship Type="http://schemas.openxmlformats.org/officeDocument/2006/relationships/notesSlide" Target="/ppt/notesSlides/notesSlide7.xml" Id="R8b1af2d97c7e43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9ec51265454cc4" /><Relationship Type="http://schemas.openxmlformats.org/officeDocument/2006/relationships/notesSlide" Target="/ppt/notesSlides/notesSlide8.xml" Id="Rb0f8a5d8c5e94a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6f625c5bb44e0f" /><Relationship Type="http://schemas.openxmlformats.org/officeDocument/2006/relationships/notesSlide" Target="/ppt/notesSlides/notesSlide9.xml" Id="Ra6fe7970b59248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c98a80ad2e4a4a" /><Relationship Type="http://schemas.openxmlformats.org/officeDocument/2006/relationships/notesSlide" Target="/ppt/notesSlides/notesSlide10.xml" Id="Rdf4414f1a58a47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8bbb61f07745be" /><Relationship Type="http://schemas.openxmlformats.org/officeDocument/2006/relationships/notesSlide" Target="/ppt/notesSlides/notesSlide11.xml" Id="Rb278356000c649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e2343032cf948e4" /><Relationship Type="http://schemas.openxmlformats.org/officeDocument/2006/relationships/notesSlide" Target="/ppt/notesSlides/notesSlide12.xml" Id="R8bb542acff1548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1a74345d4944911" /><Relationship Type="http://schemas.openxmlformats.org/officeDocument/2006/relationships/notesSlide" Target="/ppt/notesSlides/notesSlide13.xml" Id="Rfc6ba0c938e44b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db1d69d475f44b9" /><Relationship Type="http://schemas.openxmlformats.org/officeDocument/2006/relationships/notesSlide" Target="/ppt/notesSlides/notesSlide14.xml" Id="Rfaa7eb2178b442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493b7d2e3274eec" /><Relationship Type="http://schemas.openxmlformats.org/officeDocument/2006/relationships/notesSlide" Target="/ppt/notesSlides/notesSlide15.xml" Id="R716f25856bef47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6ce354897184845" /><Relationship Type="http://schemas.openxmlformats.org/officeDocument/2006/relationships/notesSlide" Target="/ppt/notesSlides/notesSlide16.xml" Id="R883f932658314c7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2a348430dfb4cb6" /><Relationship Type="http://schemas.openxmlformats.org/officeDocument/2006/relationships/notesSlide" Target="/ppt/notesSlides/notesSlide17.xml" Id="R4ea94f3176e84b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c153c7efa12455a" /><Relationship Type="http://schemas.openxmlformats.org/officeDocument/2006/relationships/notesSlide" Target="/ppt/notesSlides/notesSlide18.xml" Id="R72e604f5909044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b36570e5e0c4c05" /><Relationship Type="http://schemas.openxmlformats.org/officeDocument/2006/relationships/notesSlide" Target="/ppt/notesSlides/notesSlide19.xml" Id="Rfbe0b1b7a92c4b0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afa320ba79d4c15" /><Relationship Type="http://schemas.openxmlformats.org/officeDocument/2006/relationships/notesSlide" Target="/ppt/notesSlides/notesSlide20.xml" Id="Rccfdb866a42a4ae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2b2980d3e1943bd" /><Relationship Type="http://schemas.openxmlformats.org/officeDocument/2006/relationships/notesSlide" Target="/ppt/notesSlides/notesSlide21.xml" Id="Rbe93588554c34af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83c699dfbd14e19" /><Relationship Type="http://schemas.openxmlformats.org/officeDocument/2006/relationships/notesSlide" Target="/ppt/notesSlides/notesSlide22.xml" Id="R2227026dfabf42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6394a3bf15144b2" /><Relationship Type="http://schemas.openxmlformats.org/officeDocument/2006/relationships/notesSlide" Target="/ppt/notesSlides/notesSlide23.xml" Id="Rcd59032ea0ee49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9716dd7ff2e44f8" /><Relationship Type="http://schemas.openxmlformats.org/officeDocument/2006/relationships/notesSlide" Target="/ppt/notesSlides/notesSlide24.xml" Id="R2bbcf604bd1d47a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ee6ab32a3ed4403" /><Relationship Type="http://schemas.openxmlformats.org/officeDocument/2006/relationships/notesSlide" Target="/ppt/notesSlides/notesSlide25.xml" Id="R09ff871ffb50479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dec68b062e34f96" /><Relationship Type="http://schemas.openxmlformats.org/officeDocument/2006/relationships/notesSlide" Target="/ppt/notesSlides/notesSlide26.xml" Id="R55a9cda368374eb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46228fa06a04dc6" /><Relationship Type="http://schemas.openxmlformats.org/officeDocument/2006/relationships/notesSlide" Target="/ppt/notesSlides/notesSlide27.xml" Id="Rb751bf2c0be24ff6"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90e5a23c4c34997"/>
          <a:stretch xmlns:a="http://schemas.openxmlformats.org/drawingml/2006/main"/>
        </p:blipFill>
        <p:spPr>
          <a:xfrm xmlns:a="http://schemas.openxmlformats.org/drawingml/2006/main">
            <a:off x="6667500" y="0"/>
            <a:ext cx="5143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9D187D-17BA-4C98-85AC-261D67593EB7}"/>
              </a:ext>
            </a:extLst>
          </p:cNvPr>
          <p:cNvSpPr>
            <a:spLocks xmlns:a="http://schemas.openxmlformats.org/drawingml/2006/main" noGrp="1"/>
          </p:cNvSpPr>
          <p:nvPr/>
        </p:nvSpPr>
        <p:spPr>
          <a:xfrm xmlns:a="http://schemas.openxmlformats.org/drawingml/2006/main">
            <a:off x="571500" y="619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87E83"/>
                </a:solidFill>
                <a:latin typeface="Helvetica Neue"/>
                <a:ea typeface="Helvetica Neue"/>
                <a:cs typeface="Helvetica Neue"/>
              </a:defRPr>
            </a:pPr>
            <a:r>
              <a:rPr sz="1725" b="1">
                <a:solidFill>
                  <a:srgbClr val="087E83"/>
                </a:solidFill>
                <a:latin typeface="Helvetica Neue"/>
                <a:ea typeface="Helvetica Neue"/>
                <a:cs typeface="Helvetica Neue"/>
              </a:rPr>
              <a:t>CSE513 · HAFTA 8</a:t>
            </a:r>
          </a:p>
        </p:txBody>
      </p:sp>
      <p:sp>
        <p:nvSpPr>
          <p:cNvPr id="3" name="">
            <a:extLst xmlns:a="http://schemas.openxmlformats.org/drawingml/2006/main">
              <a:ext uri="{FF2B5EF4-FFF2-40B4-BE49-F238E27FC236}">
                <a16:creationId xmlns:a16="http://schemas.microsoft.com/office/drawing/2014/main" id="{A6FED056-3E99-4C44-BC6F-C63DF6BC8BE1}"/>
              </a:ext>
            </a:extLst>
          </p:cNvPr>
          <p:cNvSpPr>
            <a:spLocks xmlns:a="http://schemas.openxmlformats.org/drawingml/2006/main" noGrp="1"/>
          </p:cNvSpPr>
          <p:nvPr/>
        </p:nvSpPr>
        <p:spPr>
          <a:xfrm xmlns:a="http://schemas.openxmlformats.org/drawingml/2006/main">
            <a:off x="571500" y="1476375"/>
            <a:ext cx="5476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Yazdım: gerçekten kalıcı mı?</a:t>
            </a:r>
          </a:p>
        </p:txBody>
      </p:sp>
      <p:sp>
        <p:nvSpPr>
          <p:cNvPr id="4" name="">
            <a:extLst xmlns:a="http://schemas.openxmlformats.org/drawingml/2006/main">
              <a:ext uri="{FF2B5EF4-FFF2-40B4-BE49-F238E27FC236}">
                <a16:creationId xmlns:a16="http://schemas.microsoft.com/office/drawing/2014/main" id="{532498AB-0251-46FE-AE10-52F35C10CB73}"/>
              </a:ext>
            </a:extLst>
          </p:cNvPr>
          <p:cNvSpPr>
            <a:spLocks xmlns:a="http://schemas.openxmlformats.org/drawingml/2006/main" noGrp="1"/>
          </p:cNvSpPr>
          <p:nvPr/>
        </p:nvSpPr>
        <p:spPr>
          <a:xfrm xmlns:a="http://schemas.openxmlformats.org/drawingml/2006/main">
            <a:off x="571500" y="361950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22C42"/>
                </a:solidFill>
                <a:latin typeface="Helvetica Neue"/>
                <a:ea typeface="Helvetica Neue"/>
                <a:cs typeface="Helvetica Neue"/>
              </a:defRPr>
            </a:pPr>
            <a:r>
              <a:rPr sz="2175" b="0">
                <a:solidFill>
                  <a:srgbClr val="122C42"/>
                </a:solidFill>
                <a:latin typeface="Helvetica Neue"/>
                <a:ea typeface="Helvetica Neue"/>
                <a:cs typeface="Helvetica Neue"/>
              </a:rPr>
              <a:t>Aygıt isteğinden crash sonrası kalıcı state’e</a:t>
            </a:r>
          </a:p>
        </p:txBody>
      </p:sp>
      <p:sp>
        <p:nvSpPr>
          <p:cNvPr id="5" name="">
            <a:extLst xmlns:a="http://schemas.openxmlformats.org/drawingml/2006/main">
              <a:ext uri="{FF2B5EF4-FFF2-40B4-BE49-F238E27FC236}">
                <a16:creationId xmlns:a16="http://schemas.microsoft.com/office/drawing/2014/main" id="{D65B0542-BD9E-4440-8F5C-A35202EEEF2B}"/>
              </a:ext>
            </a:extLst>
          </p:cNvPr>
          <p:cNvSpPr>
            <a:spLocks xmlns:a="http://schemas.openxmlformats.org/drawingml/2006/main" noGrp="1"/>
          </p:cNvSpPr>
          <p:nvPr/>
        </p:nvSpPr>
        <p:spPr>
          <a:xfrm xmlns:a="http://schemas.openxmlformats.org/drawingml/2006/main">
            <a:off x="571500" y="561975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46225"/>
                </a:solidFill>
                <a:latin typeface="Helvetica Neue"/>
                <a:ea typeface="Helvetica Neue"/>
                <a:cs typeface="Helvetica Neue"/>
              </a:defRPr>
            </a:pPr>
            <a:r>
              <a:rPr sz="1800" b="1">
                <a:solidFill>
                  <a:srgbClr val="C46225"/>
                </a:solidFill>
                <a:latin typeface="Helvetica Neue"/>
                <a:ea typeface="Helvetica Neue"/>
                <a:cs typeface="Helvetica Neue"/>
              </a:rPr>
              <a:t>Tahmin et · dene · gerekçelendir</a:t>
            </a:r>
          </a:p>
        </p:txBody>
      </p:sp>
      <p:sp>
        <p:nvSpPr>
          <p:cNvPr id="6" name="">
            <a:extLst xmlns:a="http://schemas.openxmlformats.org/drawingml/2006/main">
              <a:ext uri="{FF2B5EF4-FFF2-40B4-BE49-F238E27FC236}">
                <a16:creationId xmlns:a16="http://schemas.microsoft.com/office/drawing/2014/main" id="{8CA5E215-D2A0-4823-9E50-1629676D63AA}"/>
              </a:ext>
            </a:extLst>
          </p:cNvPr>
          <p:cNvSpPr>
            <a:spLocks xmlns:a="http://schemas.openxmlformats.org/drawingml/2006/main" noGrp="1"/>
          </p:cNvSpPr>
          <p:nvPr/>
        </p:nvSpPr>
        <p:spPr>
          <a:xfrm xmlns:a="http://schemas.openxmlformats.org/drawingml/2006/main">
            <a:off x="571500" y="6200775"/>
            <a:ext cx="557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4D606A"/>
                </a:solidFill>
                <a:latin typeface="Helvetica Neue"/>
                <a:ea typeface="Helvetica Neue"/>
                <a:cs typeface="Helvetica Neue"/>
              </a:defRPr>
            </a:pPr>
            <a:r>
              <a:rPr sz="1350" b="0">
                <a:solidFill>
                  <a:srgbClr val="4D606A"/>
                </a:solidFill>
                <a:latin typeface="Helvetica Neue"/>
                <a:ea typeface="Helvetica Neue"/>
                <a:cs typeface="Helvetica Neue"/>
              </a:rPr>
              <a:t>Yayımlanan haftalık kapsamın özgün uyarlaması</a:t>
            </a:r>
          </a:p>
        </p:txBody>
      </p:sp>
    </p:spTree>
    <p:extLst>
      <p:ext uri="{BB962C8B-B14F-4D97-AF65-F5344CB8AC3E}">
        <p14:creationId xmlns:p14="http://schemas.microsoft.com/office/powerpoint/2010/main" val="481689555"/>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4922B69-80ED-4E30-953A-4E847AF570A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Bugünün iki sorusu</a:t>
            </a:r>
          </a:p>
        </p:txBody>
      </p:sp>
      <p:sp>
        <p:nvSpPr>
          <p:cNvPr id="2" name="">
            <a:extLst xmlns:a="http://schemas.openxmlformats.org/drawingml/2006/main">
              <a:ext uri="{FF2B5EF4-FFF2-40B4-BE49-F238E27FC236}">
                <a16:creationId xmlns:a16="http://schemas.microsoft.com/office/drawing/2014/main" id="{113889C5-0DC5-4473-B3A2-3FC996A10742}"/>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79E5B53-83C2-4B59-93CB-205C998E2E08}"/>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CPU aygıt sonucunu nasıl öğrenir?</a:t>
            </a:r>
          </a:p>
        </p:txBody>
      </p:sp>
      <p:sp>
        <p:nvSpPr>
          <p:cNvPr id="4" name="">
            <a:extLst xmlns:a="http://schemas.openxmlformats.org/drawingml/2006/main">
              <a:ext uri="{FF2B5EF4-FFF2-40B4-BE49-F238E27FC236}">
                <a16:creationId xmlns:a16="http://schemas.microsoft.com/office/drawing/2014/main" id="{796C85AD-FC40-4646-89EF-13852C9F2DE0}"/>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DF21D27-524A-4275-975A-DAF29A1FCF7D}"/>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Bir crash sonrası hangi state kalır?</a:t>
            </a:r>
          </a:p>
        </p:txBody>
      </p:sp>
      <p:sp>
        <p:nvSpPr>
          <p:cNvPr id="6" name="">
            <a:extLst xmlns:a="http://schemas.openxmlformats.org/drawingml/2006/main">
              <a:ext uri="{FF2B5EF4-FFF2-40B4-BE49-F238E27FC236}">
                <a16:creationId xmlns:a16="http://schemas.microsoft.com/office/drawing/2014/main" id="{BB782C0B-5DFB-426D-85AF-24B65956DC58}"/>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AE5C56F4-E725-4698-A9B8-850973D31AAF}"/>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Görünürlük, tamamlanma ve kalıcılık ayrı.</a:t>
            </a:r>
          </a:p>
        </p:txBody>
      </p:sp>
      <p:sp>
        <p:nvSpPr>
          <p:cNvPr id="8" name="">
            <a:extLst xmlns:a="http://schemas.openxmlformats.org/drawingml/2006/main">
              <a:ext uri="{FF2B5EF4-FFF2-40B4-BE49-F238E27FC236}">
                <a16:creationId xmlns:a16="http://schemas.microsoft.com/office/drawing/2014/main" id="{EC8A5673-6431-41A6-B2AA-F71FE777568F}"/>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Kaydet simgesi</a:t>
            </a:r>
          </a:p>
        </p:txBody>
      </p:sp>
      <p:sp>
        <p:nvSpPr>
          <p:cNvPr id="9" name="">
            <a:extLst xmlns:a="http://schemas.openxmlformats.org/drawingml/2006/main">
              <a:ext uri="{FF2B5EF4-FFF2-40B4-BE49-F238E27FC236}">
                <a16:creationId xmlns:a16="http://schemas.microsoft.com/office/drawing/2014/main" id="{8B6B3CF8-1F96-4E95-B052-76D53011B18C}"/>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Dosya kaydı hızlı döner.</a:t>
            </a:r>
          </a:p>
        </p:txBody>
      </p:sp>
      <p:sp>
        <p:nvSpPr>
          <p:cNvPr id="10" name="">
            <a:extLst xmlns:a="http://schemas.openxmlformats.org/drawingml/2006/main">
              <a:ext uri="{FF2B5EF4-FFF2-40B4-BE49-F238E27FC236}">
                <a16:creationId xmlns:a16="http://schemas.microsoft.com/office/drawing/2014/main" id="{C34CAD11-8D5B-419A-BB4F-EF507C148EB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364B0BA3-DE1B-4D6F-B48A-790D923AD93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27</a:t>
            </a:r>
          </a:p>
        </p:txBody>
      </p:sp>
    </p:spTree>
    <p:extLst>
      <p:ext uri="{BB962C8B-B14F-4D97-AF65-F5344CB8AC3E}">
        <p14:creationId xmlns:p14="http://schemas.microsoft.com/office/powerpoint/2010/main" val="1356479062"/>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B3CFE4-E660-4FBD-930C-7C39303C3C4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Mutfaktan aygıt protokolüne</a:t>
            </a:r>
          </a:p>
        </p:txBody>
      </p:sp>
      <p:sp>
        <p:nvSpPr>
          <p:cNvPr id="2" name="">
            <a:extLst xmlns:a="http://schemas.openxmlformats.org/drawingml/2006/main">
              <a:ext uri="{FF2B5EF4-FFF2-40B4-BE49-F238E27FC236}">
                <a16:creationId xmlns:a16="http://schemas.microsoft.com/office/drawing/2014/main" id="{BAF4435E-D32E-463C-A87B-B4673FC6607C}"/>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CA7286B-23F4-4875-A666-159ABC9DF13C}"/>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Sipariş kartı = I/O request.</a:t>
            </a:r>
          </a:p>
        </p:txBody>
      </p:sp>
      <p:sp>
        <p:nvSpPr>
          <p:cNvPr id="4" name="">
            <a:extLst xmlns:a="http://schemas.openxmlformats.org/drawingml/2006/main">
              <a:ext uri="{FF2B5EF4-FFF2-40B4-BE49-F238E27FC236}">
                <a16:creationId xmlns:a16="http://schemas.microsoft.com/office/drawing/2014/main" id="{993912E7-11B6-408C-A231-75CD3D9B5015}"/>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0D7BBA7-6765-4AFC-AB9C-313BC35ACDBE}"/>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Hazır zili = completion bildirimi.</a:t>
            </a:r>
          </a:p>
        </p:txBody>
      </p:sp>
      <p:sp>
        <p:nvSpPr>
          <p:cNvPr id="6" name="">
            <a:extLst xmlns:a="http://schemas.openxmlformats.org/drawingml/2006/main">
              <a:ext uri="{FF2B5EF4-FFF2-40B4-BE49-F238E27FC236}">
                <a16:creationId xmlns:a16="http://schemas.microsoft.com/office/drawing/2014/main" id="{A4E4F99E-4ADE-4EB2-BBF2-4D92486D2F1C}"/>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8B6E56C-EA2D-4E4C-A086-0044971718C3}"/>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Arşiv defteri = kalıcı state sezgisi.</a:t>
            </a:r>
          </a:p>
        </p:txBody>
      </p:sp>
      <p:sp>
        <p:nvSpPr>
          <p:cNvPr id="8" name="">
            <a:extLst xmlns:a="http://schemas.openxmlformats.org/drawingml/2006/main">
              <a:ext uri="{FF2B5EF4-FFF2-40B4-BE49-F238E27FC236}">
                <a16:creationId xmlns:a16="http://schemas.microsoft.com/office/drawing/2014/main" id="{DA09EC77-3EF1-40AE-B43C-1C8D0698061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9" name="">
            <a:extLst xmlns:a="http://schemas.openxmlformats.org/drawingml/2006/main">
              <a:ext uri="{FF2B5EF4-FFF2-40B4-BE49-F238E27FC236}">
                <a16:creationId xmlns:a16="http://schemas.microsoft.com/office/drawing/2014/main" id="{595DE56A-2C48-400F-AAF6-08993B21F7F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27</a:t>
            </a:r>
          </a:p>
        </p:txBody>
      </p:sp>
    </p:spTree>
    <p:extLst>
      <p:ext uri="{BB962C8B-B14F-4D97-AF65-F5344CB8AC3E}">
        <p14:creationId xmlns:p14="http://schemas.microsoft.com/office/powerpoint/2010/main" val="946517479"/>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D8D0C90-E254-4CA5-8EE8-CC0498CE849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İstek yolu: uygulamadan aygıta</a:t>
            </a:r>
          </a:p>
        </p:txBody>
      </p:sp>
      <p:sp>
        <p:nvSpPr>
          <p:cNvPr id="2" name="">
            <a:extLst xmlns:a="http://schemas.openxmlformats.org/drawingml/2006/main">
              <a:ext uri="{FF2B5EF4-FFF2-40B4-BE49-F238E27FC236}">
                <a16:creationId xmlns:a16="http://schemas.microsoft.com/office/drawing/2014/main" id="{D83066B2-B676-4187-A870-CA0765245EDF}"/>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FFB48B9-A6CD-4713-9499-4272B8EB2E5E}"/>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Application → system call → driver.</a:t>
            </a:r>
          </a:p>
        </p:txBody>
      </p:sp>
      <p:sp>
        <p:nvSpPr>
          <p:cNvPr id="4" name="">
            <a:extLst xmlns:a="http://schemas.openxmlformats.org/drawingml/2006/main">
              <a:ext uri="{FF2B5EF4-FFF2-40B4-BE49-F238E27FC236}">
                <a16:creationId xmlns:a16="http://schemas.microsoft.com/office/drawing/2014/main" id="{1ECE5B45-7CBC-4F33-A9A9-254E6EEE9305}"/>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D1A5BE4D-C695-4EC9-B8E3-0C0E57B4F560}"/>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Driver aygıt arayüzünü yönetir.</a:t>
            </a:r>
          </a:p>
        </p:txBody>
      </p:sp>
      <p:sp>
        <p:nvSpPr>
          <p:cNvPr id="6" name="">
            <a:extLst xmlns:a="http://schemas.openxmlformats.org/drawingml/2006/main">
              <a:ext uri="{FF2B5EF4-FFF2-40B4-BE49-F238E27FC236}">
                <a16:creationId xmlns:a16="http://schemas.microsoft.com/office/drawing/2014/main" id="{46AEF0D0-0686-4111-86F5-6B066CB70504}"/>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CA33DC5E-A35F-43A7-8F22-D3F40BB1710D}"/>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Tamamlanınca bekleyen task ready olabilir.</a:t>
            </a:r>
          </a:p>
        </p:txBody>
      </p:sp>
      <p:sp>
        <p:nvSpPr>
          <p:cNvPr id="8" name="">
            <a:extLst xmlns:a="http://schemas.openxmlformats.org/drawingml/2006/main">
              <a:ext uri="{FF2B5EF4-FFF2-40B4-BE49-F238E27FC236}">
                <a16:creationId xmlns:a16="http://schemas.microsoft.com/office/drawing/2014/main" id="{E8485431-B44B-4AF6-B9BE-312E75EC24CD}"/>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Fotoğraf açma</a:t>
            </a:r>
          </a:p>
        </p:txBody>
      </p:sp>
      <p:sp>
        <p:nvSpPr>
          <p:cNvPr id="9" name="">
            <a:extLst xmlns:a="http://schemas.openxmlformats.org/drawingml/2006/main">
              <a:ext uri="{FF2B5EF4-FFF2-40B4-BE49-F238E27FC236}">
                <a16:creationId xmlns:a16="http://schemas.microsoft.com/office/drawing/2014/main" id="{88463E15-06FA-4E71-9A85-2E55069E836B}"/>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İlk açma yavaş, tekrar açma hızlı olabilir.</a:t>
            </a:r>
          </a:p>
        </p:txBody>
      </p:sp>
      <p:sp>
        <p:nvSpPr>
          <p:cNvPr id="10" name="">
            <a:extLst xmlns:a="http://schemas.openxmlformats.org/drawingml/2006/main">
              <a:ext uri="{FF2B5EF4-FFF2-40B4-BE49-F238E27FC236}">
                <a16:creationId xmlns:a16="http://schemas.microsoft.com/office/drawing/2014/main" id="{50502657-1752-497E-971C-50321F5D0FF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4A194E13-96A5-4E39-A516-70A3EBB030A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27</a:t>
            </a:r>
          </a:p>
        </p:txBody>
      </p:sp>
    </p:spTree>
    <p:extLst>
      <p:ext uri="{BB962C8B-B14F-4D97-AF65-F5344CB8AC3E}">
        <p14:creationId xmlns:p14="http://schemas.microsoft.com/office/powerpoint/2010/main" val="1065031343"/>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FB9C47-734C-491A-B3BA-E0FA769D225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Polling mi, interrupt mı?</a:t>
            </a:r>
          </a:p>
        </p:txBody>
      </p:sp>
      <p:sp>
        <p:nvSpPr>
          <p:cNvPr id="2" name="">
            <a:extLst xmlns:a="http://schemas.openxmlformats.org/drawingml/2006/main">
              <a:ext uri="{FF2B5EF4-FFF2-40B4-BE49-F238E27FC236}">
                <a16:creationId xmlns:a16="http://schemas.microsoft.com/office/drawing/2014/main" id="{60A52FC8-99FB-4275-A9A5-8D6231932C3C}"/>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35F62B0-2A8E-4A9E-B962-BCFD5F6BDFDD}"/>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Polling: durumu tekrar kontrol et.</a:t>
            </a:r>
          </a:p>
        </p:txBody>
      </p:sp>
      <p:sp>
        <p:nvSpPr>
          <p:cNvPr id="4" name="">
            <a:extLst xmlns:a="http://schemas.openxmlformats.org/drawingml/2006/main">
              <a:ext uri="{FF2B5EF4-FFF2-40B4-BE49-F238E27FC236}">
                <a16:creationId xmlns:a16="http://schemas.microsoft.com/office/drawing/2014/main" id="{07AC6776-9B13-466A-8AA4-A2E12293F86B}"/>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809D362-D344-4430-A3C6-C46B08A3C0F0}"/>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Interrupt: aygıt olay bildirir.</a:t>
            </a:r>
          </a:p>
        </p:txBody>
      </p:sp>
      <p:sp>
        <p:nvSpPr>
          <p:cNvPr id="6" name="">
            <a:extLst xmlns:a="http://schemas.openxmlformats.org/drawingml/2006/main">
              <a:ext uri="{FF2B5EF4-FFF2-40B4-BE49-F238E27FC236}">
                <a16:creationId xmlns:a16="http://schemas.microsoft.com/office/drawing/2014/main" id="{AA1A9340-7FB5-4766-A0DE-0EF1BD24730D}"/>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6986961-69FA-4EA7-8263-D32CFB57EE30}"/>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Maliyet ve yük profili seçimde belirleyici.</a:t>
            </a:r>
          </a:p>
        </p:txBody>
      </p:sp>
      <p:sp>
        <p:nvSpPr>
          <p:cNvPr id="8" name="">
            <a:extLst xmlns:a="http://schemas.openxmlformats.org/drawingml/2006/main">
              <a:ext uri="{FF2B5EF4-FFF2-40B4-BE49-F238E27FC236}">
                <a16:creationId xmlns:a16="http://schemas.microsoft.com/office/drawing/2014/main" id="{26487446-20FB-4C3B-8219-EA2198C56593}"/>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Completion interrupt mutlaka task switch mi?</a:t>
            </a:r>
          </a:p>
        </p:txBody>
      </p:sp>
      <p:sp>
        <p:nvSpPr>
          <p:cNvPr id="9" name="">
            <a:extLst xmlns:a="http://schemas.openxmlformats.org/drawingml/2006/main">
              <a:ext uri="{FF2B5EF4-FFF2-40B4-BE49-F238E27FC236}">
                <a16:creationId xmlns:a16="http://schemas.microsoft.com/office/drawing/2014/main" id="{E92C32FC-BE85-4E61-84D1-C9BEECC5A90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0" name="">
            <a:extLst xmlns:a="http://schemas.openxmlformats.org/drawingml/2006/main">
              <a:ext uri="{FF2B5EF4-FFF2-40B4-BE49-F238E27FC236}">
                <a16:creationId xmlns:a16="http://schemas.microsoft.com/office/drawing/2014/main" id="{719D48A8-CB55-4062-9232-0A15E367A4E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27</a:t>
            </a:r>
          </a:p>
        </p:txBody>
      </p:sp>
    </p:spTree>
    <p:extLst>
      <p:ext uri="{BB962C8B-B14F-4D97-AF65-F5344CB8AC3E}">
        <p14:creationId xmlns:p14="http://schemas.microsoft.com/office/powerpoint/2010/main" val="416540991"/>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05B3798-AD6D-43C9-A78B-6142842A5BA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DMA: CPU her baytı taşımak zorunda mı?</a:t>
            </a:r>
          </a:p>
        </p:txBody>
      </p:sp>
      <p:sp>
        <p:nvSpPr>
          <p:cNvPr id="2" name="">
            <a:extLst xmlns:a="http://schemas.openxmlformats.org/drawingml/2006/main">
              <a:ext uri="{FF2B5EF4-FFF2-40B4-BE49-F238E27FC236}">
                <a16:creationId xmlns:a16="http://schemas.microsoft.com/office/drawing/2014/main" id="{1790CC68-0803-4BEE-BFC4-34567D942C5E}"/>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04CD273-5998-49AF-AF99-2311EA343DCD}"/>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CPU transferi hazırlar.</a:t>
            </a:r>
          </a:p>
        </p:txBody>
      </p:sp>
      <p:sp>
        <p:nvSpPr>
          <p:cNvPr id="4" name="">
            <a:extLst xmlns:a="http://schemas.openxmlformats.org/drawingml/2006/main">
              <a:ext uri="{FF2B5EF4-FFF2-40B4-BE49-F238E27FC236}">
                <a16:creationId xmlns:a16="http://schemas.microsoft.com/office/drawing/2014/main" id="{29FAD73C-6563-4EA5-BFAC-CA7F857383BF}"/>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B0AE6A2-0854-4FED-93AD-324C9E33A5F5}"/>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Device/controller memory transferini yapabilir.</a:t>
            </a:r>
          </a:p>
        </p:txBody>
      </p:sp>
      <p:sp>
        <p:nvSpPr>
          <p:cNvPr id="6" name="">
            <a:extLst xmlns:a="http://schemas.openxmlformats.org/drawingml/2006/main">
              <a:ext uri="{FF2B5EF4-FFF2-40B4-BE49-F238E27FC236}">
                <a16:creationId xmlns:a16="http://schemas.microsoft.com/office/drawing/2014/main" id="{AC577220-CB6B-4BC0-91C6-F06CE6C6AFA7}"/>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CA91B25-7A3F-4E6D-B4C3-A1F7387823D0}"/>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Completion ve buffer ownership yine gerekir.</a:t>
            </a:r>
          </a:p>
        </p:txBody>
      </p:sp>
      <p:sp>
        <p:nvSpPr>
          <p:cNvPr id="8" name="">
            <a:extLst xmlns:a="http://schemas.openxmlformats.org/drawingml/2006/main">
              <a:ext uri="{FF2B5EF4-FFF2-40B4-BE49-F238E27FC236}">
                <a16:creationId xmlns:a16="http://schemas.microsoft.com/office/drawing/2014/main" id="{44EC4EFA-30EE-4F86-8AEE-9663410FE160}"/>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Büyük dosya aktarımı</a:t>
            </a:r>
          </a:p>
        </p:txBody>
      </p:sp>
      <p:sp>
        <p:nvSpPr>
          <p:cNvPr id="9" name="">
            <a:extLst xmlns:a="http://schemas.openxmlformats.org/drawingml/2006/main">
              <a:ext uri="{FF2B5EF4-FFF2-40B4-BE49-F238E27FC236}">
                <a16:creationId xmlns:a16="http://schemas.microsoft.com/office/drawing/2014/main" id="{CEF44F02-73D6-4413-8822-345840BE29D2}"/>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CPU başka işe ilerleyebilir.</a:t>
            </a:r>
          </a:p>
        </p:txBody>
      </p:sp>
      <p:sp>
        <p:nvSpPr>
          <p:cNvPr id="10" name="">
            <a:extLst xmlns:a="http://schemas.openxmlformats.org/drawingml/2006/main">
              <a:ext uri="{FF2B5EF4-FFF2-40B4-BE49-F238E27FC236}">
                <a16:creationId xmlns:a16="http://schemas.microsoft.com/office/drawing/2014/main" id="{9B49EF7E-C506-418D-8858-B614603D6D1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A1B93A48-F5A5-48DA-B3A9-A62DF028032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27</a:t>
            </a:r>
          </a:p>
        </p:txBody>
      </p:sp>
    </p:spTree>
    <p:extLst>
      <p:ext uri="{BB962C8B-B14F-4D97-AF65-F5344CB8AC3E}">
        <p14:creationId xmlns:p14="http://schemas.microsoft.com/office/powerpoint/2010/main" val="57378121"/>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39369B-68B9-49A3-B610-FC9957986D8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DMA adresi pointer değildir</a:t>
            </a:r>
          </a:p>
        </p:txBody>
      </p:sp>
      <p:sp>
        <p:nvSpPr>
          <p:cNvPr id="2" name="">
            <a:extLst xmlns:a="http://schemas.openxmlformats.org/drawingml/2006/main">
              <a:ext uri="{FF2B5EF4-FFF2-40B4-BE49-F238E27FC236}">
                <a16:creationId xmlns:a16="http://schemas.microsoft.com/office/drawing/2014/main" id="{42AB13CD-1352-4191-BD1F-FCF0E2958C06}"/>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9606467-A577-4EF1-8BA2-C9263149DA77}"/>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CPU virtual address ≠ device DMA address.</a:t>
            </a:r>
          </a:p>
        </p:txBody>
      </p:sp>
      <p:sp>
        <p:nvSpPr>
          <p:cNvPr id="4" name="">
            <a:extLst xmlns:a="http://schemas.openxmlformats.org/drawingml/2006/main">
              <a:ext uri="{FF2B5EF4-FFF2-40B4-BE49-F238E27FC236}">
                <a16:creationId xmlns:a16="http://schemas.microsoft.com/office/drawing/2014/main" id="{9188B027-E8E0-40A9-920C-5B8C2BFF4083}"/>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3B40BA4-8298-4D93-BBF4-D2296B007F50}"/>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Mapping ve IOMMU platforma bağlı.</a:t>
            </a:r>
          </a:p>
        </p:txBody>
      </p:sp>
      <p:sp>
        <p:nvSpPr>
          <p:cNvPr id="6" name="">
            <a:extLst xmlns:a="http://schemas.openxmlformats.org/drawingml/2006/main">
              <a:ext uri="{FF2B5EF4-FFF2-40B4-BE49-F238E27FC236}">
                <a16:creationId xmlns:a16="http://schemas.microsoft.com/office/drawing/2014/main" id="{328DCEC4-A4BA-4187-8CAF-A68B736648DC}"/>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FD4C0235-B613-4FEC-B3DE-3F42C4C4161A}"/>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Driver erişim ve ownership sırasını korur.</a:t>
            </a:r>
          </a:p>
        </p:txBody>
      </p:sp>
      <p:sp>
        <p:nvSpPr>
          <p:cNvPr id="8" name="">
            <a:extLst xmlns:a="http://schemas.openxmlformats.org/drawingml/2006/main">
              <a:ext uri="{FF2B5EF4-FFF2-40B4-BE49-F238E27FC236}">
                <a16:creationId xmlns:a16="http://schemas.microsoft.com/office/drawing/2014/main" id="{815DD5D0-39D1-43D1-84E6-F6A2A102AC1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9" name="">
            <a:extLst xmlns:a="http://schemas.openxmlformats.org/drawingml/2006/main">
              <a:ext uri="{FF2B5EF4-FFF2-40B4-BE49-F238E27FC236}">
                <a16:creationId xmlns:a16="http://schemas.microsoft.com/office/drawing/2014/main" id="{B42F16F0-1066-4285-9185-F01AB9714B4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27</a:t>
            </a:r>
          </a:p>
        </p:txBody>
      </p:sp>
    </p:spTree>
    <p:extLst>
      <p:ext uri="{BB962C8B-B14F-4D97-AF65-F5344CB8AC3E}">
        <p14:creationId xmlns:p14="http://schemas.microsoft.com/office/powerpoint/2010/main" val="1027251020"/>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6EB177-1514-401B-B13A-A3701722C32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Buffer ve cache: farklı amaçlar</a:t>
            </a:r>
          </a:p>
        </p:txBody>
      </p:sp>
      <p:sp>
        <p:nvSpPr>
          <p:cNvPr id="2" name="">
            <a:extLst xmlns:a="http://schemas.openxmlformats.org/drawingml/2006/main">
              <a:ext uri="{FF2B5EF4-FFF2-40B4-BE49-F238E27FC236}">
                <a16:creationId xmlns:a16="http://schemas.microsoft.com/office/drawing/2014/main" id="{CA919F9B-3A9D-4622-B6DD-9809CA53958B}"/>
              </a:ext>
            </a:extLst>
          </p:cNvPr>
          <p:cNvSpPr>
            <a:spLocks xmlns:a="http://schemas.openxmlformats.org/drawingml/2006/main" noGrp="1"/>
          </p:cNvSpPr>
          <p:nvPr/>
        </p:nvSpPr>
        <p:spPr>
          <a:xfrm xmlns:a="http://schemas.openxmlformats.org/drawingml/2006/main">
            <a:off x="609600" y="195262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53CA9CAD-6347-4364-81D8-8DE16FB27880}"/>
              </a:ext>
            </a:extLst>
          </p:cNvPr>
          <p:cNvSpPr>
            <a:spLocks xmlns:a="http://schemas.openxmlformats.org/drawingml/2006/main" noGrp="1"/>
          </p:cNvSpPr>
          <p:nvPr/>
        </p:nvSpPr>
        <p:spPr>
          <a:xfrm xmlns:a="http://schemas.openxmlformats.org/drawingml/2006/main">
            <a:off x="1333500" y="195262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Buffer: hız/boyut farkını köprüle.</a:t>
            </a:r>
          </a:p>
        </p:txBody>
      </p:sp>
      <p:sp>
        <p:nvSpPr>
          <p:cNvPr id="4" name="">
            <a:extLst xmlns:a="http://schemas.openxmlformats.org/drawingml/2006/main">
              <a:ext uri="{FF2B5EF4-FFF2-40B4-BE49-F238E27FC236}">
                <a16:creationId xmlns:a16="http://schemas.microsoft.com/office/drawing/2014/main" id="{27BDE0B9-80C8-46CE-B018-4D3EDDD645BC}"/>
              </a:ext>
            </a:extLst>
          </p:cNvPr>
          <p:cNvSpPr>
            <a:spLocks xmlns:a="http://schemas.openxmlformats.org/drawingml/2006/main" noGrp="1"/>
          </p:cNvSpPr>
          <p:nvPr/>
        </p:nvSpPr>
        <p:spPr>
          <a:xfrm xmlns:a="http://schemas.openxmlformats.org/drawingml/2006/main">
            <a:off x="609600" y="2819400"/>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441246D-5149-4564-8937-D0F588720004}"/>
              </a:ext>
            </a:extLst>
          </p:cNvPr>
          <p:cNvSpPr>
            <a:spLocks xmlns:a="http://schemas.openxmlformats.org/drawingml/2006/main" noGrp="1"/>
          </p:cNvSpPr>
          <p:nvPr/>
        </p:nvSpPr>
        <p:spPr>
          <a:xfrm xmlns:a="http://schemas.openxmlformats.org/drawingml/2006/main">
            <a:off x="1333500" y="2819400"/>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Cache: tekrar erişimi ucuzlat.</a:t>
            </a:r>
          </a:p>
        </p:txBody>
      </p:sp>
      <p:sp>
        <p:nvSpPr>
          <p:cNvPr id="6" name="">
            <a:extLst xmlns:a="http://schemas.openxmlformats.org/drawingml/2006/main">
              <a:ext uri="{FF2B5EF4-FFF2-40B4-BE49-F238E27FC236}">
                <a16:creationId xmlns:a16="http://schemas.microsoft.com/office/drawing/2014/main" id="{058F713D-CEE1-416F-9625-22DDB500B42A}"/>
              </a:ext>
            </a:extLst>
          </p:cNvPr>
          <p:cNvSpPr>
            <a:spLocks xmlns:a="http://schemas.openxmlformats.org/drawingml/2006/main" noGrp="1"/>
          </p:cNvSpPr>
          <p:nvPr/>
        </p:nvSpPr>
        <p:spPr>
          <a:xfrm xmlns:a="http://schemas.openxmlformats.org/drawingml/2006/main">
            <a:off x="609600" y="368617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76C7390F-4F31-4844-98BE-4CF5F80A189A}"/>
              </a:ext>
            </a:extLst>
          </p:cNvPr>
          <p:cNvSpPr>
            <a:spLocks xmlns:a="http://schemas.openxmlformats.org/drawingml/2006/main" noGrp="1"/>
          </p:cNvSpPr>
          <p:nvPr/>
        </p:nvSpPr>
        <p:spPr>
          <a:xfrm xmlns:a="http://schemas.openxmlformats.org/drawingml/2006/main">
            <a:off x="1333500" y="368617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Aynı memory bölgesi iki rol üstlenebilir.</a:t>
            </a:r>
          </a:p>
        </p:txBody>
      </p:sp>
      <p:sp>
        <p:nvSpPr>
          <p:cNvPr id="8" name="">
            <a:extLst xmlns:a="http://schemas.openxmlformats.org/drawingml/2006/main">
              <a:ext uri="{FF2B5EF4-FFF2-40B4-BE49-F238E27FC236}">
                <a16:creationId xmlns:a16="http://schemas.microsoft.com/office/drawing/2014/main" id="{4599E713-512B-4966-A90E-5EC48D0A14D1}"/>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Bu buffer sonsuza kadar gecikmeyi gizler mi?</a:t>
            </a:r>
          </a:p>
        </p:txBody>
      </p:sp>
      <p:sp>
        <p:nvSpPr>
          <p:cNvPr id="9" name="">
            <a:extLst xmlns:a="http://schemas.openxmlformats.org/drawingml/2006/main">
              <a:ext uri="{FF2B5EF4-FFF2-40B4-BE49-F238E27FC236}">
                <a16:creationId xmlns:a16="http://schemas.microsoft.com/office/drawing/2014/main" id="{30F14DAD-A107-4462-BB9E-78051BAED6F2}"/>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Video akışı</a:t>
            </a:r>
          </a:p>
        </p:txBody>
      </p:sp>
      <p:sp>
        <p:nvSpPr>
          <p:cNvPr id="10" name="">
            <a:extLst xmlns:a="http://schemas.openxmlformats.org/drawingml/2006/main">
              <a:ext uri="{FF2B5EF4-FFF2-40B4-BE49-F238E27FC236}">
                <a16:creationId xmlns:a16="http://schemas.microsoft.com/office/drawing/2014/main" id="{B8F851EE-F87F-48FC-A123-5F634CA8C239}"/>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Kısa dalgalanma buffer ile yumuşar.</a:t>
            </a:r>
          </a:p>
        </p:txBody>
      </p:sp>
      <p:sp>
        <p:nvSpPr>
          <p:cNvPr id="11" name="">
            <a:extLst xmlns:a="http://schemas.openxmlformats.org/drawingml/2006/main">
              <a:ext uri="{FF2B5EF4-FFF2-40B4-BE49-F238E27FC236}">
                <a16:creationId xmlns:a16="http://schemas.microsoft.com/office/drawing/2014/main" id="{798BCCD9-2169-403A-8BA2-ACA7D1A1A9B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2" name="">
            <a:extLst xmlns:a="http://schemas.openxmlformats.org/drawingml/2006/main">
              <a:ext uri="{FF2B5EF4-FFF2-40B4-BE49-F238E27FC236}">
                <a16:creationId xmlns:a16="http://schemas.microsoft.com/office/drawing/2014/main" id="{2072C789-F924-4DA5-9667-BF4FE5E974E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27</a:t>
            </a:r>
          </a:p>
        </p:txBody>
      </p:sp>
    </p:spTree>
    <p:extLst>
      <p:ext uri="{BB962C8B-B14F-4D97-AF65-F5344CB8AC3E}">
        <p14:creationId xmlns:p14="http://schemas.microsoft.com/office/powerpoint/2010/main" val="77130101"/>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A6F9C7-31B5-4AE7-9242-514899D0470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Cache hit oranı: sayıyla açıklama</a:t>
            </a:r>
          </a:p>
        </p:txBody>
      </p:sp>
      <p:sp>
        <p:nvSpPr>
          <p:cNvPr id="2" name="">
            <a:extLst xmlns:a="http://schemas.openxmlformats.org/drawingml/2006/main">
              <a:ext uri="{FF2B5EF4-FFF2-40B4-BE49-F238E27FC236}">
                <a16:creationId xmlns:a16="http://schemas.microsoft.com/office/drawing/2014/main" id="{6982FAAD-3795-4356-86A5-0ABC60D97EE0}"/>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50289007-CAD4-42C8-8C63-647F31C38040}"/>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Hit=0.1 ms; miss=5 ms model maliyeti.</a:t>
            </a:r>
          </a:p>
        </p:txBody>
      </p:sp>
      <p:sp>
        <p:nvSpPr>
          <p:cNvPr id="4" name="">
            <a:extLst xmlns:a="http://schemas.openxmlformats.org/drawingml/2006/main">
              <a:ext uri="{FF2B5EF4-FFF2-40B4-BE49-F238E27FC236}">
                <a16:creationId xmlns:a16="http://schemas.microsoft.com/office/drawing/2014/main" id="{2554967C-C1AF-4BC8-8278-5AC8AA6AB324}"/>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9855C37-FB3E-4C75-98AF-0B3D87361713}"/>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Hit oranı 0.9 ise E=0.59 ms.</a:t>
            </a:r>
          </a:p>
        </p:txBody>
      </p:sp>
      <p:sp>
        <p:nvSpPr>
          <p:cNvPr id="6" name="">
            <a:extLst xmlns:a="http://schemas.openxmlformats.org/drawingml/2006/main">
              <a:ext uri="{FF2B5EF4-FFF2-40B4-BE49-F238E27FC236}">
                <a16:creationId xmlns:a16="http://schemas.microsoft.com/office/drawing/2014/main" id="{2A8B7D06-47BC-44E6-B5E5-988CE7542848}"/>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B341560-AB68-41E1-BC8F-A9CBD377B9D9}"/>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Ortalama tail latency garantisi değildir.</a:t>
            </a:r>
          </a:p>
        </p:txBody>
      </p:sp>
      <p:sp>
        <p:nvSpPr>
          <p:cNvPr id="8" name="">
            <a:extLst xmlns:a="http://schemas.openxmlformats.org/drawingml/2006/main">
              <a:ext uri="{FF2B5EF4-FFF2-40B4-BE49-F238E27FC236}">
                <a16:creationId xmlns:a16="http://schemas.microsoft.com/office/drawing/2014/main" id="{65E998BD-2700-4724-A257-7DB0F1FB0B8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Tekrar okunan katalog</a:t>
            </a:r>
          </a:p>
        </p:txBody>
      </p:sp>
      <p:sp>
        <p:nvSpPr>
          <p:cNvPr id="9" name="">
            <a:extLst xmlns:a="http://schemas.openxmlformats.org/drawingml/2006/main">
              <a:ext uri="{FF2B5EF4-FFF2-40B4-BE49-F238E27FC236}">
                <a16:creationId xmlns:a16="http://schemas.microsoft.com/office/drawing/2014/main" id="{DB9C9454-736A-41F1-B6D7-3C626ADE174A}"/>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Popüler kayıtlar daha hızlı gelebilir.</a:t>
            </a:r>
          </a:p>
        </p:txBody>
      </p:sp>
      <p:sp>
        <p:nvSpPr>
          <p:cNvPr id="10" name="">
            <a:extLst xmlns:a="http://schemas.openxmlformats.org/drawingml/2006/main">
              <a:ext uri="{FF2B5EF4-FFF2-40B4-BE49-F238E27FC236}">
                <a16:creationId xmlns:a16="http://schemas.microsoft.com/office/drawing/2014/main" id="{570E1612-0495-4679-82A7-F9B52A8978A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B8F5BEF4-69AC-4D4D-A7BB-458E871F969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27</a:t>
            </a:r>
          </a:p>
        </p:txBody>
      </p:sp>
    </p:spTree>
    <p:extLst>
      <p:ext uri="{BB962C8B-B14F-4D97-AF65-F5344CB8AC3E}">
        <p14:creationId xmlns:p14="http://schemas.microsoft.com/office/powerpoint/2010/main" val="315374422"/>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A985AB-4B6C-4BFF-8F22-89CD9FF0556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Storage maliyeti: byte sayısı yetmez</a:t>
            </a:r>
          </a:p>
        </p:txBody>
      </p:sp>
      <p:sp>
        <p:nvSpPr>
          <p:cNvPr id="2" name="">
            <a:extLst xmlns:a="http://schemas.openxmlformats.org/drawingml/2006/main">
              <a:ext uri="{FF2B5EF4-FFF2-40B4-BE49-F238E27FC236}">
                <a16:creationId xmlns:a16="http://schemas.microsoft.com/office/drawing/2014/main" id="{5E32EE69-E02C-45A3-BCF3-F8C0146BCB8E}"/>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6ACF010-7780-45A0-B32E-B7F753291DAB}"/>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HDD: seek + rotation + transfer.</a:t>
            </a:r>
          </a:p>
        </p:txBody>
      </p:sp>
      <p:sp>
        <p:nvSpPr>
          <p:cNvPr id="4" name="">
            <a:extLst xmlns:a="http://schemas.openxmlformats.org/drawingml/2006/main">
              <a:ext uri="{FF2B5EF4-FFF2-40B4-BE49-F238E27FC236}">
                <a16:creationId xmlns:a16="http://schemas.microsoft.com/office/drawing/2014/main" id="{C5B1A64E-74B1-4202-A54B-58F34201245C}"/>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95F5291-81C5-4CC1-882B-1DCCA450921E}"/>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SSD: flash/controller davranışı.</a:t>
            </a:r>
          </a:p>
        </p:txBody>
      </p:sp>
      <p:sp>
        <p:nvSpPr>
          <p:cNvPr id="6" name="">
            <a:extLst xmlns:a="http://schemas.openxmlformats.org/drawingml/2006/main">
              <a:ext uri="{FF2B5EF4-FFF2-40B4-BE49-F238E27FC236}">
                <a16:creationId xmlns:a16="http://schemas.microsoft.com/office/drawing/2014/main" id="{BD0CC117-5277-46D8-8CA9-282FF6BDA633}"/>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1E52748-DCC2-4776-9233-6EA4B0BECEB5}"/>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Random ve sequential aynı iş değildir.</a:t>
            </a:r>
          </a:p>
        </p:txBody>
      </p:sp>
      <p:sp>
        <p:nvSpPr>
          <p:cNvPr id="8" name="">
            <a:extLst xmlns:a="http://schemas.openxmlformats.org/drawingml/2006/main">
              <a:ext uri="{FF2B5EF4-FFF2-40B4-BE49-F238E27FC236}">
                <a16:creationId xmlns:a16="http://schemas.microsoft.com/office/drawing/2014/main" id="{48D3468A-9254-40D1-83BB-300E8EB4AAF9}"/>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Yedekleme ile küçük sorgular</a:t>
            </a:r>
          </a:p>
        </p:txBody>
      </p:sp>
      <p:sp>
        <p:nvSpPr>
          <p:cNvPr id="9" name="">
            <a:extLst xmlns:a="http://schemas.openxmlformats.org/drawingml/2006/main">
              <a:ext uri="{FF2B5EF4-FFF2-40B4-BE49-F238E27FC236}">
                <a16:creationId xmlns:a16="http://schemas.microsoft.com/office/drawing/2014/main" id="{C9A8A717-B3C3-480F-BB53-C4814B4F675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Aynı toplam byte farklı süre alır.</a:t>
            </a:r>
          </a:p>
        </p:txBody>
      </p:sp>
      <p:sp>
        <p:nvSpPr>
          <p:cNvPr id="10" name="">
            <a:extLst xmlns:a="http://schemas.openxmlformats.org/drawingml/2006/main">
              <a:ext uri="{FF2B5EF4-FFF2-40B4-BE49-F238E27FC236}">
                <a16:creationId xmlns:a16="http://schemas.microsoft.com/office/drawing/2014/main" id="{2E01F3CD-84DD-48D7-8F5D-9A60416743B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111D3232-0D23-44AB-B8B3-4EB2D263AE9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27</a:t>
            </a:r>
          </a:p>
        </p:txBody>
      </p:sp>
    </p:spTree>
    <p:extLst>
      <p:ext uri="{BB962C8B-B14F-4D97-AF65-F5344CB8AC3E}">
        <p14:creationId xmlns:p14="http://schemas.microsoft.com/office/powerpoint/2010/main" val="1672315115"/>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16DCDC-3E9E-4570-A769-85D7C910CF9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Gecikme hesabı: örnek HDD</a:t>
            </a:r>
          </a:p>
        </p:txBody>
      </p:sp>
      <p:sp>
        <p:nvSpPr>
          <p:cNvPr id="2" name="">
            <a:extLst xmlns:a="http://schemas.openxmlformats.org/drawingml/2006/main">
              <a:ext uri="{FF2B5EF4-FFF2-40B4-BE49-F238E27FC236}">
                <a16:creationId xmlns:a16="http://schemas.microsoft.com/office/drawing/2014/main" id="{F9B86AE5-F628-4A09-883C-5E5C0074E4C6}"/>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8C72981-6C95-42CB-9CFD-1013E8A8A568}"/>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Seek 4 ms; rotation 3 ms.</a:t>
            </a:r>
          </a:p>
        </p:txBody>
      </p:sp>
      <p:sp>
        <p:nvSpPr>
          <p:cNvPr id="4" name="">
            <a:extLst xmlns:a="http://schemas.openxmlformats.org/drawingml/2006/main">
              <a:ext uri="{FF2B5EF4-FFF2-40B4-BE49-F238E27FC236}">
                <a16:creationId xmlns:a16="http://schemas.microsoft.com/office/drawing/2014/main" id="{0004D6B9-B8E4-46F6-B978-827352B5E915}"/>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19CEF4D-E0DB-4732-A605-192464EA2EC2}"/>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Transfer 1 MiB / 100 MiB/s =10 ms.</a:t>
            </a:r>
          </a:p>
        </p:txBody>
      </p:sp>
      <p:sp>
        <p:nvSpPr>
          <p:cNvPr id="6" name="">
            <a:extLst xmlns:a="http://schemas.openxmlformats.org/drawingml/2006/main">
              <a:ext uri="{FF2B5EF4-FFF2-40B4-BE49-F238E27FC236}">
                <a16:creationId xmlns:a16="http://schemas.microsoft.com/office/drawing/2014/main" id="{8B7EC065-5439-495F-A40C-F6063AD2A498}"/>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6DF194D-721C-4693-8D1F-B5770137BFE4}"/>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Toplam model service time=17 ms.</a:t>
            </a:r>
          </a:p>
        </p:txBody>
      </p:sp>
      <p:sp>
        <p:nvSpPr>
          <p:cNvPr id="8" name="">
            <a:extLst xmlns:a="http://schemas.openxmlformats.org/drawingml/2006/main">
              <a:ext uri="{FF2B5EF4-FFF2-40B4-BE49-F238E27FC236}">
                <a16:creationId xmlns:a16="http://schemas.microsoft.com/office/drawing/2014/main" id="{0456F92E-C4D8-43B4-8212-0A91BE7FFFB5}"/>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Queue wait=8 ms ise gözlenen response?</a:t>
            </a:r>
          </a:p>
        </p:txBody>
      </p:sp>
      <p:sp>
        <p:nvSpPr>
          <p:cNvPr id="9" name="">
            <a:extLst xmlns:a="http://schemas.openxmlformats.org/drawingml/2006/main">
              <a:ext uri="{FF2B5EF4-FFF2-40B4-BE49-F238E27FC236}">
                <a16:creationId xmlns:a16="http://schemas.microsoft.com/office/drawing/2014/main" id="{E242A7FA-2DEF-4F3F-9A95-7DBE4ADC3A5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0" name="">
            <a:extLst xmlns:a="http://schemas.openxmlformats.org/drawingml/2006/main">
              <a:ext uri="{FF2B5EF4-FFF2-40B4-BE49-F238E27FC236}">
                <a16:creationId xmlns:a16="http://schemas.microsoft.com/office/drawing/2014/main" id="{DE795CB9-7823-44FD-B80E-CD01CEDAE1D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27</a:t>
            </a:r>
          </a:p>
        </p:txBody>
      </p:sp>
    </p:spTree>
    <p:extLst>
      <p:ext uri="{BB962C8B-B14F-4D97-AF65-F5344CB8AC3E}">
        <p14:creationId xmlns:p14="http://schemas.microsoft.com/office/powerpoint/2010/main" val="2044615184"/>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1023AD-347E-453A-B61B-CF50D7DE243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İlk kontrol ve ara</a:t>
            </a:r>
          </a:p>
        </p:txBody>
      </p:sp>
      <p:sp>
        <p:nvSpPr>
          <p:cNvPr id="2" name="">
            <a:extLst xmlns:a="http://schemas.openxmlformats.org/drawingml/2006/main">
              <a:ext uri="{FF2B5EF4-FFF2-40B4-BE49-F238E27FC236}">
                <a16:creationId xmlns:a16="http://schemas.microsoft.com/office/drawing/2014/main" id="{EB8965B3-0710-4D93-A934-2311DA50E281}"/>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4AD5767-671D-4B89-B321-8196270197D7}"/>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Interrupt veri mi taşır, event mi bildirir?</a:t>
            </a:r>
          </a:p>
        </p:txBody>
      </p:sp>
      <p:sp>
        <p:nvSpPr>
          <p:cNvPr id="4" name="">
            <a:extLst xmlns:a="http://schemas.openxmlformats.org/drawingml/2006/main">
              <a:ext uri="{FF2B5EF4-FFF2-40B4-BE49-F238E27FC236}">
                <a16:creationId xmlns:a16="http://schemas.microsoft.com/office/drawing/2014/main" id="{FAE72A3B-8B90-4B25-94DB-B435BCF96EEB}"/>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947A232-8917-4F1A-A7BB-54945031F23B}"/>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DMA driver işini sıfırlar mı?</a:t>
            </a:r>
          </a:p>
        </p:txBody>
      </p:sp>
      <p:sp>
        <p:nvSpPr>
          <p:cNvPr id="6" name="">
            <a:extLst xmlns:a="http://schemas.openxmlformats.org/drawingml/2006/main">
              <a:ext uri="{FF2B5EF4-FFF2-40B4-BE49-F238E27FC236}">
                <a16:creationId xmlns:a16="http://schemas.microsoft.com/office/drawing/2014/main" id="{A82CA77E-F1EC-456A-9AAC-7F1BA3EECB9C}"/>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7E66A1E-C489-43B6-9F0F-124F292E8592}"/>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Buffer overload’u sonsuza dek çözer mi?</a:t>
            </a:r>
          </a:p>
        </p:txBody>
      </p:sp>
      <p:sp>
        <p:nvSpPr>
          <p:cNvPr id="8" name="">
            <a:extLst xmlns:a="http://schemas.openxmlformats.org/drawingml/2006/main">
              <a:ext uri="{FF2B5EF4-FFF2-40B4-BE49-F238E27FC236}">
                <a16:creationId xmlns:a16="http://schemas.microsoft.com/office/drawing/2014/main" id="{83EE009D-7A11-4A9B-8215-F255570BDC4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9" name="">
            <a:extLst xmlns:a="http://schemas.openxmlformats.org/drawingml/2006/main">
              <a:ext uri="{FF2B5EF4-FFF2-40B4-BE49-F238E27FC236}">
                <a16:creationId xmlns:a16="http://schemas.microsoft.com/office/drawing/2014/main" id="{630413F6-732A-494F-89A9-DA130A99F75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27</a:t>
            </a:r>
          </a:p>
        </p:txBody>
      </p:sp>
    </p:spTree>
    <p:extLst>
      <p:ext uri="{BB962C8B-B14F-4D97-AF65-F5344CB8AC3E}">
        <p14:creationId xmlns:p14="http://schemas.microsoft.com/office/powerpoint/2010/main" val="114240313"/>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3C2ED79-8F09-4D2E-B413-E8A65EB09C7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Dosya adı, inode ve data</a:t>
            </a:r>
          </a:p>
        </p:txBody>
      </p:sp>
      <p:sp>
        <p:nvSpPr>
          <p:cNvPr id="2" name="">
            <a:extLst xmlns:a="http://schemas.openxmlformats.org/drawingml/2006/main">
              <a:ext uri="{FF2B5EF4-FFF2-40B4-BE49-F238E27FC236}">
                <a16:creationId xmlns:a16="http://schemas.microsoft.com/office/drawing/2014/main" id="{1383CC7D-5610-4BE7-B64A-70A8A44CF35D}"/>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B5B9F864-0195-476B-A067-2E4D474D41A0}"/>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Directory: name → file identity.</a:t>
            </a:r>
          </a:p>
        </p:txBody>
      </p:sp>
      <p:sp>
        <p:nvSpPr>
          <p:cNvPr id="4" name="">
            <a:extLst xmlns:a="http://schemas.openxmlformats.org/drawingml/2006/main">
              <a:ext uri="{FF2B5EF4-FFF2-40B4-BE49-F238E27FC236}">
                <a16:creationId xmlns:a16="http://schemas.microsoft.com/office/drawing/2014/main" id="{A976D4FF-2FE3-4D10-A804-B2E278D33328}"/>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287E68B-0DD4-4B96-A4D8-B6554BC6437A}"/>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Metadata: boyut, sahiplik, blok eşlemeleri.</a:t>
            </a:r>
          </a:p>
        </p:txBody>
      </p:sp>
      <p:sp>
        <p:nvSpPr>
          <p:cNvPr id="6" name="">
            <a:extLst xmlns:a="http://schemas.openxmlformats.org/drawingml/2006/main">
              <a:ext uri="{FF2B5EF4-FFF2-40B4-BE49-F238E27FC236}">
                <a16:creationId xmlns:a16="http://schemas.microsoft.com/office/drawing/2014/main" id="{4C034C55-FD9B-43D2-BF71-7D7402AE67F6}"/>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2A64D65-F3A6-4867-9B9E-528DF0564CB2}"/>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Data: kullanıcı içeriği.</a:t>
            </a:r>
          </a:p>
        </p:txBody>
      </p:sp>
      <p:sp>
        <p:nvSpPr>
          <p:cNvPr id="8" name="">
            <a:extLst xmlns:a="http://schemas.openxmlformats.org/drawingml/2006/main">
              <a:ext uri="{FF2B5EF4-FFF2-40B4-BE49-F238E27FC236}">
                <a16:creationId xmlns:a16="http://schemas.microsoft.com/office/drawing/2014/main" id="{339ED7D2-3773-44F2-B28A-D57EC1CEE63F}"/>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Dosyayı yeniden adlandırmak</a:t>
            </a:r>
          </a:p>
        </p:txBody>
      </p:sp>
      <p:sp>
        <p:nvSpPr>
          <p:cNvPr id="9" name="">
            <a:extLst xmlns:a="http://schemas.openxmlformats.org/drawingml/2006/main">
              <a:ext uri="{FF2B5EF4-FFF2-40B4-BE49-F238E27FC236}">
                <a16:creationId xmlns:a16="http://schemas.microsoft.com/office/drawing/2014/main" id="{DCDF51E5-9251-42D7-A042-ED0191E90188}"/>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İçerik aynıyken isim değişebilir.</a:t>
            </a:r>
          </a:p>
        </p:txBody>
      </p:sp>
      <p:sp>
        <p:nvSpPr>
          <p:cNvPr id="10" name="">
            <a:extLst xmlns:a="http://schemas.openxmlformats.org/drawingml/2006/main">
              <a:ext uri="{FF2B5EF4-FFF2-40B4-BE49-F238E27FC236}">
                <a16:creationId xmlns:a16="http://schemas.microsoft.com/office/drawing/2014/main" id="{A9A01961-4175-41FC-97C8-4415044C502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9EB4C966-4D92-4217-AD74-0CEEEB3EC0D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27</a:t>
            </a:r>
          </a:p>
        </p:txBody>
      </p:sp>
    </p:spTree>
    <p:extLst>
      <p:ext uri="{BB962C8B-B14F-4D97-AF65-F5344CB8AC3E}">
        <p14:creationId xmlns:p14="http://schemas.microsoft.com/office/powerpoint/2010/main" val="1314678369"/>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9D6F42-BF9E-4FB3-B5EA-3957BE213EA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open/read izini çöz</a:t>
            </a:r>
          </a:p>
        </p:txBody>
      </p:sp>
      <p:sp>
        <p:nvSpPr>
          <p:cNvPr id="2" name="">
            <a:extLst xmlns:a="http://schemas.openxmlformats.org/drawingml/2006/main">
              <a:ext uri="{FF2B5EF4-FFF2-40B4-BE49-F238E27FC236}">
                <a16:creationId xmlns:a16="http://schemas.microsoft.com/office/drawing/2014/main" id="{48B8ADD8-5F29-4822-8749-CC8041F61F88}"/>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E219B7A-40FD-422E-99F6-6B6B501E600D}"/>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Path bileşenlerini çöz.</a:t>
            </a:r>
          </a:p>
        </p:txBody>
      </p:sp>
      <p:sp>
        <p:nvSpPr>
          <p:cNvPr id="4" name="">
            <a:extLst xmlns:a="http://schemas.openxmlformats.org/drawingml/2006/main">
              <a:ext uri="{FF2B5EF4-FFF2-40B4-BE49-F238E27FC236}">
                <a16:creationId xmlns:a16="http://schemas.microsoft.com/office/drawing/2014/main" id="{5FEB030E-1626-456F-B374-4B24299A7187}"/>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84AD41A-BFEB-4AD6-B775-159AAAC32230}"/>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Yetkiyi kontrol et ve handle kur.</a:t>
            </a:r>
          </a:p>
        </p:txBody>
      </p:sp>
      <p:sp>
        <p:nvSpPr>
          <p:cNvPr id="6" name="">
            <a:extLst xmlns:a="http://schemas.openxmlformats.org/drawingml/2006/main">
              <a:ext uri="{FF2B5EF4-FFF2-40B4-BE49-F238E27FC236}">
                <a16:creationId xmlns:a16="http://schemas.microsoft.com/office/drawing/2014/main" id="{56020BF4-40B8-4893-A217-6A4D923F6E15}"/>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DCCC6CF3-EB64-447D-8ADD-FF75FDA35BDD}"/>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Offset → block mapping → cache/device.</a:t>
            </a:r>
          </a:p>
        </p:txBody>
      </p:sp>
      <p:sp>
        <p:nvSpPr>
          <p:cNvPr id="8" name="">
            <a:extLst xmlns:a="http://schemas.openxmlformats.org/drawingml/2006/main">
              <a:ext uri="{FF2B5EF4-FFF2-40B4-BE49-F238E27FC236}">
                <a16:creationId xmlns:a16="http://schemas.microsoft.com/office/drawing/2014/main" id="{7CB8A250-D7B0-4710-AFCB-A78394275DE2}"/>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Binlerce küçük dosya</a:t>
            </a:r>
          </a:p>
        </p:txBody>
      </p:sp>
      <p:sp>
        <p:nvSpPr>
          <p:cNvPr id="9" name="">
            <a:extLst xmlns:a="http://schemas.openxmlformats.org/drawingml/2006/main">
              <a:ext uri="{FF2B5EF4-FFF2-40B4-BE49-F238E27FC236}">
                <a16:creationId xmlns:a16="http://schemas.microsoft.com/office/drawing/2014/main" id="{725EDD74-6A0F-44CF-B40A-89647DA085B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Az byte okunsa da metadata iş yükü yoğun olabilir.</a:t>
            </a:r>
          </a:p>
        </p:txBody>
      </p:sp>
      <p:sp>
        <p:nvSpPr>
          <p:cNvPr id="10" name="">
            <a:extLst xmlns:a="http://schemas.openxmlformats.org/drawingml/2006/main">
              <a:ext uri="{FF2B5EF4-FFF2-40B4-BE49-F238E27FC236}">
                <a16:creationId xmlns:a16="http://schemas.microsoft.com/office/drawing/2014/main" id="{19B4EB62-4EED-4601-8561-A5325B65282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89A2E2C2-1F42-414A-8A01-66F8C3BD476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27</a:t>
            </a:r>
          </a:p>
        </p:txBody>
      </p:sp>
    </p:spTree>
    <p:extLst>
      <p:ext uri="{BB962C8B-B14F-4D97-AF65-F5344CB8AC3E}">
        <p14:creationId xmlns:p14="http://schemas.microsoft.com/office/powerpoint/2010/main" val="95220122"/>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14B731-30AF-491E-84AB-1E536EAA5A3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Allocation: boş olanı takip et</a:t>
            </a:r>
          </a:p>
        </p:txBody>
      </p:sp>
      <p:sp>
        <p:nvSpPr>
          <p:cNvPr id="2" name="">
            <a:extLst xmlns:a="http://schemas.openxmlformats.org/drawingml/2006/main">
              <a:ext uri="{FF2B5EF4-FFF2-40B4-BE49-F238E27FC236}">
                <a16:creationId xmlns:a16="http://schemas.microsoft.com/office/drawing/2014/main" id="{6B3F6DFC-26BF-4E5E-A2A6-15574ABAAEBD}"/>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6ED7BF2-6810-416B-B589-76C989168302}"/>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Bitmap/free list: ayrılmış bloklar.</a:t>
            </a:r>
          </a:p>
        </p:txBody>
      </p:sp>
      <p:sp>
        <p:nvSpPr>
          <p:cNvPr id="4" name="">
            <a:extLst xmlns:a="http://schemas.openxmlformats.org/drawingml/2006/main">
              <a:ext uri="{FF2B5EF4-FFF2-40B4-BE49-F238E27FC236}">
                <a16:creationId xmlns:a16="http://schemas.microsoft.com/office/drawing/2014/main" id="{1C1542BA-C9FD-4286-B995-D6DDB5EC364F}"/>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285A27A-43E4-4B8D-B80A-2E8A33654A76}"/>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Inode mapping: dosyanın blokları.</a:t>
            </a:r>
          </a:p>
        </p:txBody>
      </p:sp>
      <p:sp>
        <p:nvSpPr>
          <p:cNvPr id="6" name="">
            <a:extLst xmlns:a="http://schemas.openxmlformats.org/drawingml/2006/main">
              <a:ext uri="{FF2B5EF4-FFF2-40B4-BE49-F238E27FC236}">
                <a16:creationId xmlns:a16="http://schemas.microsoft.com/office/drawing/2014/main" id="{7AF2E807-9A05-442F-BF0C-2D796B457A64}"/>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F8576704-45FE-405C-8B84-8C1205C8957E}"/>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İkisi birbiriyle tutarlı olmalı.</a:t>
            </a:r>
          </a:p>
        </p:txBody>
      </p:sp>
      <p:sp>
        <p:nvSpPr>
          <p:cNvPr id="8" name="">
            <a:extLst xmlns:a="http://schemas.openxmlformats.org/drawingml/2006/main">
              <a:ext uri="{FF2B5EF4-FFF2-40B4-BE49-F238E27FC236}">
                <a16:creationId xmlns:a16="http://schemas.microsoft.com/office/drawing/2014/main" id="{2EEF10FA-2201-4B30-9135-BAB3555A24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9" name="">
            <a:extLst xmlns:a="http://schemas.openxmlformats.org/drawingml/2006/main">
              <a:ext uri="{FF2B5EF4-FFF2-40B4-BE49-F238E27FC236}">
                <a16:creationId xmlns:a16="http://schemas.microsoft.com/office/drawing/2014/main" id="{6936984B-3AD2-4F2C-82DB-A1A323164AE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15 / 27</a:t>
            </a:r>
          </a:p>
        </p:txBody>
      </p:sp>
    </p:spTree>
    <p:extLst>
      <p:ext uri="{BB962C8B-B14F-4D97-AF65-F5344CB8AC3E}">
        <p14:creationId xmlns:p14="http://schemas.microsoft.com/office/powerpoint/2010/main" val="1145879582"/>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F6B9D1-8364-4389-89BB-DD5197AC7F6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write döndü: hangi katmanda?</a:t>
            </a:r>
          </a:p>
        </p:txBody>
      </p:sp>
      <p:sp>
        <p:nvSpPr>
          <p:cNvPr id="2" name="">
            <a:extLst xmlns:a="http://schemas.openxmlformats.org/drawingml/2006/main">
              <a:ext uri="{FF2B5EF4-FFF2-40B4-BE49-F238E27FC236}">
                <a16:creationId xmlns:a16="http://schemas.microsoft.com/office/drawing/2014/main" id="{83FBCC15-614D-4106-AE50-9B7ADF889F2F}"/>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56621E8-1841-487A-8CD7-6972FE291AF3}"/>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Application buffer → kernel cache → device.</a:t>
            </a:r>
          </a:p>
        </p:txBody>
      </p:sp>
      <p:sp>
        <p:nvSpPr>
          <p:cNvPr id="4" name="">
            <a:extLst xmlns:a="http://schemas.openxmlformats.org/drawingml/2006/main">
              <a:ext uri="{FF2B5EF4-FFF2-40B4-BE49-F238E27FC236}">
                <a16:creationId xmlns:a16="http://schemas.microsoft.com/office/drawing/2014/main" id="{8EAA01CC-98B4-4F6A-A166-9FDF6B11FA7B}"/>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909AF37-23FC-4DD5-9A3B-35B72091B1B4}"/>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Başarılı write tam byte sayısını garanti etmeyebilir.</a:t>
            </a:r>
          </a:p>
        </p:txBody>
      </p:sp>
      <p:sp>
        <p:nvSpPr>
          <p:cNvPr id="6" name="">
            <a:extLst xmlns:a="http://schemas.openxmlformats.org/drawingml/2006/main">
              <a:ext uri="{FF2B5EF4-FFF2-40B4-BE49-F238E27FC236}">
                <a16:creationId xmlns:a16="http://schemas.microsoft.com/office/drawing/2014/main" id="{A508D7EA-D708-4E7B-8A74-05B8F88C5546}"/>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EA7F1F20-E654-473C-9FB9-2B5E3DC3381D}"/>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Geri dönüş power-loss durability demek değildir.</a:t>
            </a:r>
          </a:p>
        </p:txBody>
      </p:sp>
      <p:sp>
        <p:nvSpPr>
          <p:cNvPr id="8" name="">
            <a:extLst xmlns:a="http://schemas.openxmlformats.org/drawingml/2006/main">
              <a:ext uri="{FF2B5EF4-FFF2-40B4-BE49-F238E27FC236}">
                <a16:creationId xmlns:a16="http://schemas.microsoft.com/office/drawing/2014/main" id="{68E76C09-BED1-42AB-BE55-83B7A3F2428E}"/>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Log kaydı</a:t>
            </a:r>
          </a:p>
        </p:txBody>
      </p:sp>
      <p:sp>
        <p:nvSpPr>
          <p:cNvPr id="9" name="">
            <a:extLst xmlns:a="http://schemas.openxmlformats.org/drawingml/2006/main">
              <a:ext uri="{FF2B5EF4-FFF2-40B4-BE49-F238E27FC236}">
                <a16:creationId xmlns:a16="http://schemas.microsoft.com/office/drawing/2014/main" id="{10BA3EE1-B862-4218-B68B-57FEF7CD250F}"/>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Satır görünürken power loss sonrası kaybolabilir.</a:t>
            </a:r>
          </a:p>
        </p:txBody>
      </p:sp>
      <p:sp>
        <p:nvSpPr>
          <p:cNvPr id="10" name="">
            <a:extLst xmlns:a="http://schemas.openxmlformats.org/drawingml/2006/main">
              <a:ext uri="{FF2B5EF4-FFF2-40B4-BE49-F238E27FC236}">
                <a16:creationId xmlns:a16="http://schemas.microsoft.com/office/drawing/2014/main" id="{33018B6E-A176-4CFC-8E12-DF890670D8F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B5174D8C-FF36-436B-8C68-6CFD80BA694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16 / 27</a:t>
            </a:r>
          </a:p>
        </p:txBody>
      </p:sp>
    </p:spTree>
    <p:extLst>
      <p:ext uri="{BB962C8B-B14F-4D97-AF65-F5344CB8AC3E}">
        <p14:creationId xmlns:p14="http://schemas.microsoft.com/office/powerpoint/2010/main" val="2099761419"/>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135CCC-1801-43BA-B170-B13B2248827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fsync ve directory ayrımı</a:t>
            </a:r>
          </a:p>
        </p:txBody>
      </p:sp>
      <p:sp>
        <p:nvSpPr>
          <p:cNvPr id="2" name="">
            <a:extLst xmlns:a="http://schemas.openxmlformats.org/drawingml/2006/main">
              <a:ext uri="{FF2B5EF4-FFF2-40B4-BE49-F238E27FC236}">
                <a16:creationId xmlns:a16="http://schemas.microsoft.com/office/drawing/2014/main" id="{F8A53B01-B235-4EC9-81D2-B00747306ABC}"/>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E00CBF3-C7B9-4DF3-AF1E-8533E2CB3D83}"/>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File data/metadata synchronization.</a:t>
            </a:r>
          </a:p>
        </p:txBody>
      </p:sp>
      <p:sp>
        <p:nvSpPr>
          <p:cNvPr id="4" name="">
            <a:extLst xmlns:a="http://schemas.openxmlformats.org/drawingml/2006/main">
              <a:ext uri="{FF2B5EF4-FFF2-40B4-BE49-F238E27FC236}">
                <a16:creationId xmlns:a16="http://schemas.microsoft.com/office/drawing/2014/main" id="{820D626F-3E47-436D-961F-F0E032376CF3}"/>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0B1DCF85-FC20-42E3-BC5D-F39F8488981D}"/>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Yeni directory entry ayrı kalıcılık konusu.</a:t>
            </a:r>
          </a:p>
        </p:txBody>
      </p:sp>
      <p:sp>
        <p:nvSpPr>
          <p:cNvPr id="6" name="">
            <a:extLst xmlns:a="http://schemas.openxmlformats.org/drawingml/2006/main">
              <a:ext uri="{FF2B5EF4-FFF2-40B4-BE49-F238E27FC236}">
                <a16:creationId xmlns:a16="http://schemas.microsoft.com/office/drawing/2014/main" id="{52258CF5-3424-49F3-A0C0-80160E373578}"/>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C2852079-9DD1-449B-8FD4-DC8D16AB887F}"/>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Return code ve storage contract önemlidir.</a:t>
            </a:r>
          </a:p>
        </p:txBody>
      </p:sp>
      <p:sp>
        <p:nvSpPr>
          <p:cNvPr id="8" name="">
            <a:extLst xmlns:a="http://schemas.openxmlformats.org/drawingml/2006/main">
              <a:ext uri="{FF2B5EF4-FFF2-40B4-BE49-F238E27FC236}">
                <a16:creationId xmlns:a16="http://schemas.microsoft.com/office/drawing/2014/main" id="{1DA4E1D8-BF8F-4BEB-B638-517D74A0D705}"/>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Yeni rapor dosyası</a:t>
            </a:r>
          </a:p>
        </p:txBody>
      </p:sp>
      <p:sp>
        <p:nvSpPr>
          <p:cNvPr id="9" name="">
            <a:extLst xmlns:a="http://schemas.openxmlformats.org/drawingml/2006/main">
              <a:ext uri="{FF2B5EF4-FFF2-40B4-BE49-F238E27FC236}">
                <a16:creationId xmlns:a16="http://schemas.microsoft.com/office/drawing/2014/main" id="{FAF9FA82-9746-4E26-A06D-F173652D16C6}"/>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Dosya içeriği ile ismin bulunabilirliği ayrı.</a:t>
            </a:r>
          </a:p>
        </p:txBody>
      </p:sp>
      <p:sp>
        <p:nvSpPr>
          <p:cNvPr id="10" name="">
            <a:extLst xmlns:a="http://schemas.openxmlformats.org/drawingml/2006/main">
              <a:ext uri="{FF2B5EF4-FFF2-40B4-BE49-F238E27FC236}">
                <a16:creationId xmlns:a16="http://schemas.microsoft.com/office/drawing/2014/main" id="{EF0CFE14-8617-4F96-A187-A3FB1821119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AB1E85D7-66BD-4B25-B423-CBE27AFA392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17 / 27</a:t>
            </a:r>
          </a:p>
        </p:txBody>
      </p:sp>
    </p:spTree>
    <p:extLst>
      <p:ext uri="{BB962C8B-B14F-4D97-AF65-F5344CB8AC3E}">
        <p14:creationId xmlns:p14="http://schemas.microsoft.com/office/powerpoint/2010/main" val="162201052"/>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89860D-BF7C-4CDB-AF21-218C2F20961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Crash modeli: açık varsayımlar</a:t>
            </a:r>
          </a:p>
        </p:txBody>
      </p:sp>
      <p:sp>
        <p:nvSpPr>
          <p:cNvPr id="2" name="">
            <a:extLst xmlns:a="http://schemas.openxmlformats.org/drawingml/2006/main">
              <a:ext uri="{FF2B5EF4-FFF2-40B4-BE49-F238E27FC236}">
                <a16:creationId xmlns:a16="http://schemas.microsoft.com/office/drawing/2014/main" id="{E7F9B0BC-7DEC-4878-8673-278FAACF3911}"/>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74522B5-8653-41A3-A254-079F7EAFF552}"/>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Başlangıç OLD=[block4].</a:t>
            </a:r>
          </a:p>
        </p:txBody>
      </p:sp>
      <p:sp>
        <p:nvSpPr>
          <p:cNvPr id="4" name="">
            <a:extLst xmlns:a="http://schemas.openxmlformats.org/drawingml/2006/main">
              <a:ext uri="{FF2B5EF4-FFF2-40B4-BE49-F238E27FC236}">
                <a16:creationId xmlns:a16="http://schemas.microsoft.com/office/drawing/2014/main" id="{2DF373CD-E1F3-4DAB-B184-FBFEC3FAEC69}"/>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D374BF03-25F3-4525-9D81-41E6869C65EF}"/>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Hedef NEW=[block4,block5].</a:t>
            </a:r>
          </a:p>
        </p:txBody>
      </p:sp>
      <p:sp>
        <p:nvSpPr>
          <p:cNvPr id="6" name="">
            <a:extLst xmlns:a="http://schemas.openxmlformats.org/drawingml/2006/main">
              <a:ext uri="{FF2B5EF4-FFF2-40B4-BE49-F238E27FC236}">
                <a16:creationId xmlns:a16="http://schemas.microsoft.com/office/drawing/2014/main" id="{0E612C40-447F-463C-B54E-80A22B4FF985}"/>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FE2C7C80-B004-43EE-B25F-DD799EE134F2}"/>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Her durable model step atomik; RAM kaybolur.</a:t>
            </a:r>
          </a:p>
        </p:txBody>
      </p:sp>
      <p:sp>
        <p:nvSpPr>
          <p:cNvPr id="8" name="">
            <a:extLst xmlns:a="http://schemas.openxmlformats.org/drawingml/2006/main">
              <a:ext uri="{FF2B5EF4-FFF2-40B4-BE49-F238E27FC236}">
                <a16:creationId xmlns:a16="http://schemas.microsoft.com/office/drawing/2014/main" id="{B007BB70-181C-4D6A-9837-1BFE5E010BED}"/>
              </a:ext>
            </a:extLst>
          </p:cNvPr>
          <p:cNvSpPr>
            <a:spLocks xmlns:a="http://schemas.openxmlformats.org/drawingml/2006/main" noGrp="1"/>
          </p:cNvSpPr>
          <p:nvPr/>
        </p:nvSpPr>
        <p:spPr>
          <a:xfrm xmlns:a="http://schemas.openxmlformats.org/drawingml/2006/main">
            <a:off x="609600" y="5905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Model ≠ gerçek filesystem crash testi</a:t>
            </a:r>
          </a:p>
        </p:txBody>
      </p:sp>
      <p:sp>
        <p:nvSpPr>
          <p:cNvPr id="9" name="">
            <a:extLst xmlns:a="http://schemas.openxmlformats.org/drawingml/2006/main">
              <a:ext uri="{FF2B5EF4-FFF2-40B4-BE49-F238E27FC236}">
                <a16:creationId xmlns:a16="http://schemas.microsoft.com/office/drawing/2014/main" id="{4E97EA70-D0C9-4D39-BF88-0C884B22C1B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0" name="">
            <a:extLst xmlns:a="http://schemas.openxmlformats.org/drawingml/2006/main">
              <a:ext uri="{FF2B5EF4-FFF2-40B4-BE49-F238E27FC236}">
                <a16:creationId xmlns:a16="http://schemas.microsoft.com/office/drawing/2014/main" id="{B66C97A3-2663-4972-B19F-5232D9D0CAA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18 / 27</a:t>
            </a:r>
          </a:p>
        </p:txBody>
      </p:sp>
    </p:spTree>
    <p:extLst>
      <p:ext uri="{BB962C8B-B14F-4D97-AF65-F5344CB8AC3E}">
        <p14:creationId xmlns:p14="http://schemas.microsoft.com/office/powerpoint/2010/main" val="135233272"/>
      </p:ext>
    </p:extLst>
  </p:cSld>
</p:sld>
</file>

<file path=ppt/slides/slide1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4D9ACA-FD7F-4755-B53D-9F6358D9A3E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Journalsız üç yazma</a:t>
            </a:r>
          </a:p>
        </p:txBody>
      </p:sp>
      <p:sp>
        <p:nvSpPr>
          <p:cNvPr id="2" name="">
            <a:extLst xmlns:a="http://schemas.openxmlformats.org/drawingml/2006/main">
              <a:ext uri="{FF2B5EF4-FFF2-40B4-BE49-F238E27FC236}">
                <a16:creationId xmlns:a16="http://schemas.microsoft.com/office/drawing/2014/main" id="{FEE96B76-808A-4C08-851E-2F05D6C932FD}"/>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D: block5 yeni içerik.</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B: bitmap block5’i allocated yapar.</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I: inode block5’i ekler.</a:t>
            </a:r>
          </a:p>
        </p:txBody>
      </p:sp>
      <p:sp>
        <p:nvSpPr>
          <p:cNvPr id="3" name="">
            <a:extLst xmlns:a="http://schemas.openxmlformats.org/drawingml/2006/main">
              <a:ext uri="{FF2B5EF4-FFF2-40B4-BE49-F238E27FC236}">
                <a16:creationId xmlns:a16="http://schemas.microsoft.com/office/drawing/2014/main" id="{DBCD92F6-B7A8-4828-A121-433C177F31A3}"/>
              </a:ext>
            </a:extLst>
          </p:cNvPr>
          <p:cNvSpPr>
            <a:spLocks xmlns:a="http://schemas.openxmlformats.org/drawingml/2006/main" noGrp="1"/>
          </p:cNvSpPr>
          <p:nvPr/>
        </p:nvSpPr>
        <p:spPr>
          <a:xfrm xmlns:a="http://schemas.openxmlformats.org/drawingml/2006/main">
            <a:off x="742950" y="2809875"/>
            <a:ext cx="10715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OLD: allocated={4}, inode=[4], data5=STALE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D: data5=NEW</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 allocated={4,5}</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I: inode=[4,5]</a:t>
            </a:r>
          </a:p>
        </p:txBody>
      </p:sp>
      <p:sp>
        <p:nvSpPr>
          <p:cNvPr id="4" name="">
            <a:extLst xmlns:a="http://schemas.openxmlformats.org/drawingml/2006/main">
              <a:ext uri="{FF2B5EF4-FFF2-40B4-BE49-F238E27FC236}">
                <a16:creationId xmlns:a16="http://schemas.microsoft.com/office/drawing/2014/main" id="{790023D9-0DB7-4535-A21E-F573A990F017}"/>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D+B sonrası crash: yeni data var diye her şey doğru mu?</a:t>
            </a:r>
          </a:p>
        </p:txBody>
      </p:sp>
      <p:sp>
        <p:nvSpPr>
          <p:cNvPr id="5" name="">
            <a:extLst xmlns:a="http://schemas.openxmlformats.org/drawingml/2006/main">
              <a:ext uri="{FF2B5EF4-FFF2-40B4-BE49-F238E27FC236}">
                <a16:creationId xmlns:a16="http://schemas.microsoft.com/office/drawing/2014/main" id="{37DF8402-2CED-459A-BE42-0D09C36961D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6" name="">
            <a:extLst xmlns:a="http://schemas.openxmlformats.org/drawingml/2006/main">
              <a:ext uri="{FF2B5EF4-FFF2-40B4-BE49-F238E27FC236}">
                <a16:creationId xmlns:a16="http://schemas.microsoft.com/office/drawing/2014/main" id="{7F10D7E9-950E-424C-83AC-48191C39422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19 / 27</a:t>
            </a:r>
          </a:p>
        </p:txBody>
      </p:sp>
    </p:spTree>
    <p:extLst>
      <p:ext uri="{BB962C8B-B14F-4D97-AF65-F5344CB8AC3E}">
        <p14:creationId xmlns:p14="http://schemas.microsoft.com/office/powerpoint/2010/main" val="851166821"/>
      </p:ext>
    </p:extLst>
  </p:cSld>
</p:sld>
</file>

<file path=ppt/slides/slide2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B41CB7-711D-4DD6-9A04-E0A5B084E0F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Sekiz durable kombinasyon</a:t>
            </a:r>
          </a:p>
        </p:txBody>
      </p:sp>
      <p:sp>
        <p:nvSpPr>
          <p:cNvPr id="2" name="">
            <a:extLst xmlns:a="http://schemas.openxmlformats.org/drawingml/2006/main">
              <a:ext uri="{FF2B5EF4-FFF2-40B4-BE49-F238E27FC236}">
                <a16:creationId xmlns:a16="http://schemas.microsoft.com/office/drawing/2014/main" id="{EFA47875-8198-4A95-88E9-D98EED5211BF}"/>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A614E48E-5D75-4D74-95DD-8E5B804357E6}"/>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3 bağımsız yazma: 2³ state.</a:t>
            </a:r>
          </a:p>
        </p:txBody>
      </p:sp>
      <p:sp>
        <p:nvSpPr>
          <p:cNvPr id="4" name="">
            <a:extLst xmlns:a="http://schemas.openxmlformats.org/drawingml/2006/main">
              <a:ext uri="{FF2B5EF4-FFF2-40B4-BE49-F238E27FC236}">
                <a16:creationId xmlns:a16="http://schemas.microsoft.com/office/drawing/2014/main" id="{B13E81E9-CD35-4677-A37D-4D5FFAFAEB82}"/>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616F078-1B18-4994-AD93-5F7010DA120F}"/>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Metadata consistency ≠ data freshness.</a:t>
            </a:r>
          </a:p>
        </p:txBody>
      </p:sp>
      <p:sp>
        <p:nvSpPr>
          <p:cNvPr id="6" name="">
            <a:extLst xmlns:a="http://schemas.openxmlformats.org/drawingml/2006/main">
              <a:ext uri="{FF2B5EF4-FFF2-40B4-BE49-F238E27FC236}">
                <a16:creationId xmlns:a16="http://schemas.microsoft.com/office/drawing/2014/main" id="{F5C5915B-D951-4A29-A718-7FA1306FC287}"/>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6EC7A33-9D67-42F7-A285-6DD47D2AE8C6}"/>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OLD kaybı ile bozuk NEW’i ayır.</a:t>
            </a:r>
          </a:p>
        </p:txBody>
      </p:sp>
      <p:sp>
        <p:nvSpPr>
          <p:cNvPr id="8" name="">
            <a:extLst xmlns:a="http://schemas.openxmlformats.org/drawingml/2006/main">
              <a:ext uri="{FF2B5EF4-FFF2-40B4-BE49-F238E27FC236}">
                <a16:creationId xmlns:a16="http://schemas.microsoft.com/office/drawing/2014/main" id="{238B7748-1C60-46F0-92BB-E2DC52128A60}"/>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Kayıp son mesaj</a:t>
            </a:r>
          </a:p>
        </p:txBody>
      </p:sp>
      <p:sp>
        <p:nvSpPr>
          <p:cNvPr id="9" name="">
            <a:extLst xmlns:a="http://schemas.openxmlformats.org/drawingml/2006/main">
              <a:ext uri="{FF2B5EF4-FFF2-40B4-BE49-F238E27FC236}">
                <a16:creationId xmlns:a16="http://schemas.microsoft.com/office/drawing/2014/main" id="{B662BD62-C9B6-4A30-A1DE-7F72C8DF027B}"/>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Dosya yapısı doğru olup son içerik eksik olabilir.</a:t>
            </a:r>
          </a:p>
        </p:txBody>
      </p:sp>
      <p:sp>
        <p:nvSpPr>
          <p:cNvPr id="10" name="">
            <a:extLst xmlns:a="http://schemas.openxmlformats.org/drawingml/2006/main">
              <a:ext uri="{FF2B5EF4-FFF2-40B4-BE49-F238E27FC236}">
                <a16:creationId xmlns:a16="http://schemas.microsoft.com/office/drawing/2014/main" id="{9E1B2B2B-8876-47B0-8600-DCDD5904896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8FF8955A-2E5B-453A-8CD2-1B1CE97BDF2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20 / 27</a:t>
            </a:r>
          </a:p>
        </p:txBody>
      </p:sp>
    </p:spTree>
    <p:extLst>
      <p:ext uri="{BB962C8B-B14F-4D97-AF65-F5344CB8AC3E}">
        <p14:creationId xmlns:p14="http://schemas.microsoft.com/office/powerpoint/2010/main" val="2085528204"/>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8E725C-BEC4-435A-926A-EB6AE5A323F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Journal: önce niyeti kalıcı kaydet</a:t>
            </a:r>
          </a:p>
        </p:txBody>
      </p:sp>
      <p:sp>
        <p:nvSpPr>
          <p:cNvPr id="2" name="">
            <a:extLst xmlns:a="http://schemas.openxmlformats.org/drawingml/2006/main">
              <a:ext uri="{FF2B5EF4-FFF2-40B4-BE49-F238E27FC236}">
                <a16:creationId xmlns:a16="http://schemas.microsoft.com/office/drawing/2014/main" id="{04EDAA6D-FCC2-4552-8870-D4B1B8BEE45D}"/>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Redo payload durable.</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Commit payload’dan sonra durable.</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Home install sonra; clear en son.</a:t>
            </a:r>
          </a:p>
        </p:txBody>
      </p:sp>
      <p:sp>
        <p:nvSpPr>
          <p:cNvPr id="3" name="">
            <a:extLst xmlns:a="http://schemas.openxmlformats.org/drawingml/2006/main">
              <a:ext uri="{FF2B5EF4-FFF2-40B4-BE49-F238E27FC236}">
                <a16:creationId xmlns:a16="http://schemas.microsoft.com/office/drawing/2014/main" id="{B347C4B4-7BDC-4551-B97A-7CB6BF4FB00E}"/>
              </a:ext>
            </a:extLst>
          </p:cNvPr>
          <p:cNvSpPr>
            <a:spLocks xmlns:a="http://schemas.openxmlformats.org/drawingml/2006/main" noGrp="1"/>
          </p:cNvSpPr>
          <p:nvPr/>
        </p:nvSpPr>
        <p:spPr>
          <a:xfrm xmlns:a="http://schemas.openxmlformats.org/drawingml/2006/main">
            <a:off x="742950" y="2809875"/>
            <a:ext cx="10715625"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J.payload → J.commit → home.D → home.B</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home.I → J.clear</a:t>
            </a:r>
          </a:p>
        </p:txBody>
      </p:sp>
      <p:sp>
        <p:nvSpPr>
          <p:cNvPr id="4" name="">
            <a:extLst xmlns:a="http://schemas.openxmlformats.org/drawingml/2006/main">
              <a:ext uri="{FF2B5EF4-FFF2-40B4-BE49-F238E27FC236}">
                <a16:creationId xmlns:a16="http://schemas.microsoft.com/office/drawing/2014/main" id="{558B522F-0A01-4145-A8BF-00B4C4E6FCE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5" name="">
            <a:extLst xmlns:a="http://schemas.openxmlformats.org/drawingml/2006/main">
              <a:ext uri="{FF2B5EF4-FFF2-40B4-BE49-F238E27FC236}">
                <a16:creationId xmlns:a16="http://schemas.microsoft.com/office/drawing/2014/main" id="{9223C3CD-6DB6-4296-BEE1-79C801CC5CB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21 / 27</a:t>
            </a:r>
          </a:p>
        </p:txBody>
      </p:sp>
    </p:spTree>
    <p:extLst>
      <p:ext uri="{BB962C8B-B14F-4D97-AF65-F5344CB8AC3E}">
        <p14:creationId xmlns:p14="http://schemas.microsoft.com/office/powerpoint/2010/main" val="96884374"/>
      </p:ext>
    </p:extLst>
  </p:cSld>
</p:sld>
</file>

<file path=ppt/slides/slide2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0437B5-0C0E-455A-883C-E4B88E210CF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Commit öncesi ve sonrası crash</a:t>
            </a:r>
          </a:p>
        </p:txBody>
      </p:sp>
      <p:sp>
        <p:nvSpPr>
          <p:cNvPr id="2" name="">
            <a:extLst xmlns:a="http://schemas.openxmlformats.org/drawingml/2006/main">
              <a:ext uri="{FF2B5EF4-FFF2-40B4-BE49-F238E27FC236}">
                <a16:creationId xmlns:a16="http://schemas.microsoft.com/office/drawing/2014/main" id="{6D2EFC30-CB7A-4093-B8BF-EA4F2BF19579}"/>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C167B345-AC71-415F-8E57-BF1924250904}"/>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Commit öncesi: uncommitted log yok sayılır.</a:t>
            </a:r>
          </a:p>
        </p:txBody>
      </p:sp>
      <p:sp>
        <p:nvSpPr>
          <p:cNvPr id="4" name="">
            <a:extLst xmlns:a="http://schemas.openxmlformats.org/drawingml/2006/main">
              <a:ext uri="{FF2B5EF4-FFF2-40B4-BE49-F238E27FC236}">
                <a16:creationId xmlns:a16="http://schemas.microsoft.com/office/drawing/2014/main" id="{66520A44-6464-40B2-B142-958B29B913BE}"/>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6F0A399-51FC-4D45-A553-D0D6B1B388E9}"/>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Commit sonrası: replay → NEW.</a:t>
            </a:r>
          </a:p>
        </p:txBody>
      </p:sp>
      <p:sp>
        <p:nvSpPr>
          <p:cNvPr id="6" name="">
            <a:extLst xmlns:a="http://schemas.openxmlformats.org/drawingml/2006/main">
              <a:ext uri="{FF2B5EF4-FFF2-40B4-BE49-F238E27FC236}">
                <a16:creationId xmlns:a16="http://schemas.microsoft.com/office/drawing/2014/main" id="{D6A2A71E-E212-4DEE-9322-5FD208B0BD83}"/>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E808CD4-29A2-4469-A091-3B5EE5BD14CB}"/>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İki recovery aynı sonuca ulaşmalı.</a:t>
            </a:r>
          </a:p>
        </p:txBody>
      </p:sp>
      <p:sp>
        <p:nvSpPr>
          <p:cNvPr id="8" name="">
            <a:extLst xmlns:a="http://schemas.openxmlformats.org/drawingml/2006/main">
              <a:ext uri="{FF2B5EF4-FFF2-40B4-BE49-F238E27FC236}">
                <a16:creationId xmlns:a16="http://schemas.microsoft.com/office/drawing/2014/main" id="{72F36BC6-A5C8-4AAF-A31A-993980923FEE}"/>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Commit var, inode home eski: append kayıp mı?</a:t>
            </a:r>
          </a:p>
        </p:txBody>
      </p:sp>
      <p:sp>
        <p:nvSpPr>
          <p:cNvPr id="9" name="">
            <a:extLst xmlns:a="http://schemas.openxmlformats.org/drawingml/2006/main">
              <a:ext uri="{FF2B5EF4-FFF2-40B4-BE49-F238E27FC236}">
                <a16:creationId xmlns:a16="http://schemas.microsoft.com/office/drawing/2014/main" id="{8C243EC1-B6AE-4C67-AA9C-AB4FF4A8D80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0" name="">
            <a:extLst xmlns:a="http://schemas.openxmlformats.org/drawingml/2006/main">
              <a:ext uri="{FF2B5EF4-FFF2-40B4-BE49-F238E27FC236}">
                <a16:creationId xmlns:a16="http://schemas.microsoft.com/office/drawing/2014/main" id="{2E881ED8-2B26-4C38-8AC7-E8184E0CBF8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22 / 27</a:t>
            </a:r>
          </a:p>
        </p:txBody>
      </p:sp>
    </p:spTree>
    <p:extLst>
      <p:ext uri="{BB962C8B-B14F-4D97-AF65-F5344CB8AC3E}">
        <p14:creationId xmlns:p14="http://schemas.microsoft.com/office/powerpoint/2010/main" val="21022705"/>
      </p:ext>
    </p:extLst>
  </p:cSld>
</p:sld>
</file>

<file path=ppt/slides/slide2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87A99D-8038-42F4-81D0-8EEF0FF7352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Ordering’i boz: erken commit</a:t>
            </a:r>
          </a:p>
        </p:txBody>
      </p:sp>
      <p:sp>
        <p:nvSpPr>
          <p:cNvPr id="2" name="">
            <a:extLst xmlns:a="http://schemas.openxmlformats.org/drawingml/2006/main">
              <a:ext uri="{FF2B5EF4-FFF2-40B4-BE49-F238E27FC236}">
                <a16:creationId xmlns:a16="http://schemas.microsoft.com/office/drawing/2014/main" id="{4EC78B55-F9D9-4092-BFB9-F382F19A1AAF}"/>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6201764-F211-4F50-80E7-03B4E9F9D373}"/>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Commit durable, payload eksik.</a:t>
            </a:r>
          </a:p>
        </p:txBody>
      </p:sp>
      <p:sp>
        <p:nvSpPr>
          <p:cNvPr id="4" name="">
            <a:extLst xmlns:a="http://schemas.openxmlformats.org/drawingml/2006/main">
              <a:ext uri="{FF2B5EF4-FFF2-40B4-BE49-F238E27FC236}">
                <a16:creationId xmlns:a16="http://schemas.microsoft.com/office/drawing/2014/main" id="{8F600F32-8B95-414A-AE05-6EF4A7AF76A4}"/>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F89B890A-7D85-421C-BA66-E09B61A2A06F}"/>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Recovery niyeti güvenle yeniden kuramaz.</a:t>
            </a:r>
          </a:p>
        </p:txBody>
      </p:sp>
      <p:sp>
        <p:nvSpPr>
          <p:cNvPr id="6" name="">
            <a:extLst xmlns:a="http://schemas.openxmlformats.org/drawingml/2006/main">
              <a:ext uri="{FF2B5EF4-FFF2-40B4-BE49-F238E27FC236}">
                <a16:creationId xmlns:a16="http://schemas.microsoft.com/office/drawing/2014/main" id="{6EED4996-9B82-4416-9845-DAFDDA640235}"/>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03E2949-2016-411C-A408-D3DA190E56C0}"/>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Commit marker tek başına doğruluk değildir.</a:t>
            </a:r>
          </a:p>
        </p:txBody>
      </p:sp>
      <p:sp>
        <p:nvSpPr>
          <p:cNvPr id="8" name="">
            <a:extLst xmlns:a="http://schemas.openxmlformats.org/drawingml/2006/main">
              <a:ext uri="{FF2B5EF4-FFF2-40B4-BE49-F238E27FC236}">
                <a16:creationId xmlns:a16="http://schemas.microsoft.com/office/drawing/2014/main" id="{08596B86-65FD-4F08-9A16-AB93B9F810E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ACK’i erken göndermek</a:t>
            </a:r>
          </a:p>
        </p:txBody>
      </p:sp>
      <p:sp>
        <p:nvSpPr>
          <p:cNvPr id="9" name="">
            <a:extLst xmlns:a="http://schemas.openxmlformats.org/drawingml/2006/main">
              <a:ext uri="{FF2B5EF4-FFF2-40B4-BE49-F238E27FC236}">
                <a16:creationId xmlns:a16="http://schemas.microsoft.com/office/drawing/2014/main" id="{002B8405-7241-485F-8246-118648A9F686}"/>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Sunucu done der ama redo state’i eksiktir.</a:t>
            </a:r>
          </a:p>
        </p:txBody>
      </p:sp>
      <p:sp>
        <p:nvSpPr>
          <p:cNvPr id="10" name="">
            <a:extLst xmlns:a="http://schemas.openxmlformats.org/drawingml/2006/main">
              <a:ext uri="{FF2B5EF4-FFF2-40B4-BE49-F238E27FC236}">
                <a16:creationId xmlns:a16="http://schemas.microsoft.com/office/drawing/2014/main" id="{B5967995-DFA6-444F-8022-AC2AC951A7F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1" name="">
            <a:extLst xmlns:a="http://schemas.openxmlformats.org/drawingml/2006/main">
              <a:ext uri="{FF2B5EF4-FFF2-40B4-BE49-F238E27FC236}">
                <a16:creationId xmlns:a16="http://schemas.microsoft.com/office/drawing/2014/main" id="{BF263999-ADCE-4A0C-A5A8-AB66E6EA0DF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23 / 27</a:t>
            </a:r>
          </a:p>
        </p:txBody>
      </p:sp>
    </p:spTree>
    <p:extLst>
      <p:ext uri="{BB962C8B-B14F-4D97-AF65-F5344CB8AC3E}">
        <p14:creationId xmlns:p14="http://schemas.microsoft.com/office/powerpoint/2010/main" val="1872705749"/>
      </p:ext>
    </p:extLst>
  </p:cSld>
</p:sld>
</file>

<file path=ppt/slides/slide2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10483B-9B6B-4D35-A731-F9EA87DAB49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Metadata journal her şeyi saklar mı?</a:t>
            </a:r>
          </a:p>
        </p:txBody>
      </p:sp>
      <p:sp>
        <p:nvSpPr>
          <p:cNvPr id="2" name="">
            <a:extLst xmlns:a="http://schemas.openxmlformats.org/drawingml/2006/main">
              <a:ext uri="{FF2B5EF4-FFF2-40B4-BE49-F238E27FC236}">
                <a16:creationId xmlns:a16="http://schemas.microsoft.com/office/drawing/2014/main" id="{E0F28F92-9154-487D-8AF8-B3B4983683DF}"/>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160E0D3-92CE-4982-8D68-7756C9C9CB40}"/>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Metadata ve data journaling farklı.</a:t>
            </a:r>
          </a:p>
        </p:txBody>
      </p:sp>
      <p:sp>
        <p:nvSpPr>
          <p:cNvPr id="4" name="">
            <a:extLst xmlns:a="http://schemas.openxmlformats.org/drawingml/2006/main">
              <a:ext uri="{FF2B5EF4-FFF2-40B4-BE49-F238E27FC236}">
                <a16:creationId xmlns:a16="http://schemas.microsoft.com/office/drawing/2014/main" id="{E7258F46-11A9-4526-923A-3CD300099002}"/>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C7AFD6C-F1D1-48D9-9C27-FA8C045EBF92}"/>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Ordered data yaklaşımı başka bir protokol.</a:t>
            </a:r>
          </a:p>
        </p:txBody>
      </p:sp>
      <p:sp>
        <p:nvSpPr>
          <p:cNvPr id="6" name="">
            <a:extLst xmlns:a="http://schemas.openxmlformats.org/drawingml/2006/main">
              <a:ext uri="{FF2B5EF4-FFF2-40B4-BE49-F238E27FC236}">
                <a16:creationId xmlns:a16="http://schemas.microsoft.com/office/drawing/2014/main" id="{52BEB227-E650-4866-A6BD-F4C98977EEFB}"/>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B688ACE7-3D29-491F-A6F7-DE06D6D342CF}"/>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App transaction filesystem journal ile aynı değil.</a:t>
            </a:r>
          </a:p>
        </p:txBody>
      </p:sp>
      <p:sp>
        <p:nvSpPr>
          <p:cNvPr id="8" name="">
            <a:extLst xmlns:a="http://schemas.openxmlformats.org/drawingml/2006/main">
              <a:ext uri="{FF2B5EF4-FFF2-40B4-BE49-F238E27FC236}">
                <a16:creationId xmlns:a16="http://schemas.microsoft.com/office/drawing/2014/main" id="{5E43ACE0-A5A0-426C-AD65-2F1D8B0A916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9" name="">
            <a:extLst xmlns:a="http://schemas.openxmlformats.org/drawingml/2006/main">
              <a:ext uri="{FF2B5EF4-FFF2-40B4-BE49-F238E27FC236}">
                <a16:creationId xmlns:a16="http://schemas.microsoft.com/office/drawing/2014/main" id="{939E5AF4-7154-4781-9E2C-00448B757F9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24 / 27</a:t>
            </a:r>
          </a:p>
        </p:txBody>
      </p:sp>
    </p:spTree>
    <p:extLst>
      <p:ext uri="{BB962C8B-B14F-4D97-AF65-F5344CB8AC3E}">
        <p14:creationId xmlns:p14="http://schemas.microsoft.com/office/powerpoint/2010/main" val="1352466299"/>
      </p:ext>
    </p:extLst>
  </p:cSld>
</p:sld>
</file>

<file path=ppt/slides/slide2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9977BB-81EA-4C60-AE2D-4C9D34A6866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Recovery: niyeti nereden biliyoruz?</a:t>
            </a:r>
          </a:p>
        </p:txBody>
      </p:sp>
      <p:sp>
        <p:nvSpPr>
          <p:cNvPr id="2" name="">
            <a:extLst xmlns:a="http://schemas.openxmlformats.org/drawingml/2006/main">
              <a:ext uri="{FF2B5EF4-FFF2-40B4-BE49-F238E27FC236}">
                <a16:creationId xmlns:a16="http://schemas.microsoft.com/office/drawing/2014/main" id="{4ED59904-7FF7-48BC-9DAF-27CB10F084E1}"/>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65734EA-6AD1-4197-9B15-D6C509D33AB4}"/>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fsck state ilişkilerini kontrol edebilir.</a:t>
            </a:r>
          </a:p>
        </p:txBody>
      </p:sp>
      <p:sp>
        <p:nvSpPr>
          <p:cNvPr id="4" name="">
            <a:extLst xmlns:a="http://schemas.openxmlformats.org/drawingml/2006/main">
              <a:ext uri="{FF2B5EF4-FFF2-40B4-BE49-F238E27FC236}">
                <a16:creationId xmlns:a16="http://schemas.microsoft.com/office/drawing/2014/main" id="{5C885458-DA78-4F22-ACF0-3523A4DD34F7}"/>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B3F6E6A-02FB-45CE-8E4E-6D4E0A7B4F53}"/>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Redo log tamamlanmış niyeti taşır.</a:t>
            </a:r>
          </a:p>
        </p:txBody>
      </p:sp>
      <p:sp>
        <p:nvSpPr>
          <p:cNvPr id="6" name="">
            <a:extLst xmlns:a="http://schemas.openxmlformats.org/drawingml/2006/main">
              <a:ext uri="{FF2B5EF4-FFF2-40B4-BE49-F238E27FC236}">
                <a16:creationId xmlns:a16="http://schemas.microsoft.com/office/drawing/2014/main" id="{7EE1F6D1-2D2A-430E-822F-550772152985}"/>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DA62B02C-9BC7-443E-B713-04B360D0A15A}"/>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Kaybolan user data her zaman çıkarılamaz.</a:t>
            </a:r>
          </a:p>
        </p:txBody>
      </p:sp>
      <p:sp>
        <p:nvSpPr>
          <p:cNvPr id="8" name="">
            <a:extLst xmlns:a="http://schemas.openxmlformats.org/drawingml/2006/main">
              <a:ext uri="{FF2B5EF4-FFF2-40B4-BE49-F238E27FC236}">
                <a16:creationId xmlns:a16="http://schemas.microsoft.com/office/drawing/2014/main" id="{9F57BC9C-4C0B-4D3B-9B4D-3BE5BF0BE51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9" name="">
            <a:extLst xmlns:a="http://schemas.openxmlformats.org/drawingml/2006/main">
              <a:ext uri="{FF2B5EF4-FFF2-40B4-BE49-F238E27FC236}">
                <a16:creationId xmlns:a16="http://schemas.microsoft.com/office/drawing/2014/main" id="{48817CE4-FAD2-4A34-9458-F6E7295ACCF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25 / 27</a:t>
            </a:r>
          </a:p>
        </p:txBody>
      </p:sp>
    </p:spTree>
    <p:extLst>
      <p:ext uri="{BB962C8B-B14F-4D97-AF65-F5344CB8AC3E}">
        <p14:creationId xmlns:p14="http://schemas.microsoft.com/office/powerpoint/2010/main" val="1447728337"/>
      </p:ext>
    </p:extLst>
  </p:cSld>
</p:sld>
</file>

<file path=ppt/slides/slide2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E30008-E9B2-488B-A6ED-46D825647C4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Offline lab: crash yerini seç</a:t>
            </a:r>
          </a:p>
        </p:txBody>
      </p:sp>
      <p:sp>
        <p:nvSpPr>
          <p:cNvPr id="2" name="">
            <a:extLst xmlns:a="http://schemas.openxmlformats.org/drawingml/2006/main">
              <a:ext uri="{FF2B5EF4-FFF2-40B4-BE49-F238E27FC236}">
                <a16:creationId xmlns:a16="http://schemas.microsoft.com/office/drawing/2014/main" id="{C84C6965-859F-4916-97FC-974A2648A961}"/>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crash_consistency.py --self-test</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--mode naive --crash-after 2</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--mode journal --crash-after 4</a:t>
            </a:r>
          </a:p>
        </p:txBody>
      </p:sp>
      <p:sp>
        <p:nvSpPr>
          <p:cNvPr id="3" name="">
            <a:extLst xmlns:a="http://schemas.openxmlformats.org/drawingml/2006/main">
              <a:ext uri="{FF2B5EF4-FFF2-40B4-BE49-F238E27FC236}">
                <a16:creationId xmlns:a16="http://schemas.microsoft.com/office/drawing/2014/main" id="{473C2305-C633-4046-BD5F-E1C90F9259F7}"/>
              </a:ext>
            </a:extLst>
          </p:cNvPr>
          <p:cNvSpPr>
            <a:spLocks xmlns:a="http://schemas.openxmlformats.org/drawingml/2006/main" noGrp="1"/>
          </p:cNvSpPr>
          <p:nvPr/>
        </p:nvSpPr>
        <p:spPr>
          <a:xfrm xmlns:a="http://schemas.openxmlformats.org/drawingml/2006/main">
            <a:off x="742950" y="2809875"/>
            <a:ext cx="10715625"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lab/crash_consistency.py --self-test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lab/crash_consistency.py --mode journal \</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--crash-after 4</a:t>
            </a:r>
          </a:p>
        </p:txBody>
      </p:sp>
      <p:sp>
        <p:nvSpPr>
          <p:cNvPr id="4" name="">
            <a:extLst xmlns:a="http://schemas.openxmlformats.org/drawingml/2006/main">
              <a:ext uri="{FF2B5EF4-FFF2-40B4-BE49-F238E27FC236}">
                <a16:creationId xmlns:a16="http://schemas.microsoft.com/office/drawing/2014/main" id="{E63E7EA8-7C8F-444D-A953-07D4F6A8496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5" name="">
            <a:extLst xmlns:a="http://schemas.openxmlformats.org/drawingml/2006/main">
              <a:ext uri="{FF2B5EF4-FFF2-40B4-BE49-F238E27FC236}">
                <a16:creationId xmlns:a16="http://schemas.microsoft.com/office/drawing/2014/main" id="{A83C340B-B04D-45B8-934C-91294D3BF98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26 / 27</a:t>
            </a:r>
          </a:p>
        </p:txBody>
      </p:sp>
    </p:spTree>
    <p:extLst>
      <p:ext uri="{BB962C8B-B14F-4D97-AF65-F5344CB8AC3E}">
        <p14:creationId xmlns:p14="http://schemas.microsoft.com/office/powerpoint/2010/main" val="1417950627"/>
      </p:ext>
    </p:extLst>
  </p:cSld>
</p:sld>
</file>

<file path=ppt/slides/slide2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1ACED78-321C-4330-8CBE-8F90C967403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Çıkış bileti: hangi state kalır?</a:t>
            </a:r>
          </a:p>
        </p:txBody>
      </p:sp>
      <p:sp>
        <p:nvSpPr>
          <p:cNvPr id="2" name="">
            <a:extLst xmlns:a="http://schemas.openxmlformats.org/drawingml/2006/main">
              <a:ext uri="{FF2B5EF4-FFF2-40B4-BE49-F238E27FC236}">
                <a16:creationId xmlns:a16="http://schemas.microsoft.com/office/drawing/2014/main" id="{22336339-658B-4FD8-92FF-B9B0881937A6}"/>
              </a:ext>
            </a:extLst>
          </p:cNvPr>
          <p:cNvSpPr>
            <a:spLocks xmlns:a="http://schemas.openxmlformats.org/drawingml/2006/main" noGrp="1"/>
          </p:cNvSpPr>
          <p:nvPr/>
        </p:nvSpPr>
        <p:spPr>
          <a:xfrm xmlns:a="http://schemas.openxmlformats.org/drawingml/2006/main">
            <a:off x="609600" y="195262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4B6EF48-7AE7-4007-B4B2-B76A8D5DCC3E}"/>
              </a:ext>
            </a:extLst>
          </p:cNvPr>
          <p:cNvSpPr>
            <a:spLocks xmlns:a="http://schemas.openxmlformats.org/drawingml/2006/main" noGrp="1"/>
          </p:cNvSpPr>
          <p:nvPr/>
        </p:nvSpPr>
        <p:spPr>
          <a:xfrm xmlns:a="http://schemas.openxmlformats.org/drawingml/2006/main">
            <a:off x="1333500" y="195262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DMA ile interrupt’ın farkı?</a:t>
            </a:r>
          </a:p>
        </p:txBody>
      </p:sp>
      <p:sp>
        <p:nvSpPr>
          <p:cNvPr id="4" name="">
            <a:extLst xmlns:a="http://schemas.openxmlformats.org/drawingml/2006/main">
              <a:ext uri="{FF2B5EF4-FFF2-40B4-BE49-F238E27FC236}">
                <a16:creationId xmlns:a16="http://schemas.microsoft.com/office/drawing/2014/main" id="{C0AEA744-FE38-4BF0-85EA-B6922FD8020C}"/>
              </a:ext>
            </a:extLst>
          </p:cNvPr>
          <p:cNvSpPr>
            <a:spLocks xmlns:a="http://schemas.openxmlformats.org/drawingml/2006/main" noGrp="1"/>
          </p:cNvSpPr>
          <p:nvPr/>
        </p:nvSpPr>
        <p:spPr>
          <a:xfrm xmlns:a="http://schemas.openxmlformats.org/drawingml/2006/main">
            <a:off x="609600" y="258445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04543848-C51C-472C-8877-E23F20996172}"/>
              </a:ext>
            </a:extLst>
          </p:cNvPr>
          <p:cNvSpPr>
            <a:spLocks xmlns:a="http://schemas.openxmlformats.org/drawingml/2006/main" noGrp="1"/>
          </p:cNvSpPr>
          <p:nvPr/>
        </p:nvSpPr>
        <p:spPr>
          <a:xfrm xmlns:a="http://schemas.openxmlformats.org/drawingml/2006/main">
            <a:off x="1333500" y="258445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Buffer ile cache’in hedefi?</a:t>
            </a:r>
          </a:p>
        </p:txBody>
      </p:sp>
      <p:sp>
        <p:nvSpPr>
          <p:cNvPr id="6" name="">
            <a:extLst xmlns:a="http://schemas.openxmlformats.org/drawingml/2006/main">
              <a:ext uri="{FF2B5EF4-FFF2-40B4-BE49-F238E27FC236}">
                <a16:creationId xmlns:a16="http://schemas.microsoft.com/office/drawing/2014/main" id="{504032E9-6ECF-4A26-AEB8-320691014559}"/>
              </a:ext>
            </a:extLst>
          </p:cNvPr>
          <p:cNvSpPr>
            <a:spLocks xmlns:a="http://schemas.openxmlformats.org/drawingml/2006/main" noGrp="1"/>
          </p:cNvSpPr>
          <p:nvPr/>
        </p:nvSpPr>
        <p:spPr>
          <a:xfrm xmlns:a="http://schemas.openxmlformats.org/drawingml/2006/main">
            <a:off x="609600" y="321627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64D8E3BB-067C-4AC6-A07A-32E43082DF85}"/>
              </a:ext>
            </a:extLst>
          </p:cNvPr>
          <p:cNvSpPr>
            <a:spLocks xmlns:a="http://schemas.openxmlformats.org/drawingml/2006/main" noGrp="1"/>
          </p:cNvSpPr>
          <p:nvPr/>
        </p:nvSpPr>
        <p:spPr>
          <a:xfrm xmlns:a="http://schemas.openxmlformats.org/drawingml/2006/main">
            <a:off x="1333500" y="321627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write return ile durability aynı mı?</a:t>
            </a:r>
          </a:p>
        </p:txBody>
      </p:sp>
      <p:sp>
        <p:nvSpPr>
          <p:cNvPr id="8" name="">
            <a:extLst xmlns:a="http://schemas.openxmlformats.org/drawingml/2006/main">
              <a:ext uri="{FF2B5EF4-FFF2-40B4-BE49-F238E27FC236}">
                <a16:creationId xmlns:a16="http://schemas.microsoft.com/office/drawing/2014/main" id="{984735B0-376A-452A-9792-843B5AA95A9B}"/>
              </a:ext>
            </a:extLst>
          </p:cNvPr>
          <p:cNvSpPr>
            <a:spLocks xmlns:a="http://schemas.openxmlformats.org/drawingml/2006/main" noGrp="1"/>
          </p:cNvSpPr>
          <p:nvPr/>
        </p:nvSpPr>
        <p:spPr>
          <a:xfrm xmlns:a="http://schemas.openxmlformats.org/drawingml/2006/main">
            <a:off x="609600" y="384810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CFFA356E-C3E3-4DE5-AC4D-117DB9BE6AAF}"/>
              </a:ext>
            </a:extLst>
          </p:cNvPr>
          <p:cNvSpPr>
            <a:spLocks xmlns:a="http://schemas.openxmlformats.org/drawingml/2006/main" noGrp="1"/>
          </p:cNvSpPr>
          <p:nvPr/>
        </p:nvSpPr>
        <p:spPr>
          <a:xfrm xmlns:a="http://schemas.openxmlformats.org/drawingml/2006/main">
            <a:off x="1333500" y="384810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D+B sonrası invariant?</a:t>
            </a:r>
          </a:p>
        </p:txBody>
      </p:sp>
      <p:sp>
        <p:nvSpPr>
          <p:cNvPr id="10" name="">
            <a:extLst xmlns:a="http://schemas.openxmlformats.org/drawingml/2006/main">
              <a:ext uri="{FF2B5EF4-FFF2-40B4-BE49-F238E27FC236}">
                <a16:creationId xmlns:a16="http://schemas.microsoft.com/office/drawing/2014/main" id="{1D48C1C0-6F50-448E-B285-BE1E77AB0BD5}"/>
              </a:ext>
            </a:extLst>
          </p:cNvPr>
          <p:cNvSpPr>
            <a:spLocks xmlns:a="http://schemas.openxmlformats.org/drawingml/2006/main" noGrp="1"/>
          </p:cNvSpPr>
          <p:nvPr/>
        </p:nvSpPr>
        <p:spPr>
          <a:xfrm xmlns:a="http://schemas.openxmlformats.org/drawingml/2006/main">
            <a:off x="609600" y="447992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05</a:t>
            </a:r>
          </a:p>
        </p:txBody>
      </p:sp>
      <p:sp>
        <p:nvSpPr>
          <p:cNvPr id="11" name="">
            <a:extLst xmlns:a="http://schemas.openxmlformats.org/drawingml/2006/main">
              <a:ext uri="{FF2B5EF4-FFF2-40B4-BE49-F238E27FC236}">
                <a16:creationId xmlns:a16="http://schemas.microsoft.com/office/drawing/2014/main" id="{AD8FF9B4-C153-4D59-9D6D-8BB6D49F74FC}"/>
              </a:ext>
            </a:extLst>
          </p:cNvPr>
          <p:cNvSpPr>
            <a:spLocks xmlns:a="http://schemas.openxmlformats.org/drawingml/2006/main" noGrp="1"/>
          </p:cNvSpPr>
          <p:nvPr/>
        </p:nvSpPr>
        <p:spPr>
          <a:xfrm xmlns:a="http://schemas.openxmlformats.org/drawingml/2006/main">
            <a:off x="1333500" y="447992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Commit sonrası recovery niçin replay?</a:t>
            </a:r>
          </a:p>
        </p:txBody>
      </p:sp>
      <p:sp>
        <p:nvSpPr>
          <p:cNvPr id="12" name="">
            <a:extLst xmlns:a="http://schemas.openxmlformats.org/drawingml/2006/main">
              <a:ext uri="{FF2B5EF4-FFF2-40B4-BE49-F238E27FC236}">
                <a16:creationId xmlns:a16="http://schemas.microsoft.com/office/drawing/2014/main" id="{4C5DA2F9-10AC-4A84-90FC-EC42FED00921}"/>
              </a:ext>
            </a:extLst>
          </p:cNvPr>
          <p:cNvSpPr>
            <a:spLocks xmlns:a="http://schemas.openxmlformats.org/drawingml/2006/main" noGrp="1"/>
          </p:cNvSpPr>
          <p:nvPr/>
        </p:nvSpPr>
        <p:spPr>
          <a:xfrm xmlns:a="http://schemas.openxmlformats.org/drawingml/2006/main">
            <a:off x="609600" y="511175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06</a:t>
            </a:r>
          </a:p>
        </p:txBody>
      </p:sp>
      <p:sp>
        <p:nvSpPr>
          <p:cNvPr id="13" name="">
            <a:extLst xmlns:a="http://schemas.openxmlformats.org/drawingml/2006/main">
              <a:ext uri="{FF2B5EF4-FFF2-40B4-BE49-F238E27FC236}">
                <a16:creationId xmlns:a16="http://schemas.microsoft.com/office/drawing/2014/main" id="{8B22F0B7-D4A6-48B6-BAF5-24442DB2C316}"/>
              </a:ext>
            </a:extLst>
          </p:cNvPr>
          <p:cNvSpPr>
            <a:spLocks xmlns:a="http://schemas.openxmlformats.org/drawingml/2006/main" noGrp="1"/>
          </p:cNvSpPr>
          <p:nvPr/>
        </p:nvSpPr>
        <p:spPr>
          <a:xfrm xmlns:a="http://schemas.openxmlformats.org/drawingml/2006/main">
            <a:off x="1333500" y="511175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Model hangi gerçek riski kapsamaz?</a:t>
            </a:r>
          </a:p>
        </p:txBody>
      </p:sp>
      <p:sp>
        <p:nvSpPr>
          <p:cNvPr id="14" name="">
            <a:extLst xmlns:a="http://schemas.openxmlformats.org/drawingml/2006/main">
              <a:ext uri="{FF2B5EF4-FFF2-40B4-BE49-F238E27FC236}">
                <a16:creationId xmlns:a16="http://schemas.microsoft.com/office/drawing/2014/main" id="{70293396-CABF-4B5C-917D-71C9A5E9904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8</a:t>
            </a:r>
          </a:p>
        </p:txBody>
      </p:sp>
      <p:sp>
        <p:nvSpPr>
          <p:cNvPr id="15" name="">
            <a:extLst xmlns:a="http://schemas.openxmlformats.org/drawingml/2006/main">
              <a:ext uri="{FF2B5EF4-FFF2-40B4-BE49-F238E27FC236}">
                <a16:creationId xmlns:a16="http://schemas.microsoft.com/office/drawing/2014/main" id="{CA82EAB9-6E44-4746-86DB-07F2A7D224F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27 / 27</a:t>
            </a:r>
          </a:p>
        </p:txBody>
      </p:sp>
    </p:spTree>
    <p:extLst>
      <p:ext uri="{BB962C8B-B14F-4D97-AF65-F5344CB8AC3E}">
        <p14:creationId xmlns:p14="http://schemas.microsoft.com/office/powerpoint/2010/main" val="5158968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2026-10-07T20:09:35.3140000Z</dcterms:created>
  <dcterms:modified xsi:type="dcterms:W3CDTF">2026-10-07T20:09:35.3140000Z</dcterms:modified>
</coreProperties>
</file>