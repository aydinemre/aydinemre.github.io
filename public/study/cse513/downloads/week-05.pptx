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98e461b4414b37" /><Relationship Type="http://schemas.openxmlformats.org/officeDocument/2006/relationships/extended-properties" Target="/docProps/app.xml" Id="R1f0c07d4f21e45b7" /><Relationship Type="http://schemas.openxmlformats.org/officeDocument/2006/relationships/officeDocument" Target="/ppt/presentation.xml" Id="R6ee2298a9c4f4f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af6684d8df4505"/>
  </p:sldMasterIdLst>
  <p:notesMasterIdLst>
    <p:notesMasterId xmlns:r="http://schemas.openxmlformats.org/officeDocument/2006/relationships" r:id="Rf5f535f73b2c4f20"/>
  </p:notesMasterIdLst>
  <p:sldIdLst>
    <p:sldId xmlns:r="http://schemas.openxmlformats.org/officeDocument/2006/relationships" id="256" r:id="Re8bbd4bc1b4b42a7"/>
    <p:sldId xmlns:r="http://schemas.openxmlformats.org/officeDocument/2006/relationships" id="257" r:id="Rd5a82d9203904c89"/>
    <p:sldId xmlns:r="http://schemas.openxmlformats.org/officeDocument/2006/relationships" id="258" r:id="Rf2f5d02c1e864b33"/>
    <p:sldId xmlns:r="http://schemas.openxmlformats.org/officeDocument/2006/relationships" id="259" r:id="Rb330cb04de9e4549"/>
    <p:sldId xmlns:r="http://schemas.openxmlformats.org/officeDocument/2006/relationships" id="260" r:id="R37007ee0e5644b0f"/>
    <p:sldId xmlns:r="http://schemas.openxmlformats.org/officeDocument/2006/relationships" id="261" r:id="R529eea81b8a94d8a"/>
    <p:sldId xmlns:r="http://schemas.openxmlformats.org/officeDocument/2006/relationships" id="262" r:id="R38e638d146b9457a"/>
    <p:sldId xmlns:r="http://schemas.openxmlformats.org/officeDocument/2006/relationships" id="263" r:id="Rb5504102ec9a4ad0"/>
    <p:sldId xmlns:r="http://schemas.openxmlformats.org/officeDocument/2006/relationships" id="264" r:id="R82af166f8f40451b"/>
    <p:sldId xmlns:r="http://schemas.openxmlformats.org/officeDocument/2006/relationships" id="265" r:id="R40cf6c159bef413a"/>
    <p:sldId xmlns:r="http://schemas.openxmlformats.org/officeDocument/2006/relationships" id="266" r:id="R32a144264e264d04"/>
    <p:sldId xmlns:r="http://schemas.openxmlformats.org/officeDocument/2006/relationships" id="267" r:id="Rd1ce69c9b3504813"/>
    <p:sldId xmlns:r="http://schemas.openxmlformats.org/officeDocument/2006/relationships" id="268" r:id="Rb14aebfcdc8848bf"/>
    <p:sldId xmlns:r="http://schemas.openxmlformats.org/officeDocument/2006/relationships" id="269" r:id="R5387fddebf90472c"/>
    <p:sldId xmlns:r="http://schemas.openxmlformats.org/officeDocument/2006/relationships" id="270" r:id="R9a8884f5547d4541"/>
    <p:sldId xmlns:r="http://schemas.openxmlformats.org/officeDocument/2006/relationships" id="271" r:id="R62bd97fd3e0a4de9"/>
    <p:sldId xmlns:r="http://schemas.openxmlformats.org/officeDocument/2006/relationships" id="272" r:id="R2985655d32ca41d6"/>
    <p:sldId xmlns:r="http://schemas.openxmlformats.org/officeDocument/2006/relationships" id="273" r:id="R8a21d99e264948c4"/>
    <p:sldId xmlns:r="http://schemas.openxmlformats.org/officeDocument/2006/relationships" id="274" r:id="R0a921a1ab8a249b0"/>
    <p:sldId xmlns:r="http://schemas.openxmlformats.org/officeDocument/2006/relationships" id="275" r:id="R4b04054a5e1a4cf3"/>
    <p:sldId xmlns:r="http://schemas.openxmlformats.org/officeDocument/2006/relationships" id="276" r:id="R8ca12ab1064f4117"/>
    <p:sldId xmlns:r="http://schemas.openxmlformats.org/officeDocument/2006/relationships" id="277" r:id="R354f738df8964f4a"/>
    <p:sldId xmlns:r="http://schemas.openxmlformats.org/officeDocument/2006/relationships" id="278" r:id="R4b0b98c2231b4a8b"/>
    <p:sldId xmlns:r="http://schemas.openxmlformats.org/officeDocument/2006/relationships" id="279" r:id="R31976da06d5b4219"/>
    <p:sldId xmlns:r="http://schemas.openxmlformats.org/officeDocument/2006/relationships" id="280" r:id="R2c0f64e25ea6446a"/>
    <p:sldId xmlns:r="http://schemas.openxmlformats.org/officeDocument/2006/relationships" id="281" r:id="R7b119fe50a014c1f"/>
    <p:sldId xmlns:r="http://schemas.openxmlformats.org/officeDocument/2006/relationships" id="282" r:id="Rea9ab520819249e6"/>
    <p:sldId xmlns:r="http://schemas.openxmlformats.org/officeDocument/2006/relationships" id="283" r:id="Rc4ec0603635641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182286c2ba49d6" /><Relationship Type="http://schemas.openxmlformats.org/officeDocument/2006/relationships/slideMaster" Target="/ppt/slideMasters/slideMaster1.xml" Id="R3faf6684d8df4505" /><Relationship Type="http://schemas.openxmlformats.org/officeDocument/2006/relationships/notesMaster" Target="/ppt/notesMasters/notesMaster1.xml" Id="Rf5f535f73b2c4f20" /><Relationship Type="http://schemas.openxmlformats.org/officeDocument/2006/relationships/presProps" Target="/ppt/presProps.xml" Id="R2846f03cbf224907" /><Relationship Type="http://schemas.openxmlformats.org/officeDocument/2006/relationships/tableStyles" Target="/ppt/tableStyles.xml" Id="R219769ef4fd3430b" /><Relationship Type="http://schemas.openxmlformats.org/officeDocument/2006/relationships/slide" Target="/ppt/slides/slide1.xml" Id="Re8bbd4bc1b4b42a7" /><Relationship Type="http://schemas.openxmlformats.org/officeDocument/2006/relationships/slide" Target="/ppt/slides/slide2.xml" Id="Rd5a82d9203904c89" /><Relationship Type="http://schemas.openxmlformats.org/officeDocument/2006/relationships/slide" Target="/ppt/slides/slide3.xml" Id="Rf2f5d02c1e864b33" /><Relationship Type="http://schemas.openxmlformats.org/officeDocument/2006/relationships/slide" Target="/ppt/slides/slide4.xml" Id="Rb330cb04de9e4549" /><Relationship Type="http://schemas.openxmlformats.org/officeDocument/2006/relationships/slide" Target="/ppt/slides/slide5.xml" Id="R37007ee0e5644b0f" /><Relationship Type="http://schemas.openxmlformats.org/officeDocument/2006/relationships/slide" Target="/ppt/slides/slide6.xml" Id="R529eea81b8a94d8a" /><Relationship Type="http://schemas.openxmlformats.org/officeDocument/2006/relationships/slide" Target="/ppt/slides/slide7.xml" Id="R38e638d146b9457a" /><Relationship Type="http://schemas.openxmlformats.org/officeDocument/2006/relationships/slide" Target="/ppt/slides/slide8.xml" Id="Rb5504102ec9a4ad0" /><Relationship Type="http://schemas.openxmlformats.org/officeDocument/2006/relationships/slide" Target="/ppt/slides/slide9.xml" Id="R82af166f8f40451b" /><Relationship Type="http://schemas.openxmlformats.org/officeDocument/2006/relationships/slide" Target="/ppt/slides/slide10.xml" Id="R40cf6c159bef413a" /><Relationship Type="http://schemas.openxmlformats.org/officeDocument/2006/relationships/slide" Target="/ppt/slides/slide11.xml" Id="R32a144264e264d04" /><Relationship Type="http://schemas.openxmlformats.org/officeDocument/2006/relationships/slide" Target="/ppt/slides/slide12.xml" Id="Rd1ce69c9b3504813" /><Relationship Type="http://schemas.openxmlformats.org/officeDocument/2006/relationships/slide" Target="/ppt/slides/slide13.xml" Id="Rb14aebfcdc8848bf" /><Relationship Type="http://schemas.openxmlformats.org/officeDocument/2006/relationships/slide" Target="/ppt/slides/slide14.xml" Id="R5387fddebf90472c" /><Relationship Type="http://schemas.openxmlformats.org/officeDocument/2006/relationships/slide" Target="/ppt/slides/slide15.xml" Id="R9a8884f5547d4541" /><Relationship Type="http://schemas.openxmlformats.org/officeDocument/2006/relationships/slide" Target="/ppt/slides/slide16.xml" Id="R62bd97fd3e0a4de9" /><Relationship Type="http://schemas.openxmlformats.org/officeDocument/2006/relationships/slide" Target="/ppt/slides/slide17.xml" Id="R2985655d32ca41d6" /><Relationship Type="http://schemas.openxmlformats.org/officeDocument/2006/relationships/slide" Target="/ppt/slides/slide18.xml" Id="R8a21d99e264948c4" /><Relationship Type="http://schemas.openxmlformats.org/officeDocument/2006/relationships/slide" Target="/ppt/slides/slide19.xml" Id="R0a921a1ab8a249b0" /><Relationship Type="http://schemas.openxmlformats.org/officeDocument/2006/relationships/slide" Target="/ppt/slides/slide20.xml" Id="R4b04054a5e1a4cf3" /><Relationship Type="http://schemas.openxmlformats.org/officeDocument/2006/relationships/slide" Target="/ppt/slides/slide21.xml" Id="R8ca12ab1064f4117" /><Relationship Type="http://schemas.openxmlformats.org/officeDocument/2006/relationships/slide" Target="/ppt/slides/slide22.xml" Id="R354f738df8964f4a" /><Relationship Type="http://schemas.openxmlformats.org/officeDocument/2006/relationships/slide" Target="/ppt/slides/slide23.xml" Id="R4b0b98c2231b4a8b" /><Relationship Type="http://schemas.openxmlformats.org/officeDocument/2006/relationships/slide" Target="/ppt/slides/slide24.xml" Id="R31976da06d5b4219" /><Relationship Type="http://schemas.openxmlformats.org/officeDocument/2006/relationships/slide" Target="/ppt/slides/slide25.xml" Id="R2c0f64e25ea6446a" /><Relationship Type="http://schemas.openxmlformats.org/officeDocument/2006/relationships/slide" Target="/ppt/slides/slide26.xml" Id="R7b119fe50a014c1f" /><Relationship Type="http://schemas.openxmlformats.org/officeDocument/2006/relationships/slide" Target="/ppt/slides/slide27.xml" Id="Rea9ab520819249e6" /><Relationship Type="http://schemas.openxmlformats.org/officeDocument/2006/relationships/slide" Target="/ppt/slides/slide28.xml" Id="Rc4ec0603635641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fb4b2dbf74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6ae132bf474501" /><Relationship Type="http://schemas.openxmlformats.org/officeDocument/2006/relationships/notesMaster" Target="/ppt/notesMasters/notesMaster1.xml" Id="R3ad29a8c42c24d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39016736b74ab9" /><Relationship Type="http://schemas.openxmlformats.org/officeDocument/2006/relationships/notesMaster" Target="/ppt/notesMasters/notesMaster1.xml" Id="R2bdb155e8c0b49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53c16d88954253" /><Relationship Type="http://schemas.openxmlformats.org/officeDocument/2006/relationships/notesMaster" Target="/ppt/notesMasters/notesMaster1.xml" Id="R1265a26d648b43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746eae78f04e23" /><Relationship Type="http://schemas.openxmlformats.org/officeDocument/2006/relationships/notesMaster" Target="/ppt/notesMasters/notesMaster1.xml" Id="Ra671803e8b1f43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1e72bad4a2480e" /><Relationship Type="http://schemas.openxmlformats.org/officeDocument/2006/relationships/notesMaster" Target="/ppt/notesMasters/notesMaster1.xml" Id="R9ac9b1c9bc9e42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5ff0ea68c34528" /><Relationship Type="http://schemas.openxmlformats.org/officeDocument/2006/relationships/notesMaster" Target="/ppt/notesMasters/notesMaster1.xml" Id="Rd5937f97ed1d49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f10ee295c848ef" /><Relationship Type="http://schemas.openxmlformats.org/officeDocument/2006/relationships/notesMaster" Target="/ppt/notesMasters/notesMaster1.xml" Id="Reb7dccc44a8746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e829bae9b844d7" /><Relationship Type="http://schemas.openxmlformats.org/officeDocument/2006/relationships/notesMaster" Target="/ppt/notesMasters/notesMaster1.xml" Id="R2bca68de357542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919734e65f4f7c" /><Relationship Type="http://schemas.openxmlformats.org/officeDocument/2006/relationships/notesMaster" Target="/ppt/notesMasters/notesMaster1.xml" Id="R3c24690ac7c642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d70b2036b74b6f" /><Relationship Type="http://schemas.openxmlformats.org/officeDocument/2006/relationships/notesMaster" Target="/ppt/notesMasters/notesMaster1.xml" Id="R82707847637149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4567fa6dd24171" /><Relationship Type="http://schemas.openxmlformats.org/officeDocument/2006/relationships/notesMaster" Target="/ppt/notesMasters/notesMaster1.xml" Id="R8a181f77b04540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c142ff8f084b05" /><Relationship Type="http://schemas.openxmlformats.org/officeDocument/2006/relationships/notesMaster" Target="/ppt/notesMasters/notesMaster1.xml" Id="Ra7008ea348fa45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fb788b491042aa" /><Relationship Type="http://schemas.openxmlformats.org/officeDocument/2006/relationships/notesMaster" Target="/ppt/notesMasters/notesMaster1.xml" Id="Rf984ef35518e4d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0f62316c1d4fa3" /><Relationship Type="http://schemas.openxmlformats.org/officeDocument/2006/relationships/notesMaster" Target="/ppt/notesMasters/notesMaster1.xml" Id="Rab9193c5d52b42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2895b70c9d4cf0" /><Relationship Type="http://schemas.openxmlformats.org/officeDocument/2006/relationships/notesMaster" Target="/ppt/notesMasters/notesMaster1.xml" Id="Rccb35948e7e649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3dd876c2564dba" /><Relationship Type="http://schemas.openxmlformats.org/officeDocument/2006/relationships/notesMaster" Target="/ppt/notesMasters/notesMaster1.xml" Id="Rcce408132b564c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8bb18450784dd5" /><Relationship Type="http://schemas.openxmlformats.org/officeDocument/2006/relationships/notesMaster" Target="/ppt/notesMasters/notesMaster1.xml" Id="R1e8d23bd7c40401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5206a3a4834163" /><Relationship Type="http://schemas.openxmlformats.org/officeDocument/2006/relationships/notesMaster" Target="/ppt/notesMasters/notesMaster1.xml" Id="Re601b2a476cb49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69a5bd5b6c4a87" /><Relationship Type="http://schemas.openxmlformats.org/officeDocument/2006/relationships/notesMaster" Target="/ppt/notesMasters/notesMaster1.xml" Id="Rda5cbd608be54f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38a799082b45f4" /><Relationship Type="http://schemas.openxmlformats.org/officeDocument/2006/relationships/notesMaster" Target="/ppt/notesMasters/notesMaster1.xml" Id="Raa3affc16f2245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7f12d1051347dc" /><Relationship Type="http://schemas.openxmlformats.org/officeDocument/2006/relationships/notesMaster" Target="/ppt/notesMasters/notesMaster1.xml" Id="R1858f633e85e4f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e3fb10e33248fe" /><Relationship Type="http://schemas.openxmlformats.org/officeDocument/2006/relationships/notesMaster" Target="/ppt/notesMasters/notesMaster1.xml" Id="R449770f8c56848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49726afa2e4b40" /><Relationship Type="http://schemas.openxmlformats.org/officeDocument/2006/relationships/notesMaster" Target="/ppt/notesMasters/notesMaster1.xml" Id="R5eefe43785d44b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76fa2fe6965406e" /><Relationship Type="http://schemas.openxmlformats.org/officeDocument/2006/relationships/notesMaster" Target="/ppt/notesMasters/notesMaster1.xml" Id="R60a70819d8194e8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0e4ba854c79469a" /><Relationship Type="http://schemas.openxmlformats.org/officeDocument/2006/relationships/notesMaster" Target="/ppt/notesMasters/notesMaster1.xml" Id="R6dafe4c531184b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6d271940e446bb" /><Relationship Type="http://schemas.openxmlformats.org/officeDocument/2006/relationships/notesMaster" Target="/ppt/notesMasters/notesMaster1.xml" Id="R83dd85d5d4a84f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fb966ac0f5413d" /><Relationship Type="http://schemas.openxmlformats.org/officeDocument/2006/relationships/notesMaster" Target="/ppt/notesMasters/notesMaster1.xml" Id="Rf28f051f3d634d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6da4d5e22fc4028" /><Relationship Type="http://schemas.openxmlformats.org/officeDocument/2006/relationships/notesMaster" Target="/ppt/notesMasters/notesMaster1.xml" Id="R2a416d4207dd41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CSE513 · Hafta5</a:t>
            </a:r>
          </a:p>
          <a:p xmlns:a="http://schemas.openxmlformats.org/drawingml/2006/main">
            <a:r>
              <a:t>Bellek görünümü, çeviri, koruma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Resmî Hafta5 kapsamının bağımsız öğretim uyarlaması. PDF ve illustrated reading hazırlanıyor; yayımlanmamış slaytlara sayfa numarası vermiyoruz. İlk yarı adres alanı ve allocation; ikinci yarı paging, TLB ve protection. Sayılar bu paket için oluşturulmuş modellerdir.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Kapak: AI üretimi kavramsal mutfak analojisi. Köken ve istem: assets/provenance.json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process kendi raf numaralarını görür; fiziksel depo ortak olabilir. VPN raf etiketi, PFN fiziksel bölme, offset bölme içindeki byte konumudur. Mutfak hikâyesi isimlendirmeyi açıklar; donanım izin denetimini veya gerçek bellek düzenini kanıtlamaz. Aşçı/CPU eşlemesini bu bölümde değiştirmiyoruz.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İki editör</a:t>
            </a:r>
          </a:p>
          <a:p xmlns:a="http://schemas.openxmlformats.org/drawingml/2006/main">
            <a:r>
              <a:t>İkisinde aynı numeric pointer olabilir.</a:t>
            </a:r>
          </a:p>
          <a:p xmlns:a="http://schemas.openxmlformats.org/drawingml/2006/main">
            <a:r>
              <a:t>Mekanizma: Per-process mapping farklı fiziksel yeri seçebilir.</a:t>
            </a:r>
          </a:p>
          <a:p xmlns:a="http://schemas.openxmlformats.org/drawingml/2006/main">
            <a:r>
              <a:t>Ne zaman işe yarar: Pointer eşitliğini paylaşım kanıtı sayma.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Sanal adres: process’in gördüğü isim</a:t>
            </a:r>
          </a:p>
          <a:p xmlns:a="http://schemas.openxmlformats.org/drawingml/2006/main">
            <a:r>
              <a:t>Fiziksel adres: çeviri sonrası konum</a:t>
            </a:r>
          </a:p>
          <a:p xmlns:a="http://schemas.openxmlformats.org/drawingml/2006/main">
            <a:r>
              <a:t>Ayrı görünüm, kontrollü paylaşım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Code,data,heap,stack ve mapped regions sanal adres alanında bulunabilir. Register/PC bu bölgelerden biri değildir. Virtual extent, resident physical memory miktarıyla aynı değildir. Gerçek layout ve büyüme yönleri dil/runtime/OS’e göre değişir.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Büyük sparse veri</a:t>
            </a:r>
          </a:p>
          <a:p xmlns:a="http://schemas.openxmlformats.org/drawingml/2006/main">
            <a:r>
              <a:t>Az sayfa kullanırken büyük adres aralığı ayırabilirsin.</a:t>
            </a:r>
          </a:p>
          <a:p xmlns:a="http://schemas.openxmlformats.org/drawingml/2006/main">
            <a:r>
              <a:t>Mekanizma: Sanal rezervasyonun tamamı resident olmayabilir.</a:t>
            </a:r>
          </a:p>
          <a:p xmlns:a="http://schemas.openxmlformats.org/drawingml/2006/main">
            <a:r>
              <a:t>Ne zaman işe yarar: Virtual size ile RAM tüketimini ayır.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Contiguous modelde offset&lt;limit ise PA=base+offset. Base1000,limit300: offset250→1250;offset300 geçersiz. Bu eğitim modeli bütün modern mimarinin açıklaması değildir. Koruma denetimi adres toplamasından ayrı sorumluluktur.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Hayır; geçerli aralık [0,300).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https://pages.cs.wisc.edu/~remzi/OSTEP/vm-segmentation.pdf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Variable-sized contiguous allocator örneği: adres sırasıyla holes100,500,200,300,600;request212. First-fit500’den, best-fit300’den, worst-fit600’den ayırır. Bu allocator politikaları CPU scheduling değildir; gerçek allocator metadata/alignment maliyetleri bu modelde yok.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Arena allocator</a:t>
            </a:r>
          </a:p>
          <a:p xmlns:a="http://schemas.openxmlformats.org/drawingml/2006/main">
            <a:r>
              <a:t>Birçok farklı büyüklükte nesne yer ister.</a:t>
            </a:r>
          </a:p>
          <a:p xmlns:a="http://schemas.openxmlformats.org/drawingml/2006/main">
            <a:r>
              <a:t>Mekanizma: Hole seçimi gelecekteki allocation fırsatlarını değiştirir.</a:t>
            </a:r>
          </a:p>
          <a:p xmlns:a="http://schemas.openxmlformats.org/drawingml/2006/main">
            <a:r>
              <a:t>Ne zaman işe yarar: Bir başarılı allocation ile policy’yi en iyi ilan etme.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https://pages.cs.wisc.edu/~remzi/OSTEP/vm-freespace.pdf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fragmentation: toplam400,holes150+150+100; contiguous request200 hiçbir hole’a sığmaz. Bu modelde adjacent değilse yalnız toplam yeterli değildir. Coalescing yalnız bitişik boşları birleştirir. Compaction taşıma/relocation desteği ve maliyet gerektirir; raw pointer’ları sihirle düzeltemez.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Hayır; en büyük hole150.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Uzun yaşayan heap</a:t>
            </a:r>
          </a:p>
          <a:p xmlns:a="http://schemas.openxmlformats.org/drawingml/2006/main">
            <a:r>
              <a:t>Boş alan çok ama farklı nesneler araya girmiş.</a:t>
            </a:r>
          </a:p>
          <a:p xmlns:a="http://schemas.openxmlformats.org/drawingml/2006/main">
            <a:r>
              <a:t>Mekanizma: Contiguous allocation external fragmentation yaşayabilir.</a:t>
            </a:r>
          </a:p>
          <a:p xmlns:a="http://schemas.openxmlformats.org/drawingml/2006/main">
            <a:r>
              <a:t>Ne zaman işe yarar: Byte toplamı ile kullanılabilir blok büyüklüğünü ayır.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https://pages.cs.wisc.edu/~remzi/OSTEP/vm-freespace.pdf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Fixed256-byte units ile600-byte payload3 unit=768 byte ister;168 kullanılmaz. Ortalama half-page waste iddiası ancak uygun size distribution varsayımıyla; her workload için garanti değildir. Paging frame seviyesinde external hole sorununu azaltır, allocator iç parçalanmasını yok etmez.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ceil(600/256)=3; waste168.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Küçük nesne sınıfı</a:t>
            </a:r>
          </a:p>
          <a:p xmlns:a="http://schemas.openxmlformats.org/drawingml/2006/main">
            <a:r>
              <a:t>Allocator daha büyük size class ayırabilir.</a:t>
            </a:r>
          </a:p>
          <a:p xmlns:a="http://schemas.openxmlformats.org/drawingml/2006/main">
            <a:r>
              <a:t>Mekanizma: Verilen blok içindeki boşluk internal waste’tir.</a:t>
            </a:r>
          </a:p>
          <a:p xmlns:a="http://schemas.openxmlformats.org/drawingml/2006/main">
            <a:r>
              <a:t>Ne zaman işe yarar: Payload boyutu ile allocation boyutunu karşılaştır.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region ≠ her mimaride hardware segment</a:t>
            </a:r>
          </a:p>
          <a:p xmlns:a="http://schemas.openxmlformats.org/drawingml/2006/main">
            <a:r>
              <a:t>Değişken boyut → external fragmentation</a:t>
            </a:r>
          </a:p>
          <a:p xmlns:a="http://schemas.openxmlformats.org/drawingml/2006/main">
            <a:r>
              <a:t>Paging farklı bir bölme yaklaşımı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Variable logical segments kendi base/bound/permission bilgisiyle yerleştirilebilir. Offset segment içindedir; global VA’yı körlemesine base’e ekleme. Bu tarihsel/genel öğretim modeli modern64-bit process’lerde code/heap/stack’in mutlaka hardware segment olduğu anlamına gelmez. “Segmentation fault” adı paging kullanan sistemlerde de yaşar.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https://pages.cs.wisc.edu/~remzi/OSTEP/vm-segmentation.pdf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Virtual page sanal alanın sabit boyutlu birimi; frame fiziksel alanın aynı boyutlu yeri. Bir process’in ardışık virtual pages’i ardışık physical frames gerektirmez. Bu model tek page size kullanır; gerçek sistemler farklı page sizes destekleyebilir.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Büyüyen dizi</a:t>
            </a:r>
          </a:p>
          <a:p xmlns:a="http://schemas.openxmlformats.org/drawingml/2006/main">
            <a:r>
              <a:t>Virtual olarak ardışık dizi parçalı frame’lerde olabilir.</a:t>
            </a:r>
          </a:p>
          <a:p xmlns:a="http://schemas.openxmlformats.org/drawingml/2006/main">
            <a:r>
              <a:t>Mekanizma: Page table görünümü physical placement’tan ayırır.</a:t>
            </a:r>
          </a:p>
          <a:p xmlns:a="http://schemas.openxmlformats.org/drawingml/2006/main">
            <a:r>
              <a:t>Ne zaman işe yarar: Virtual contiguity’den physical contiguity çıkarma.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Toy VA16bit,page256=2^8: offset8bit,VPN8bit. Physical32frame=2^5:PFN5bit,PA13bit. Adres birimi byte. Gerçek VA/PA genişliği işlemcinin pazarlama “64bit” adıyla eşit olmak zorunda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Page ile frame aynı boyutta; byte’ın iç konumu aynıdır.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Per-process page tables bu toy mapping’i tutar. Absent entry unmapped; mapped/presentfalse not-resident; mapped readonly write protection. Valid/present bit adları mimariye göre farklı; kernel metadata ile distinction kuruyoruz. Permission check bütün erişim yollarında uygulanmalı.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VA0x0134 decimal308. VPN=floor308/256=1; offset52=0x34. P VPN1→PFN7; PA7×256+52=1844=0x0734. Byte adresi read için izinli. Hex rakamlarını string olarak birleştirmek genel size modelinde güvenilir algoritma değildir; aritmetik veya bitfields kullan.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Hayır; VPN yerine PFN gelir.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 VPN1 readonly:0x0100 offset0→1792;0x01FF offset255→2047.0x0200 yeni VPN2,offset0’dır ve mapped nonresident. Adres geçerli olması residency garantisi değildir. Bu hafta fault sınıflandırma; sonraki hafta yükleme ve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Hayır; boundary512 yeni sayfa başıdır.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 process VPN1→frame9 ve R/W. Q VA308→9×256+52=2356. P aynı VA→1844. TLB process identity olmadan VPN1’i key yaparsa yanlış mapping reuse edebilir. ASID/PCID gibi tag veya invalidation mekanizması gereken concept’tir; her mimarinin aynı implementation olduğu iddiası değil.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Hayır. Aynı adres farklı mapping ile farklı frame seçer.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Process izolasyonu</a:t>
            </a:r>
          </a:p>
          <a:p xmlns:a="http://schemas.openxmlformats.org/drawingml/2006/main">
            <a:r>
              <a:t>Bir worker diğerinin private verisini pointer göndererek okuyamaz.</a:t>
            </a:r>
          </a:p>
          <a:p xmlns:a="http://schemas.openxmlformats.org/drawingml/2006/main">
            <a:r>
              <a:t>Mekanizma: Adresin anlamı process context’ine bağlıdır.</a:t>
            </a:r>
          </a:p>
          <a:p xmlns:a="http://schemas.openxmlformats.org/drawingml/2006/main">
            <a:r>
              <a:t>Ne zaman işe yarar: IPC’de pointer yerine explicit paylaşım protokolü kullan.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TLB translation ve permission bilgisi cache’ler. Data cache actual bytes’ı tutar. TLB miss table lookup gerektirebilir ama page disk’te olmak zorunda değildir. Model two-entry LRU cache key(process,VPN); actual CPUs policy ve hierarchy açısından farklıdır.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Aynı sayfada gezinmek</a:t>
            </a:r>
          </a:p>
          <a:p xmlns:a="http://schemas.openxmlformats.org/drawingml/2006/main">
            <a:r>
              <a:t>Yakın byte’lar aynı translation’ı tekrar kullanır.</a:t>
            </a:r>
          </a:p>
          <a:p xmlns:a="http://schemas.openxmlformats.org/drawingml/2006/main">
            <a:r>
              <a:t>Mekanizma: Bir TLB entry bir page’in birçok byte erişimini kapsar.</a:t>
            </a:r>
          </a:p>
          <a:p xmlns:a="http://schemas.openxmlformats.org/drawingml/2006/main">
            <a:r>
              <a:t>Ne zaman işe yarar: Translation locality ile data-cache locality’yi ayır.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https://pages.cs.wisc.edu/~remzi/OSTEP/vm-tlbs.pdf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P308 read miss→1844;P511 read hit→2047;P256 write hit fakat protection;P512 read miss/not-present;Q308 read miss→2356. Denied access output’ta PA üretmez. Toy cache sadece başarılı resident lookup ile dolar; presentfalse entry cache’lemez.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https://pages.cs.wisc.edu/~remzi/OSTEP/vm-tlbs.pdf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Miss cache’te çevirinin yokluğu; resident valid mapping table walk ile çözülebilir. Not-present fault geçerli bölge için OS desteği ister. Unmapped/permission violation erişim reddi veya OS-specific handling gerektirir. CPU fault isimleri birden çok nedeni kapsayabilir; kavramsal sınıflar exact exception isimleri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Hayır. Table ve data memory’de olabilir.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Kısa gecikme ile uzun stall</a:t>
            </a:r>
          </a:p>
          <a:p xmlns:a="http://schemas.openxmlformats.org/drawingml/2006/main">
            <a:r>
              <a:t>Translation cache miss ve page-in farklı maliyetler taşır.</a:t>
            </a:r>
          </a:p>
          <a:p xmlns:a="http://schemas.openxmlformats.org/drawingml/2006/main">
            <a:r>
              <a:t>Mekanizma: Miss’in nedeni ve residency ayrı bilgidir.</a:t>
            </a:r>
          </a:p>
          <a:p xmlns:a="http://schemas.openxmlformats.org/drawingml/2006/main">
            <a:r>
              <a:t>Ne zaman işe yarar: Her memory stall’ı swap diye adlandırma.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https://pages.cs.wisc.edu/~remzi/OSTEP/vm-tlbs.pdf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Serial lookup model: TLB10ns,memory100ns,one-level PTE. Hit10+100=110ns;miss10+100(PTE)+100(data)=210ns. h0.9: EAT0.9×110+0.1×210=120ns. No page faults,no caches,no overlap,uniform times. Gerçek pipeline’a doğrudan benchmark tahmini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Bu serial modelde110ns; TLB lookup maliyeti var.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https://pages.cs.wisc.edu/~remzi/OSTEP/vm-tlbs.pdf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Aynı one-level model EAT210−100h. h0.5→160ns;h0.99→111ns. Daha iyi hit ratio aynı varsayımlar altında expected translation cost düşürür. TLB reach=entry count×page size;64×4KiB=256KiB. Reach coverage kapasitesidir, hit ratio veya working-set residency garantisi değil.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Geniş sparse tarama</a:t>
            </a:r>
          </a:p>
          <a:p xmlns:a="http://schemas.openxmlformats.org/drawingml/2006/main">
            <a:r>
              <a:t>Her dokunuş yeni page’e gidebilir.</a:t>
            </a:r>
          </a:p>
          <a:p xmlns:a="http://schemas.openxmlformats.org/drawingml/2006/main">
            <a:r>
              <a:t>Mekanizma: Translation footprint küçük TLB’yi aşabilir.</a:t>
            </a:r>
          </a:p>
          <a:p xmlns:a="http://schemas.openxmlformats.org/drawingml/2006/main">
            <a:r>
              <a:t>Ne zaman işe yarar: Access pattern ve page size’ı raporla.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https://pages.cs.wisc.edu/~remzi/OSTEP/vm-tlbs.pdf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32-bit VA,4KiB pages,4-byte PTE toy model: VPN20bit,2^20 entry. Flat table2^20×4=4MiB per process. Process yalnız iki page kullansa da dense flat allocation aynı olabilir. Table physical metadata maliyeti ve process count birlikte büyür; gerçek PTE genişliği architecture’a bağlıdır.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400MiB; data pages hariç.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Çok process’li servis</a:t>
            </a:r>
          </a:p>
          <a:p xmlns:a="http://schemas.openxmlformats.org/drawingml/2006/main">
            <a:r>
              <a:t>Küçük private workload bile metadata gerektirir.</a:t>
            </a:r>
          </a:p>
          <a:p xmlns:a="http://schemas.openxmlformats.org/drawingml/2006/main">
            <a:r>
              <a:t>Mekanizma: Table representation sparsity’yi değerlendirmelidir.</a:t>
            </a:r>
          </a:p>
          <a:p xmlns:a="http://schemas.openxmlformats.org/drawingml/2006/main">
            <a:r>
              <a:t>Ne zaman işe yarar: Data RAM ile translation metadata’yı ayrı hesapla.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https://pages.cs.wisc.edu/~remzi/OSTEP/vm-smalltables.pdf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Aynı32-bit model split10|10|12. Root1024×4=4KiB;her leaf aynı4KiB ve1024 page=4MiB VA kapsar. Root entry leaf’e işaret eder; leaf PTE data frame’e. Bu model herhangi bir contemporary64-bit page-table level sayısını iddia etmez.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https://pages.cs.wisc.edu/~remzi/OSTEP/vm-smalltables.pdf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8MiB mapped region iki4MiB root region’ını tam hizalı kaplasın:2 leaf+1root=12KiB. Dense flat4MiB.8MiB aynı büyüklükte fakat dağınık yerleşirse daha çok leaf gerekebilir; size yalnız mapped byte miktarından çıkmaz. Bu sayı allocated table pages,data frames hariç.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Hayır; touched root regions leaf sayısını belirler.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https://pages.cs.wisc.edu/~remzi/OSTEP/vm-smalltables.pdf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No-cache serial modelde two-level miss TL B10+root100+leaf100+data100=310ns. Hit110ns değişmez;h0.9 EAT130ns. Level caching ve parallel mechanisms gerçek systems’de hesabı değiştirir. Multilevel table memory footprint azaltabilir, bütün erişimleri mutlaka hızlandırmaz.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Aynı h,lookup/memory time ve serial/no-cache/no-fault modeliyle.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https://pages.cs.wisc.edu/~remzi/OSTEP/vm-smalltables.pdf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PTE permission user/supervisor,read/write/execute gibi hakları modelleyebilir. Exact bit encoding mimariye göre değişir. P VPN1 read-only;TLB hit bile write’ı reddeder. Daha sonraki COW örneği yazma fault’unun bazen OS tarafından kontrollü özel kopyaya çözülebileceğini gösterecek.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Hayır; cached permissions da uygulanır.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Kod sayfasını korumak</a:t>
            </a:r>
          </a:p>
          <a:p xmlns:a="http://schemas.openxmlformats.org/drawingml/2006/main">
            <a:r>
              <a:t>Data write izni ile execute izni aynı değildir.</a:t>
            </a:r>
          </a:p>
          <a:p xmlns:a="http://schemas.openxmlformats.org/drawingml/2006/main">
            <a:r>
              <a:t>Mekanizma: Permission kontrolü erişim türünü dikkate alır.</a:t>
            </a:r>
          </a:p>
          <a:p xmlns:a="http://schemas.openxmlformats.org/drawingml/2006/main">
            <a:r>
              <a:t>Ne zaman işe yarar: Mapped olmak ile yetkili olmak arasını ayır.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Toy lab PTE değişikliği otomatik TLB’ye yansımaz. invalidate(P) ilgili entries’i atar. Gerçek SMP sistemde eski çeviriyi kullanan diğer CPU’lar için koordinasyon gerekebilir; shootdown kavramı bu ihtiyacı anlatır. Her context switch tüm data cache’i flush eder diye genelleme yapma.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Eski translation yanlış yere gidebilir; invalidation/update protokolü gerekir.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Unmap ve yeniden kullanma</a:t>
            </a:r>
          </a:p>
          <a:p xmlns:a="http://schemas.openxmlformats.org/drawingml/2006/main">
            <a:r>
              <a:t>Frame başka amaçla atanırken eski mapping tehlikelidir.</a:t>
            </a:r>
          </a:p>
          <a:p xmlns:a="http://schemas.openxmlformats.org/drawingml/2006/main">
            <a:r>
              <a:t>Mekanizma: Cached translation lifetime mapping lifetime ile uyumlu olmalı.</a:t>
            </a:r>
          </a:p>
          <a:p xmlns:a="http://schemas.openxmlformats.org/drawingml/2006/main">
            <a:r>
              <a:t>Ne zaman işe yarar: Resource lifecycle’a cache coherence yükümlülüğünü ekle.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https://pages.cs.wisc.edu/~remzi/OSTEP/vm-tlbs.pdf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Daha büyük page aynı entry count ile TLB reach’i artırır. Daha fazla internal waste veya daha büyük allocation granularity yaratabilir. Huge pages bütün applications’ı hızlandırmaz; alignment,fragmentation ve actual workload önemlidir. Burada model page256 sabit; gerçek OS ayarı değiştirmiyoruz.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GERÇEK HAYAT: Büyük matrix</a:t>
            </a:r>
          </a:p>
          <a:p xmlns:a="http://schemas.openxmlformats.org/drawingml/2006/main">
            <a:r>
              <a:t>Yoğun access geniş translation coverage’den yararlanabilir.</a:t>
            </a:r>
          </a:p>
          <a:p xmlns:a="http://schemas.openxmlformats.org/drawingml/2006/main">
            <a:r>
              <a:t>Mekanizma: Page size metadata,reach ve waste’i birlikte değiştirir.</a:t>
            </a:r>
          </a:p>
          <a:p xmlns:a="http://schemas.openxmlformats.org/drawingml/2006/main">
            <a:r>
              <a:t>Ne zaman işe yarar: Tek benchmark’tan universal öneri çıkarma.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https://pages.cs.wisc.edu/~remzi/OSTEP/vm-tlbs.pdf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Standard Python CLI toy translations,permission faults,TLB and EAT üretir; gerçek process belleğine dokunmaz. İlk command beş erişimi gösterir. --va tek erişimde empty TLB ile başlar. Model PA üretmeyen deny/fault durumlarını açık ayırır. Tests boundary,process tags,cached permissions,invalidation vetable sizes’i denetler.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308 → VPN/offset/PFN/PA?</a:t>
            </a:r>
          </a:p>
          <a:p xmlns:a="http://schemas.openxmlformats.org/drawingml/2006/main">
            <a:r>
              <a:t>TLB miss page-in kanıtı mı?</a:t>
            </a:r>
          </a:p>
          <a:p xmlns:a="http://schemas.openxmlformats.org/drawingml/2006/main">
            <a:r>
              <a:t>12KiB sparse table hangi hizalama modeli?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Her cevapta model varsayımıyla gerekçe ver. Bu öz değerlendirme resmî grading değildir. Week6 bridge: mapped page present değilse kernel hangi işi yapmalıdır? Bu hafta no-fault EAT’i fault cost modeliyle karıştırma.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SORUNUN YANITI: P:1/52/7/1844;Q:1/52/9/2356. Miss residency fault demek değildir.12KiB=1root+2leaf,iki aligned4MiB region. Cached permission ve process identity korunmalıdır.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Yayımlanan resmî ders kapsamının özgün öğrenme uyarlaması. PDF kontrol tarihinde henüz yayımlanmamıştı.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https://pages.cs.wisc.edu/~remzi/OSTEP/vm-paging.pdf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https://mehmetgokturk.com/cse513/lecture-05.html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356ce37984c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eb64175043489c" /><Relationship Type="http://schemas.openxmlformats.org/officeDocument/2006/relationships/slideLayout" Target="/ppt/slideLayouts/slideLayout1.xml" Id="R39d54226674643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d54226674643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c6a92c4864cf4" /><Relationship Type="http://schemas.openxmlformats.org/officeDocument/2006/relationships/image" Target="/ppt/media/image.png" Id="Rfc6d709968744e99" /><Relationship Type="http://schemas.openxmlformats.org/officeDocument/2006/relationships/notesSlide" Target="/ppt/notesSlides/notesSlide1.xml" Id="Rf9fb5555fac040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da49361384931" /><Relationship Type="http://schemas.openxmlformats.org/officeDocument/2006/relationships/notesSlide" Target="/ppt/notesSlides/notesSlide2.xml" Id="R17e39170505e4b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059a33e2540e7" /><Relationship Type="http://schemas.openxmlformats.org/officeDocument/2006/relationships/notesSlide" Target="/ppt/notesSlides/notesSlide3.xml" Id="R26641723a92b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bc3a78c644f3d" /><Relationship Type="http://schemas.openxmlformats.org/officeDocument/2006/relationships/notesSlide" Target="/ppt/notesSlides/notesSlide4.xml" Id="R72f94fce178142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cdcea39f14c74" /><Relationship Type="http://schemas.openxmlformats.org/officeDocument/2006/relationships/notesSlide" Target="/ppt/notesSlides/notesSlide5.xml" Id="R1824c63c13b747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f44eaf2704501" /><Relationship Type="http://schemas.openxmlformats.org/officeDocument/2006/relationships/notesSlide" Target="/ppt/notesSlides/notesSlide6.xml" Id="Rcbc2b87285de43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52034e06f405b" /><Relationship Type="http://schemas.openxmlformats.org/officeDocument/2006/relationships/notesSlide" Target="/ppt/notesSlides/notesSlide7.xml" Id="Rb774c451d77044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96d40c35c492d" /><Relationship Type="http://schemas.openxmlformats.org/officeDocument/2006/relationships/notesSlide" Target="/ppt/notesSlides/notesSlide8.xml" Id="R24e662e9e4fd45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11b0364cf41f1" /><Relationship Type="http://schemas.openxmlformats.org/officeDocument/2006/relationships/notesSlide" Target="/ppt/notesSlides/notesSlide9.xml" Id="R869508ae204d40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fcc2852704d99" /><Relationship Type="http://schemas.openxmlformats.org/officeDocument/2006/relationships/notesSlide" Target="/ppt/notesSlides/notesSlide10.xml" Id="R0bf25d17ace142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6ca1fb3404354" /><Relationship Type="http://schemas.openxmlformats.org/officeDocument/2006/relationships/notesSlide" Target="/ppt/notesSlides/notesSlide11.xml" Id="R0dcbc4ab790e4e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67e48a3dd4cd9" /><Relationship Type="http://schemas.openxmlformats.org/officeDocument/2006/relationships/notesSlide" Target="/ppt/notesSlides/notesSlide12.xml" Id="R0b752ae32a0542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917fd98be47f3" /><Relationship Type="http://schemas.openxmlformats.org/officeDocument/2006/relationships/notesSlide" Target="/ppt/notesSlides/notesSlide13.xml" Id="R3f402be6305144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2a1878e1f4974" /><Relationship Type="http://schemas.openxmlformats.org/officeDocument/2006/relationships/notesSlide" Target="/ppt/notesSlides/notesSlide14.xml" Id="R86afcd365c8f4b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86dfb777044a4" /><Relationship Type="http://schemas.openxmlformats.org/officeDocument/2006/relationships/notesSlide" Target="/ppt/notesSlides/notesSlide15.xml" Id="R11ab7ca4a9ac40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23fb89cd643c5" /><Relationship Type="http://schemas.openxmlformats.org/officeDocument/2006/relationships/notesSlide" Target="/ppt/notesSlides/notesSlide16.xml" Id="R6f7c46d4261a41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4991b55d84517" /><Relationship Type="http://schemas.openxmlformats.org/officeDocument/2006/relationships/notesSlide" Target="/ppt/notesSlides/notesSlide17.xml" Id="Red68859354cd4c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9b26ae620466b" /><Relationship Type="http://schemas.openxmlformats.org/officeDocument/2006/relationships/notesSlide" Target="/ppt/notesSlides/notesSlide18.xml" Id="Rad82f8293a544b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46d16585441b6" /><Relationship Type="http://schemas.openxmlformats.org/officeDocument/2006/relationships/notesSlide" Target="/ppt/notesSlides/notesSlide19.xml" Id="R2481f9874c9a4b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9bd5931a0460b" /><Relationship Type="http://schemas.openxmlformats.org/officeDocument/2006/relationships/notesSlide" Target="/ppt/notesSlides/notesSlide20.xml" Id="R4a526972e25e4b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bc943ee634ea6" /><Relationship Type="http://schemas.openxmlformats.org/officeDocument/2006/relationships/notesSlide" Target="/ppt/notesSlides/notesSlide21.xml" Id="R62aebe91187640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ff29bd0494b72" /><Relationship Type="http://schemas.openxmlformats.org/officeDocument/2006/relationships/notesSlide" Target="/ppt/notesSlides/notesSlide22.xml" Id="R9c80ade3f8e44b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b9dba15af4830" /><Relationship Type="http://schemas.openxmlformats.org/officeDocument/2006/relationships/notesSlide" Target="/ppt/notesSlides/notesSlide23.xml" Id="R1bcecd9ac71d47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1242f5ee340a5" /><Relationship Type="http://schemas.openxmlformats.org/officeDocument/2006/relationships/notesSlide" Target="/ppt/notesSlides/notesSlide24.xml" Id="R2a8133b9094044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c007762714dd8" /><Relationship Type="http://schemas.openxmlformats.org/officeDocument/2006/relationships/notesSlide" Target="/ppt/notesSlides/notesSlide25.xml" Id="Re78c63d91b224e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51e7e1b0b4c94" /><Relationship Type="http://schemas.openxmlformats.org/officeDocument/2006/relationships/notesSlide" Target="/ppt/notesSlides/notesSlide26.xml" Id="Rfa3f166b3634433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bcb228583496d" /><Relationship Type="http://schemas.openxmlformats.org/officeDocument/2006/relationships/notesSlide" Target="/ppt/notesSlides/notesSlide27.xml" Id="Redab80b2403941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b77fbd9bb4452" /><Relationship Type="http://schemas.openxmlformats.org/officeDocument/2006/relationships/notesSlide" Target="/ppt/notesSlides/notesSlide28.xml" Id="R30e9f7982f6b45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d709968744e99"/>
          <a:stretch xmlns:a="http://schemas.openxmlformats.org/drawingml/2006/main"/>
        </p:blipFill>
        <p:spPr>
          <a:xfrm xmlns:a="http://schemas.openxmlformats.org/drawingml/2006/main">
            <a:off x="6667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3E8BB-9854-46D6-A2A1-728117F0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73871-79B2-4FC1-9ABD-B38ABE58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476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Adres dediğin, kimin adresi?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228B8-2928-4BB1-BA08-754A009C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5286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Aynı adres, farklı süreç; çeviri ve koruma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CEA85-C749-4393-8407-32034D66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Tahmin et · dene · gerekçelendir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C2D90-0569-4276-B51D-24C96C26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Yayımlanan haftalık kapsamın özgün uyarlaması</a:t>
            </a:r>
          </a:p>
        </p:txBody>
      </p:sp>
    </p:spTree>
    <p:extLst>
      <p:ext uri="{BB962C8B-B14F-4D97-AF65-F5344CB8AC3E}">
        <p14:creationId xmlns:p14="http://schemas.microsoft.com/office/powerpoint/2010/main" val="516838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27F02-8154-4EA1-A178-D22A1A64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Numaralı raf: isim ile yer farklı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362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8405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Benzetme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Teknik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</a:tr>
              <a:tr h="8405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Yerel raf etiketi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Virtual page number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8405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Depo bölmesi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frame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8405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Raf içinde konum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Offset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1D013-1370-4AAB-B4FB-331DCD1D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İki editör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64132-6B0A-4628-8DBD-F34CC8BB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İkisinde aynı numeric pointer olabilir.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B3E15-EF5A-45CD-A4F1-E82F55EF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94720-0D5A-4474-834F-B939872B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02 / 28</a:t>
            </a:r>
          </a:p>
        </p:txBody>
      </p:sp>
    </p:spTree>
    <p:extLst>
      <p:ext uri="{BB962C8B-B14F-4D97-AF65-F5344CB8AC3E}">
        <p14:creationId xmlns:p14="http://schemas.microsoft.com/office/powerpoint/2010/main" val="56523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BC50C-48CE-46D2-901D-CDB7FB6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Adres alanı bir görünüm sunar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6D19F-53AE-4F37-9C82-105DB91C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38150" cy="99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4D542-D8BA-4E37-BA53-84838F3F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10248900" cy="99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Sanal adres: process’in gördüğü isim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9A43F-3612-4508-9EEE-00E6F1E3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1650"/>
            <a:ext cx="438150" cy="99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E7C5B-9D4C-49DD-9333-7E6650E6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1650"/>
            <a:ext cx="10248900" cy="99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Fiziksel adres: çeviri sonrası konum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2BAF3-2F77-4D67-B928-3855C081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0675"/>
            <a:ext cx="438150" cy="99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667BA-E384-4C87-865A-D71B2C26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0675"/>
            <a:ext cx="10248900" cy="99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Ayrı görünüm, kontrollü paylaşım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3E215-B788-4AEB-B138-E1CD6DD1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Büyük sparse veri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7C37A-BADD-4DA0-BE5B-7625518A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Az sayfa kullanırken büyük adres aralığı ayırabilirsin.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93BD3-D4A2-4780-A674-6C959689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267D1-C68C-49CB-B7EF-C56235E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03 / 28</a:t>
            </a:r>
          </a:p>
        </p:txBody>
      </p:sp>
    </p:spTree>
    <p:extLst>
      <p:ext uri="{BB962C8B-B14F-4D97-AF65-F5344CB8AC3E}">
        <p14:creationId xmlns:p14="http://schemas.microsoft.com/office/powerpoint/2010/main" val="1421772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DBF74-C324-42D5-BFD1-6610805B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Base + bound: küçük başlangıç modeli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B470-66A9-4C65-ADA2-0B26E92B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7156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if offset &lt; limit: PA = base + offset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else: protection fault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3DDF4-37FB-41E4-A91E-EB1C4D1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Limit300 içine offset300 girer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13B9D-B8EA-42A9-9B31-F9B47BE3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C549D-B0BD-4B0B-9860-703F8740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04 / 28</a:t>
            </a:r>
          </a:p>
        </p:txBody>
      </p:sp>
    </p:spTree>
    <p:extLst>
      <p:ext uri="{BB962C8B-B14F-4D97-AF65-F5344CB8AC3E}">
        <p14:creationId xmlns:p14="http://schemas.microsoft.com/office/powerpoint/2010/main" val="1378678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D6FBD-D65F-4D5C-9D5C-D6DE6425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Allocation: hangi boşluğu seçmeli?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362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8405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Politika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Seçilen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Kalan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</a:tr>
              <a:tr h="8405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First-fit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8405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Best-fit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300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88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8405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Worst-fit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388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C4CFC-3A1A-4089-9A06-67CF13C8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Arena allocator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131DA-A22B-48F8-9916-D977E5A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Birçok farklı büyüklükte nesne yer ister.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0D8DB-1BDC-4A75-A98C-C26E7670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19D04-BC62-4B98-A742-47DDBC51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05 / 28</a:t>
            </a:r>
          </a:p>
        </p:txBody>
      </p:sp>
    </p:spTree>
    <p:extLst>
      <p:ext uri="{BB962C8B-B14F-4D97-AF65-F5344CB8AC3E}">
        <p14:creationId xmlns:p14="http://schemas.microsoft.com/office/powerpoint/2010/main" val="2141936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C009B-19CA-483A-9493-F1A38175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Toplam boş alan neden yetmeyebilir?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055A8-5146-4A58-A79B-59CE2EDE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200-byte contiguous request kabul edilir mi?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A37C8-0EBE-438A-B568-DB5E20D6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Uzun yaşayan heap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828FE-33E0-4B53-9595-0CF25FFA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Boş alan çok ama farklı nesneler araya girmiş.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76EA7-7616-440D-8629-E12AFC5F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683B0-82B1-4ACD-8C0F-89A11048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06 / 28</a:t>
            </a:r>
          </a:p>
        </p:txBody>
      </p:sp>
    </p:spTree>
    <p:extLst>
      <p:ext uri="{BB962C8B-B14F-4D97-AF65-F5344CB8AC3E}">
        <p14:creationId xmlns:p14="http://schemas.microsoft.com/office/powerpoint/2010/main" val="1509006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0221F-121A-4035-8F0E-68DF58E0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İç parçalanma: ayrılanın içinde boşluk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3BFA7-759B-4D3F-B583-68EE8485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600 için kaç256-byte unit?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83DF6-34FC-488D-98D0-90C7927B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Küçük nesne sınıfı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FA457-3E5D-42C6-9C75-A043C441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Allocator daha büyük size class ayırabilir.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EF422-E4AE-4A1F-AAFA-7D7C6D5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408FC-626E-47E4-9546-E15F56B3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07 / 28</a:t>
            </a:r>
          </a:p>
        </p:txBody>
      </p:sp>
    </p:spTree>
    <p:extLst>
      <p:ext uri="{BB962C8B-B14F-4D97-AF65-F5344CB8AC3E}">
        <p14:creationId xmlns:p14="http://schemas.microsoft.com/office/powerpoint/2010/main" val="612851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F1DA6-8E89-4863-95D0-1764A8D6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Segmentation: bağlamı doğru tut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4315C-77B9-41C2-A752-B72B32B5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3815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4227C-16D6-487B-BD05-9706CB6E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102489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Logical region ≠ her mimaride hardware segment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68B42-2BDB-46DE-9DB6-14B5F98D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6275"/>
            <a:ext cx="43815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CFC29-03E0-4B92-9E71-08D73BE1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6275"/>
            <a:ext cx="102489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Değişken boyut → external fragmentation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02666-16A3-45D0-8ADA-645B48F9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9925"/>
            <a:ext cx="43815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F1CB0-7AA5-4DE3-9B05-1FEF1B3D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9925"/>
            <a:ext cx="102489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Paging farklı bir bölme yaklaşımı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E9BA3-1D16-463E-A3F7-9C48F8E3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AFC3F-ECEC-4D1B-B9E2-8D79C114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08 / 28</a:t>
            </a:r>
          </a:p>
        </p:txBody>
      </p:sp>
    </p:spTree>
    <p:extLst>
      <p:ext uri="{BB962C8B-B14F-4D97-AF65-F5344CB8AC3E}">
        <p14:creationId xmlns:p14="http://schemas.microsoft.com/office/powerpoint/2010/main" val="1423803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4931F-7556-494E-B9BB-AD60854B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Paging: page ve frame aynı şey değil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362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8405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VPN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PFN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</a:tr>
              <a:tr h="8405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8405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8405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83ADF-CE82-4ABE-A6CD-2684B5AB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Büyüyen dizi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1A940-3C17-4ABF-A70F-EBA359D6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Virtual olarak ardışık dizi parçalı frame’lerde olabilir.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C742A-A5C6-47F3-A2B6-2B606D84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64703-7646-49C7-B0D4-5F091E28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09 / 28</a:t>
            </a:r>
          </a:p>
        </p:txBody>
      </p:sp>
    </p:spTree>
    <p:extLst>
      <p:ext uri="{BB962C8B-B14F-4D97-AF65-F5344CB8AC3E}">
        <p14:creationId xmlns:p14="http://schemas.microsoft.com/office/powerpoint/2010/main" val="13523039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3AFF9-080D-4E89-BC9D-8358C550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Bitleri ayır: VPN | offset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F2090-451D-4CF6-BA94-76D1E80F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7156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VA = [VPN:8 bits | offset:8 bits]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PA = [PFN:5 bits | offset:8 bits]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BF57-6CB5-4EFF-B4C4-0F03A239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Offset neden değişmeden kalır?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6D240-3A58-4B8D-970F-3274DBD9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308B7-DA07-4A97-BA3E-7BB9F2AB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21042641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94DFC-36FE-4AB5-84C4-27911950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PTE sözleşmesini gör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 VPN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Frame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R/W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Evet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R/W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Evet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Hayır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R/W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Evet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R/W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1A108-70E1-4819-A360-86A5B0F7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36425-65DF-45E1-B3B5-BDCDF908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14417300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51214-3D77-42CE-9599-C28EBCA3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Bir adresi sonuna kadar çevir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15716-640C-4DA9-AC0E-B31C3F47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7156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308 = 1 × 256 +52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PTE[P,1].frame =7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PA =7 ×256 +52 =1844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5FE84-C535-4D5A-BB36-146AED95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Offset52 başka frame’e geçerken değişir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298CB-351E-400E-9534-8C6C96A3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D3A95-D2A5-4EF9-9D67-0603556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10524641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01A0C-E3EE-48D4-99E8-46DF9077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Sınır adresleriyle test et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248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8120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 VA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VPN/offset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Sonuç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1/0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PA1792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511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1/255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PA2047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512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2/0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present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32D5B-E4AA-4989-BC6A-38CC574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511 ve512 aynı page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5D934-5E60-46E6-B3B3-41AC1F3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95320-9BF2-4BAB-943A-DCA81688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10840584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C2DDD-353C-45D7-BF80-B0F3461F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İlk kontrol: aynı VA, aynı PA mı?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D52B9-BD43-49C7-8B90-C53F70F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İki process’in numeric pointer’ı eşitse shared nesne mi?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1CC5F-4C86-4BD5-BE05-E9B0FC4A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Process izolasyonu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35C5B-8F94-4CFB-ABB8-1121CC41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Bir worker diğerinin private verisini pointer göndererek okuyamaz.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EBFD1-5719-4E08-A10B-A80DF4A4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2A7E5-20C3-4449-A9F4-AB88A4C4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11716762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5F2C9-1F6F-4E14-91B8-C52EB28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TLB: veri değil çeviri cache’i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FF63E-0FBA-496C-A806-CCE0B65C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9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TLB hit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D9B48-C9D9-49C8-8DA2-FEE89D24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959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Cached PFN + permission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İzinli ise data erişimi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18B49-EE81-46D8-86F2-48BAC546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9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TLB miss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297EA-98CD-4799-A5F7-E3F8799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959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Table walk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Resident ise cache doldur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7FB2F-EDDF-4E64-9EEE-46A0729F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Aynı sayfada gezinmek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56AAD-FFAA-4366-9B48-B3AD399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Yakın byte’lar aynı translation’ı tekrar kullanır.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C78E-CAB3-4444-A4E1-C608533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4B2C8-8DE9-4AA9-97CB-6271BE9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191897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B360A-B065-40C9-A869-6C3ABCA5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Beş erişim: hit güvenlik kontrolünü atlamaz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Erişim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TLB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Sonuç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P308 R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1844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P511 R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Hit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2047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P256 W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Hit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Protection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P512 R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present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Q308 R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2356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35C2A-2B70-4E2E-8B17-7926881A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22384-CAEF-4564-92DF-A6725F4D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17544263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B0DE8-EF6A-41EF-8600-657BB50B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TLB miss, page fault, protection: ayrı olaylar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D8F21-AC84-41D2-A179-7C9F424E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TLB miss gördük: kesin storage I/O var mı?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883B4-0E2E-41B8-AA08-498EBC08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Kısa gecikme ile uzun stall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EF0B2-AC44-4DCF-9F97-2468BA3D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Translation cache miss ve page-in farklı maliyetler taşır.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67B45-24B6-4E8E-89F9-552DD077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35FA4-2801-4FE1-A0D1-02758CCA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20408456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28BA7-F746-4B73-A796-EEDAC37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EAT: önce erişim sayısını yaz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A6242-4710-4349-B8E4-FEA72490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7156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Hit=110ns; miss=210ns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EAT=h×110 +(1−h)×210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h=0.9 →120ns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77933-854E-4B99-9D7B-AB2DA7A0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h=1 olursa memory100ns mi EAT?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96877-368D-446F-AAD1-C774E727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E2D4D-2731-4DB4-842E-277B354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5082232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53043-8F9D-46B4-AA80-CAA4505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Hit ratio değişince ne değişir?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362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603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EAT ns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160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111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560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91B79-C4E1-4EF8-BFEF-503252D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Geniş sparse tarama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A8E74-DD09-41D7-A987-EF526E99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Her dokunuş yeni page’e gidebilir.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18721-8389-4096-B84A-4D4D2D04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996B8-7F8A-454E-9DDE-8D2867D5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2902520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3BBB9-A695-4D0A-BC8E-D53B7DBA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Düz tablo: bütün VPN’lere 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9B456-A012-4DD7-A4AB-42FD83A1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100 process için bu modelde dense PTE toplamı?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3C7B1-3057-41DC-9353-443FF5F2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Çok process’li servis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5BCB3-A63D-4C0F-A16B-5046BD34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Küçük private workload bile metadata gerektirir.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338AE-3E0D-412A-98C2-9D78BC5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8A43B-A469-411A-ACAE-E0D8395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12747022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4A2FB-5FF3-4BE1-B38D-B62F6C6F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İki seviye: olmayan alt tabloyu ayırma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D1E40-9269-486F-A625-C5B37582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715625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VA32 = [root index10 | leaf index10 | offset12]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root[root_index] → leaf table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leaf[leaf_index] → data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89F9-08A9-45C6-A836-672C5E9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D5929-05FB-4E0C-A04D-EE351F9B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7601313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2BE76-9F38-4F65-AA3B-1DB7F808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Sparse tablo boyutunu gerçekten say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248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8120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Bileşen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Byte</a:t>
                      </a:r>
                    </a:p>
                  </a:txBody>
                  <a:tcPr marL="114300" marR="114300" marT="47625" marB="47625" anchor="ctr">
                    <a:solidFill>
                      <a:srgbClr val="122C42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Root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4096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leaf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8192</a:t>
                      </a:r>
                    </a:p>
                  </a:txBody>
                  <a:tcPr marL="114300" marR="114300" marT="47625" marB="47625" anchor="ctr">
                    <a:solidFill>
                      <a:srgbClr val="ECF0EC"/>
                    </a:solidFill>
                  </a:tcPr>
                </a:tc>
              </a:tr>
              <a:tr h="8120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Toplam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12288 =12KiB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A731A-A4FE-42A6-8709-582825C2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8MiB dağınık mapping hep12KiB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55451-E982-400C-AB78-5980281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3ECB2-4446-4FFD-8345-806B433A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17457538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BDF2B-0C1E-4D76-87C6-6D9767E5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İki-level walk: yer kazan, miss pahalılaşsın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5242C-9AE2-42F9-AB3A-A70A2B5E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Flat120ns ile two-level130ns hangi koşulda karşılaştırılabilir?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F2325-D957-41C2-9A42-73205917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86D46-B2CE-4A09-BCD2-2D9F8FF0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21112275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700AF-B448-4D64-AD99-2299113A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Permission: mapping var diye her erişim yok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6A9D6-D343-418A-9BBB-3C0A4BFE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Readonly sayfayı yazmak TLB hit ile serbest mi?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F1AD8-6559-48CF-B8E0-B62115A9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Kod sayfasını korumak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91943-0BCC-41AF-BBA5-590DE5C4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Data write izni ile execute izni aynı değildir.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4FA58-02C7-4F12-8938-E3AAD1B3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62E07-A66B-4B1D-89F1-7FE6FDD4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15531444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C8849-6F6A-4494-BF29-868947A2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Mapping değişince eski cache’i unut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8D11E-DCC4-4BC6-ADD6-10BA5336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Düşün: PFN güncel ama TLB eski: doğru fiziksel yer mi?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617C1-F4C6-47F1-9AA2-A5B80E4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Unmap ve yeniden kullanma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8D236-ACE5-4BC0-AC8E-F56FA11F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Frame başka amaçla atanırken eski mapping tehlikelidir.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F5065-CDC9-4317-8B09-A6C6DA7B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806E6-1233-44F8-A6B7-9C97FDB4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19871843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E6185-D0C4-4941-9465-CBC89EE3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Büyük sayfa bir tradeoff’tur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E2983-3888-4F1D-8A28-13D026A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6225"/>
                </a:solidFill>
                <a:latin typeface="Helvetica Neue"/>
                <a:ea typeface="Helvetica Neue"/>
                <a:cs typeface="Helvetica Neue"/>
              </a:rPr>
              <a:t>GERÇEK HAYAT · Büyük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01FF0-43A0-4229-BD2A-498389D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Yoğun access geniş translation coverage’den yararlanabilir.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BA65E-8D8D-4E69-A2DE-036F810B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41AF3-AD5A-4CEA-8467-C5538CC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7728225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6AD71-83B0-4EB4-85CE-B2CB44FD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Offline lab: adresi tahmin 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7DA6B-544E-4A50-AA41-03BBB1B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715625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python3 lab/translation.py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python3 lab/translation.py --va 0x0134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python3 lab/translation.py --va 0x0100 --mode write</a:t>
            </a:r>
          </a:p>
          <a:p xmlns:a="http://schemas.openxmlformats.org/drawingml/2006/main">
            <a:pPr>
              <a:def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python3 lab/test_translation.py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7DFCF-913F-4B9E-92B2-9727005E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E559A-421F-4853-A65C-BD7E60A4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86191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50AD9-6E4B-4B91-A9AB-A5B2D333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Çıkış bileti: çeviri, koruma, maliyet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7AA62-C5FE-4B65-8B03-B924AA0B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3815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D957-061D-4EAF-A5BA-138F66F8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102489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308 → VPN/offset/PFN/PA?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FB4B8-CE98-4157-8C56-0FEB6353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6275"/>
            <a:ext cx="43815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CC6C1-260B-401C-881A-4B9BAED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6275"/>
            <a:ext cx="102489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TLB miss page-in kanıtı mı?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CF73D-5658-4E33-98A1-5589EA40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9925"/>
            <a:ext cx="43815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CB72F-9DAF-4119-B35E-A0E10194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9925"/>
            <a:ext cx="102489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C42"/>
                </a:solidFill>
                <a:latin typeface="Helvetica Neue"/>
                <a:ea typeface="Helvetica Neue"/>
                <a:cs typeface="Helvetica Neue"/>
              </a:rPr>
              <a:t>12KiB sparse table hangi hizalama modeli?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50B99-C844-4891-9FEF-E298B6C3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D606A"/>
                </a:solidFill>
                <a:latin typeface="Helvetica Neue"/>
                <a:ea typeface="Helvetica Neue"/>
                <a:cs typeface="Helvetica Neue"/>
              </a:rPr>
              <a:t>CSE513 · Hafta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FC3CF-41DF-40E9-9966-E6FC276A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460303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2026-10-07T20:20:52.5070000Z</dcterms:created>
  <dcterms:modified xsi:type="dcterms:W3CDTF">2026-10-07T20:20:52.5070000Z</dcterms:modified>
</coreProperties>
</file>