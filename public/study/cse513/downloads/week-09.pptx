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3493ea26f72e4c7d" /><Relationship Type="http://schemas.openxmlformats.org/officeDocument/2006/relationships/extended-properties" Target="/docProps/app.xml" Id="R3764e0b7eb844c34" /><Relationship Type="http://schemas.openxmlformats.org/officeDocument/2006/relationships/officeDocument" Target="/ppt/presentation.xml" Id="R254162b5c3144388" /></Relationships>
</file>

<file path=ppt/presentation.xml><?xml version="1.0" encoding="utf-8"?>
<p:presentation xmlns:p="http://schemas.openxmlformats.org/presentationml/2006/main">
  <p:sldMasterIdLst>
    <p:sldMasterId xmlns:r="http://schemas.openxmlformats.org/officeDocument/2006/relationships" id="2147483648" r:id="R5c16156ed9374154"/>
  </p:sldMasterIdLst>
  <p:notesMasterIdLst>
    <p:notesMasterId xmlns:r="http://schemas.openxmlformats.org/officeDocument/2006/relationships" r:id="R2b8251b4782f4da6"/>
  </p:notesMasterIdLst>
  <p:sldIdLst>
    <p:sldId xmlns:r="http://schemas.openxmlformats.org/officeDocument/2006/relationships" id="256" r:id="R9c3c0a9cfaa14ebb"/>
    <p:sldId xmlns:r="http://schemas.openxmlformats.org/officeDocument/2006/relationships" id="257" r:id="Raf582da128cf48ea"/>
    <p:sldId xmlns:r="http://schemas.openxmlformats.org/officeDocument/2006/relationships" id="258" r:id="R6752ee26f9be4d3c"/>
    <p:sldId xmlns:r="http://schemas.openxmlformats.org/officeDocument/2006/relationships" id="259" r:id="R56f4b7132a164f83"/>
    <p:sldId xmlns:r="http://schemas.openxmlformats.org/officeDocument/2006/relationships" id="260" r:id="R724413c2718e4edb"/>
    <p:sldId xmlns:r="http://schemas.openxmlformats.org/officeDocument/2006/relationships" id="261" r:id="R6840b704da674110"/>
    <p:sldId xmlns:r="http://schemas.openxmlformats.org/officeDocument/2006/relationships" id="262" r:id="Raae10ef119234ac2"/>
    <p:sldId xmlns:r="http://schemas.openxmlformats.org/officeDocument/2006/relationships" id="263" r:id="R363dd9e2010343c5"/>
    <p:sldId xmlns:r="http://schemas.openxmlformats.org/officeDocument/2006/relationships" id="264" r:id="Ra0e8a518f2ca4c6a"/>
    <p:sldId xmlns:r="http://schemas.openxmlformats.org/officeDocument/2006/relationships" id="265" r:id="Rd0b419b794f345c1"/>
    <p:sldId xmlns:r="http://schemas.openxmlformats.org/officeDocument/2006/relationships" id="266" r:id="R280b888e0de34623"/>
    <p:sldId xmlns:r="http://schemas.openxmlformats.org/officeDocument/2006/relationships" id="267" r:id="R739cf0d81e504caf"/>
    <p:sldId xmlns:r="http://schemas.openxmlformats.org/officeDocument/2006/relationships" id="268" r:id="R4527e7177d5b45dc"/>
    <p:sldId xmlns:r="http://schemas.openxmlformats.org/officeDocument/2006/relationships" id="269" r:id="Re4a140d3fc944c4e"/>
    <p:sldId xmlns:r="http://schemas.openxmlformats.org/officeDocument/2006/relationships" id="270" r:id="R946e11f3f80947a2"/>
    <p:sldId xmlns:r="http://schemas.openxmlformats.org/officeDocument/2006/relationships" id="271" r:id="R44f9b932819a480e"/>
    <p:sldId xmlns:r="http://schemas.openxmlformats.org/officeDocument/2006/relationships" id="272" r:id="R3be26dc412ff40d4"/>
    <p:sldId xmlns:r="http://schemas.openxmlformats.org/officeDocument/2006/relationships" id="273" r:id="Rb308e69609c34fba"/>
    <p:sldId xmlns:r="http://schemas.openxmlformats.org/officeDocument/2006/relationships" id="274" r:id="Rdc6a4f93d11448b2"/>
    <p:sldId xmlns:r="http://schemas.openxmlformats.org/officeDocument/2006/relationships" id="275" r:id="R0d9a8d924e594bde"/>
    <p:sldId xmlns:r="http://schemas.openxmlformats.org/officeDocument/2006/relationships" id="276" r:id="R5a796bbffd4a4ef8"/>
    <p:sldId xmlns:r="http://schemas.openxmlformats.org/officeDocument/2006/relationships" id="277" r:id="R39e616a640494058"/>
    <p:sldId xmlns:r="http://schemas.openxmlformats.org/officeDocument/2006/relationships" id="278" r:id="Refd684aa8cc64651"/>
    <p:sldId xmlns:r="http://schemas.openxmlformats.org/officeDocument/2006/relationships" id="279" r:id="R1cc83eb8afd3452a"/>
    <p:sldId xmlns:r="http://schemas.openxmlformats.org/officeDocument/2006/relationships" id="280" r:id="R84603cd6301f4153"/>
    <p:sldId xmlns:r="http://schemas.openxmlformats.org/officeDocument/2006/relationships" id="281" r:id="R1846b239d63d480a"/>
    <p:sldId xmlns:r="http://schemas.openxmlformats.org/officeDocument/2006/relationships" id="282" r:id="R3db9d57f86da46bb"/>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0989f2969cad464f" /><Relationship Type="http://schemas.openxmlformats.org/officeDocument/2006/relationships/slideMaster" Target="/ppt/slideMasters/slideMaster1.xml" Id="R5c16156ed9374154" /><Relationship Type="http://schemas.openxmlformats.org/officeDocument/2006/relationships/notesMaster" Target="/ppt/notesMasters/notesMaster1.xml" Id="R2b8251b4782f4da6" /><Relationship Type="http://schemas.openxmlformats.org/officeDocument/2006/relationships/presProps" Target="/ppt/presProps.xml" Id="R59715e36848241dc" /><Relationship Type="http://schemas.openxmlformats.org/officeDocument/2006/relationships/tableStyles" Target="/ppt/tableStyles.xml" Id="R6cb4178978ab48c9" /><Relationship Type="http://schemas.openxmlformats.org/officeDocument/2006/relationships/slide" Target="/ppt/slides/slide1.xml" Id="R9c3c0a9cfaa14ebb" /><Relationship Type="http://schemas.openxmlformats.org/officeDocument/2006/relationships/slide" Target="/ppt/slides/slide2.xml" Id="Raf582da128cf48ea" /><Relationship Type="http://schemas.openxmlformats.org/officeDocument/2006/relationships/slide" Target="/ppt/slides/slide3.xml" Id="R6752ee26f9be4d3c" /><Relationship Type="http://schemas.openxmlformats.org/officeDocument/2006/relationships/slide" Target="/ppt/slides/slide4.xml" Id="R56f4b7132a164f83" /><Relationship Type="http://schemas.openxmlformats.org/officeDocument/2006/relationships/slide" Target="/ppt/slides/slide5.xml" Id="R724413c2718e4edb" /><Relationship Type="http://schemas.openxmlformats.org/officeDocument/2006/relationships/slide" Target="/ppt/slides/slide6.xml" Id="R6840b704da674110" /><Relationship Type="http://schemas.openxmlformats.org/officeDocument/2006/relationships/slide" Target="/ppt/slides/slide7.xml" Id="Raae10ef119234ac2" /><Relationship Type="http://schemas.openxmlformats.org/officeDocument/2006/relationships/slide" Target="/ppt/slides/slide8.xml" Id="R363dd9e2010343c5" /><Relationship Type="http://schemas.openxmlformats.org/officeDocument/2006/relationships/slide" Target="/ppt/slides/slide9.xml" Id="Ra0e8a518f2ca4c6a" /><Relationship Type="http://schemas.openxmlformats.org/officeDocument/2006/relationships/slide" Target="/ppt/slides/slide10.xml" Id="Rd0b419b794f345c1" /><Relationship Type="http://schemas.openxmlformats.org/officeDocument/2006/relationships/slide" Target="/ppt/slides/slide11.xml" Id="R280b888e0de34623" /><Relationship Type="http://schemas.openxmlformats.org/officeDocument/2006/relationships/slide" Target="/ppt/slides/slide12.xml" Id="R739cf0d81e504caf" /><Relationship Type="http://schemas.openxmlformats.org/officeDocument/2006/relationships/slide" Target="/ppt/slides/slide13.xml" Id="R4527e7177d5b45dc" /><Relationship Type="http://schemas.openxmlformats.org/officeDocument/2006/relationships/slide" Target="/ppt/slides/slide14.xml" Id="Re4a140d3fc944c4e" /><Relationship Type="http://schemas.openxmlformats.org/officeDocument/2006/relationships/slide" Target="/ppt/slides/slide15.xml" Id="R946e11f3f80947a2" /><Relationship Type="http://schemas.openxmlformats.org/officeDocument/2006/relationships/slide" Target="/ppt/slides/slide16.xml" Id="R44f9b932819a480e" /><Relationship Type="http://schemas.openxmlformats.org/officeDocument/2006/relationships/slide" Target="/ppt/slides/slide17.xml" Id="R3be26dc412ff40d4" /><Relationship Type="http://schemas.openxmlformats.org/officeDocument/2006/relationships/slide" Target="/ppt/slides/slide18.xml" Id="Rb308e69609c34fba" /><Relationship Type="http://schemas.openxmlformats.org/officeDocument/2006/relationships/slide" Target="/ppt/slides/slide19.xml" Id="Rdc6a4f93d11448b2" /><Relationship Type="http://schemas.openxmlformats.org/officeDocument/2006/relationships/slide" Target="/ppt/slides/slide20.xml" Id="R0d9a8d924e594bde" /><Relationship Type="http://schemas.openxmlformats.org/officeDocument/2006/relationships/slide" Target="/ppt/slides/slide21.xml" Id="R5a796bbffd4a4ef8" /><Relationship Type="http://schemas.openxmlformats.org/officeDocument/2006/relationships/slide" Target="/ppt/slides/slide22.xml" Id="R39e616a640494058" /><Relationship Type="http://schemas.openxmlformats.org/officeDocument/2006/relationships/slide" Target="/ppt/slides/slide23.xml" Id="Refd684aa8cc64651" /><Relationship Type="http://schemas.openxmlformats.org/officeDocument/2006/relationships/slide" Target="/ppt/slides/slide24.xml" Id="R1cc83eb8afd3452a" /><Relationship Type="http://schemas.openxmlformats.org/officeDocument/2006/relationships/slide" Target="/ppt/slides/slide25.xml" Id="R84603cd6301f4153" /><Relationship Type="http://schemas.openxmlformats.org/officeDocument/2006/relationships/slide" Target="/ppt/slides/slide26.xml" Id="R1846b239d63d480a" /><Relationship Type="http://schemas.openxmlformats.org/officeDocument/2006/relationships/slide" Target="/ppt/slides/slide27.xml" Id="R3db9d57f86da46bb"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c5cea8b75f7849f7"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281cc03b7dbc4129" /><Relationship Type="http://schemas.openxmlformats.org/officeDocument/2006/relationships/notesMaster" Target="/ppt/notesMasters/notesMaster1.xml" Id="R3ef750e9e9834c34" /></Relationships>
</file>

<file path=ppt/notesSlides/_rels/notesSlide2.xml.rels>&#65279;<?xml version="1.0" encoding="utf-8"?><Relationships xmlns="http://schemas.openxmlformats.org/package/2006/relationships"><Relationship Type="http://schemas.openxmlformats.org/officeDocument/2006/relationships/slide" Target="/ppt/slides/slide2.xml" Id="Rd8b0d522c79642bc" /><Relationship Type="http://schemas.openxmlformats.org/officeDocument/2006/relationships/notesMaster" Target="/ppt/notesMasters/notesMaster1.xml" Id="R4412d96aaab2452b" /></Relationships>
</file>

<file path=ppt/notesSlides/_rels/notesSlide3.xml.rels>&#65279;<?xml version="1.0" encoding="utf-8"?><Relationships xmlns="http://schemas.openxmlformats.org/package/2006/relationships"><Relationship Type="http://schemas.openxmlformats.org/officeDocument/2006/relationships/slide" Target="/ppt/slides/slide3.xml" Id="R345de48467e94fba" /><Relationship Type="http://schemas.openxmlformats.org/officeDocument/2006/relationships/notesMaster" Target="/ppt/notesMasters/notesMaster1.xml" Id="R89a1dc9015784da6" /></Relationships>
</file>

<file path=ppt/notesSlides/_rels/notesSlide4.xml.rels>&#65279;<?xml version="1.0" encoding="utf-8"?><Relationships xmlns="http://schemas.openxmlformats.org/package/2006/relationships"><Relationship Type="http://schemas.openxmlformats.org/officeDocument/2006/relationships/slide" Target="/ppt/slides/slide4.xml" Id="Rf45aa9592569474d" /><Relationship Type="http://schemas.openxmlformats.org/officeDocument/2006/relationships/notesMaster" Target="/ppt/notesMasters/notesMaster1.xml" Id="R38d61f94f4e84ecb" /></Relationships>
</file>

<file path=ppt/notesSlides/_rels/notesSlide5.xml.rels>&#65279;<?xml version="1.0" encoding="utf-8"?><Relationships xmlns="http://schemas.openxmlformats.org/package/2006/relationships"><Relationship Type="http://schemas.openxmlformats.org/officeDocument/2006/relationships/slide" Target="/ppt/slides/slide5.xml" Id="R82163daf6b9c4bab" /><Relationship Type="http://schemas.openxmlformats.org/officeDocument/2006/relationships/notesMaster" Target="/ppt/notesMasters/notesMaster1.xml" Id="R2914cf0a604a486b" /></Relationships>
</file>

<file path=ppt/notesSlides/_rels/notesSlide6.xml.rels>&#65279;<?xml version="1.0" encoding="utf-8"?><Relationships xmlns="http://schemas.openxmlformats.org/package/2006/relationships"><Relationship Type="http://schemas.openxmlformats.org/officeDocument/2006/relationships/slide" Target="/ppt/slides/slide6.xml" Id="R7ec22418933243e2" /><Relationship Type="http://schemas.openxmlformats.org/officeDocument/2006/relationships/notesMaster" Target="/ppt/notesMasters/notesMaster1.xml" Id="Rdfad7a79fdb64786" /></Relationships>
</file>

<file path=ppt/notesSlides/_rels/notesSlide7.xml.rels>&#65279;<?xml version="1.0" encoding="utf-8"?><Relationships xmlns="http://schemas.openxmlformats.org/package/2006/relationships"><Relationship Type="http://schemas.openxmlformats.org/officeDocument/2006/relationships/slide" Target="/ppt/slides/slide7.xml" Id="Re4756a9d88a74c7c" /><Relationship Type="http://schemas.openxmlformats.org/officeDocument/2006/relationships/notesMaster" Target="/ppt/notesMasters/notesMaster1.xml" Id="Rc4111044c0474c09" /></Relationships>
</file>

<file path=ppt/notesSlides/_rels/notesSlide8.xml.rels>&#65279;<?xml version="1.0" encoding="utf-8"?><Relationships xmlns="http://schemas.openxmlformats.org/package/2006/relationships"><Relationship Type="http://schemas.openxmlformats.org/officeDocument/2006/relationships/slide" Target="/ppt/slides/slide8.xml" Id="R8f0dad2487884258" /><Relationship Type="http://schemas.openxmlformats.org/officeDocument/2006/relationships/notesMaster" Target="/ppt/notesMasters/notesMaster1.xml" Id="R0b23ab1d091e4256" /></Relationships>
</file>

<file path=ppt/notesSlides/_rels/notesSlide9.xml.rels>&#65279;<?xml version="1.0" encoding="utf-8"?><Relationships xmlns="http://schemas.openxmlformats.org/package/2006/relationships"><Relationship Type="http://schemas.openxmlformats.org/officeDocument/2006/relationships/slide" Target="/ppt/slides/slide9.xml" Id="R18b48cc9bde345c5" /><Relationship Type="http://schemas.openxmlformats.org/officeDocument/2006/relationships/notesMaster" Target="/ppt/notesMasters/notesMaster1.xml" Id="R75dd7f8ecff746e2"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6f706a19fe8d4385" /><Relationship Type="http://schemas.openxmlformats.org/officeDocument/2006/relationships/notesMaster" Target="/ppt/notesMasters/notesMaster1.xml" Id="R80742f151ca54807"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200dd01699ef41fb" /><Relationship Type="http://schemas.openxmlformats.org/officeDocument/2006/relationships/notesMaster" Target="/ppt/notesMasters/notesMaster1.xml" Id="Rf0da4d289ff040b1"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f2eea91065324ba3" /><Relationship Type="http://schemas.openxmlformats.org/officeDocument/2006/relationships/notesMaster" Target="/ppt/notesMasters/notesMaster1.xml" Id="Rd03b08cbc68c4da4"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95ecfb97d4134a83" /><Relationship Type="http://schemas.openxmlformats.org/officeDocument/2006/relationships/notesMaster" Target="/ppt/notesMasters/notesMaster1.xml" Id="R9afc379b653a4198"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406233943a2d40a8" /><Relationship Type="http://schemas.openxmlformats.org/officeDocument/2006/relationships/notesMaster" Target="/ppt/notesMasters/notesMaster1.xml" Id="R001295db44374576"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4fd4c4d0294b4968" /><Relationship Type="http://schemas.openxmlformats.org/officeDocument/2006/relationships/notesMaster" Target="/ppt/notesMasters/notesMaster1.xml" Id="Re0acef5f5e4a4d29"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04acb3d0e0b14c92" /><Relationship Type="http://schemas.openxmlformats.org/officeDocument/2006/relationships/notesMaster" Target="/ppt/notesMasters/notesMaster1.xml" Id="Rde400c57b1b54bfe"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07218e9e57334644" /><Relationship Type="http://schemas.openxmlformats.org/officeDocument/2006/relationships/notesMaster" Target="/ppt/notesMasters/notesMaster1.xml" Id="R2e7b353dcb0743ea"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21ff7d7b1e2d410d" /><Relationship Type="http://schemas.openxmlformats.org/officeDocument/2006/relationships/notesMaster" Target="/ppt/notesMasters/notesMaster1.xml" Id="Rd6f44fae49834c32"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3946a10f4ca1498c" /><Relationship Type="http://schemas.openxmlformats.org/officeDocument/2006/relationships/notesMaster" Target="/ppt/notesMasters/notesMaster1.xml" Id="R0e7b5d96bc734ee2"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e49072bb084b4626" /><Relationship Type="http://schemas.openxmlformats.org/officeDocument/2006/relationships/notesMaster" Target="/ppt/notesMasters/notesMaster1.xml" Id="R6e47d20502354e6f"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ad3f02ec21aa4980" /><Relationship Type="http://schemas.openxmlformats.org/officeDocument/2006/relationships/notesMaster" Target="/ppt/notesMasters/notesMaster1.xml" Id="Rd73d420359d04920"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754f170d261a4cca" /><Relationship Type="http://schemas.openxmlformats.org/officeDocument/2006/relationships/notesMaster" Target="/ppt/notesMasters/notesMaster1.xml" Id="Rcab22ad4ba694958"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22ac7d7017f34fe5" /><Relationship Type="http://schemas.openxmlformats.org/officeDocument/2006/relationships/notesMaster" Target="/ppt/notesMasters/notesMaster1.xml" Id="R0b78e10d7a474942"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e011626f470e4c47" /><Relationship Type="http://schemas.openxmlformats.org/officeDocument/2006/relationships/notesMaster" Target="/ppt/notesMasters/notesMaster1.xml" Id="R02b099c027fb494c"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19a19003c9864b57" /><Relationship Type="http://schemas.openxmlformats.org/officeDocument/2006/relationships/notesMaster" Target="/ppt/notesMasters/notesMaster1.xml" Id="Rfa203afec74b422d"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ec45be64caff4742" /><Relationship Type="http://schemas.openxmlformats.org/officeDocument/2006/relationships/notesMaster" Target="/ppt/notesMasters/notesMaster1.xml" Id="Rc58525df1a5e4ee4"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adbf18b7964e43ef" /><Relationship Type="http://schemas.openxmlformats.org/officeDocument/2006/relationships/notesMaster" Target="/ppt/notesMasters/notesMaster1.xml" Id="R01ee437aa9d84aec"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CSE513 · Dönem haftası 9 / Ders seti 08</a:t>
            </a:r>
          </a:p>
          <a:p xmlns:a="http://schemas.openxmlformats.org/drawingml/2006/main">
            <a:r>
              <a:t>Virtual machines, isolation ve security</a:t>
            </a:r>
          </a:p>
          <a:p xmlns:a="http://schemas.openxmlformats.org/drawingml/2006/main">
            <a:r>
              <a:t/>
            </a:r>
          </a:p>
          <a:p xmlns:a="http://schemas.openxmlformats.org/drawingml/2006/main">
            <a:r>
              <a:t>Özgün PDF hazırlanıyor. Bu hafta yayımlanan kapsamın birincil OSTEP, Kernel ve Docker kaynaklarıyla geliştirilmiş öğretim uyarlamasıdır. VM, container ve application sınırlarını çizip açık bir yetki/bütçe modelinde kararları test edeceğiz.</a:t>
            </a:r>
          </a:p>
          <a:p xmlns:a="http://schemas.openxmlformats.org/drawingml/2006/main">
            <a:r>
              <a:t/>
            </a:r>
          </a:p>
          <a:p xmlns:a="http://schemas.openxmlformats.org/drawingml/2006/main">
            <a:r>
              <a:t>PDF hazırlanıyor · Kaynak sayfa numarası yok</a:t>
            </a:r>
          </a:p>
          <a:p xmlns:a="http://schemas.openxmlformats.org/drawingml/2006/main">
            <a:r>
              <a:t/>
            </a:r>
          </a:p>
          <a:p xmlns:a="http://schemas.openxmlformats.org/drawingml/2006/main">
            <a:r>
              <a:t>Yayımlanan resmî ders kapsamının özgün öğrenme uyarlaması. PDF kontrol tarihinde henüz yayımlanmamıştı.</a:t>
            </a:r>
          </a:p>
          <a:p xmlns:a="http://schemas.openxmlformats.org/drawingml/2006/main">
            <a:r>
              <a:t/>
            </a:r>
          </a:p>
          <a:p xmlns:a="http://schemas.openxmlformats.org/drawingml/2006/main">
            <a:r>
              <a:t>https://mehmetgokturk.com/cse513/index.html</a:t>
            </a:r>
          </a:p>
          <a:p xmlns:a="http://schemas.openxmlformats.org/drawingml/2006/main">
            <a:r>
              <a:t/>
            </a:r>
          </a:p>
          <a:p xmlns:a="http://schemas.openxmlformats.org/drawingml/2006/main">
            <a:r>
              <a:t>https://mehmetgokturk.com/cse513/lecture-08.html</a:t>
            </a:r>
          </a:p>
          <a:p xmlns:a="http://schemas.openxmlformats.org/drawingml/2006/main">
            <a:r>
              <a:t/>
            </a:r>
          </a:p>
          <a:p xmlns:a="http://schemas.openxmlformats.org/drawingml/2006/main">
            <a:r>
              <a:t>Kapak: AI üretimi kavramsal mutfak analojisi. Köken ve istem: assets/provenance.json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Kimi, kimden koruyoruz?</a:t>
            </a:r>
          </a:p>
          <a:p xmlns:a="http://schemas.openxmlformats.org/drawingml/2006/main">
            <a:r>
              <a:t>Hangi mekanizma sınırı uygular?</a:t>
            </a:r>
          </a:p>
          <a:p xmlns:a="http://schemas.openxmlformats.org/drawingml/2006/main">
            <a:r>
              <a:t>Hangi erişim özellikle paylaşılıyor?</a:t>
            </a:r>
          </a:p>
          <a:p xmlns:a="http://schemas.openxmlformats.org/drawingml/2006/main">
            <a:r>
              <a:t>Hangi failure kapsam dışı?</a:t>
            </a:r>
          </a:p>
          <a:p xmlns:a="http://schemas.openxmlformats.org/drawingml/2006/main">
            <a:r>
              <a:t/>
            </a:r>
          </a:p>
          <a:p xmlns:a="http://schemas.openxmlformats.org/drawingml/2006/main">
            <a:r>
              <a:t>İzolasyon tek evet/hayır etiketi değildir. Veri erişimi, CPU availability, kernel attack surface ve yönetim erişimi farklı boyutlardır. Bir mekanizma doğru kurulmadıysa başka isimle adlandırmak sınırı güçlendirmez.</a:t>
            </a:r>
          </a:p>
          <a:p xmlns:a="http://schemas.openxmlformats.org/drawingml/2006/main">
            <a:r>
              <a:t/>
            </a:r>
          </a:p>
          <a:p xmlns:a="http://schemas.openxmlformats.org/drawingml/2006/main">
            <a:r>
              <a:t>GERÇEK HAYAT: İki müşteri servisi</a:t>
            </a:r>
          </a:p>
          <a:p xmlns:a="http://schemas.openxmlformats.org/drawingml/2006/main">
            <a:r>
              <a:t>İkisi aynı sunucuda çalışır.</a:t>
            </a:r>
          </a:p>
          <a:p xmlns:a="http://schemas.openxmlformats.org/drawingml/2006/main">
            <a:r>
              <a:t>Mekanizma: Gizlilik, kapasite ve yönetim erişimi ayrı tasarlanır.</a:t>
            </a:r>
          </a:p>
          <a:p xmlns:a="http://schemas.openxmlformats.org/drawingml/2006/main">
            <a:r>
              <a:t>Ne zaman işe yarar: Threat model’i deployment adı yerine yaz.</a:t>
            </a:r>
          </a:p>
          <a:p xmlns:a="http://schemas.openxmlformats.org/drawingml/2006/main">
            <a:r>
              <a:t/>
            </a:r>
          </a:p>
          <a:p xmlns:a="http://schemas.openxmlformats.org/drawingml/2006/main">
            <a:r>
              <a:t>Yayımlanan resmî ders kapsamının özgün öğrenme uyarlaması. PDF kontrol tarihinde henüz yayımlanmamıştı.</a:t>
            </a:r>
          </a:p>
          <a:p xmlns:a="http://schemas.openxmlformats.org/drawingml/2006/main">
            <a:r>
              <a:t/>
            </a:r>
          </a:p>
          <a:p xmlns:a="http://schemas.openxmlformats.org/drawingml/2006/main">
            <a:r>
              <a:t>https://mehmetgokturk.com/cse513/index.html</a:t>
            </a:r>
          </a:p>
          <a:p xmlns:a="http://schemas.openxmlformats.org/drawingml/2006/main">
            <a:r>
              <a:t/>
            </a:r>
          </a:p>
          <a:p xmlns:a="http://schemas.openxmlformats.org/drawingml/2006/main">
            <a:r>
              <a:t>https://mehmetgokturk.com/cse513/lecture-08.html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Application: belirli işi yapan istasyon.</a:t>
            </a:r>
          </a:p>
          <a:p xmlns:a="http://schemas.openxmlformats.org/drawingml/2006/main">
            <a:r>
              <a:t>Container: aynı altyapıda ayrılmış görünüm.</a:t>
            </a:r>
          </a:p>
          <a:p xmlns:a="http://schemas.openxmlformats.org/drawingml/2006/main">
            <a:r>
              <a:t>VM: ayrı işletim ortamı sezgisi.</a:t>
            </a:r>
          </a:p>
          <a:p xmlns:a="http://schemas.openxmlformats.org/drawingml/2006/main">
            <a:r>
              <a:t/>
            </a:r>
          </a:p>
          <a:p xmlns:a="http://schemas.openxmlformats.org/drawingml/2006/main">
            <a:r>
              <a:t>Anahtar en az yetkiyi anlatır, gerçek CPU privilege veya kernel exploit davranışını değil. Ayrı odalar shared kernel ile guest kernel farkını fiziksel olarak açıklamaz. Bundan sonra kutuları application/kernel/hypervisor/hardware olarak etiketle. Hiçbir analoji invulnerability kanıtı değildir.</a:t>
            </a:r>
          </a:p>
          <a:p xmlns:a="http://schemas.openxmlformats.org/drawingml/2006/main">
            <a:r>
              <a:t/>
            </a:r>
          </a:p>
          <a:p xmlns:a="http://schemas.openxmlformats.org/drawingml/2006/main">
            <a:r>
              <a:t>Yayımlanan resmî ders kapsamının özgün öğrenme uyarlaması. PDF kontrol tarihinde henüz yayımlanmamıştı.</a:t>
            </a:r>
          </a:p>
          <a:p xmlns:a="http://schemas.openxmlformats.org/drawingml/2006/main">
            <a:r>
              <a:t/>
            </a:r>
          </a:p>
          <a:p xmlns:a="http://schemas.openxmlformats.org/drawingml/2006/main">
            <a:r>
              <a:t>https://mehmetgokturk.com/cse513/index.html</a:t>
            </a:r>
          </a:p>
          <a:p xmlns:a="http://schemas.openxmlformats.org/drawingml/2006/main">
            <a:r>
              <a:t/>
            </a:r>
          </a:p>
          <a:p xmlns:a="http://schemas.openxmlformats.org/drawingml/2006/main">
            <a:r>
              <a:t>https://mehmetgokturk.com/cse513/lecture-08.html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Guest app → guest kernel.</a:t>
            </a:r>
          </a:p>
          <a:p xmlns:a="http://schemas.openxmlformats.org/drawingml/2006/main">
            <a:r>
              <a:t>vCPU / guest memory → virtualization boundary.</a:t>
            </a:r>
          </a:p>
          <a:p xmlns:a="http://schemas.openxmlformats.org/drawingml/2006/main">
            <a:r>
              <a:t>Hypervisor ve host kaynakları.</a:t>
            </a:r>
          </a:p>
          <a:p xmlns:a="http://schemas.openxmlformats.org/drawingml/2006/main">
            <a:r>
              <a:t/>
            </a:r>
          </a:p>
          <a:p xmlns:a="http://schemas.openxmlformats.org/drawingml/2006/main">
            <a:r>
              <a:t>Guest işletim sistemi sanal donanım görünümü üzerinde çalışır. Host OS varlığı ve hypervisor’ın konumu tasarıma göre değişir. VM’ler ayrı guest kernel çalıştırabilir; bu hypervisor, emulated device veya management katmanında hiç hata olamaz demek değildir.</a:t>
            </a:r>
          </a:p>
          <a:p xmlns:a="http://schemas.openxmlformats.org/drawingml/2006/main">
            <a:r>
              <a:t/>
            </a:r>
          </a:p>
          <a:p xmlns:a="http://schemas.openxmlformats.org/drawingml/2006/main">
            <a:r>
              <a:t>GERÇEK HAYAT: Farklı OS testi</a:t>
            </a:r>
          </a:p>
          <a:p xmlns:a="http://schemas.openxmlformats.org/drawingml/2006/main">
            <a:r>
              <a:t>Aynı makinede farklı guest kernel’ler denenir.</a:t>
            </a:r>
          </a:p>
          <a:p xmlns:a="http://schemas.openxmlformats.org/drawingml/2006/main">
            <a:r>
              <a:t>Mekanizma: VM guest execution ortamını sanallaştırır.</a:t>
            </a:r>
          </a:p>
          <a:p xmlns:a="http://schemas.openxmlformats.org/drawingml/2006/main">
            <a:r>
              <a:t>Ne zaman işe yarar: App uyumluluğu ile güvenlik sınırını ayrı incele.</a:t>
            </a:r>
          </a:p>
          <a:p xmlns:a="http://schemas.openxmlformats.org/drawingml/2006/main">
            <a:r>
              <a:t/>
            </a:r>
          </a:p>
          <a:p xmlns:a="http://schemas.openxmlformats.org/drawingml/2006/main">
            <a:r>
              <a:t>Yayımlanan resmî ders kapsamının özgün öğrenme uyarlaması. PDF kontrol tarihinde henüz yayımlanmamıştı.</a:t>
            </a:r>
          </a:p>
          <a:p xmlns:a="http://schemas.openxmlformats.org/drawingml/2006/main">
            <a:r>
              <a:t/>
            </a:r>
          </a:p>
          <a:p xmlns:a="http://schemas.openxmlformats.org/drawingml/2006/main">
            <a:r>
              <a:t>https://pages.cs.wisc.edu/~remzi/OSTEP/vmm-intro.pdf</a:t>
            </a:r>
          </a:p>
          <a:p xmlns:a="http://schemas.openxmlformats.org/drawingml/2006/main">
            <a:r>
              <a:t/>
            </a:r>
          </a:p>
          <a:p xmlns:a="http://schemas.openxmlformats.org/drawingml/2006/main">
            <a:r>
              <a:t>https://docs.kernel.org/virt/kvm/api.html</a:t>
            </a:r>
          </a:p>
          <a:p xmlns:a="http://schemas.openxmlformats.org/drawingml/2006/main">
            <a:r>
              <a:t/>
            </a:r>
          </a:p>
          <a:p xmlns:a="http://schemas.openxmlformats.org/drawingml/2006/main">
            <a:r>
              <a:t>https://mehmetgokturk.com/cse513/lecture-08.html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Guest: sanal makine içindeki sistem.</a:t>
            </a:r>
          </a:p>
          <a:p xmlns:a="http://schemas.openxmlformats.org/drawingml/2006/main">
            <a:r>
              <a:t>Host: kaynakları sağlayan ortam.</a:t>
            </a:r>
          </a:p>
          <a:p xmlns:a="http://schemas.openxmlformats.org/drawingml/2006/main">
            <a:r>
              <a:t>Hypervisor/VMM: virtualization kontrolü.</a:t>
            </a:r>
          </a:p>
          <a:p xmlns:a="http://schemas.openxmlformats.org/drawingml/2006/main">
            <a:r>
              <a:t/>
            </a:r>
          </a:p>
          <a:p xmlns:a="http://schemas.openxmlformats.org/drawingml/2006/main">
            <a:r>
              <a:t>Type1/type2 ayrımı konumlandırma için yararlıdır; tüm karmaşık uygulamaları yalnız iki kutuya sıkıştırma. KVM kernel desteği ve user-space VMM gibi bileşenler farklı rolleri paylaşabilir. Bu ders bir ürün kurulum rehberi değildir.</a:t>
            </a:r>
          </a:p>
          <a:p xmlns:a="http://schemas.openxmlformats.org/drawingml/2006/main">
            <a:r>
              <a:t/>
            </a:r>
          </a:p>
          <a:p xmlns:a="http://schemas.openxmlformats.org/drawingml/2006/main">
            <a:r>
              <a:t>Yayımlanan resmî ders kapsamının özgün öğrenme uyarlaması. PDF kontrol tarihinde henüz yayımlanmamıştı.</a:t>
            </a:r>
          </a:p>
          <a:p xmlns:a="http://schemas.openxmlformats.org/drawingml/2006/main">
            <a:r>
              <a:t/>
            </a:r>
          </a:p>
          <a:p xmlns:a="http://schemas.openxmlformats.org/drawingml/2006/main">
            <a:r>
              <a:t>https://pages.cs.wisc.edu/~remzi/OSTEP/vmm-intro.pdf</a:t>
            </a:r>
          </a:p>
          <a:p xmlns:a="http://schemas.openxmlformats.org/drawingml/2006/main">
            <a:r>
              <a:t/>
            </a:r>
          </a:p>
          <a:p xmlns:a="http://schemas.openxmlformats.org/drawingml/2006/main">
            <a:r>
              <a:t>https://docs.kernel.org/virt/kvm/api.html</a:t>
            </a:r>
          </a:p>
          <a:p xmlns:a="http://schemas.openxmlformats.org/drawingml/2006/main">
            <a:r>
              <a:t/>
            </a:r>
          </a:p>
          <a:p xmlns:a="http://schemas.openxmlformats.org/drawingml/2006/main">
            <a:r>
              <a:t>https://mehmetgokturk.com/cse513/lecture-08.html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vCPU: guest’in yürütme arayüzü.</a:t>
            </a:r>
          </a:p>
          <a:p xmlns:a="http://schemas.openxmlformats.org/drawingml/2006/main">
            <a:r>
              <a:t>Host scheduling fiziksel ilerlemeyi belirler.</a:t>
            </a:r>
          </a:p>
          <a:p xmlns:a="http://schemas.openxmlformats.org/drawingml/2006/main">
            <a:r>
              <a:t>Allocation ≠ reservation.</a:t>
            </a:r>
          </a:p>
          <a:p xmlns:a="http://schemas.openxmlformats.org/drawingml/2006/main">
            <a:r>
              <a:t/>
            </a:r>
          </a:p>
          <a:p xmlns:a="http://schemas.openxmlformats.org/drawingml/2006/main">
            <a:r>
              <a:t>Özgün sayı modeli: dört vCPU’ya bir physical CPU birimi sağlanıyorsa toplam fiziksel kapasite yine birdir. Overcommit ve host interference guest’in görünen yürütme hızını değiştirir. Burada belirli hypervisor performance garantisi hesaplamıyoruz.</a:t>
            </a:r>
          </a:p>
          <a:p xmlns:a="http://schemas.openxmlformats.org/drawingml/2006/main">
            <a:r>
              <a:t/>
            </a:r>
          </a:p>
          <a:p xmlns:a="http://schemas.openxmlformats.org/drawingml/2006/main">
            <a:r>
              <a:t>SORUNUN YANITI: Hayır; gerçek kapasite, workload ve scheduling belirleyici.</a:t>
            </a:r>
          </a:p>
          <a:p xmlns:a="http://schemas.openxmlformats.org/drawingml/2006/main">
            <a:r>
              <a:t/>
            </a:r>
          </a:p>
          <a:p xmlns:a="http://schemas.openxmlformats.org/drawingml/2006/main">
            <a:r>
              <a:t>GERÇEK HAYAT: CI test runner</a:t>
            </a:r>
          </a:p>
          <a:p xmlns:a="http://schemas.openxmlformats.org/drawingml/2006/main">
            <a:r>
              <a:t>Paralel testler aynı host’u paylaşır.</a:t>
            </a:r>
          </a:p>
          <a:p xmlns:a="http://schemas.openxmlformats.org/drawingml/2006/main">
            <a:r>
              <a:t>Mekanizma: Guest worker sayısı physical service’ten fazla olabilir.</a:t>
            </a:r>
          </a:p>
          <a:p xmlns:a="http://schemas.openxmlformats.org/drawingml/2006/main">
            <a:r>
              <a:t>Ne zaman işe yarar: vCPU sayısından deadline çıkarma.</a:t>
            </a:r>
          </a:p>
          <a:p xmlns:a="http://schemas.openxmlformats.org/drawingml/2006/main">
            <a:r>
              <a:t/>
            </a:r>
          </a:p>
          <a:p xmlns:a="http://schemas.openxmlformats.org/drawingml/2006/main">
            <a:r>
              <a:t>Yayımlanan resmî ders kapsamının özgün öğrenme uyarlaması. PDF kontrol tarihinde henüz yayımlanmamıştı.</a:t>
            </a:r>
          </a:p>
          <a:p xmlns:a="http://schemas.openxmlformats.org/drawingml/2006/main">
            <a:r>
              <a:t/>
            </a:r>
          </a:p>
          <a:p xmlns:a="http://schemas.openxmlformats.org/drawingml/2006/main">
            <a:r>
              <a:t>https://pages.cs.wisc.edu/~remzi/OSTEP/vmm-intro.pdf</a:t>
            </a:r>
          </a:p>
          <a:p xmlns:a="http://schemas.openxmlformats.org/drawingml/2006/main">
            <a:r>
              <a:t/>
            </a:r>
          </a:p>
          <a:p xmlns:a="http://schemas.openxmlformats.org/drawingml/2006/main">
            <a:r>
              <a:t>https://mehmetgokturk.com/cse513/lecture-08.html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Guest virtual → guest physical.</a:t>
            </a:r>
          </a:p>
          <a:p xmlns:a="http://schemas.openxmlformats.org/drawingml/2006/main">
            <a:r>
              <a:t>Virtualization guest physical’ı host memory’ye eşler.</a:t>
            </a:r>
          </a:p>
          <a:p xmlns:a="http://schemas.openxmlformats.org/drawingml/2006/main">
            <a:r>
              <a:t>Permission ve mapping sınır uygular.</a:t>
            </a:r>
          </a:p>
          <a:p xmlns:a="http://schemas.openxmlformats.org/drawingml/2006/main">
            <a:r>
              <a:t/>
            </a:r>
          </a:p>
          <a:p xmlns:a="http://schemas.openxmlformats.org/drawingml/2006/main">
            <a:r>
              <a:t>Sanal adresin aynı sayısal değeri iki guest’te aynı host nesnesi demek değildir. Donanım destekli nested translation gibi mekanizmalar platforma göre değişir. Model bir adres eşleme çizimidir; host memory okunmaz.</a:t>
            </a:r>
          </a:p>
          <a:p xmlns:a="http://schemas.openxmlformats.org/drawingml/2006/main">
            <a:r>
              <a:t/>
            </a:r>
          </a:p>
          <a:p xmlns:a="http://schemas.openxmlformats.org/drawingml/2006/main">
            <a:r>
              <a:t>GERÇEK HAYAT: İki guest’te 0x1000</a:t>
            </a:r>
          </a:p>
          <a:p xmlns:a="http://schemas.openxmlformats.org/drawingml/2006/main">
            <a:r>
              <a:t>Adresler aynı görünür.</a:t>
            </a:r>
          </a:p>
          <a:p xmlns:a="http://schemas.openxmlformats.org/drawingml/2006/main">
            <a:r>
              <a:t>Mekanizma: Her guest farklı mapping bağlamı kullanır.</a:t>
            </a:r>
          </a:p>
          <a:p xmlns:a="http://schemas.openxmlformats.org/drawingml/2006/main">
            <a:r>
              <a:t>Ne zaman işe yarar: Numeric address ile shared object’i ayır.</a:t>
            </a:r>
          </a:p>
          <a:p xmlns:a="http://schemas.openxmlformats.org/drawingml/2006/main">
            <a:r>
              <a:t/>
            </a:r>
          </a:p>
          <a:p xmlns:a="http://schemas.openxmlformats.org/drawingml/2006/main">
            <a:r>
              <a:t>Yayımlanan resmî ders kapsamının özgün öğrenme uyarlaması. PDF kontrol tarihinde henüz yayımlanmamıştı.</a:t>
            </a:r>
          </a:p>
          <a:p xmlns:a="http://schemas.openxmlformats.org/drawingml/2006/main">
            <a:r>
              <a:t/>
            </a:r>
          </a:p>
          <a:p xmlns:a="http://schemas.openxmlformats.org/drawingml/2006/main">
            <a:r>
              <a:t>https://pages.cs.wisc.edu/~remzi/OSTEP/vmm-intro.pdf</a:t>
            </a:r>
          </a:p>
          <a:p xmlns:a="http://schemas.openxmlformats.org/drawingml/2006/main">
            <a:r>
              <a:t/>
            </a:r>
          </a:p>
          <a:p xmlns:a="http://schemas.openxmlformats.org/drawingml/2006/main">
            <a:r>
              <a:t>https://docs.kernel.org/virt/kvm/api.html</a:t>
            </a:r>
          </a:p>
          <a:p xmlns:a="http://schemas.openxmlformats.org/drawingml/2006/main">
            <a:r>
              <a:t/>
            </a:r>
          </a:p>
          <a:p xmlns:a="http://schemas.openxmlformats.org/drawingml/2006/main">
            <a:r>
              <a:t>https://mehmetgokturk.com/cse513/lecture-08.html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Guest aygıt görünümü virtual olabilir.</a:t>
            </a:r>
          </a:p>
          <a:p xmlns:a="http://schemas.openxmlformats.org/drawingml/2006/main">
            <a:r>
              <a:t>Emulation/paravirtualization yolları farklı.</a:t>
            </a:r>
          </a:p>
          <a:p xmlns:a="http://schemas.openxmlformats.org/drawingml/2006/main">
            <a:r>
              <a:t>Shared folder ve network bilinçli açıklıktır.</a:t>
            </a:r>
          </a:p>
          <a:p xmlns:a="http://schemas.openxmlformats.org/drawingml/2006/main">
            <a:r>
              <a:t/>
            </a:r>
          </a:p>
          <a:p xmlns:a="http://schemas.openxmlformats.org/drawingml/2006/main">
            <a:r>
              <a:t>Bir guest’e shared storage vermek otomatik gizli dosya paylaşımı değil açık arayüz tercihidir. Veri formatı, permissions ve management katmanı sınırın parçasıdır. DMA/passthrough konfigürasyonu daha fazla analiz gerektirir; burada gerçek device assignment yapılmaz.</a:t>
            </a:r>
          </a:p>
          <a:p xmlns:a="http://schemas.openxmlformats.org/drawingml/2006/main">
            <a:r>
              <a:t/>
            </a:r>
          </a:p>
          <a:p xmlns:a="http://schemas.openxmlformats.org/drawingml/2006/main">
            <a:r>
              <a:t>GERÇEK HAYAT: Shared proje klasörü</a:t>
            </a:r>
          </a:p>
          <a:p xmlns:a="http://schemas.openxmlformats.org/drawingml/2006/main">
            <a:r>
              <a:t>Guest aynı proje verisini görebilir.</a:t>
            </a:r>
          </a:p>
          <a:p xmlns:a="http://schemas.openxmlformats.org/drawingml/2006/main">
            <a:r>
              <a:t>Mekanizma: Host tarafından açılan mount/transfer yolu paylaşımı sağlar.</a:t>
            </a:r>
          </a:p>
          <a:p xmlns:a="http://schemas.openxmlformats.org/drawingml/2006/main">
            <a:r>
              <a:t>Ne zaman işe yarar: Paylaşımı VM’in yokluğu değil interface policy olarak izle.</a:t>
            </a:r>
          </a:p>
          <a:p xmlns:a="http://schemas.openxmlformats.org/drawingml/2006/main">
            <a:r>
              <a:t/>
            </a:r>
          </a:p>
          <a:p xmlns:a="http://schemas.openxmlformats.org/drawingml/2006/main">
            <a:r>
              <a:t>Yayımlanan resmî ders kapsamının özgün öğrenme uyarlaması. PDF kontrol tarihinde henüz yayımlanmamıştı.</a:t>
            </a:r>
          </a:p>
          <a:p xmlns:a="http://schemas.openxmlformats.org/drawingml/2006/main">
            <a:r>
              <a:t/>
            </a:r>
          </a:p>
          <a:p xmlns:a="http://schemas.openxmlformats.org/drawingml/2006/main">
            <a:r>
              <a:t>https://docs.kernel.org/virt/kvm/api.html</a:t>
            </a:r>
          </a:p>
          <a:p xmlns:a="http://schemas.openxmlformats.org/drawingml/2006/main">
            <a:r>
              <a:t/>
            </a:r>
          </a:p>
          <a:p xmlns:a="http://schemas.openxmlformats.org/drawingml/2006/main">
            <a:r>
              <a:t>https://mehmetgokturk.com/cse513/lecture-08.html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Linux container process’leri kernel paylaşır.</a:t>
            </a:r>
          </a:p>
          <a:p xmlns:a="http://schemas.openxmlformats.org/drawingml/2006/main">
            <a:r>
              <a:t>Image, bağımsız boot edilmiş guest OS değildir.</a:t>
            </a:r>
          </a:p>
          <a:p xmlns:a="http://schemas.openxmlformats.org/drawingml/2006/main">
            <a:r>
              <a:t>Namespace/resource policies ayrıştırır.</a:t>
            </a:r>
          </a:p>
          <a:p xmlns:a="http://schemas.openxmlformats.org/drawingml/2006/main">
            <a:r>
              <a:t/>
            </a:r>
          </a:p>
          <a:p xmlns:a="http://schemas.openxmlformats.org/drawingml/2006/main">
            <a:r>
              <a:t>Bir container’ın dağıtım user-space’i host user-space’inden farklı olabilir; kernel yine paylaşılandır. Docker Desktop gibi ortamlarda container’ları taşıyan Linux VM bulunabilir: o zaman container’ların paylaştığı kernel bu VM’in kernel’idir. Katmanı açık çiz.</a:t>
            </a:r>
          </a:p>
          <a:p xmlns:a="http://schemas.openxmlformats.org/drawingml/2006/main">
            <a:r>
              <a:t/>
            </a:r>
          </a:p>
          <a:p xmlns:a="http://schemas.openxmlformats.org/drawingml/2006/main">
            <a:r>
              <a:t>SORUNUN YANITI: Normal Linux container’da hayır; user-space dağıtımı kernel sınırı değildir.</a:t>
            </a:r>
          </a:p>
          <a:p xmlns:a="http://schemas.openxmlformats.org/drawingml/2006/main">
            <a:r>
              <a:t/>
            </a:r>
          </a:p>
          <a:p xmlns:a="http://schemas.openxmlformats.org/drawingml/2006/main">
            <a:r>
              <a:t>GERÇEK HAYAT: Paketleme ve deploy</a:t>
            </a:r>
          </a:p>
          <a:p xmlns:a="http://schemas.openxmlformats.org/drawingml/2006/main">
            <a:r>
              <a:t>Aynı binary bağımlılıkları image ile taşınır.</a:t>
            </a:r>
          </a:p>
          <a:p xmlns:a="http://schemas.openxmlformats.org/drawingml/2006/main">
            <a:r>
              <a:t>Mekanizma: Packaging, süreç izolasyonu ve kernel seçimi farklıdır.</a:t>
            </a:r>
          </a:p>
          <a:p xmlns:a="http://schemas.openxmlformats.org/drawingml/2006/main">
            <a:r>
              <a:t>Ne zaman işe yarar: Image adından guest OS boot sonucu çıkarma.</a:t>
            </a:r>
          </a:p>
          <a:p xmlns:a="http://schemas.openxmlformats.org/drawingml/2006/main">
            <a:r>
              <a:t/>
            </a:r>
          </a:p>
          <a:p xmlns:a="http://schemas.openxmlformats.org/drawingml/2006/main">
            <a:r>
              <a:t>Yayımlanan resmî ders kapsamının özgün öğrenme uyarlaması. PDF kontrol tarihinde henüz yayımlanmamıştı.</a:t>
            </a:r>
          </a:p>
          <a:p xmlns:a="http://schemas.openxmlformats.org/drawingml/2006/main">
            <a:r>
              <a:t/>
            </a:r>
          </a:p>
          <a:p xmlns:a="http://schemas.openxmlformats.org/drawingml/2006/main">
            <a:r>
              <a:t>https://docs.docker.com/engine/security/</a:t>
            </a:r>
          </a:p>
          <a:p xmlns:a="http://schemas.openxmlformats.org/drawingml/2006/main">
            <a:r>
              <a:t/>
            </a:r>
          </a:p>
          <a:p xmlns:a="http://schemas.openxmlformats.org/drawingml/2006/main">
            <a:r>
              <a:t>https://docs.docker.com/desktop/troubleshoot-and-support/faqs/linuxfaqs/</a:t>
            </a:r>
          </a:p>
          <a:p xmlns:a="http://schemas.openxmlformats.org/drawingml/2006/main">
            <a:r>
              <a:t/>
            </a:r>
          </a:p>
          <a:p xmlns:a="http://schemas.openxmlformats.org/drawingml/2006/main">
            <a:r>
              <a:t>https://mehmetgokturk.com/cse513/lecture-08.html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Sınırları mekanizmadan çıkar.</a:t>
            </a:r>
          </a:p>
          <a:p xmlns:a="http://schemas.openxmlformats.org/drawingml/2006/main">
            <a:r>
              <a:t>Başlangıç süresi güvenlik kanıtı değil.</a:t>
            </a:r>
          </a:p>
          <a:p xmlns:a="http://schemas.openxmlformats.org/drawingml/2006/main">
            <a:r>
              <a:t>İkisi de bilinçli kaynak paylaşabilir.</a:t>
            </a:r>
          </a:p>
          <a:p xmlns:a="http://schemas.openxmlformats.org/drawingml/2006/main">
            <a:r>
              <a:t/>
            </a:r>
          </a:p>
          <a:p xmlns:a="http://schemas.openxmlformats.org/drawingml/2006/main">
            <a:r>
              <a:t>Yalıtım seçimi ihtiyaç duyulan kernel çeşitliliği, trust ilişkisi, operations maliyeti ve failure modeliyle ilgilidir. Tablo varsayılan architecture sezgisidir; özel runtime tasarımları farklı olabilir.</a:t>
            </a:r>
          </a:p>
          <a:p xmlns:a="http://schemas.openxmlformats.org/drawingml/2006/main">
            <a:r>
              <a:t/>
            </a:r>
          </a:p>
          <a:p xmlns:a="http://schemas.openxmlformats.org/drawingml/2006/main">
            <a:r>
              <a:t>Yayımlanan resmî ders kapsamının özgün öğrenme uyarlaması. PDF kontrol tarihinde henüz yayımlanmamıştı.</a:t>
            </a:r>
          </a:p>
          <a:p xmlns:a="http://schemas.openxmlformats.org/drawingml/2006/main">
            <a:r>
              <a:t/>
            </a:r>
          </a:p>
          <a:p xmlns:a="http://schemas.openxmlformats.org/drawingml/2006/main">
            <a:r>
              <a:t>https://pages.cs.wisc.edu/~remzi/OSTEP/vmm-intro.pdf</a:t>
            </a:r>
          </a:p>
          <a:p xmlns:a="http://schemas.openxmlformats.org/drawingml/2006/main">
            <a:r>
              <a:t/>
            </a:r>
          </a:p>
          <a:p xmlns:a="http://schemas.openxmlformats.org/drawingml/2006/main">
            <a:r>
              <a:t>https://docs.docker.com/engine/security/</a:t>
            </a:r>
          </a:p>
          <a:p xmlns:a="http://schemas.openxmlformats.org/drawingml/2006/main">
            <a:r>
              <a:t/>
            </a:r>
          </a:p>
          <a:p xmlns:a="http://schemas.openxmlformats.org/drawingml/2006/main">
            <a:r>
              <a:t>https://mehmetgokturk.com/cse513/lecture-08.html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PID, mount, network, user görünümleri.</a:t>
            </a:r>
          </a:p>
          <a:p xmlns:a="http://schemas.openxmlformats.org/drawingml/2006/main">
            <a:r>
              <a:t>Üyelik ve configuration önemlidir.</a:t>
            </a:r>
          </a:p>
          <a:p xmlns:a="http://schemas.openxmlformats.org/drawingml/2006/main">
            <a:r>
              <a:t>Namespace kapasite kotası değildir.</a:t>
            </a:r>
          </a:p>
          <a:p xmlns:a="http://schemas.openxmlformats.org/drawingml/2006/main">
            <a:r>
              <a:t/>
            </a:r>
          </a:p>
          <a:p xmlns:a="http://schemas.openxmlformats.org/drawingml/2006/main">
            <a:r>
              <a:t>Linux namespaces global resource’lara ayrı görünüm verebilir. Bir process’in kendi namespace’inde PID1 olması host’un tüm yetkilerine sahip olması demek değildir. Network namespace ayrımı bilinçli networking ile tekrar bağlanabilir.</a:t>
            </a:r>
          </a:p>
          <a:p xmlns:a="http://schemas.openxmlformats.org/drawingml/2006/main">
            <a:r>
              <a:t/>
            </a:r>
          </a:p>
          <a:p xmlns:a="http://schemas.openxmlformats.org/drawingml/2006/main">
            <a:r>
              <a:t>GERÇEK HAYAT: Aynı local port</a:t>
            </a:r>
          </a:p>
          <a:p xmlns:a="http://schemas.openxmlformats.org/drawingml/2006/main">
            <a:r>
              <a:t>Ayrı network görünümleri aynı port adını kullanabilir.</a:t>
            </a:r>
          </a:p>
          <a:p xmlns:a="http://schemas.openxmlformats.org/drawingml/2006/main">
            <a:r>
              <a:t>Mekanizma: Port namespace’i ile dış erişim yapılandırması ayrı.</a:t>
            </a:r>
          </a:p>
          <a:p xmlns:a="http://schemas.openxmlformats.org/drawingml/2006/main">
            <a:r>
              <a:t>Ne zaman işe yarar: Host publish edilen portları ayrıca kontrol et.</a:t>
            </a:r>
          </a:p>
          <a:p xmlns:a="http://schemas.openxmlformats.org/drawingml/2006/main">
            <a:r>
              <a:t/>
            </a:r>
          </a:p>
          <a:p xmlns:a="http://schemas.openxmlformats.org/drawingml/2006/main">
            <a:r>
              <a:t>Yayımlanan resmî ders kapsamının özgün öğrenme uyarlaması. PDF kontrol tarihinde henüz yayımlanmamıştı.</a:t>
            </a:r>
          </a:p>
          <a:p xmlns:a="http://schemas.openxmlformats.org/drawingml/2006/main">
            <a:r>
              <a:t/>
            </a:r>
          </a:p>
          <a:p xmlns:a="http://schemas.openxmlformats.org/drawingml/2006/main">
            <a:r>
              <a:t>https://man7.org/linux/man-pages/man7/namespaces.7.html</a:t>
            </a:r>
          </a:p>
          <a:p xmlns:a="http://schemas.openxmlformats.org/drawingml/2006/main">
            <a:r>
              <a:t/>
            </a:r>
          </a:p>
          <a:p xmlns:a="http://schemas.openxmlformats.org/drawingml/2006/main">
            <a:r>
              <a:t>https://mehmetgokturk.com/cse513/lecture-08.html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Container A: local PID1 → host PID410.</a:t>
            </a:r>
          </a:p>
          <a:p xmlns:a="http://schemas.openxmlformats.org/drawingml/2006/main">
            <a:r>
              <a:t>Container B: local PID1 → host PID520.</a:t>
            </a:r>
          </a:p>
          <a:p xmlns:a="http://schemas.openxmlformats.org/drawingml/2006/main">
            <a:r>
              <a:t>Aynı local isim, farklı object.</a:t>
            </a:r>
          </a:p>
          <a:p xmlns:a="http://schemas.openxmlformats.org/drawingml/2006/main">
            <a:r>
              <a:t/>
            </a:r>
          </a:p>
          <a:p xmlns:a="http://schemas.openxmlformats.org/drawingml/2006/main">
            <a:r>
              <a:t>Bu PID’ler ölçüm değil lab veri setidir. Model namespace local görünümü ve host kimliğini ayrıştırır. Host görünürlüğünü PID string eşitliğiyle belirleme; join edilmiş namespaces veya özel yetkiler policy’yi değiştirebilir.</a:t>
            </a:r>
          </a:p>
          <a:p xmlns:a="http://schemas.openxmlformats.org/drawingml/2006/main">
            <a:r>
              <a:t/>
            </a:r>
          </a:p>
          <a:p xmlns:a="http://schemas.openxmlformats.org/drawingml/2006/main">
            <a:r>
              <a:t>SORUNUN YANITI: Hayır, modelde namespace üyeliği ayrı; local isim eşitliği erişim hakkı değil.</a:t>
            </a:r>
          </a:p>
          <a:p xmlns:a="http://schemas.openxmlformats.org/drawingml/2006/main">
            <a:r>
              <a:t/>
            </a:r>
          </a:p>
          <a:p xmlns:a="http://schemas.openxmlformats.org/drawingml/2006/main">
            <a:r>
              <a:t>Yayımlanan resmî ders kapsamının özgün öğrenme uyarlaması. PDF kontrol tarihinde henüz yayımlanmamıştı.</a:t>
            </a:r>
          </a:p>
          <a:p xmlns:a="http://schemas.openxmlformats.org/drawingml/2006/main">
            <a:r>
              <a:t/>
            </a:r>
          </a:p>
          <a:p xmlns:a="http://schemas.openxmlformats.org/drawingml/2006/main">
            <a:r>
              <a:t>https://man7.org/linux/man-pages/man7/namespaces.7.html</a:t>
            </a:r>
          </a:p>
          <a:p xmlns:a="http://schemas.openxmlformats.org/drawingml/2006/main">
            <a:r>
              <a:t/>
            </a:r>
          </a:p>
          <a:p xmlns:a="http://schemas.openxmlformats.org/drawingml/2006/main">
            <a:r>
              <a:t>https://mehmetgokturk.com/cse513/lecture-08.html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Guest kernel ile shared kernel farkı?</a:t>
            </a:r>
          </a:p>
          <a:p xmlns:a="http://schemas.openxmlformats.org/drawingml/2006/main">
            <a:r>
              <a:t>Namespace bir quota mı?</a:t>
            </a:r>
          </a:p>
          <a:p xmlns:a="http://schemas.openxmlformats.org/drawingml/2006/main">
            <a:r>
              <a:t>vCPU bir guaranteed core mu?</a:t>
            </a:r>
          </a:p>
          <a:p xmlns:a="http://schemas.openxmlformats.org/drawingml/2006/main">
            <a:r>
              <a:t/>
            </a:r>
          </a:p>
          <a:p xmlns:a="http://schemas.openxmlformats.org/drawingml/2006/main">
            <a:r>
              <a:t>Kısa yanıtlarını yazıp 8–10 dakika ara ver. Sonraki yarı görünürlükten yetki ve kaynak sınırlarına geçer. Güncel implementation varsayımları sources bölümünde resmi belgelere bağlıdır.</a:t>
            </a:r>
          </a:p>
          <a:p xmlns:a="http://schemas.openxmlformats.org/drawingml/2006/main">
            <a:r>
              <a:t/>
            </a:r>
          </a:p>
          <a:p xmlns:a="http://schemas.openxmlformats.org/drawingml/2006/main">
            <a:r>
              <a:t>SORUNUN YANITI: VM ayrı guest kernel çalıştırabilir; container kernel paylaşır. Namespace görünüm, quota değil. vCPU execution arayüzü, otomatik capacity reservation değil.</a:t>
            </a:r>
          </a:p>
          <a:p xmlns:a="http://schemas.openxmlformats.org/drawingml/2006/main">
            <a:r>
              <a:t/>
            </a:r>
          </a:p>
          <a:p xmlns:a="http://schemas.openxmlformats.org/drawingml/2006/main">
            <a:r>
              <a:t>Yayımlanan resmî ders kapsamının özgün öğrenme uyarlaması. PDF kontrol tarihinde henüz yayımlanmamıştı.</a:t>
            </a:r>
          </a:p>
          <a:p xmlns:a="http://schemas.openxmlformats.org/drawingml/2006/main">
            <a:r>
              <a:t/>
            </a:r>
          </a:p>
          <a:p xmlns:a="http://schemas.openxmlformats.org/drawingml/2006/main">
            <a:r>
              <a:t>https://mehmetgokturk.com/cse513/index.html</a:t>
            </a:r>
          </a:p>
          <a:p xmlns:a="http://schemas.openxmlformats.org/drawingml/2006/main">
            <a:r>
              <a:t/>
            </a:r>
          </a:p>
          <a:p xmlns:a="http://schemas.openxmlformats.org/drawingml/2006/main">
            <a:r>
              <a:t>https://mehmetgokturk.com/cse513/lecture-08.html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Accounting ve kaynak kontrolü.</a:t>
            </a:r>
          </a:p>
          <a:p xmlns:a="http://schemas.openxmlformats.org/drawingml/2006/main">
            <a:r>
              <a:t>CPU/memory gibi farklı controller’lar.</a:t>
            </a:r>
          </a:p>
          <a:p xmlns:a="http://schemas.openxmlformats.org/drawingml/2006/main">
            <a:r>
              <a:t>Limit minimum service garantisi değildir.</a:t>
            </a:r>
          </a:p>
          <a:p xmlns:a="http://schemas.openxmlformats.org/drawingml/2006/main">
            <a:r>
              <a:t/>
            </a:r>
          </a:p>
          <a:p xmlns:a="http://schemas.openxmlformats.org/drawingml/2006/main">
            <a:r>
              <a:t>Controller etkinliği, hierarchy ve yapılandırma sonucu değiştirir. CPU quota’ya ulaşmak CPU bandwidth kullanımı için sınırdır, file read permission değildir. Parent sınırlaması da etkili olabilir; model tek group için düz budget varsayar.</a:t>
            </a:r>
          </a:p>
          <a:p xmlns:a="http://schemas.openxmlformats.org/drawingml/2006/main">
            <a:r>
              <a:t/>
            </a:r>
          </a:p>
          <a:p xmlns:a="http://schemas.openxmlformats.org/drawingml/2006/main">
            <a:r>
              <a:t>GERÇEK HAYAT: Komşu servis gürültüsü</a:t>
            </a:r>
          </a:p>
          <a:p xmlns:a="http://schemas.openxmlformats.org/drawingml/2006/main">
            <a:r>
              <a:t>Yoğun worker başka işin gecikmesini artırır.</a:t>
            </a:r>
          </a:p>
          <a:p xmlns:a="http://schemas.openxmlformats.org/drawingml/2006/main">
            <a:r>
              <a:t>Mekanizma: Kaynak accounting ve limitler interference’ı sınırlamaya yardımcıdır.</a:t>
            </a:r>
          </a:p>
          <a:p xmlns:a="http://schemas.openxmlformats.org/drawingml/2006/main">
            <a:r>
              <a:t>Ne zaman işe yarar: Performans ile confidentiality policy’yi ayır.</a:t>
            </a:r>
          </a:p>
          <a:p xmlns:a="http://schemas.openxmlformats.org/drawingml/2006/main">
            <a:r>
              <a:t/>
            </a:r>
          </a:p>
          <a:p xmlns:a="http://schemas.openxmlformats.org/drawingml/2006/main">
            <a:r>
              <a:t>Yayımlanan resmî ders kapsamının özgün öğrenme uyarlaması. PDF kontrol tarihinde henüz yayımlanmamıştı.</a:t>
            </a:r>
          </a:p>
          <a:p xmlns:a="http://schemas.openxmlformats.org/drawingml/2006/main">
            <a:r>
              <a:t/>
            </a:r>
          </a:p>
          <a:p xmlns:a="http://schemas.openxmlformats.org/drawingml/2006/main">
            <a:r>
              <a:t>https://docs.kernel.org/admin-guide/cgroup-v2.html</a:t>
            </a:r>
          </a:p>
          <a:p xmlns:a="http://schemas.openxmlformats.org/drawingml/2006/main">
            <a:r>
              <a:t/>
            </a:r>
          </a:p>
          <a:p xmlns:a="http://schemas.openxmlformats.org/drawingml/2006/main">
            <a:r>
              <a:t>https://docs.docker.com/engine/containers/resource_constraints/</a:t>
            </a:r>
          </a:p>
          <a:p xmlns:a="http://schemas.openxmlformats.org/drawingml/2006/main">
            <a:r>
              <a:t/>
            </a:r>
          </a:p>
          <a:p xmlns:a="http://schemas.openxmlformats.org/drawingml/2006/main">
            <a:r>
              <a:t>https://mehmetgokturk.com/cse513/lecture-08.html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Period=100 ms; quota=50 ms.</a:t>
            </a:r>
          </a:p>
          <a:p xmlns:a="http://schemas.openxmlformats.org/drawingml/2006/main">
            <a:r>
              <a:t>Demand=80 ms → served50, throttled30.</a:t>
            </a:r>
          </a:p>
          <a:p xmlns:a="http://schemas.openxmlformats.org/drawingml/2006/main">
            <a:r>
              <a:t>Yeni period budget’i yeniler.</a:t>
            </a:r>
          </a:p>
          <a:p xmlns:a="http://schemas.openxmlformats.org/drawingml/2006/main">
            <a:r>
              <a:t/>
            </a:r>
          </a:p>
          <a:p xmlns:a="http://schemas.openxmlformats.org/drawingml/2006/main">
            <a:r>
              <a:t>Linux cpu.max MAX/PERIOD bandwidth üst sınırı ifade eder. Öğretici model tek CPU ve her period başında yenilenen tamsayı budget kullanır; kernel scheduler timing, burst, hierarchy ve multi-CPU davranışını emüle etmez. Throttled burada period içindeki karşılanmayan demand; sonraki döneme queue taşımıyoruz.</a:t>
            </a:r>
          </a:p>
          <a:p xmlns:a="http://schemas.openxmlformats.org/drawingml/2006/main">
            <a:r>
              <a:t/>
            </a:r>
          </a:p>
          <a:p xmlns:a="http://schemas.openxmlformats.org/drawingml/2006/main">
            <a:r>
              <a:t>SORUNUN YANITI: Hayır; service ceiling deadline guarantee değildir.</a:t>
            </a:r>
          </a:p>
          <a:p xmlns:a="http://schemas.openxmlformats.org/drawingml/2006/main">
            <a:r>
              <a:t/>
            </a:r>
          </a:p>
          <a:p xmlns:a="http://schemas.openxmlformats.org/drawingml/2006/main">
            <a:r>
              <a:t>Yayımlanan resmî ders kapsamının özgün öğrenme uyarlaması. PDF kontrol tarihinde henüz yayımlanmamıştı.</a:t>
            </a:r>
          </a:p>
          <a:p xmlns:a="http://schemas.openxmlformats.org/drawingml/2006/main">
            <a:r>
              <a:t/>
            </a:r>
          </a:p>
          <a:p xmlns:a="http://schemas.openxmlformats.org/drawingml/2006/main">
            <a:r>
              <a:t>https://docs.kernel.org/admin-guide/cgroup-v2.html</a:t>
            </a:r>
          </a:p>
          <a:p xmlns:a="http://schemas.openxmlformats.org/drawingml/2006/main">
            <a:r>
              <a:t/>
            </a:r>
          </a:p>
          <a:p xmlns:a="http://schemas.openxmlformats.org/drawingml/2006/main">
            <a:r>
              <a:t>https://mehmetgokturk.com/cse513/lecture-08.html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Model capacity=256 MiB.</a:t>
            </a:r>
          </a:p>
          <a:p xmlns:a="http://schemas.openxmlformats.org/drawingml/2006/main">
            <a:r>
              <a:t>Used192 + request80 =272: deny.</a:t>
            </a:r>
          </a:p>
          <a:p xmlns:a="http://schemas.openxmlformats.org/drawingml/2006/main">
            <a:r>
              <a:t>Gerçekte reclaim/OOM davranışı farklı olabilir.</a:t>
            </a:r>
          </a:p>
          <a:p xmlns:a="http://schemas.openxmlformats.org/drawingml/2006/main">
            <a:r>
              <a:t/>
            </a:r>
          </a:p>
          <a:p xmlns:a="http://schemas.openxmlformats.org/drawingml/2006/main">
            <a:r>
              <a:t>Oyuncak model memory request’i atomik olarak admit veya deny eder. Gerçek memory.max charged usage, reclaim ve OOM yollarıyla işler; her malloc bu model gibi anında deny olmaz. Deney host memory pressure veya OOM üretmez.</a:t>
            </a:r>
          </a:p>
          <a:p xmlns:a="http://schemas.openxmlformats.org/drawingml/2006/main">
            <a:r>
              <a:t/>
            </a:r>
          </a:p>
          <a:p xmlns:a="http://schemas.openxmlformats.org/drawingml/2006/main">
            <a:r>
              <a:t>GERÇEK HAYAT: Batch worker büyüyor</a:t>
            </a:r>
          </a:p>
          <a:p xmlns:a="http://schemas.openxmlformats.org/drawingml/2006/main">
            <a:r>
              <a:t>İşin memory tüketimi capacity’yi aşabilir.</a:t>
            </a:r>
          </a:p>
          <a:p xmlns:a="http://schemas.openxmlformats.org/drawingml/2006/main">
            <a:r>
              <a:t>Mekanizma: Limit policy ile failure handling birlikte gerekir.</a:t>
            </a:r>
          </a:p>
          <a:p xmlns:a="http://schemas.openxmlformats.org/drawingml/2006/main">
            <a:r>
              <a:t>Ne zaman işe yarar: Model deny sonucunu gerçek OOM trace’i diye sunma.</a:t>
            </a:r>
          </a:p>
          <a:p xmlns:a="http://schemas.openxmlformats.org/drawingml/2006/main">
            <a:r>
              <a:t/>
            </a:r>
          </a:p>
          <a:p xmlns:a="http://schemas.openxmlformats.org/drawingml/2006/main">
            <a:r>
              <a:t>Yayımlanan resmî ders kapsamının özgün öğrenme uyarlaması. PDF kontrol tarihinde henüz yayımlanmamıştı.</a:t>
            </a:r>
          </a:p>
          <a:p xmlns:a="http://schemas.openxmlformats.org/drawingml/2006/main">
            <a:r>
              <a:t/>
            </a:r>
          </a:p>
          <a:p xmlns:a="http://schemas.openxmlformats.org/drawingml/2006/main">
            <a:r>
              <a:t>https://docs.kernel.org/admin-guide/cgroup-v2.html</a:t>
            </a:r>
          </a:p>
          <a:p xmlns:a="http://schemas.openxmlformats.org/drawingml/2006/main">
            <a:r>
              <a:t/>
            </a:r>
          </a:p>
          <a:p xmlns:a="http://schemas.openxmlformats.org/drawingml/2006/main">
            <a:r>
              <a:t>https://docs.docker.com/engine/containers/resource_constraints/</a:t>
            </a:r>
          </a:p>
          <a:p xmlns:a="http://schemas.openxmlformats.org/drawingml/2006/main">
            <a:r>
              <a:t/>
            </a:r>
          </a:p>
          <a:p xmlns:a="http://schemas.openxmlformats.org/drawingml/2006/main">
            <a:r>
              <a:t>https://mehmetgokturk.com/cse513/lecture-08.html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Path görünür mü?</a:t>
            </a:r>
          </a:p>
          <a:p xmlns:a="http://schemas.openxmlformats.org/drawingml/2006/main">
            <a:r>
              <a:t>Kimlik/policy erişimi izinli kılar mı?</a:t>
            </a:r>
          </a:p>
          <a:p xmlns:a="http://schemas.openxmlformats.org/drawingml/2006/main">
            <a:r>
              <a:t>Resource budget uygun mu?</a:t>
            </a:r>
          </a:p>
          <a:p xmlns:a="http://schemas.openxmlformats.org/drawingml/2006/main">
            <a:r>
              <a:t/>
            </a:r>
          </a:p>
          <a:p xmlns:a="http://schemas.openxmlformats.org/drawingml/2006/main">
            <a:r>
              <a:t>Lab karar ağacı bu boyutları ayrı tutar: namespace file mapping, role allowlist ve quota. Bir dosyanın görünmesi yazılabileceği anlamına gelmez; quota olması da host secret’ı görme hakkı vermez. Linux DAC, capabilities ve ek security policy daha zengindir; lab permission engine değildir.</a:t>
            </a:r>
          </a:p>
          <a:p xmlns:a="http://schemas.openxmlformats.org/drawingml/2006/main">
            <a:r>
              <a:t/>
            </a:r>
          </a:p>
          <a:p xmlns:a="http://schemas.openxmlformats.org/drawingml/2006/main">
            <a:r>
              <a:t>GERÇEK HAYAT: Salt okunur config</a:t>
            </a:r>
          </a:p>
          <a:p xmlns:a="http://schemas.openxmlformats.org/drawingml/2006/main">
            <a:r>
              <a:t>Servis config’i okuyabilir ama değiştiremez.</a:t>
            </a:r>
          </a:p>
          <a:p xmlns:a="http://schemas.openxmlformats.org/drawingml/2006/main">
            <a:r>
              <a:t>Mekanizma: Visibility ve operation permissions farklı policy.</a:t>
            </a:r>
          </a:p>
          <a:p xmlns:a="http://schemas.openxmlformats.org/drawingml/2006/main">
            <a:r>
              <a:t>Ne zaman işe yarar: Read-only mount ile iş rolünü birlikte düşün.</a:t>
            </a:r>
          </a:p>
          <a:p xmlns:a="http://schemas.openxmlformats.org/drawingml/2006/main">
            <a:r>
              <a:t/>
            </a:r>
          </a:p>
          <a:p xmlns:a="http://schemas.openxmlformats.org/drawingml/2006/main">
            <a:r>
              <a:t>Yayımlanan resmî ders kapsamının özgün öğrenme uyarlaması. PDF kontrol tarihinde henüz yayımlanmamıştı.</a:t>
            </a:r>
          </a:p>
          <a:p xmlns:a="http://schemas.openxmlformats.org/drawingml/2006/main">
            <a:r>
              <a:t/>
            </a:r>
          </a:p>
          <a:p xmlns:a="http://schemas.openxmlformats.org/drawingml/2006/main">
            <a:r>
              <a:t>https://man7.org/linux/man-pages/man7/capabilities.7.html</a:t>
            </a:r>
          </a:p>
          <a:p xmlns:a="http://schemas.openxmlformats.org/drawingml/2006/main">
            <a:r>
              <a:t/>
            </a:r>
          </a:p>
          <a:p xmlns:a="http://schemas.openxmlformats.org/drawingml/2006/main">
            <a:r>
              <a:t>https://man7.org/linux/man-pages/man7/namespaces.7.html</a:t>
            </a:r>
          </a:p>
          <a:p xmlns:a="http://schemas.openxmlformats.org/drawingml/2006/main">
            <a:r>
              <a:t/>
            </a:r>
          </a:p>
          <a:p xmlns:a="http://schemas.openxmlformats.org/drawingml/2006/main">
            <a:r>
              <a:t>https://mehmetgokturk.com/cse513/lecture-08.html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UID görünümü ve user namespace mapping.</a:t>
            </a:r>
          </a:p>
          <a:p xmlns:a="http://schemas.openxmlformats.org/drawingml/2006/main">
            <a:r>
              <a:t>Capabilities ayrı yetkiler sağlar.</a:t>
            </a:r>
          </a:p>
          <a:p xmlns:a="http://schemas.openxmlformats.org/drawingml/2006/main">
            <a:r>
              <a:t>Root etiketi tek başına sınır kanıtı değil.</a:t>
            </a:r>
          </a:p>
          <a:p xmlns:a="http://schemas.openxmlformats.org/drawingml/2006/main">
            <a:r>
              <a:t/>
            </a:r>
          </a:p>
          <a:p xmlns:a="http://schemas.openxmlformats.org/drawingml/2006/main">
            <a:r>
              <a:t>Mapping ve runtime konfigürasyonu belirleyicidir. Container içinde UID0 görülmesi bütün host permissions’ın verilmesini gerektirmez; user namespace yoksa risk analizi başka olabilir. Capabilities root/non-root ikiliğini ayrıntılandırır. Rootless mode daemon ve container için user namespace yaklaşımı kullanabilir.</a:t>
            </a:r>
          </a:p>
          <a:p xmlns:a="http://schemas.openxmlformats.org/drawingml/2006/main">
            <a:r>
              <a:t/>
            </a:r>
          </a:p>
          <a:p xmlns:a="http://schemas.openxmlformats.org/drawingml/2006/main">
            <a:r>
              <a:t>SORUNUN YANITI: Tek başına hayır; mapping, capabilities, mounts ve runtime yetkilerini incele.</a:t>
            </a:r>
          </a:p>
          <a:p xmlns:a="http://schemas.openxmlformats.org/drawingml/2006/main">
            <a:r>
              <a:t/>
            </a:r>
          </a:p>
          <a:p xmlns:a="http://schemas.openxmlformats.org/drawingml/2006/main">
            <a:r>
              <a:t>Yayımlanan resmî ders kapsamının özgün öğrenme uyarlaması. PDF kontrol tarihinde henüz yayımlanmamıştı.</a:t>
            </a:r>
          </a:p>
          <a:p xmlns:a="http://schemas.openxmlformats.org/drawingml/2006/main">
            <a:r>
              <a:t/>
            </a:r>
          </a:p>
          <a:p xmlns:a="http://schemas.openxmlformats.org/drawingml/2006/main">
            <a:r>
              <a:t>https://man7.org/linux/man-pages/man7/capabilities.7.html</a:t>
            </a:r>
          </a:p>
          <a:p xmlns:a="http://schemas.openxmlformats.org/drawingml/2006/main">
            <a:r>
              <a:t/>
            </a:r>
          </a:p>
          <a:p xmlns:a="http://schemas.openxmlformats.org/drawingml/2006/main">
            <a:r>
              <a:t>https://docs.docker.com/engine/security/rootless/</a:t>
            </a:r>
          </a:p>
          <a:p xmlns:a="http://schemas.openxmlformats.org/drawingml/2006/main">
            <a:r>
              <a:t/>
            </a:r>
          </a:p>
          <a:p xmlns:a="http://schemas.openxmlformats.org/drawingml/2006/main">
            <a:r>
              <a:t>https://mehmetgokturk.com/cse513/lecture-08.html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Viewer: yalnız read.</a:t>
            </a:r>
          </a:p>
          <a:p xmlns:a="http://schemas.openxmlformats.org/drawingml/2006/main">
            <a:r>
              <a:t>Editor: read + write own data.</a:t>
            </a:r>
          </a:p>
          <a:p xmlns:a="http://schemas.openxmlformats.org/drawingml/2006/main">
            <a:r>
              <a:t>Deploy yönetimi başka role.</a:t>
            </a:r>
          </a:p>
          <a:p xmlns:a="http://schemas.openxmlformats.org/drawingml/2006/main">
            <a:r>
              <a:t/>
            </a:r>
          </a:p>
          <a:p xmlns:a="http://schemas.openxmlformats.org/drawingml/2006/main">
            <a:r>
              <a:t>Özgün modelde viewer app dosyasını okur, yazma denied. Editor kendi app alanında yazabilir, host secret görünmez. Allowlist bir eğitim politika modelidir, gerçek OS enforcement iddiası değildir. İhtiyaç olmayan yetkiyi vermeyerek yanlış işlem alanını küçültürüz.</a:t>
            </a:r>
          </a:p>
          <a:p xmlns:a="http://schemas.openxmlformats.org/drawingml/2006/main">
            <a:r>
              <a:t/>
            </a:r>
          </a:p>
          <a:p xmlns:a="http://schemas.openxmlformats.org/drawingml/2006/main">
            <a:r>
              <a:t>GERÇEK HAYAT: Rapor API’si</a:t>
            </a:r>
          </a:p>
          <a:p xmlns:a="http://schemas.openxmlformats.org/drawingml/2006/main">
            <a:r>
              <a:t>Rapor okumak isteyen client deploy erişimi istemez.</a:t>
            </a:r>
          </a:p>
          <a:p xmlns:a="http://schemas.openxmlformats.org/drawingml/2006/main">
            <a:r>
              <a:t>Mekanizma: Dar role/action policy gereksiz yönetim erişimini dışlar.</a:t>
            </a:r>
          </a:p>
          <a:p xmlns:a="http://schemas.openxmlformats.org/drawingml/2006/main">
            <a:r>
              <a:t>Ne zaman işe yarar: Her yetkiyi bir iş ihtiyacına bağla.</a:t>
            </a:r>
          </a:p>
          <a:p xmlns:a="http://schemas.openxmlformats.org/drawingml/2006/main">
            <a:r>
              <a:t/>
            </a:r>
          </a:p>
          <a:p xmlns:a="http://schemas.openxmlformats.org/drawingml/2006/main">
            <a:r>
              <a:t>Yayımlanan resmî ders kapsamının özgün öğrenme uyarlaması. PDF kontrol tarihinde henüz yayımlanmamıştı.</a:t>
            </a:r>
          </a:p>
          <a:p xmlns:a="http://schemas.openxmlformats.org/drawingml/2006/main">
            <a:r>
              <a:t/>
            </a:r>
          </a:p>
          <a:p xmlns:a="http://schemas.openxmlformats.org/drawingml/2006/main">
            <a:r>
              <a:t>https://mehmetgokturk.com/cse513/index.html</a:t>
            </a:r>
          </a:p>
          <a:p xmlns:a="http://schemas.openxmlformats.org/drawingml/2006/main">
            <a:r>
              <a:t/>
            </a:r>
          </a:p>
          <a:p xmlns:a="http://schemas.openxmlformats.org/drawingml/2006/main">
            <a:r>
              <a:t>https://mehmetgokturk.com/cse513/lecture-08.html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Host path’in expose edilmesi erişim yüzeyi oluşturur.</a:t>
            </a:r>
          </a:p>
          <a:p xmlns:a="http://schemas.openxmlformats.org/drawingml/2006/main">
            <a:r>
              <a:t>Read-only/read-write farkını belirt.</a:t>
            </a:r>
          </a:p>
          <a:p xmlns:a="http://schemas.openxmlformats.org/drawingml/2006/main">
            <a:r>
              <a:t>Secret’ı image/mount yolunda kontrol et.</a:t>
            </a:r>
          </a:p>
          <a:p xmlns:a="http://schemas.openxmlformats.org/drawingml/2006/main">
            <a:r>
              <a:t/>
            </a:r>
          </a:p>
          <a:p xmlns:a="http://schemas.openxmlformats.org/drawingml/2006/main">
            <a:r>
              <a:t>Modelde yalnız app config/data mapping’i vardır. Yeni host secret mapping eklemek namespace isolation doğru olsa bile exposure’ı değiştirir. Bu ders gerçek mount yaratmaz. Host path’i görünür yapan ayarın bütün güvenlik etkilerini incelemek runtime’a özgü iştir.</a:t>
            </a:r>
          </a:p>
          <a:p xmlns:a="http://schemas.openxmlformats.org/drawingml/2006/main">
            <a:r>
              <a:t/>
            </a:r>
          </a:p>
          <a:p xmlns:a="http://schemas.openxmlformats.org/drawingml/2006/main">
            <a:r>
              <a:t>GERÇEK HAYAT: Paylaşılan çalışma klasörü</a:t>
            </a:r>
          </a:p>
          <a:p xmlns:a="http://schemas.openxmlformats.org/drawingml/2006/main">
            <a:r>
              <a:t>Container host proje dosyasını değiştirebilir.</a:t>
            </a:r>
          </a:p>
          <a:p xmlns:a="http://schemas.openxmlformats.org/drawingml/2006/main">
            <a:r>
              <a:t>Mekanizma: Açılan write yolunun kapsamı authority boundary’sini büyütür.</a:t>
            </a:r>
          </a:p>
          <a:p xmlns:a="http://schemas.openxmlformats.org/drawingml/2006/main">
            <a:r>
              <a:t>Ne zaman işe yarar: Paylaşım listesini küçük ve açık tut.</a:t>
            </a:r>
          </a:p>
          <a:p xmlns:a="http://schemas.openxmlformats.org/drawingml/2006/main">
            <a:r>
              <a:t/>
            </a:r>
          </a:p>
          <a:p xmlns:a="http://schemas.openxmlformats.org/drawingml/2006/main">
            <a:r>
              <a:t>Yayımlanan resmî ders kapsamının özgün öğrenme uyarlaması. PDF kontrol tarihinde henüz yayımlanmamıştı.</a:t>
            </a:r>
          </a:p>
          <a:p xmlns:a="http://schemas.openxmlformats.org/drawingml/2006/main">
            <a:r>
              <a:t/>
            </a:r>
          </a:p>
          <a:p xmlns:a="http://schemas.openxmlformats.org/drawingml/2006/main">
            <a:r>
              <a:t>https://docs.docker.com/engine/security/</a:t>
            </a:r>
          </a:p>
          <a:p xmlns:a="http://schemas.openxmlformats.org/drawingml/2006/main">
            <a:r>
              <a:t/>
            </a:r>
          </a:p>
          <a:p xmlns:a="http://schemas.openxmlformats.org/drawingml/2006/main">
            <a:r>
              <a:t>https://mehmetgokturk.com/cse513/lecture-08.html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Workload yetkisi ≠ runtime yönetim yetkisi.</a:t>
            </a:r>
          </a:p>
          <a:p xmlns:a="http://schemas.openxmlformats.org/drawingml/2006/main">
            <a:r>
              <a:t>API/socket erişimi lifecycle kontrolü açabilir.</a:t>
            </a:r>
          </a:p>
          <a:p xmlns:a="http://schemas.openxmlformats.org/drawingml/2006/main">
            <a:r>
              <a:t>Management plane ayrı trust boundary.</a:t>
            </a:r>
          </a:p>
          <a:p xmlns:a="http://schemas.openxmlformats.org/drawingml/2006/main">
            <a:r>
              <a:t/>
            </a:r>
          </a:p>
          <a:p xmlns:a="http://schemas.openxmlformats.org/drawingml/2006/main">
            <a:r>
              <a:t>Docker daemon erişimini sıradan data file erişimi gibi düşünme. Yönetim arayüzü workload yaratma ve host bağlantılarını yapılandırma gibi güçlü işler yapabilir. Rootless mode bazı riskleri azaltır; onu bütün threat model’in yerine koyma.</a:t>
            </a:r>
          </a:p>
          <a:p xmlns:a="http://schemas.openxmlformats.org/drawingml/2006/main">
            <a:r>
              <a:t/>
            </a:r>
          </a:p>
          <a:p xmlns:a="http://schemas.openxmlformats.org/drawingml/2006/main">
            <a:r>
              <a:t>GERÇEK HAYAT: Build servisinin socket’i</a:t>
            </a:r>
          </a:p>
          <a:p xmlns:a="http://schemas.openxmlformats.org/drawingml/2006/main">
            <a:r>
              <a:t>Build worker’a runtime yönetimi açılır.</a:t>
            </a:r>
          </a:p>
          <a:p xmlns:a="http://schemas.openxmlformats.org/drawingml/2006/main">
            <a:r>
              <a:t>Mekanizma: İşlevsel ihtiyacın ötesinde kontrol yetkisi doğabilir.</a:t>
            </a:r>
          </a:p>
          <a:p xmlns:a="http://schemas.openxmlformats.org/drawingml/2006/main">
            <a:r>
              <a:t>Ne zaman işe yarar: Data plane ile management plane’i ayrı çiz.</a:t>
            </a:r>
          </a:p>
          <a:p xmlns:a="http://schemas.openxmlformats.org/drawingml/2006/main">
            <a:r>
              <a:t/>
            </a:r>
          </a:p>
          <a:p xmlns:a="http://schemas.openxmlformats.org/drawingml/2006/main">
            <a:r>
              <a:t>Yayımlanan resmî ders kapsamının özgün öğrenme uyarlaması. PDF kontrol tarihinde henüz yayımlanmamıştı.</a:t>
            </a:r>
          </a:p>
          <a:p xmlns:a="http://schemas.openxmlformats.org/drawingml/2006/main">
            <a:r>
              <a:t/>
            </a:r>
          </a:p>
          <a:p xmlns:a="http://schemas.openxmlformats.org/drawingml/2006/main">
            <a:r>
              <a:t>https://docs.docker.com/engine/security/</a:t>
            </a:r>
          </a:p>
          <a:p xmlns:a="http://schemas.openxmlformats.org/drawingml/2006/main">
            <a:r>
              <a:t/>
            </a:r>
          </a:p>
          <a:p xmlns:a="http://schemas.openxmlformats.org/drawingml/2006/main">
            <a:r>
              <a:t>https://docs.docker.com/engine/security/rootless/</a:t>
            </a:r>
          </a:p>
          <a:p xmlns:a="http://schemas.openxmlformats.org/drawingml/2006/main">
            <a:r>
              <a:t/>
            </a:r>
          </a:p>
          <a:p xmlns:a="http://schemas.openxmlformats.org/drawingml/2006/main">
            <a:r>
              <a:t>https://mehmetgokturk.com/cse513/lecture-08.html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Container’lar kernel implementation paylaşır.</a:t>
            </a:r>
          </a:p>
          <a:p xmlns:a="http://schemas.openxmlformats.org/drawingml/2006/main">
            <a:r>
              <a:t>VM ayrı kernel ile farklı boundary sunar.</a:t>
            </a:r>
          </a:p>
          <a:p xmlns:a="http://schemas.openxmlformats.org/drawingml/2006/main">
            <a:r>
              <a:t>Hiçbiri mutlak dokunulmaz değil.</a:t>
            </a:r>
          </a:p>
          <a:p xmlns:a="http://schemas.openxmlformats.org/drawingml/2006/main">
            <a:r>
              <a:t/>
            </a:r>
          </a:p>
          <a:p xmlns:a="http://schemas.openxmlformats.org/drawingml/2006/main">
            <a:r>
              <a:t>Host/guest kernel bug’ları, hypervisor veya device emulation kusurları ve yanlış konfigürasyon farklı risklerdir. İddia edilen korumayı açık threat model’e bağla; “VM var, sorun yok” veya “container var, her şey shared” genellemesi yapma.</a:t>
            </a:r>
          </a:p>
          <a:p xmlns:a="http://schemas.openxmlformats.org/drawingml/2006/main">
            <a:r>
              <a:t/>
            </a:r>
          </a:p>
          <a:p xmlns:a="http://schemas.openxmlformats.org/drawingml/2006/main">
            <a:r>
              <a:t>Yayımlanan resmî ders kapsamının özgün öğrenme uyarlaması. PDF kontrol tarihinde henüz yayımlanmamıştı.</a:t>
            </a:r>
          </a:p>
          <a:p xmlns:a="http://schemas.openxmlformats.org/drawingml/2006/main">
            <a:r>
              <a:t/>
            </a:r>
          </a:p>
          <a:p xmlns:a="http://schemas.openxmlformats.org/drawingml/2006/main">
            <a:r>
              <a:t>https://docs.docker.com/engine/security/</a:t>
            </a:r>
          </a:p>
          <a:p xmlns:a="http://schemas.openxmlformats.org/drawingml/2006/main">
            <a:r>
              <a:t/>
            </a:r>
          </a:p>
          <a:p xmlns:a="http://schemas.openxmlformats.org/drawingml/2006/main">
            <a:r>
              <a:t>https://pages.cs.wisc.edu/~remzi/OSTEP/vmm-intro.pdf</a:t>
            </a:r>
          </a:p>
          <a:p xmlns:a="http://schemas.openxmlformats.org/drawingml/2006/main">
            <a:r>
              <a:t/>
            </a:r>
          </a:p>
          <a:p xmlns:a="http://schemas.openxmlformats.org/drawingml/2006/main">
            <a:r>
              <a:t>https://mehmetgokturk.com/cse513/lecture-08.html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Namespace: ayrı görünüm.</a:t>
            </a:r>
          </a:p>
          <a:p xmlns:a="http://schemas.openxmlformats.org/drawingml/2006/main">
            <a:r>
              <a:t>Permissions/capabilities: allowed operation.</a:t>
            </a:r>
          </a:p>
          <a:p xmlns:a="http://schemas.openxmlformats.org/drawingml/2006/main">
            <a:r>
              <a:t>cgroup: resource consumption.</a:t>
            </a:r>
          </a:p>
          <a:p xmlns:a="http://schemas.openxmlformats.org/drawingml/2006/main">
            <a:r>
              <a:t>VM boundary: guest execution kontrolü.</a:t>
            </a:r>
          </a:p>
          <a:p xmlns:a="http://schemas.openxmlformats.org/drawingml/2006/main">
            <a:r>
              <a:t/>
            </a:r>
          </a:p>
          <a:p xmlns:a="http://schemas.openxmlformats.org/drawingml/2006/main">
            <a:r>
              <a:t>Bu eşleme tek mekanizmanın diğerini yerine geçirmesini önler. Seccomp/MAC gibi ek mekanizmalar farklı policy alanlarını daraltabilir; bu hafta onları bypass deneyi yapmıyoruz. Katmanları birlikte değerlendirmek her layer’ın sınırlarını silmek değildir.</a:t>
            </a:r>
          </a:p>
          <a:p xmlns:a="http://schemas.openxmlformats.org/drawingml/2006/main">
            <a:r>
              <a:t/>
            </a:r>
          </a:p>
          <a:p xmlns:a="http://schemas.openxmlformats.org/drawingml/2006/main">
            <a:r>
              <a:t>Yayımlanan resmî ders kapsamının özgün öğrenme uyarlaması. PDF kontrol tarihinde henüz yayımlanmamıştı.</a:t>
            </a:r>
          </a:p>
          <a:p xmlns:a="http://schemas.openxmlformats.org/drawingml/2006/main">
            <a:r>
              <a:t/>
            </a:r>
          </a:p>
          <a:p xmlns:a="http://schemas.openxmlformats.org/drawingml/2006/main">
            <a:r>
              <a:t>https://man7.org/linux/man-pages/man7/namespaces.7.html</a:t>
            </a:r>
          </a:p>
          <a:p xmlns:a="http://schemas.openxmlformats.org/drawingml/2006/main">
            <a:r>
              <a:t/>
            </a:r>
          </a:p>
          <a:p xmlns:a="http://schemas.openxmlformats.org/drawingml/2006/main">
            <a:r>
              <a:t>https://docs.kernel.org/admin-guide/cgroup-v2.html</a:t>
            </a:r>
          </a:p>
          <a:p xmlns:a="http://schemas.openxmlformats.org/drawingml/2006/main">
            <a:r>
              <a:t/>
            </a:r>
          </a:p>
          <a:p xmlns:a="http://schemas.openxmlformats.org/drawingml/2006/main">
            <a:r>
              <a:t>https://docs.docker.com/engine/security/</a:t>
            </a:r>
          </a:p>
          <a:p xmlns:a="http://schemas.openxmlformats.org/drawingml/2006/main">
            <a:r>
              <a:t/>
            </a:r>
          </a:p>
          <a:p xmlns:a="http://schemas.openxmlformats.org/drawingml/2006/main">
            <a:r>
              <a:t>https://man7.org/linux/man-pages/man7/capabilities.7.html</a:t>
            </a:r>
          </a:p>
          <a:p xmlns:a="http://schemas.openxmlformats.org/drawingml/2006/main">
            <a:r>
              <a:t/>
            </a:r>
          </a:p>
          <a:p xmlns:a="http://schemas.openxmlformats.org/drawingml/2006/main">
            <a:r>
              <a:t>https://mehmetgokturk.com/cse513/lecture-08.html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viewer config read → allow.</a:t>
            </a:r>
          </a:p>
          <a:p xmlns:a="http://schemas.openxmlformats.org/drawingml/2006/main">
            <a:r>
              <a:t>A viewer data write → deny.</a:t>
            </a:r>
          </a:p>
          <a:p xmlns:a="http://schemas.openxmlformats.org/drawingml/2006/main">
            <a:r>
              <a:t>A editor host secret read → hidden.</a:t>
            </a:r>
          </a:p>
          <a:p xmlns:a="http://schemas.openxmlformats.org/drawingml/2006/main">
            <a:r>
              <a:t>A demand80 quota50 → service50.</a:t>
            </a:r>
          </a:p>
          <a:p xmlns:a="http://schemas.openxmlformats.org/drawingml/2006/main">
            <a:r>
              <a:t/>
            </a:r>
          </a:p>
          <a:p xmlns:a="http://schemas.openxmlformats.org/drawingml/2006/main">
            <a:r>
              <a:t>Permission erişimini CPU budget’den ayır. Hidden sonucu path model namespace’inde yok demektir; bu encryption değildir. CPU service50 sonucu reservation değildir. B’nin local PID1’i A ile aynı process olmadığını ayrı identity map gösterir.</a:t>
            </a:r>
          </a:p>
          <a:p xmlns:a="http://schemas.openxmlformats.org/drawingml/2006/main">
            <a:r>
              <a:t/>
            </a:r>
          </a:p>
          <a:p xmlns:a="http://schemas.openxmlformats.org/drawingml/2006/main">
            <a:r>
              <a:t>SORUNUN YANITI: Hayır; namespace/mapping ve yetki ayrı kalır.</a:t>
            </a:r>
          </a:p>
          <a:p xmlns:a="http://schemas.openxmlformats.org/drawingml/2006/main">
            <a:r>
              <a:t/>
            </a:r>
          </a:p>
          <a:p xmlns:a="http://schemas.openxmlformats.org/drawingml/2006/main">
            <a:r>
              <a:t>Yayımlanan resmî ders kapsamının özgün öğrenme uyarlaması. PDF kontrol tarihinde henüz yayımlanmamıştı.</a:t>
            </a:r>
          </a:p>
          <a:p xmlns:a="http://schemas.openxmlformats.org/drawingml/2006/main">
            <a:r>
              <a:t/>
            </a:r>
          </a:p>
          <a:p xmlns:a="http://schemas.openxmlformats.org/drawingml/2006/main">
            <a:r>
              <a:t>https://mehmetgokturk.com/cse513/index.html</a:t>
            </a:r>
          </a:p>
          <a:p xmlns:a="http://schemas.openxmlformats.org/drawingml/2006/main">
            <a:r>
              <a:t/>
            </a:r>
          </a:p>
          <a:p xmlns:a="http://schemas.openxmlformats.org/drawingml/2006/main">
            <a:r>
              <a:t>https://mehmetgokturk.com/cse513/lecture-08.html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PID aynı → object aynı?</a:t>
            </a:r>
          </a:p>
          <a:p xmlns:a="http://schemas.openxmlformats.org/drawingml/2006/main">
            <a:r>
              <a:t>Memory limit → data gizli?</a:t>
            </a:r>
          </a:p>
          <a:p xmlns:a="http://schemas.openxmlformats.org/drawingml/2006/main">
            <a:r>
              <a:t>Rootless → hiç attack surface yok?</a:t>
            </a:r>
          </a:p>
          <a:p xmlns:a="http://schemas.openxmlformats.org/drawingml/2006/main">
            <a:r>
              <a:t>VM → shared folder etkisiz?</a:t>
            </a:r>
          </a:p>
          <a:p xmlns:a="http://schemas.openxmlformats.org/drawingml/2006/main">
            <a:r>
              <a:t/>
            </a:r>
          </a:p>
          <a:p xmlns:a="http://schemas.openxmlformats.org/drawingml/2006/main">
            <a:r>
              <a:t>Önce her iddianın eksik mekanizmasını adlandır. Lab gerçek security boundary enforcement’i test etmez; bu yanlış inference’ları dar bir karar modelinde görünür yapar. False sense of security yerine mekanizma ve assumption dili kullan.</a:t>
            </a:r>
          </a:p>
          <a:p xmlns:a="http://schemas.openxmlformats.org/drawingml/2006/main">
            <a:r>
              <a:t/>
            </a:r>
          </a:p>
          <a:p xmlns:a="http://schemas.openxmlformats.org/drawingml/2006/main">
            <a:r>
              <a:t>SORUNUN YANITI: Dördü de geçersiz. Namespace identity; limit availability; rootless sınırlı authority; shared interface explicit access sağlar.</a:t>
            </a:r>
          </a:p>
          <a:p xmlns:a="http://schemas.openxmlformats.org/drawingml/2006/main">
            <a:r>
              <a:t/>
            </a:r>
          </a:p>
          <a:p xmlns:a="http://schemas.openxmlformats.org/drawingml/2006/main">
            <a:r>
              <a:t>Yayımlanan resmî ders kapsamının özgün öğrenme uyarlaması. PDF kontrol tarihinde henüz yayımlanmamıştı.</a:t>
            </a:r>
          </a:p>
          <a:p xmlns:a="http://schemas.openxmlformats.org/drawingml/2006/main">
            <a:r>
              <a:t/>
            </a:r>
          </a:p>
          <a:p xmlns:a="http://schemas.openxmlformats.org/drawingml/2006/main">
            <a:r>
              <a:t>https://mehmetgokturk.com/cse513/index.html</a:t>
            </a:r>
          </a:p>
          <a:p xmlns:a="http://schemas.openxmlformats.org/drawingml/2006/main">
            <a:r>
              <a:t/>
            </a:r>
          </a:p>
          <a:p xmlns:a="http://schemas.openxmlformats.org/drawingml/2006/main">
            <a:r>
              <a:t>https://mehmetgokturk.com/cse513/lecture-08.html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isolation_budget.py --self-test</a:t>
            </a:r>
          </a:p>
          <a:p xmlns:a="http://schemas.openxmlformats.org/drawingml/2006/main">
            <a:r>
              <a:t>--quota 50 --demand 80</a:t>
            </a:r>
          </a:p>
          <a:p xmlns:a="http://schemas.openxmlformats.org/drawingml/2006/main">
            <a:r>
              <a:t>--memory-used 192 --memory-request 80</a:t>
            </a:r>
          </a:p>
          <a:p xmlns:a="http://schemas.openxmlformats.org/drawingml/2006/main">
            <a:r>
              <a:t/>
            </a:r>
          </a:p>
          <a:p xmlns:a="http://schemas.openxmlformats.org/drawingml/2006/main">
            <a:r>
              <a:t>Standart Python, yalnız in-memory model. Container/VM başlatma, mount, cgroup dosyası yazma, root veya host secret okuma yok. Testler namespace kimlik ayrımı, role decision, period budget yenileme ve memory admit/deny sınırlarını kontrol eder.</a:t>
            </a:r>
          </a:p>
          <a:p xmlns:a="http://schemas.openxmlformats.org/drawingml/2006/main">
            <a:r>
              <a:t/>
            </a:r>
          </a:p>
          <a:p xmlns:a="http://schemas.openxmlformats.org/drawingml/2006/main">
            <a:r>
              <a:t>Yayımlanan resmî ders kapsamının özgün öğrenme uyarlaması. PDF kontrol tarihinde henüz yayımlanmamıştı.</a:t>
            </a:r>
          </a:p>
          <a:p xmlns:a="http://schemas.openxmlformats.org/drawingml/2006/main">
            <a:r>
              <a:t/>
            </a:r>
          </a:p>
          <a:p xmlns:a="http://schemas.openxmlformats.org/drawingml/2006/main">
            <a:r>
              <a:t>https://mehmetgokturk.com/cse513/index.html</a:t>
            </a:r>
          </a:p>
          <a:p xmlns:a="http://schemas.openxmlformats.org/drawingml/2006/main">
            <a:r>
              <a:t/>
            </a:r>
          </a:p>
          <a:p xmlns:a="http://schemas.openxmlformats.org/drawingml/2006/main">
            <a:r>
              <a:t>https://mehmetgokturk.com/cse513/lecture-08.html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Guest kernel ve container kernel?</a:t>
            </a:r>
          </a:p>
          <a:p xmlns:a="http://schemas.openxmlformats.org/drawingml/2006/main">
            <a:r>
              <a:t>Namespace ile cgroup farkı?</a:t>
            </a:r>
          </a:p>
          <a:p xmlns:a="http://schemas.openxmlformats.org/drawingml/2006/main">
            <a:r>
              <a:t>Quota deadline garantisi mi?</a:t>
            </a:r>
          </a:p>
          <a:p xmlns:a="http://schemas.openxmlformats.org/drawingml/2006/main">
            <a:r>
              <a:t>Visible dosya writable mı?</a:t>
            </a:r>
          </a:p>
          <a:p xmlns:a="http://schemas.openxmlformats.org/drawingml/2006/main">
            <a:r>
              <a:t>Root mapping neden önemli?</a:t>
            </a:r>
          </a:p>
          <a:p xmlns:a="http://schemas.openxmlformats.org/drawingml/2006/main">
            <a:r>
              <a:t>Model neyi kanıtlamaz?</a:t>
            </a:r>
          </a:p>
          <a:p xmlns:a="http://schemas.openxmlformats.org/drawingml/2006/main">
            <a:r>
              <a:t/>
            </a:r>
          </a:p>
          <a:p xmlns:a="http://schemas.openxmlformats.org/drawingml/2006/main">
            <a:r>
              <a:t>Aktiviteler ve lab ile 2–2.5 saat planla. Resmi not veya submission deadline yok. İlk feedback: hangi boundary karıştı, hangi senaryo yardımcı oldu, kaynak/bütçe ayrımı açık mı? Sonraki dersin amacı farklı katmanların iş yükünü uçtan uca değerlendirmek.</a:t>
            </a:r>
          </a:p>
          <a:p xmlns:a="http://schemas.openxmlformats.org/drawingml/2006/main">
            <a:r>
              <a:t/>
            </a:r>
          </a:p>
          <a:p xmlns:a="http://schemas.openxmlformats.org/drawingml/2006/main">
            <a:r>
              <a:t>SORUNUN YANITI: VM guest kernel çalıştırabilir/container paylaşır; namespace görünüm/cgroup kaynak; quota üst sınır; write ayrı permission; UID mapping authority’yi değiştirir; model gerçek kernel isolation veya exploit direnci kanıtlamaz.</a:t>
            </a:r>
          </a:p>
          <a:p xmlns:a="http://schemas.openxmlformats.org/drawingml/2006/main">
            <a:r>
              <a:t/>
            </a:r>
          </a:p>
          <a:p xmlns:a="http://schemas.openxmlformats.org/drawingml/2006/main">
            <a:r>
              <a:t>Yayımlanan resmî ders kapsamının özgün öğrenme uyarlaması. PDF kontrol tarihinde henüz yayımlanmamıştı.</a:t>
            </a:r>
          </a:p>
          <a:p xmlns:a="http://schemas.openxmlformats.org/drawingml/2006/main">
            <a:r>
              <a:t/>
            </a:r>
          </a:p>
          <a:p xmlns:a="http://schemas.openxmlformats.org/drawingml/2006/main">
            <a:r>
              <a:t>https://mehmetgokturk.com/cse513/index.html</a:t>
            </a:r>
          </a:p>
          <a:p xmlns:a="http://schemas.openxmlformats.org/drawingml/2006/main">
            <a:r>
              <a:t/>
            </a:r>
          </a:p>
          <a:p xmlns:a="http://schemas.openxmlformats.org/drawingml/2006/main">
            <a:r>
              <a:t>https://mehmetgokturk.com/cse513/lecture-08.html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61c4aea70e6f4849"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1bc3460b1a414ae3" /><Relationship Type="http://schemas.openxmlformats.org/officeDocument/2006/relationships/slideLayout" Target="/ppt/slideLayouts/slideLayout1.xml" Id="R11da12d514ea489e"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11da12d514ea489e"/>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249a76e70fed4a56" /><Relationship Type="http://schemas.openxmlformats.org/officeDocument/2006/relationships/image" Target="/ppt/media/image.png" Id="R3be656eeabe44d5c" /><Relationship Type="http://schemas.openxmlformats.org/officeDocument/2006/relationships/notesSlide" Target="/ppt/notesSlides/notesSlide1.xml" Id="R77cea34eabfb4aa2"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6a69546f8d354418" /><Relationship Type="http://schemas.openxmlformats.org/officeDocument/2006/relationships/notesSlide" Target="/ppt/notesSlides/notesSlide2.xml" Id="Rab531e59ca77439b"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30d59f3445be4c46" /><Relationship Type="http://schemas.openxmlformats.org/officeDocument/2006/relationships/notesSlide" Target="/ppt/notesSlides/notesSlide3.xml" Id="Rc6fb84f8bab54ad8"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23028bc509c842c9" /><Relationship Type="http://schemas.openxmlformats.org/officeDocument/2006/relationships/notesSlide" Target="/ppt/notesSlides/notesSlide4.xml" Id="Ra49b05cf0e65450b"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c3c33ba3b0b84928" /><Relationship Type="http://schemas.openxmlformats.org/officeDocument/2006/relationships/notesSlide" Target="/ppt/notesSlides/notesSlide5.xml" Id="Rfa41743dc0654ff4"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c19cc36a6a3c4d0b" /><Relationship Type="http://schemas.openxmlformats.org/officeDocument/2006/relationships/notesSlide" Target="/ppt/notesSlides/notesSlide6.xml" Id="R55b202e45ae64903"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1849289b50514069" /><Relationship Type="http://schemas.openxmlformats.org/officeDocument/2006/relationships/notesSlide" Target="/ppt/notesSlides/notesSlide7.xml" Id="R7525b5016b3540d4"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ad19cb0424b24919" /><Relationship Type="http://schemas.openxmlformats.org/officeDocument/2006/relationships/notesSlide" Target="/ppt/notesSlides/notesSlide8.xml" Id="R9262f937a5b34dcc"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f9b5790414e04a1a" /><Relationship Type="http://schemas.openxmlformats.org/officeDocument/2006/relationships/notesSlide" Target="/ppt/notesSlides/notesSlide9.xml" Id="Re41a82e5171a46ac"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ab44c2160d434747" /><Relationship Type="http://schemas.openxmlformats.org/officeDocument/2006/relationships/notesSlide" Target="/ppt/notesSlides/notesSlide10.xml" Id="R755af6a727fa43fd"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7da75b22f5034f2e" /><Relationship Type="http://schemas.openxmlformats.org/officeDocument/2006/relationships/notesSlide" Target="/ppt/notesSlides/notesSlide11.xml" Id="R4ebb0c4ea05d42a7"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3a88d0110fe44849" /><Relationship Type="http://schemas.openxmlformats.org/officeDocument/2006/relationships/notesSlide" Target="/ppt/notesSlides/notesSlide12.xml" Id="R2bdc4baba9d64eb7"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966bd0e473ff4a7d" /><Relationship Type="http://schemas.openxmlformats.org/officeDocument/2006/relationships/notesSlide" Target="/ppt/notesSlides/notesSlide13.xml" Id="Rd2d0bde5afd745ee"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ce7e8058aaa6441d" /><Relationship Type="http://schemas.openxmlformats.org/officeDocument/2006/relationships/notesSlide" Target="/ppt/notesSlides/notesSlide14.xml" Id="R3c5dd1dc96f743b8"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b49371091c744b36" /><Relationship Type="http://schemas.openxmlformats.org/officeDocument/2006/relationships/notesSlide" Target="/ppt/notesSlides/notesSlide15.xml" Id="Rf339eaec235048c3"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70c9292d0cdb4034" /><Relationship Type="http://schemas.openxmlformats.org/officeDocument/2006/relationships/notesSlide" Target="/ppt/notesSlides/notesSlide16.xml" Id="R515177c1cd4c4b30"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ff37f81bf93f4a2d" /><Relationship Type="http://schemas.openxmlformats.org/officeDocument/2006/relationships/notesSlide" Target="/ppt/notesSlides/notesSlide17.xml" Id="R8e87cf87bd3b4e5d"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d7cfab3cf79e428c" /><Relationship Type="http://schemas.openxmlformats.org/officeDocument/2006/relationships/notesSlide" Target="/ppt/notesSlides/notesSlide18.xml" Id="R7e3bd23b73b7475c"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4528696f977542aa" /><Relationship Type="http://schemas.openxmlformats.org/officeDocument/2006/relationships/notesSlide" Target="/ppt/notesSlides/notesSlide19.xml" Id="R3e7c49d845674b3e"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c889a26226894cb1" /><Relationship Type="http://schemas.openxmlformats.org/officeDocument/2006/relationships/notesSlide" Target="/ppt/notesSlides/notesSlide20.xml" Id="Rc89b9a3e34fb4039"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7e7ee8bab8c24dc8" /><Relationship Type="http://schemas.openxmlformats.org/officeDocument/2006/relationships/notesSlide" Target="/ppt/notesSlides/notesSlide21.xml" Id="Rbf1ac212a91a4cba"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xml" Id="R54d55a44ea73452e" /><Relationship Type="http://schemas.openxmlformats.org/officeDocument/2006/relationships/notesSlide" Target="/ppt/notesSlides/notesSlide22.xml" Id="Ra81f903673134078" /></Relationships>
</file>

<file path=ppt/slides/_rels/slide23.xml.rels>&#65279;<?xml version="1.0" encoding="utf-8"?><Relationships xmlns="http://schemas.openxmlformats.org/package/2006/relationships"><Relationship Type="http://schemas.openxmlformats.org/officeDocument/2006/relationships/slideLayout" Target="/ppt/slideLayouts/slideLayout1.xml" Id="R1a2f60105636409b" /><Relationship Type="http://schemas.openxmlformats.org/officeDocument/2006/relationships/notesSlide" Target="/ppt/notesSlides/notesSlide23.xml" Id="R9d489c1a78e1472c" /></Relationships>
</file>

<file path=ppt/slides/_rels/slide24.xml.rels>&#65279;<?xml version="1.0" encoding="utf-8"?><Relationships xmlns="http://schemas.openxmlformats.org/package/2006/relationships"><Relationship Type="http://schemas.openxmlformats.org/officeDocument/2006/relationships/slideLayout" Target="/ppt/slideLayouts/slideLayout1.xml" Id="Rb9de2ed4a9e641b6" /><Relationship Type="http://schemas.openxmlformats.org/officeDocument/2006/relationships/notesSlide" Target="/ppt/notesSlides/notesSlide24.xml" Id="R0edbd93edd4d4186" /></Relationships>
</file>

<file path=ppt/slides/_rels/slide25.xml.rels>&#65279;<?xml version="1.0" encoding="utf-8"?><Relationships xmlns="http://schemas.openxmlformats.org/package/2006/relationships"><Relationship Type="http://schemas.openxmlformats.org/officeDocument/2006/relationships/slideLayout" Target="/ppt/slideLayouts/slideLayout1.xml" Id="R4f6079e4b8094785" /><Relationship Type="http://schemas.openxmlformats.org/officeDocument/2006/relationships/notesSlide" Target="/ppt/notesSlides/notesSlide25.xml" Id="Rd19bbff3b31f426f" /></Relationships>
</file>

<file path=ppt/slides/_rels/slide26.xml.rels>&#65279;<?xml version="1.0" encoding="utf-8"?><Relationships xmlns="http://schemas.openxmlformats.org/package/2006/relationships"><Relationship Type="http://schemas.openxmlformats.org/officeDocument/2006/relationships/slideLayout" Target="/ppt/slideLayouts/slideLayout1.xml" Id="R702c9ce33faa4b90" /><Relationship Type="http://schemas.openxmlformats.org/officeDocument/2006/relationships/notesSlide" Target="/ppt/notesSlides/notesSlide26.xml" Id="R8f6b5f144a044448" /></Relationships>
</file>

<file path=ppt/slides/_rels/slide27.xml.rels>&#65279;<?xml version="1.0" encoding="utf-8"?><Relationships xmlns="http://schemas.openxmlformats.org/package/2006/relationships"><Relationship Type="http://schemas.openxmlformats.org/officeDocument/2006/relationships/slideLayout" Target="/ppt/slideLayouts/slideLayout1.xml" Id="R6ca38cd0461f4ceb" /><Relationship Type="http://schemas.openxmlformats.org/officeDocument/2006/relationships/notesSlide" Target="/ppt/notesSlides/notesSlide27.xml" Id="Rf14ac97de99d4a18" /></Relationships>
</file>

<file path=ppt/slides/slide1.xml><?xml version="1.0" encoding="utf-8"?>
<p:sld xmlns:p="http://schemas.openxmlformats.org/presentationml/2006/main">
  <p:cSld>
    <p:bg>
      <p:bgPr>
        <a:solidFill xmlns:a="http://schemas.openxmlformats.org/drawingml/2006/main">
          <a:srgbClr val="F5F1E8"/>
        </a:solidFill>
      </p:bgPr>
    </p:bg>
    <p:spTree>
      <p:nvGrpSpPr>
        <p:cNvPr id="1" name=""/>
        <p:cNvGrpSpPr/>
        <p:nvPr/>
      </p:nvGrpSpPr>
      <p:grpSpPr>
        <a:xfrm xmlns:a="http://schemas.openxmlformats.org/drawingml/2006/main"/>
      </p:grpSpPr>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3be656eeabe44d5c"/>
          <a:stretch xmlns:a="http://schemas.openxmlformats.org/drawingml/2006/main"/>
        </p:blipFill>
        <p:spPr>
          <a:xfrm xmlns:a="http://schemas.openxmlformats.org/drawingml/2006/main">
            <a:off x="6667500" y="0"/>
            <a:ext cx="51435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F0B35737-08FE-49F4-98DA-FEC82FAC34A1}"/>
              </a:ext>
            </a:extLst>
          </p:cNvPr>
          <p:cNvSpPr>
            <a:spLocks xmlns:a="http://schemas.openxmlformats.org/drawingml/2006/main" noGrp="1"/>
          </p:cNvSpPr>
          <p:nvPr/>
        </p:nvSpPr>
        <p:spPr>
          <a:xfrm xmlns:a="http://schemas.openxmlformats.org/drawingml/2006/main">
            <a:off x="571500" y="619125"/>
            <a:ext cx="5429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725" b="1">
                <a:solidFill>
                  <a:srgbClr val="087E83"/>
                </a:solidFill>
                <a:latin typeface="Helvetica Neue"/>
                <a:ea typeface="Helvetica Neue"/>
                <a:cs typeface="Helvetica Neue"/>
              </a:defRPr>
            </a:pPr>
            <a:r>
              <a:rPr sz="1725" b="1">
                <a:solidFill>
                  <a:srgbClr val="087E83"/>
                </a:solidFill>
                <a:latin typeface="Helvetica Neue"/>
                <a:ea typeface="Helvetica Neue"/>
                <a:cs typeface="Helvetica Neue"/>
              </a:rPr>
              <a:t>CSE513 · HAFTA 9</a:t>
            </a:r>
          </a:p>
        </p:txBody>
      </p:sp>
      <p:sp>
        <p:nvSpPr>
          <p:cNvPr id="3" name="">
            <a:extLst xmlns:a="http://schemas.openxmlformats.org/drawingml/2006/main">
              <a:ext uri="{FF2B5EF4-FFF2-40B4-BE49-F238E27FC236}">
                <a16:creationId xmlns:a16="http://schemas.microsoft.com/office/drawing/2014/main" id="{2C1BDD5E-461A-46B3-86DC-101381B39CDA}"/>
              </a:ext>
            </a:extLst>
          </p:cNvPr>
          <p:cNvSpPr>
            <a:spLocks xmlns:a="http://schemas.openxmlformats.org/drawingml/2006/main" noGrp="1"/>
          </p:cNvSpPr>
          <p:nvPr/>
        </p:nvSpPr>
        <p:spPr>
          <a:xfrm xmlns:a="http://schemas.openxmlformats.org/drawingml/2006/main">
            <a:off x="571500" y="1476375"/>
            <a:ext cx="5476875" cy="190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4050" b="1">
                <a:solidFill>
                  <a:srgbClr val="122C42"/>
                </a:solidFill>
                <a:latin typeface="Helvetica Neue"/>
                <a:ea typeface="Helvetica Neue"/>
                <a:cs typeface="Helvetica Neue"/>
              </a:defRPr>
            </a:pPr>
            <a:r>
              <a:rPr sz="4050" b="1">
                <a:solidFill>
                  <a:srgbClr val="122C42"/>
                </a:solidFill>
                <a:latin typeface="Helvetica Neue"/>
                <a:ea typeface="Helvetica Neue"/>
                <a:cs typeface="Helvetica Neue"/>
              </a:rPr>
              <a:t>Aynı donanım, farklı sınırlar</a:t>
            </a:r>
          </a:p>
        </p:txBody>
      </p:sp>
      <p:sp>
        <p:nvSpPr>
          <p:cNvPr id="4" name="">
            <a:extLst xmlns:a="http://schemas.openxmlformats.org/drawingml/2006/main">
              <a:ext uri="{FF2B5EF4-FFF2-40B4-BE49-F238E27FC236}">
                <a16:creationId xmlns:a16="http://schemas.microsoft.com/office/drawing/2014/main" id="{EA44AF9E-1399-4354-B6D7-F4FFE04A5032}"/>
              </a:ext>
            </a:extLst>
          </p:cNvPr>
          <p:cNvSpPr>
            <a:spLocks xmlns:a="http://schemas.openxmlformats.org/drawingml/2006/main" noGrp="1"/>
          </p:cNvSpPr>
          <p:nvPr/>
        </p:nvSpPr>
        <p:spPr>
          <a:xfrm xmlns:a="http://schemas.openxmlformats.org/drawingml/2006/main">
            <a:off x="571500" y="3619500"/>
            <a:ext cx="5286375"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75" b="0">
                <a:solidFill>
                  <a:srgbClr val="122C42"/>
                </a:solidFill>
                <a:latin typeface="Helvetica Neue"/>
                <a:ea typeface="Helvetica Neue"/>
                <a:cs typeface="Helvetica Neue"/>
              </a:defRPr>
            </a:pPr>
            <a:r>
              <a:rPr sz="2175" b="0">
                <a:solidFill>
                  <a:srgbClr val="122C42"/>
                </a:solidFill>
                <a:latin typeface="Helvetica Neue"/>
                <a:ea typeface="Helvetica Neue"/>
                <a:cs typeface="Helvetica Neue"/>
              </a:rPr>
              <a:t>Paylaşılan kaynak, açık yetki, belirtilmiş sınır</a:t>
            </a:r>
          </a:p>
        </p:txBody>
      </p:sp>
      <p:sp>
        <p:nvSpPr>
          <p:cNvPr id="5" name="">
            <a:extLst xmlns:a="http://schemas.openxmlformats.org/drawingml/2006/main">
              <a:ext uri="{FF2B5EF4-FFF2-40B4-BE49-F238E27FC236}">
                <a16:creationId xmlns:a16="http://schemas.microsoft.com/office/drawing/2014/main" id="{79A48745-5886-4E2C-B192-1FAE9DC85B1A}"/>
              </a:ext>
            </a:extLst>
          </p:cNvPr>
          <p:cNvSpPr>
            <a:spLocks xmlns:a="http://schemas.openxmlformats.org/drawingml/2006/main" noGrp="1"/>
          </p:cNvSpPr>
          <p:nvPr/>
        </p:nvSpPr>
        <p:spPr>
          <a:xfrm xmlns:a="http://schemas.openxmlformats.org/drawingml/2006/main">
            <a:off x="571500" y="5619750"/>
            <a:ext cx="547687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00" b="1">
                <a:solidFill>
                  <a:srgbClr val="C46225"/>
                </a:solidFill>
                <a:latin typeface="Helvetica Neue"/>
                <a:ea typeface="Helvetica Neue"/>
                <a:cs typeface="Helvetica Neue"/>
              </a:defRPr>
            </a:pPr>
            <a:r>
              <a:rPr sz="1800" b="1">
                <a:solidFill>
                  <a:srgbClr val="C46225"/>
                </a:solidFill>
                <a:latin typeface="Helvetica Neue"/>
                <a:ea typeface="Helvetica Neue"/>
                <a:cs typeface="Helvetica Neue"/>
              </a:rPr>
              <a:t>Tahmin et · dene · gerekçelendir</a:t>
            </a:r>
          </a:p>
        </p:txBody>
      </p:sp>
      <p:sp>
        <p:nvSpPr>
          <p:cNvPr id="6" name="">
            <a:extLst xmlns:a="http://schemas.openxmlformats.org/drawingml/2006/main">
              <a:ext uri="{FF2B5EF4-FFF2-40B4-BE49-F238E27FC236}">
                <a16:creationId xmlns:a16="http://schemas.microsoft.com/office/drawing/2014/main" id="{1E054F3F-42D3-42CC-9188-2D24A8C03198}"/>
              </a:ext>
            </a:extLst>
          </p:cNvPr>
          <p:cNvSpPr>
            <a:spLocks xmlns:a="http://schemas.openxmlformats.org/drawingml/2006/main" noGrp="1"/>
          </p:cNvSpPr>
          <p:nvPr/>
        </p:nvSpPr>
        <p:spPr>
          <a:xfrm xmlns:a="http://schemas.openxmlformats.org/drawingml/2006/main">
            <a:off x="571500" y="6200775"/>
            <a:ext cx="55721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350" b="0">
                <a:solidFill>
                  <a:srgbClr val="4D606A"/>
                </a:solidFill>
                <a:latin typeface="Helvetica Neue"/>
                <a:ea typeface="Helvetica Neue"/>
                <a:cs typeface="Helvetica Neue"/>
              </a:defRPr>
            </a:pPr>
            <a:r>
              <a:rPr sz="1350" b="0">
                <a:solidFill>
                  <a:srgbClr val="4D606A"/>
                </a:solidFill>
                <a:latin typeface="Helvetica Neue"/>
                <a:ea typeface="Helvetica Neue"/>
                <a:cs typeface="Helvetica Neue"/>
              </a:rPr>
              <a:t>Yayımlanan haftalık kapsamın özgün uyarlaması</a:t>
            </a:r>
          </a:p>
        </p:txBody>
      </p:sp>
    </p:spTree>
    <p:extLst>
      <p:ext uri="{BB962C8B-B14F-4D97-AF65-F5344CB8AC3E}">
        <p14:creationId xmlns:p14="http://schemas.microsoft.com/office/powerpoint/2010/main" val="229905039"/>
      </p:ext>
    </p:extLst>
  </p:cSld>
</p:sld>
</file>

<file path=ppt/slides/slide2.xml><?xml version="1.0" encoding="utf-8"?>
<p:sld xmlns:p="http://schemas.openxmlformats.org/presentationml/2006/main">
  <p:cSld>
    <p:bg>
      <p:bgPr>
        <a:solidFill xmlns:a="http://schemas.openxmlformats.org/drawingml/2006/main">
          <a:srgbClr val="F5F1E8"/>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BADE0E61-6695-40E7-BFDC-6863355D000F}"/>
              </a:ext>
            </a:extLst>
          </p:cNvPr>
          <p:cNvSpPr>
            <a:spLocks xmlns:a="http://schemas.openxmlformats.org/drawingml/2006/main" noGrp="1"/>
          </p:cNvSpPr>
          <p:nvPr/>
        </p:nvSpPr>
        <p:spPr>
          <a:xfrm xmlns:a="http://schemas.openxmlformats.org/drawingml/2006/main">
            <a:off x="609600" y="600075"/>
            <a:ext cx="1097280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300" b="1">
                <a:solidFill>
                  <a:srgbClr val="122C42"/>
                </a:solidFill>
                <a:latin typeface="Helvetica Neue"/>
                <a:ea typeface="Helvetica Neue"/>
                <a:cs typeface="Helvetica Neue"/>
              </a:defRPr>
            </a:pPr>
            <a:r>
              <a:rPr sz="3300" b="1">
                <a:solidFill>
                  <a:srgbClr val="122C42"/>
                </a:solidFill>
                <a:latin typeface="Helvetica Neue"/>
                <a:ea typeface="Helvetica Neue"/>
                <a:cs typeface="Helvetica Neue"/>
              </a:rPr>
              <a:t>Koruma iddiasının dört sorusu</a:t>
            </a:r>
          </a:p>
        </p:txBody>
      </p:sp>
      <p:sp>
        <p:nvSpPr>
          <p:cNvPr id="2" name="">
            <a:extLst xmlns:a="http://schemas.openxmlformats.org/drawingml/2006/main">
              <a:ext uri="{FF2B5EF4-FFF2-40B4-BE49-F238E27FC236}">
                <a16:creationId xmlns:a16="http://schemas.microsoft.com/office/drawing/2014/main" id="{00AB89F6-21E2-48A8-A010-BA2F6E11BD31}"/>
              </a:ext>
            </a:extLst>
          </p:cNvPr>
          <p:cNvSpPr>
            <a:spLocks xmlns:a="http://schemas.openxmlformats.org/drawingml/2006/main" noGrp="1"/>
          </p:cNvSpPr>
          <p:nvPr/>
        </p:nvSpPr>
        <p:spPr>
          <a:xfrm xmlns:a="http://schemas.openxmlformats.org/drawingml/2006/main">
            <a:off x="609600" y="1952625"/>
            <a:ext cx="438150" cy="7215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1">
                <a:solidFill>
                  <a:srgbClr val="087E83"/>
                </a:solidFill>
                <a:latin typeface="Helvetica Neue"/>
                <a:ea typeface="Helvetica Neue"/>
                <a:cs typeface="Helvetica Neue"/>
              </a:defRPr>
            </a:pPr>
            <a:r>
              <a:rPr sz="2100" b="1">
                <a:solidFill>
                  <a:srgbClr val="087E83"/>
                </a:solidFill>
                <a:latin typeface="Helvetica Neue"/>
                <a:ea typeface="Helvetica Neue"/>
                <a:cs typeface="Helvetica Neue"/>
              </a:rPr>
              <a:t>01</a:t>
            </a:r>
          </a:p>
        </p:txBody>
      </p:sp>
      <p:sp>
        <p:nvSpPr>
          <p:cNvPr id="3" name="">
            <a:extLst xmlns:a="http://schemas.openxmlformats.org/drawingml/2006/main">
              <a:ext uri="{FF2B5EF4-FFF2-40B4-BE49-F238E27FC236}">
                <a16:creationId xmlns:a16="http://schemas.microsoft.com/office/drawing/2014/main" id="{753C1DAF-BD90-44AE-A949-D31A477821DE}"/>
              </a:ext>
            </a:extLst>
          </p:cNvPr>
          <p:cNvSpPr>
            <a:spLocks xmlns:a="http://schemas.openxmlformats.org/drawingml/2006/main" noGrp="1"/>
          </p:cNvSpPr>
          <p:nvPr/>
        </p:nvSpPr>
        <p:spPr>
          <a:xfrm xmlns:a="http://schemas.openxmlformats.org/drawingml/2006/main">
            <a:off x="1333500" y="1952625"/>
            <a:ext cx="10248900" cy="7215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400" b="0">
                <a:solidFill>
                  <a:srgbClr val="122C42"/>
                </a:solidFill>
                <a:latin typeface="Helvetica Neue"/>
                <a:ea typeface="Helvetica Neue"/>
                <a:cs typeface="Helvetica Neue"/>
              </a:defRPr>
            </a:pPr>
            <a:r>
              <a:rPr sz="2400" b="0">
                <a:solidFill>
                  <a:srgbClr val="122C42"/>
                </a:solidFill>
                <a:latin typeface="Helvetica Neue"/>
                <a:ea typeface="Helvetica Neue"/>
                <a:cs typeface="Helvetica Neue"/>
              </a:rPr>
              <a:t>Kimi, kimden koruyoruz?</a:t>
            </a:r>
          </a:p>
        </p:txBody>
      </p:sp>
      <p:sp>
        <p:nvSpPr>
          <p:cNvPr id="4" name="">
            <a:extLst xmlns:a="http://schemas.openxmlformats.org/drawingml/2006/main">
              <a:ext uri="{FF2B5EF4-FFF2-40B4-BE49-F238E27FC236}">
                <a16:creationId xmlns:a16="http://schemas.microsoft.com/office/drawing/2014/main" id="{02043F06-6830-4EE3-9B4C-6FDF8E4F52A0}"/>
              </a:ext>
            </a:extLst>
          </p:cNvPr>
          <p:cNvSpPr>
            <a:spLocks xmlns:a="http://schemas.openxmlformats.org/drawingml/2006/main" noGrp="1"/>
          </p:cNvSpPr>
          <p:nvPr/>
        </p:nvSpPr>
        <p:spPr>
          <a:xfrm xmlns:a="http://schemas.openxmlformats.org/drawingml/2006/main">
            <a:off x="609600" y="2769394"/>
            <a:ext cx="438150" cy="7215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1">
                <a:solidFill>
                  <a:srgbClr val="087E83"/>
                </a:solidFill>
                <a:latin typeface="Helvetica Neue"/>
                <a:ea typeface="Helvetica Neue"/>
                <a:cs typeface="Helvetica Neue"/>
              </a:defRPr>
            </a:pPr>
            <a:r>
              <a:rPr sz="2100" b="1">
                <a:solidFill>
                  <a:srgbClr val="087E83"/>
                </a:solidFill>
                <a:latin typeface="Helvetica Neue"/>
                <a:ea typeface="Helvetica Neue"/>
                <a:cs typeface="Helvetica Neue"/>
              </a:rPr>
              <a:t>02</a:t>
            </a:r>
          </a:p>
        </p:txBody>
      </p:sp>
      <p:sp>
        <p:nvSpPr>
          <p:cNvPr id="5" name="">
            <a:extLst xmlns:a="http://schemas.openxmlformats.org/drawingml/2006/main">
              <a:ext uri="{FF2B5EF4-FFF2-40B4-BE49-F238E27FC236}">
                <a16:creationId xmlns:a16="http://schemas.microsoft.com/office/drawing/2014/main" id="{0234CD9C-44F5-4572-9C8A-E3B8B657D0B7}"/>
              </a:ext>
            </a:extLst>
          </p:cNvPr>
          <p:cNvSpPr>
            <a:spLocks xmlns:a="http://schemas.openxmlformats.org/drawingml/2006/main" noGrp="1"/>
          </p:cNvSpPr>
          <p:nvPr/>
        </p:nvSpPr>
        <p:spPr>
          <a:xfrm xmlns:a="http://schemas.openxmlformats.org/drawingml/2006/main">
            <a:off x="1333500" y="2769394"/>
            <a:ext cx="10248900" cy="7215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400" b="0">
                <a:solidFill>
                  <a:srgbClr val="122C42"/>
                </a:solidFill>
                <a:latin typeface="Helvetica Neue"/>
                <a:ea typeface="Helvetica Neue"/>
                <a:cs typeface="Helvetica Neue"/>
              </a:defRPr>
            </a:pPr>
            <a:r>
              <a:rPr sz="2400" b="0">
                <a:solidFill>
                  <a:srgbClr val="122C42"/>
                </a:solidFill>
                <a:latin typeface="Helvetica Neue"/>
                <a:ea typeface="Helvetica Neue"/>
                <a:cs typeface="Helvetica Neue"/>
              </a:rPr>
              <a:t>Hangi mekanizma sınırı uygular?</a:t>
            </a:r>
          </a:p>
        </p:txBody>
      </p:sp>
      <p:sp>
        <p:nvSpPr>
          <p:cNvPr id="6" name="">
            <a:extLst xmlns:a="http://schemas.openxmlformats.org/drawingml/2006/main">
              <a:ext uri="{FF2B5EF4-FFF2-40B4-BE49-F238E27FC236}">
                <a16:creationId xmlns:a16="http://schemas.microsoft.com/office/drawing/2014/main" id="{23283205-F478-468C-95A4-51B48C4C7824}"/>
              </a:ext>
            </a:extLst>
          </p:cNvPr>
          <p:cNvSpPr>
            <a:spLocks xmlns:a="http://schemas.openxmlformats.org/drawingml/2006/main" noGrp="1"/>
          </p:cNvSpPr>
          <p:nvPr/>
        </p:nvSpPr>
        <p:spPr>
          <a:xfrm xmlns:a="http://schemas.openxmlformats.org/drawingml/2006/main">
            <a:off x="609600" y="3586163"/>
            <a:ext cx="438150" cy="7215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1">
                <a:solidFill>
                  <a:srgbClr val="087E83"/>
                </a:solidFill>
                <a:latin typeface="Helvetica Neue"/>
                <a:ea typeface="Helvetica Neue"/>
                <a:cs typeface="Helvetica Neue"/>
              </a:defRPr>
            </a:pPr>
            <a:r>
              <a:rPr sz="2100" b="1">
                <a:solidFill>
                  <a:srgbClr val="087E83"/>
                </a:solidFill>
                <a:latin typeface="Helvetica Neue"/>
                <a:ea typeface="Helvetica Neue"/>
                <a:cs typeface="Helvetica Neue"/>
              </a:rPr>
              <a:t>03</a:t>
            </a:r>
          </a:p>
        </p:txBody>
      </p:sp>
      <p:sp>
        <p:nvSpPr>
          <p:cNvPr id="7" name="">
            <a:extLst xmlns:a="http://schemas.openxmlformats.org/drawingml/2006/main">
              <a:ext uri="{FF2B5EF4-FFF2-40B4-BE49-F238E27FC236}">
                <a16:creationId xmlns:a16="http://schemas.microsoft.com/office/drawing/2014/main" id="{094E16B0-C96C-4BCA-A6B9-C503DA64C0D4}"/>
              </a:ext>
            </a:extLst>
          </p:cNvPr>
          <p:cNvSpPr>
            <a:spLocks xmlns:a="http://schemas.openxmlformats.org/drawingml/2006/main" noGrp="1"/>
          </p:cNvSpPr>
          <p:nvPr/>
        </p:nvSpPr>
        <p:spPr>
          <a:xfrm xmlns:a="http://schemas.openxmlformats.org/drawingml/2006/main">
            <a:off x="1333500" y="3586163"/>
            <a:ext cx="10248900" cy="7215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400" b="0">
                <a:solidFill>
                  <a:srgbClr val="122C42"/>
                </a:solidFill>
                <a:latin typeface="Helvetica Neue"/>
                <a:ea typeface="Helvetica Neue"/>
                <a:cs typeface="Helvetica Neue"/>
              </a:defRPr>
            </a:pPr>
            <a:r>
              <a:rPr sz="2400" b="0">
                <a:solidFill>
                  <a:srgbClr val="122C42"/>
                </a:solidFill>
                <a:latin typeface="Helvetica Neue"/>
                <a:ea typeface="Helvetica Neue"/>
                <a:cs typeface="Helvetica Neue"/>
              </a:rPr>
              <a:t>Hangi erişim özellikle paylaşılıyor?</a:t>
            </a:r>
          </a:p>
        </p:txBody>
      </p:sp>
      <p:sp>
        <p:nvSpPr>
          <p:cNvPr id="8" name="">
            <a:extLst xmlns:a="http://schemas.openxmlformats.org/drawingml/2006/main">
              <a:ext uri="{FF2B5EF4-FFF2-40B4-BE49-F238E27FC236}">
                <a16:creationId xmlns:a16="http://schemas.microsoft.com/office/drawing/2014/main" id="{E8B84232-A6EF-49FD-B27F-A23ACA4DEF6C}"/>
              </a:ext>
            </a:extLst>
          </p:cNvPr>
          <p:cNvSpPr>
            <a:spLocks xmlns:a="http://schemas.openxmlformats.org/drawingml/2006/main" noGrp="1"/>
          </p:cNvSpPr>
          <p:nvPr/>
        </p:nvSpPr>
        <p:spPr>
          <a:xfrm xmlns:a="http://schemas.openxmlformats.org/drawingml/2006/main">
            <a:off x="609600" y="4402931"/>
            <a:ext cx="438150" cy="7215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1">
                <a:solidFill>
                  <a:srgbClr val="087E83"/>
                </a:solidFill>
                <a:latin typeface="Helvetica Neue"/>
                <a:ea typeface="Helvetica Neue"/>
                <a:cs typeface="Helvetica Neue"/>
              </a:defRPr>
            </a:pPr>
            <a:r>
              <a:rPr sz="2100" b="1">
                <a:solidFill>
                  <a:srgbClr val="087E83"/>
                </a:solidFill>
                <a:latin typeface="Helvetica Neue"/>
                <a:ea typeface="Helvetica Neue"/>
                <a:cs typeface="Helvetica Neue"/>
              </a:rPr>
              <a:t>04</a:t>
            </a:r>
          </a:p>
        </p:txBody>
      </p:sp>
      <p:sp>
        <p:nvSpPr>
          <p:cNvPr id="9" name="">
            <a:extLst xmlns:a="http://schemas.openxmlformats.org/drawingml/2006/main">
              <a:ext uri="{FF2B5EF4-FFF2-40B4-BE49-F238E27FC236}">
                <a16:creationId xmlns:a16="http://schemas.microsoft.com/office/drawing/2014/main" id="{149EB64E-D44F-497D-B1D4-C349C7C73A1F}"/>
              </a:ext>
            </a:extLst>
          </p:cNvPr>
          <p:cNvSpPr>
            <a:spLocks xmlns:a="http://schemas.openxmlformats.org/drawingml/2006/main" noGrp="1"/>
          </p:cNvSpPr>
          <p:nvPr/>
        </p:nvSpPr>
        <p:spPr>
          <a:xfrm xmlns:a="http://schemas.openxmlformats.org/drawingml/2006/main">
            <a:off x="1333500" y="4402931"/>
            <a:ext cx="10248900" cy="7215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400" b="0">
                <a:solidFill>
                  <a:srgbClr val="122C42"/>
                </a:solidFill>
                <a:latin typeface="Helvetica Neue"/>
                <a:ea typeface="Helvetica Neue"/>
                <a:cs typeface="Helvetica Neue"/>
              </a:defRPr>
            </a:pPr>
            <a:r>
              <a:rPr sz="2400" b="0">
                <a:solidFill>
                  <a:srgbClr val="122C42"/>
                </a:solidFill>
                <a:latin typeface="Helvetica Neue"/>
                <a:ea typeface="Helvetica Neue"/>
                <a:cs typeface="Helvetica Neue"/>
              </a:rPr>
              <a:t>Hangi failure kapsam dışı?</a:t>
            </a:r>
          </a:p>
        </p:txBody>
      </p:sp>
      <p:sp>
        <p:nvSpPr>
          <p:cNvPr id="10" name="">
            <a:extLst xmlns:a="http://schemas.openxmlformats.org/drawingml/2006/main">
              <a:ext uri="{FF2B5EF4-FFF2-40B4-BE49-F238E27FC236}">
                <a16:creationId xmlns:a16="http://schemas.microsoft.com/office/drawing/2014/main" id="{61B29F15-D303-4131-A956-8159A6A3D2B4}"/>
              </a:ext>
            </a:extLst>
          </p:cNvPr>
          <p:cNvSpPr>
            <a:spLocks xmlns:a="http://schemas.openxmlformats.org/drawingml/2006/main" noGrp="1"/>
          </p:cNvSpPr>
          <p:nvPr/>
        </p:nvSpPr>
        <p:spPr>
          <a:xfrm xmlns:a="http://schemas.openxmlformats.org/drawingml/2006/main">
            <a:off x="609600" y="5438775"/>
            <a:ext cx="109728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500" b="1">
                <a:solidFill>
                  <a:srgbClr val="C46225"/>
                </a:solidFill>
                <a:latin typeface="Helvetica Neue"/>
                <a:ea typeface="Helvetica Neue"/>
                <a:cs typeface="Helvetica Neue"/>
              </a:defRPr>
            </a:pPr>
            <a:r>
              <a:rPr sz="1500" b="1">
                <a:solidFill>
                  <a:srgbClr val="C46225"/>
                </a:solidFill>
                <a:latin typeface="Helvetica Neue"/>
                <a:ea typeface="Helvetica Neue"/>
                <a:cs typeface="Helvetica Neue"/>
              </a:rPr>
              <a:t>GERÇEK HAYAT · İki müşteri servisi</a:t>
            </a:r>
          </a:p>
        </p:txBody>
      </p:sp>
      <p:sp>
        <p:nvSpPr>
          <p:cNvPr id="11" name="">
            <a:extLst xmlns:a="http://schemas.openxmlformats.org/drawingml/2006/main">
              <a:ext uri="{FF2B5EF4-FFF2-40B4-BE49-F238E27FC236}">
                <a16:creationId xmlns:a16="http://schemas.microsoft.com/office/drawing/2014/main" id="{F61D6CD6-4885-417D-8EF0-6864C6141694}"/>
              </a:ext>
            </a:extLst>
          </p:cNvPr>
          <p:cNvSpPr>
            <a:spLocks xmlns:a="http://schemas.openxmlformats.org/drawingml/2006/main" noGrp="1"/>
          </p:cNvSpPr>
          <p:nvPr/>
        </p:nvSpPr>
        <p:spPr>
          <a:xfrm xmlns:a="http://schemas.openxmlformats.org/drawingml/2006/main">
            <a:off x="609600" y="5781675"/>
            <a:ext cx="109728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650" b="0">
                <a:solidFill>
                  <a:srgbClr val="4D606A"/>
                </a:solidFill>
                <a:latin typeface="Helvetica Neue"/>
                <a:ea typeface="Helvetica Neue"/>
                <a:cs typeface="Helvetica Neue"/>
              </a:defRPr>
            </a:pPr>
            <a:r>
              <a:rPr sz="1650" b="0">
                <a:solidFill>
                  <a:srgbClr val="4D606A"/>
                </a:solidFill>
                <a:latin typeface="Helvetica Neue"/>
                <a:ea typeface="Helvetica Neue"/>
                <a:cs typeface="Helvetica Neue"/>
              </a:rPr>
              <a:t>İkisi aynı sunucuda çalışır.</a:t>
            </a:r>
          </a:p>
        </p:txBody>
      </p:sp>
      <p:sp>
        <p:nvSpPr>
          <p:cNvPr id="12" name="">
            <a:extLst xmlns:a="http://schemas.openxmlformats.org/drawingml/2006/main">
              <a:ext uri="{FF2B5EF4-FFF2-40B4-BE49-F238E27FC236}">
                <a16:creationId xmlns:a16="http://schemas.microsoft.com/office/drawing/2014/main" id="{9EEC3A7A-34E5-4965-B840-EFCE288A2017}"/>
              </a:ext>
            </a:extLst>
          </p:cNvPr>
          <p:cNvSpPr>
            <a:spLocks xmlns:a="http://schemas.openxmlformats.org/drawingml/2006/main" noGrp="1"/>
          </p:cNvSpPr>
          <p:nvPr/>
        </p:nvSpPr>
        <p:spPr>
          <a:xfrm xmlns:a="http://schemas.openxmlformats.org/drawingml/2006/main">
            <a:off x="609600" y="6496050"/>
            <a:ext cx="8572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125" b="0">
                <a:solidFill>
                  <a:srgbClr val="4D606A"/>
                </a:solidFill>
                <a:latin typeface="Helvetica Neue"/>
                <a:ea typeface="Helvetica Neue"/>
                <a:cs typeface="Helvetica Neue"/>
              </a:defRPr>
            </a:pPr>
            <a:r>
              <a:rPr sz="1125" b="0">
                <a:solidFill>
                  <a:srgbClr val="4D606A"/>
                </a:solidFill>
                <a:latin typeface="Helvetica Neue"/>
                <a:ea typeface="Helvetica Neue"/>
                <a:cs typeface="Helvetica Neue"/>
              </a:rPr>
              <a:t>CSE513 · Hafta 9</a:t>
            </a:r>
          </a:p>
        </p:txBody>
      </p:sp>
      <p:sp>
        <p:nvSpPr>
          <p:cNvPr id="13" name="">
            <a:extLst xmlns:a="http://schemas.openxmlformats.org/drawingml/2006/main">
              <a:ext uri="{FF2B5EF4-FFF2-40B4-BE49-F238E27FC236}">
                <a16:creationId xmlns:a16="http://schemas.microsoft.com/office/drawing/2014/main" id="{9CDDB610-F78C-409E-86D8-6148A8B76EBA}"/>
              </a:ext>
            </a:extLst>
          </p:cNvPr>
          <p:cNvSpPr>
            <a:spLocks xmlns:a="http://schemas.openxmlformats.org/drawingml/2006/main" noGrp="1"/>
          </p:cNvSpPr>
          <p:nvPr/>
        </p:nvSpPr>
        <p:spPr>
          <a:xfrm xmlns:a="http://schemas.openxmlformats.org/drawingml/2006/main">
            <a:off x="10477500" y="6457950"/>
            <a:ext cx="10953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350" b="1">
                <a:solidFill>
                  <a:srgbClr val="087E83"/>
                </a:solidFill>
                <a:latin typeface="Helvetica Neue"/>
                <a:ea typeface="Helvetica Neue"/>
                <a:cs typeface="Helvetica Neue"/>
              </a:defRPr>
            </a:pPr>
            <a:r>
              <a:rPr sz="1350" b="1">
                <a:solidFill>
                  <a:srgbClr val="087E83"/>
                </a:solidFill>
                <a:latin typeface="Helvetica Neue"/>
                <a:ea typeface="Helvetica Neue"/>
                <a:cs typeface="Helvetica Neue"/>
              </a:rPr>
              <a:t>02 / 27</a:t>
            </a:r>
          </a:p>
        </p:txBody>
      </p:sp>
    </p:spTree>
    <p:extLst>
      <p:ext uri="{BB962C8B-B14F-4D97-AF65-F5344CB8AC3E}">
        <p14:creationId xmlns:p14="http://schemas.microsoft.com/office/powerpoint/2010/main" val="356647180"/>
      </p:ext>
    </p:extLst>
  </p:cSld>
</p:sld>
</file>

<file path=ppt/slides/slide3.xml><?xml version="1.0" encoding="utf-8"?>
<p:sld xmlns:p="http://schemas.openxmlformats.org/presentationml/2006/main">
  <p:cSld>
    <p:bg>
      <p:bgPr>
        <a:solidFill xmlns:a="http://schemas.openxmlformats.org/drawingml/2006/main">
          <a:srgbClr val="F5F1E8"/>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8429EAED-1CB9-464F-B8C0-507962635050}"/>
              </a:ext>
            </a:extLst>
          </p:cNvPr>
          <p:cNvSpPr>
            <a:spLocks xmlns:a="http://schemas.openxmlformats.org/drawingml/2006/main" noGrp="1"/>
          </p:cNvSpPr>
          <p:nvPr/>
        </p:nvSpPr>
        <p:spPr>
          <a:xfrm xmlns:a="http://schemas.openxmlformats.org/drawingml/2006/main">
            <a:off x="609600" y="600075"/>
            <a:ext cx="1097280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300" b="1">
                <a:solidFill>
                  <a:srgbClr val="122C42"/>
                </a:solidFill>
                <a:latin typeface="Helvetica Neue"/>
                <a:ea typeface="Helvetica Neue"/>
                <a:cs typeface="Helvetica Neue"/>
              </a:defRPr>
            </a:pPr>
            <a:r>
              <a:rPr sz="3300" b="1">
                <a:solidFill>
                  <a:srgbClr val="122C42"/>
                </a:solidFill>
                <a:latin typeface="Helvetica Neue"/>
                <a:ea typeface="Helvetica Neue"/>
                <a:cs typeface="Helvetica Neue"/>
              </a:rPr>
              <a:t>Mutfak analojisi: kim hangi anahtara sahip?</a:t>
            </a:r>
          </a:p>
        </p:txBody>
      </p:sp>
      <p:sp>
        <p:nvSpPr>
          <p:cNvPr id="2" name="">
            <a:extLst xmlns:a="http://schemas.openxmlformats.org/drawingml/2006/main">
              <a:ext uri="{FF2B5EF4-FFF2-40B4-BE49-F238E27FC236}">
                <a16:creationId xmlns:a16="http://schemas.microsoft.com/office/drawing/2014/main" id="{09E4A4C6-9C9D-45DF-8B37-D43452239865}"/>
              </a:ext>
            </a:extLst>
          </p:cNvPr>
          <p:cNvSpPr>
            <a:spLocks xmlns:a="http://schemas.openxmlformats.org/drawingml/2006/main" noGrp="1"/>
          </p:cNvSpPr>
          <p:nvPr/>
        </p:nvSpPr>
        <p:spPr>
          <a:xfrm xmlns:a="http://schemas.openxmlformats.org/drawingml/2006/main">
            <a:off x="609600" y="1952625"/>
            <a:ext cx="438150" cy="1168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1">
                <a:solidFill>
                  <a:srgbClr val="087E83"/>
                </a:solidFill>
                <a:latin typeface="Helvetica Neue"/>
                <a:ea typeface="Helvetica Neue"/>
                <a:cs typeface="Helvetica Neue"/>
              </a:defRPr>
            </a:pPr>
            <a:r>
              <a:rPr sz="2100" b="1">
                <a:solidFill>
                  <a:srgbClr val="087E83"/>
                </a:solidFill>
                <a:latin typeface="Helvetica Neue"/>
                <a:ea typeface="Helvetica Neue"/>
                <a:cs typeface="Helvetica Neue"/>
              </a:rPr>
              <a:t>01</a:t>
            </a:r>
          </a:p>
        </p:txBody>
      </p:sp>
      <p:sp>
        <p:nvSpPr>
          <p:cNvPr id="3" name="">
            <a:extLst xmlns:a="http://schemas.openxmlformats.org/drawingml/2006/main">
              <a:ext uri="{FF2B5EF4-FFF2-40B4-BE49-F238E27FC236}">
                <a16:creationId xmlns:a16="http://schemas.microsoft.com/office/drawing/2014/main" id="{D6BEE76A-5F48-4918-9300-92403E902BE0}"/>
              </a:ext>
            </a:extLst>
          </p:cNvPr>
          <p:cNvSpPr>
            <a:spLocks xmlns:a="http://schemas.openxmlformats.org/drawingml/2006/main" noGrp="1"/>
          </p:cNvSpPr>
          <p:nvPr/>
        </p:nvSpPr>
        <p:spPr>
          <a:xfrm xmlns:a="http://schemas.openxmlformats.org/drawingml/2006/main">
            <a:off x="1333500" y="1952625"/>
            <a:ext cx="10248900" cy="1168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400" b="0">
                <a:solidFill>
                  <a:srgbClr val="122C42"/>
                </a:solidFill>
                <a:latin typeface="Helvetica Neue"/>
                <a:ea typeface="Helvetica Neue"/>
                <a:cs typeface="Helvetica Neue"/>
              </a:defRPr>
            </a:pPr>
            <a:r>
              <a:rPr sz="2400" b="0">
                <a:solidFill>
                  <a:srgbClr val="122C42"/>
                </a:solidFill>
                <a:latin typeface="Helvetica Neue"/>
                <a:ea typeface="Helvetica Neue"/>
                <a:cs typeface="Helvetica Neue"/>
              </a:rPr>
              <a:t>Application: belirli işi yapan istasyon.</a:t>
            </a:r>
          </a:p>
        </p:txBody>
      </p:sp>
      <p:sp>
        <p:nvSpPr>
          <p:cNvPr id="4" name="">
            <a:extLst xmlns:a="http://schemas.openxmlformats.org/drawingml/2006/main">
              <a:ext uri="{FF2B5EF4-FFF2-40B4-BE49-F238E27FC236}">
                <a16:creationId xmlns:a16="http://schemas.microsoft.com/office/drawing/2014/main" id="{94BF26DE-B754-474F-A250-2345808E975E}"/>
              </a:ext>
            </a:extLst>
          </p:cNvPr>
          <p:cNvSpPr>
            <a:spLocks xmlns:a="http://schemas.openxmlformats.org/drawingml/2006/main" noGrp="1"/>
          </p:cNvSpPr>
          <p:nvPr/>
        </p:nvSpPr>
        <p:spPr>
          <a:xfrm xmlns:a="http://schemas.openxmlformats.org/drawingml/2006/main">
            <a:off x="609600" y="3216275"/>
            <a:ext cx="438150" cy="1168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1">
                <a:solidFill>
                  <a:srgbClr val="087E83"/>
                </a:solidFill>
                <a:latin typeface="Helvetica Neue"/>
                <a:ea typeface="Helvetica Neue"/>
                <a:cs typeface="Helvetica Neue"/>
              </a:defRPr>
            </a:pPr>
            <a:r>
              <a:rPr sz="2100" b="1">
                <a:solidFill>
                  <a:srgbClr val="087E83"/>
                </a:solidFill>
                <a:latin typeface="Helvetica Neue"/>
                <a:ea typeface="Helvetica Neue"/>
                <a:cs typeface="Helvetica Neue"/>
              </a:rPr>
              <a:t>02</a:t>
            </a:r>
          </a:p>
        </p:txBody>
      </p:sp>
      <p:sp>
        <p:nvSpPr>
          <p:cNvPr id="5" name="">
            <a:extLst xmlns:a="http://schemas.openxmlformats.org/drawingml/2006/main">
              <a:ext uri="{FF2B5EF4-FFF2-40B4-BE49-F238E27FC236}">
                <a16:creationId xmlns:a16="http://schemas.microsoft.com/office/drawing/2014/main" id="{4B892FFC-E2F4-4297-9233-0383B22F5EB1}"/>
              </a:ext>
            </a:extLst>
          </p:cNvPr>
          <p:cNvSpPr>
            <a:spLocks xmlns:a="http://schemas.openxmlformats.org/drawingml/2006/main" noGrp="1"/>
          </p:cNvSpPr>
          <p:nvPr/>
        </p:nvSpPr>
        <p:spPr>
          <a:xfrm xmlns:a="http://schemas.openxmlformats.org/drawingml/2006/main">
            <a:off x="1333500" y="3216275"/>
            <a:ext cx="10248900" cy="1168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400" b="0">
                <a:solidFill>
                  <a:srgbClr val="122C42"/>
                </a:solidFill>
                <a:latin typeface="Helvetica Neue"/>
                <a:ea typeface="Helvetica Neue"/>
                <a:cs typeface="Helvetica Neue"/>
              </a:defRPr>
            </a:pPr>
            <a:r>
              <a:rPr sz="2400" b="0">
                <a:solidFill>
                  <a:srgbClr val="122C42"/>
                </a:solidFill>
                <a:latin typeface="Helvetica Neue"/>
                <a:ea typeface="Helvetica Neue"/>
                <a:cs typeface="Helvetica Neue"/>
              </a:rPr>
              <a:t>Container: aynı altyapıda ayrılmış görünüm.</a:t>
            </a:r>
          </a:p>
        </p:txBody>
      </p:sp>
      <p:sp>
        <p:nvSpPr>
          <p:cNvPr id="6" name="">
            <a:extLst xmlns:a="http://schemas.openxmlformats.org/drawingml/2006/main">
              <a:ext uri="{FF2B5EF4-FFF2-40B4-BE49-F238E27FC236}">
                <a16:creationId xmlns:a16="http://schemas.microsoft.com/office/drawing/2014/main" id="{7DB21817-7FC7-465F-89F8-D2FCFF32918F}"/>
              </a:ext>
            </a:extLst>
          </p:cNvPr>
          <p:cNvSpPr>
            <a:spLocks xmlns:a="http://schemas.openxmlformats.org/drawingml/2006/main" noGrp="1"/>
          </p:cNvSpPr>
          <p:nvPr/>
        </p:nvSpPr>
        <p:spPr>
          <a:xfrm xmlns:a="http://schemas.openxmlformats.org/drawingml/2006/main">
            <a:off x="609600" y="4479925"/>
            <a:ext cx="438150" cy="1168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1">
                <a:solidFill>
                  <a:srgbClr val="087E83"/>
                </a:solidFill>
                <a:latin typeface="Helvetica Neue"/>
                <a:ea typeface="Helvetica Neue"/>
                <a:cs typeface="Helvetica Neue"/>
              </a:defRPr>
            </a:pPr>
            <a:r>
              <a:rPr sz="2100" b="1">
                <a:solidFill>
                  <a:srgbClr val="087E83"/>
                </a:solidFill>
                <a:latin typeface="Helvetica Neue"/>
                <a:ea typeface="Helvetica Neue"/>
                <a:cs typeface="Helvetica Neue"/>
              </a:rPr>
              <a:t>03</a:t>
            </a:r>
          </a:p>
        </p:txBody>
      </p:sp>
      <p:sp>
        <p:nvSpPr>
          <p:cNvPr id="7" name="">
            <a:extLst xmlns:a="http://schemas.openxmlformats.org/drawingml/2006/main">
              <a:ext uri="{FF2B5EF4-FFF2-40B4-BE49-F238E27FC236}">
                <a16:creationId xmlns:a16="http://schemas.microsoft.com/office/drawing/2014/main" id="{8188F770-9D08-487C-B331-455987A3F283}"/>
              </a:ext>
            </a:extLst>
          </p:cNvPr>
          <p:cNvSpPr>
            <a:spLocks xmlns:a="http://schemas.openxmlformats.org/drawingml/2006/main" noGrp="1"/>
          </p:cNvSpPr>
          <p:nvPr/>
        </p:nvSpPr>
        <p:spPr>
          <a:xfrm xmlns:a="http://schemas.openxmlformats.org/drawingml/2006/main">
            <a:off x="1333500" y="4479925"/>
            <a:ext cx="10248900" cy="1168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400" b="0">
                <a:solidFill>
                  <a:srgbClr val="122C42"/>
                </a:solidFill>
                <a:latin typeface="Helvetica Neue"/>
                <a:ea typeface="Helvetica Neue"/>
                <a:cs typeface="Helvetica Neue"/>
              </a:defRPr>
            </a:pPr>
            <a:r>
              <a:rPr sz="2400" b="0">
                <a:solidFill>
                  <a:srgbClr val="122C42"/>
                </a:solidFill>
                <a:latin typeface="Helvetica Neue"/>
                <a:ea typeface="Helvetica Neue"/>
                <a:cs typeface="Helvetica Neue"/>
              </a:rPr>
              <a:t>VM: ayrı işletim ortamı sezgisi.</a:t>
            </a:r>
          </a:p>
        </p:txBody>
      </p:sp>
      <p:sp>
        <p:nvSpPr>
          <p:cNvPr id="8" name="">
            <a:extLst xmlns:a="http://schemas.openxmlformats.org/drawingml/2006/main">
              <a:ext uri="{FF2B5EF4-FFF2-40B4-BE49-F238E27FC236}">
                <a16:creationId xmlns:a16="http://schemas.microsoft.com/office/drawing/2014/main" id="{67137DD9-3080-4541-891E-F95EA9EDFDF9}"/>
              </a:ext>
            </a:extLst>
          </p:cNvPr>
          <p:cNvSpPr>
            <a:spLocks xmlns:a="http://schemas.openxmlformats.org/drawingml/2006/main" noGrp="1"/>
          </p:cNvSpPr>
          <p:nvPr/>
        </p:nvSpPr>
        <p:spPr>
          <a:xfrm xmlns:a="http://schemas.openxmlformats.org/drawingml/2006/main">
            <a:off x="609600" y="6496050"/>
            <a:ext cx="8572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125" b="0">
                <a:solidFill>
                  <a:srgbClr val="4D606A"/>
                </a:solidFill>
                <a:latin typeface="Helvetica Neue"/>
                <a:ea typeface="Helvetica Neue"/>
                <a:cs typeface="Helvetica Neue"/>
              </a:defRPr>
            </a:pPr>
            <a:r>
              <a:rPr sz="1125" b="0">
                <a:solidFill>
                  <a:srgbClr val="4D606A"/>
                </a:solidFill>
                <a:latin typeface="Helvetica Neue"/>
                <a:ea typeface="Helvetica Neue"/>
                <a:cs typeface="Helvetica Neue"/>
              </a:rPr>
              <a:t>CSE513 · Hafta 9</a:t>
            </a:r>
          </a:p>
        </p:txBody>
      </p:sp>
      <p:sp>
        <p:nvSpPr>
          <p:cNvPr id="9" name="">
            <a:extLst xmlns:a="http://schemas.openxmlformats.org/drawingml/2006/main">
              <a:ext uri="{FF2B5EF4-FFF2-40B4-BE49-F238E27FC236}">
                <a16:creationId xmlns:a16="http://schemas.microsoft.com/office/drawing/2014/main" id="{78C32482-D268-4FF5-BE87-C543C0BD5FBA}"/>
              </a:ext>
            </a:extLst>
          </p:cNvPr>
          <p:cNvSpPr>
            <a:spLocks xmlns:a="http://schemas.openxmlformats.org/drawingml/2006/main" noGrp="1"/>
          </p:cNvSpPr>
          <p:nvPr/>
        </p:nvSpPr>
        <p:spPr>
          <a:xfrm xmlns:a="http://schemas.openxmlformats.org/drawingml/2006/main">
            <a:off x="10477500" y="6457950"/>
            <a:ext cx="10953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350" b="1">
                <a:solidFill>
                  <a:srgbClr val="087E83"/>
                </a:solidFill>
                <a:latin typeface="Helvetica Neue"/>
                <a:ea typeface="Helvetica Neue"/>
                <a:cs typeface="Helvetica Neue"/>
              </a:defRPr>
            </a:pPr>
            <a:r>
              <a:rPr sz="1350" b="1">
                <a:solidFill>
                  <a:srgbClr val="087E83"/>
                </a:solidFill>
                <a:latin typeface="Helvetica Neue"/>
                <a:ea typeface="Helvetica Neue"/>
                <a:cs typeface="Helvetica Neue"/>
              </a:rPr>
              <a:t>03 / 27</a:t>
            </a:r>
          </a:p>
        </p:txBody>
      </p:sp>
    </p:spTree>
    <p:extLst>
      <p:ext uri="{BB962C8B-B14F-4D97-AF65-F5344CB8AC3E}">
        <p14:creationId xmlns:p14="http://schemas.microsoft.com/office/powerpoint/2010/main" val="1455913115"/>
      </p:ext>
    </p:extLst>
  </p:cSld>
</p:sld>
</file>

<file path=ppt/slides/slide4.xml><?xml version="1.0" encoding="utf-8"?>
<p:sld xmlns:p="http://schemas.openxmlformats.org/presentationml/2006/main">
  <p:cSld>
    <p:bg>
      <p:bgPr>
        <a:solidFill xmlns:a="http://schemas.openxmlformats.org/drawingml/2006/main">
          <a:srgbClr val="F5F1E8"/>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A2829E2F-C4B3-4A36-AF4B-4B07C5FF455E}"/>
              </a:ext>
            </a:extLst>
          </p:cNvPr>
          <p:cNvSpPr>
            <a:spLocks xmlns:a="http://schemas.openxmlformats.org/drawingml/2006/main" noGrp="1"/>
          </p:cNvSpPr>
          <p:nvPr/>
        </p:nvSpPr>
        <p:spPr>
          <a:xfrm xmlns:a="http://schemas.openxmlformats.org/drawingml/2006/main">
            <a:off x="609600" y="600075"/>
            <a:ext cx="1097280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300" b="1">
                <a:solidFill>
                  <a:srgbClr val="122C42"/>
                </a:solidFill>
                <a:latin typeface="Helvetica Neue"/>
                <a:ea typeface="Helvetica Neue"/>
                <a:cs typeface="Helvetica Neue"/>
              </a:defRPr>
            </a:pPr>
            <a:r>
              <a:rPr sz="3300" b="1">
                <a:solidFill>
                  <a:srgbClr val="122C42"/>
                </a:solidFill>
                <a:latin typeface="Helvetica Neue"/>
                <a:ea typeface="Helvetica Neue"/>
                <a:cs typeface="Helvetica Neue"/>
              </a:rPr>
              <a:t>VM katmanlarını çiz</a:t>
            </a:r>
          </a:p>
        </p:txBody>
      </p:sp>
      <p:sp>
        <p:nvSpPr>
          <p:cNvPr id="2" name="">
            <a:extLst xmlns:a="http://schemas.openxmlformats.org/drawingml/2006/main">
              <a:ext uri="{FF2B5EF4-FFF2-40B4-BE49-F238E27FC236}">
                <a16:creationId xmlns:a16="http://schemas.microsoft.com/office/drawing/2014/main" id="{992A4384-07AD-47F6-B67C-AC86C1862DCC}"/>
              </a:ext>
            </a:extLst>
          </p:cNvPr>
          <p:cNvSpPr>
            <a:spLocks xmlns:a="http://schemas.openxmlformats.org/drawingml/2006/main" noGrp="1"/>
          </p:cNvSpPr>
          <p:nvPr/>
        </p:nvSpPr>
        <p:spPr>
          <a:xfrm xmlns:a="http://schemas.openxmlformats.org/drawingml/2006/main">
            <a:off x="609600" y="1952625"/>
            <a:ext cx="438150" cy="993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1">
                <a:solidFill>
                  <a:srgbClr val="087E83"/>
                </a:solidFill>
                <a:latin typeface="Helvetica Neue"/>
                <a:ea typeface="Helvetica Neue"/>
                <a:cs typeface="Helvetica Neue"/>
              </a:defRPr>
            </a:pPr>
            <a:r>
              <a:rPr sz="2100" b="1">
                <a:solidFill>
                  <a:srgbClr val="087E83"/>
                </a:solidFill>
                <a:latin typeface="Helvetica Neue"/>
                <a:ea typeface="Helvetica Neue"/>
                <a:cs typeface="Helvetica Neue"/>
              </a:rPr>
              <a:t>01</a:t>
            </a:r>
          </a:p>
        </p:txBody>
      </p:sp>
      <p:sp>
        <p:nvSpPr>
          <p:cNvPr id="3" name="">
            <a:extLst xmlns:a="http://schemas.openxmlformats.org/drawingml/2006/main">
              <a:ext uri="{FF2B5EF4-FFF2-40B4-BE49-F238E27FC236}">
                <a16:creationId xmlns:a16="http://schemas.microsoft.com/office/drawing/2014/main" id="{DA3C75C3-2E2F-4EB5-A440-EAF9609A0DE7}"/>
              </a:ext>
            </a:extLst>
          </p:cNvPr>
          <p:cNvSpPr>
            <a:spLocks xmlns:a="http://schemas.openxmlformats.org/drawingml/2006/main" noGrp="1"/>
          </p:cNvSpPr>
          <p:nvPr/>
        </p:nvSpPr>
        <p:spPr>
          <a:xfrm xmlns:a="http://schemas.openxmlformats.org/drawingml/2006/main">
            <a:off x="1333500" y="1952625"/>
            <a:ext cx="10248900" cy="993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400" b="0">
                <a:solidFill>
                  <a:srgbClr val="122C42"/>
                </a:solidFill>
                <a:latin typeface="Helvetica Neue"/>
                <a:ea typeface="Helvetica Neue"/>
                <a:cs typeface="Helvetica Neue"/>
              </a:defRPr>
            </a:pPr>
            <a:r>
              <a:rPr sz="2400" b="0">
                <a:solidFill>
                  <a:srgbClr val="122C42"/>
                </a:solidFill>
                <a:latin typeface="Helvetica Neue"/>
                <a:ea typeface="Helvetica Neue"/>
                <a:cs typeface="Helvetica Neue"/>
              </a:rPr>
              <a:t>Guest app → guest kernel.</a:t>
            </a:r>
          </a:p>
        </p:txBody>
      </p:sp>
      <p:sp>
        <p:nvSpPr>
          <p:cNvPr id="4" name="">
            <a:extLst xmlns:a="http://schemas.openxmlformats.org/drawingml/2006/main">
              <a:ext uri="{FF2B5EF4-FFF2-40B4-BE49-F238E27FC236}">
                <a16:creationId xmlns:a16="http://schemas.microsoft.com/office/drawing/2014/main" id="{DD724312-3627-4D59-908F-A11AC8D80438}"/>
              </a:ext>
            </a:extLst>
          </p:cNvPr>
          <p:cNvSpPr>
            <a:spLocks xmlns:a="http://schemas.openxmlformats.org/drawingml/2006/main" noGrp="1"/>
          </p:cNvSpPr>
          <p:nvPr/>
        </p:nvSpPr>
        <p:spPr>
          <a:xfrm xmlns:a="http://schemas.openxmlformats.org/drawingml/2006/main">
            <a:off x="609600" y="3041650"/>
            <a:ext cx="438150" cy="993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1">
                <a:solidFill>
                  <a:srgbClr val="087E83"/>
                </a:solidFill>
                <a:latin typeface="Helvetica Neue"/>
                <a:ea typeface="Helvetica Neue"/>
                <a:cs typeface="Helvetica Neue"/>
              </a:defRPr>
            </a:pPr>
            <a:r>
              <a:rPr sz="2100" b="1">
                <a:solidFill>
                  <a:srgbClr val="087E83"/>
                </a:solidFill>
                <a:latin typeface="Helvetica Neue"/>
                <a:ea typeface="Helvetica Neue"/>
                <a:cs typeface="Helvetica Neue"/>
              </a:rPr>
              <a:t>02</a:t>
            </a:r>
          </a:p>
        </p:txBody>
      </p:sp>
      <p:sp>
        <p:nvSpPr>
          <p:cNvPr id="5" name="">
            <a:extLst xmlns:a="http://schemas.openxmlformats.org/drawingml/2006/main">
              <a:ext uri="{FF2B5EF4-FFF2-40B4-BE49-F238E27FC236}">
                <a16:creationId xmlns:a16="http://schemas.microsoft.com/office/drawing/2014/main" id="{2E3D0EA7-E8B6-4F3B-B5C3-410453DC4836}"/>
              </a:ext>
            </a:extLst>
          </p:cNvPr>
          <p:cNvSpPr>
            <a:spLocks xmlns:a="http://schemas.openxmlformats.org/drawingml/2006/main" noGrp="1"/>
          </p:cNvSpPr>
          <p:nvPr/>
        </p:nvSpPr>
        <p:spPr>
          <a:xfrm xmlns:a="http://schemas.openxmlformats.org/drawingml/2006/main">
            <a:off x="1333500" y="3041650"/>
            <a:ext cx="10248900" cy="993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400" b="0">
                <a:solidFill>
                  <a:srgbClr val="122C42"/>
                </a:solidFill>
                <a:latin typeface="Helvetica Neue"/>
                <a:ea typeface="Helvetica Neue"/>
                <a:cs typeface="Helvetica Neue"/>
              </a:defRPr>
            </a:pPr>
            <a:r>
              <a:rPr sz="2400" b="0">
                <a:solidFill>
                  <a:srgbClr val="122C42"/>
                </a:solidFill>
                <a:latin typeface="Helvetica Neue"/>
                <a:ea typeface="Helvetica Neue"/>
                <a:cs typeface="Helvetica Neue"/>
              </a:rPr>
              <a:t>vCPU / guest memory → virtualization boundary.</a:t>
            </a:r>
          </a:p>
        </p:txBody>
      </p:sp>
      <p:sp>
        <p:nvSpPr>
          <p:cNvPr id="6" name="">
            <a:extLst xmlns:a="http://schemas.openxmlformats.org/drawingml/2006/main">
              <a:ext uri="{FF2B5EF4-FFF2-40B4-BE49-F238E27FC236}">
                <a16:creationId xmlns:a16="http://schemas.microsoft.com/office/drawing/2014/main" id="{3A4608FB-9D9F-424E-91AB-5DBF1AB6B54A}"/>
              </a:ext>
            </a:extLst>
          </p:cNvPr>
          <p:cNvSpPr>
            <a:spLocks xmlns:a="http://schemas.openxmlformats.org/drawingml/2006/main" noGrp="1"/>
          </p:cNvSpPr>
          <p:nvPr/>
        </p:nvSpPr>
        <p:spPr>
          <a:xfrm xmlns:a="http://schemas.openxmlformats.org/drawingml/2006/main">
            <a:off x="609600" y="4130675"/>
            <a:ext cx="438150" cy="993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1">
                <a:solidFill>
                  <a:srgbClr val="087E83"/>
                </a:solidFill>
                <a:latin typeface="Helvetica Neue"/>
                <a:ea typeface="Helvetica Neue"/>
                <a:cs typeface="Helvetica Neue"/>
              </a:defRPr>
            </a:pPr>
            <a:r>
              <a:rPr sz="2100" b="1">
                <a:solidFill>
                  <a:srgbClr val="087E83"/>
                </a:solidFill>
                <a:latin typeface="Helvetica Neue"/>
                <a:ea typeface="Helvetica Neue"/>
                <a:cs typeface="Helvetica Neue"/>
              </a:rPr>
              <a:t>03</a:t>
            </a:r>
          </a:p>
        </p:txBody>
      </p:sp>
      <p:sp>
        <p:nvSpPr>
          <p:cNvPr id="7" name="">
            <a:extLst xmlns:a="http://schemas.openxmlformats.org/drawingml/2006/main">
              <a:ext uri="{FF2B5EF4-FFF2-40B4-BE49-F238E27FC236}">
                <a16:creationId xmlns:a16="http://schemas.microsoft.com/office/drawing/2014/main" id="{0E5025EA-99C2-404E-B0F1-B1EAC4E4C225}"/>
              </a:ext>
            </a:extLst>
          </p:cNvPr>
          <p:cNvSpPr>
            <a:spLocks xmlns:a="http://schemas.openxmlformats.org/drawingml/2006/main" noGrp="1"/>
          </p:cNvSpPr>
          <p:nvPr/>
        </p:nvSpPr>
        <p:spPr>
          <a:xfrm xmlns:a="http://schemas.openxmlformats.org/drawingml/2006/main">
            <a:off x="1333500" y="4130675"/>
            <a:ext cx="10248900" cy="993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400" b="0">
                <a:solidFill>
                  <a:srgbClr val="122C42"/>
                </a:solidFill>
                <a:latin typeface="Helvetica Neue"/>
                <a:ea typeface="Helvetica Neue"/>
                <a:cs typeface="Helvetica Neue"/>
              </a:defRPr>
            </a:pPr>
            <a:r>
              <a:rPr sz="2400" b="0">
                <a:solidFill>
                  <a:srgbClr val="122C42"/>
                </a:solidFill>
                <a:latin typeface="Helvetica Neue"/>
                <a:ea typeface="Helvetica Neue"/>
                <a:cs typeface="Helvetica Neue"/>
              </a:rPr>
              <a:t>Hypervisor ve host kaynakları.</a:t>
            </a:r>
          </a:p>
        </p:txBody>
      </p:sp>
      <p:sp>
        <p:nvSpPr>
          <p:cNvPr id="8" name="">
            <a:extLst xmlns:a="http://schemas.openxmlformats.org/drawingml/2006/main">
              <a:ext uri="{FF2B5EF4-FFF2-40B4-BE49-F238E27FC236}">
                <a16:creationId xmlns:a16="http://schemas.microsoft.com/office/drawing/2014/main" id="{AEFAB539-D500-4B42-9FCA-170C01675681}"/>
              </a:ext>
            </a:extLst>
          </p:cNvPr>
          <p:cNvSpPr>
            <a:spLocks xmlns:a="http://schemas.openxmlformats.org/drawingml/2006/main" noGrp="1"/>
          </p:cNvSpPr>
          <p:nvPr/>
        </p:nvSpPr>
        <p:spPr>
          <a:xfrm xmlns:a="http://schemas.openxmlformats.org/drawingml/2006/main">
            <a:off x="609600" y="5438775"/>
            <a:ext cx="109728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500" b="1">
                <a:solidFill>
                  <a:srgbClr val="C46225"/>
                </a:solidFill>
                <a:latin typeface="Helvetica Neue"/>
                <a:ea typeface="Helvetica Neue"/>
                <a:cs typeface="Helvetica Neue"/>
              </a:defRPr>
            </a:pPr>
            <a:r>
              <a:rPr sz="1500" b="1">
                <a:solidFill>
                  <a:srgbClr val="C46225"/>
                </a:solidFill>
                <a:latin typeface="Helvetica Neue"/>
                <a:ea typeface="Helvetica Neue"/>
                <a:cs typeface="Helvetica Neue"/>
              </a:rPr>
              <a:t>GERÇEK HAYAT · Farklı OS testi</a:t>
            </a:r>
          </a:p>
        </p:txBody>
      </p:sp>
      <p:sp>
        <p:nvSpPr>
          <p:cNvPr id="9" name="">
            <a:extLst xmlns:a="http://schemas.openxmlformats.org/drawingml/2006/main">
              <a:ext uri="{FF2B5EF4-FFF2-40B4-BE49-F238E27FC236}">
                <a16:creationId xmlns:a16="http://schemas.microsoft.com/office/drawing/2014/main" id="{35E48AAB-2BA5-4B8B-9CF0-BA5D61E5E052}"/>
              </a:ext>
            </a:extLst>
          </p:cNvPr>
          <p:cNvSpPr>
            <a:spLocks xmlns:a="http://schemas.openxmlformats.org/drawingml/2006/main" noGrp="1"/>
          </p:cNvSpPr>
          <p:nvPr/>
        </p:nvSpPr>
        <p:spPr>
          <a:xfrm xmlns:a="http://schemas.openxmlformats.org/drawingml/2006/main">
            <a:off x="609600" y="5781675"/>
            <a:ext cx="109728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650" b="0">
                <a:solidFill>
                  <a:srgbClr val="4D606A"/>
                </a:solidFill>
                <a:latin typeface="Helvetica Neue"/>
                <a:ea typeface="Helvetica Neue"/>
                <a:cs typeface="Helvetica Neue"/>
              </a:defRPr>
            </a:pPr>
            <a:r>
              <a:rPr sz="1650" b="0">
                <a:solidFill>
                  <a:srgbClr val="4D606A"/>
                </a:solidFill>
                <a:latin typeface="Helvetica Neue"/>
                <a:ea typeface="Helvetica Neue"/>
                <a:cs typeface="Helvetica Neue"/>
              </a:rPr>
              <a:t>Aynı makinede farklı guest kernel’ler denenir.</a:t>
            </a:r>
          </a:p>
        </p:txBody>
      </p:sp>
      <p:sp>
        <p:nvSpPr>
          <p:cNvPr id="10" name="">
            <a:extLst xmlns:a="http://schemas.openxmlformats.org/drawingml/2006/main">
              <a:ext uri="{FF2B5EF4-FFF2-40B4-BE49-F238E27FC236}">
                <a16:creationId xmlns:a16="http://schemas.microsoft.com/office/drawing/2014/main" id="{A487D659-91AC-4924-80E7-AB6B662D2D2D}"/>
              </a:ext>
            </a:extLst>
          </p:cNvPr>
          <p:cNvSpPr>
            <a:spLocks xmlns:a="http://schemas.openxmlformats.org/drawingml/2006/main" noGrp="1"/>
          </p:cNvSpPr>
          <p:nvPr/>
        </p:nvSpPr>
        <p:spPr>
          <a:xfrm xmlns:a="http://schemas.openxmlformats.org/drawingml/2006/main">
            <a:off x="609600" y="6496050"/>
            <a:ext cx="8572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125" b="0">
                <a:solidFill>
                  <a:srgbClr val="4D606A"/>
                </a:solidFill>
                <a:latin typeface="Helvetica Neue"/>
                <a:ea typeface="Helvetica Neue"/>
                <a:cs typeface="Helvetica Neue"/>
              </a:defRPr>
            </a:pPr>
            <a:r>
              <a:rPr sz="1125" b="0">
                <a:solidFill>
                  <a:srgbClr val="4D606A"/>
                </a:solidFill>
                <a:latin typeface="Helvetica Neue"/>
                <a:ea typeface="Helvetica Neue"/>
                <a:cs typeface="Helvetica Neue"/>
              </a:rPr>
              <a:t>CSE513 · Hafta 9</a:t>
            </a:r>
          </a:p>
        </p:txBody>
      </p:sp>
      <p:sp>
        <p:nvSpPr>
          <p:cNvPr id="11" name="">
            <a:extLst xmlns:a="http://schemas.openxmlformats.org/drawingml/2006/main">
              <a:ext uri="{FF2B5EF4-FFF2-40B4-BE49-F238E27FC236}">
                <a16:creationId xmlns:a16="http://schemas.microsoft.com/office/drawing/2014/main" id="{BF0DC528-87E3-4CEE-B7EB-EED5C3C79920}"/>
              </a:ext>
            </a:extLst>
          </p:cNvPr>
          <p:cNvSpPr>
            <a:spLocks xmlns:a="http://schemas.openxmlformats.org/drawingml/2006/main" noGrp="1"/>
          </p:cNvSpPr>
          <p:nvPr/>
        </p:nvSpPr>
        <p:spPr>
          <a:xfrm xmlns:a="http://schemas.openxmlformats.org/drawingml/2006/main">
            <a:off x="10477500" y="6457950"/>
            <a:ext cx="10953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350" b="1">
                <a:solidFill>
                  <a:srgbClr val="087E83"/>
                </a:solidFill>
                <a:latin typeface="Helvetica Neue"/>
                <a:ea typeface="Helvetica Neue"/>
                <a:cs typeface="Helvetica Neue"/>
              </a:defRPr>
            </a:pPr>
            <a:r>
              <a:rPr sz="1350" b="1">
                <a:solidFill>
                  <a:srgbClr val="087E83"/>
                </a:solidFill>
                <a:latin typeface="Helvetica Neue"/>
                <a:ea typeface="Helvetica Neue"/>
                <a:cs typeface="Helvetica Neue"/>
              </a:rPr>
              <a:t>04 / 27</a:t>
            </a:r>
          </a:p>
        </p:txBody>
      </p:sp>
    </p:spTree>
    <p:extLst>
      <p:ext uri="{BB962C8B-B14F-4D97-AF65-F5344CB8AC3E}">
        <p14:creationId xmlns:p14="http://schemas.microsoft.com/office/powerpoint/2010/main" val="973745650"/>
      </p:ext>
    </p:extLst>
  </p:cSld>
</p:sld>
</file>

<file path=ppt/slides/slide5.xml><?xml version="1.0" encoding="utf-8"?>
<p:sld xmlns:p="http://schemas.openxmlformats.org/presentationml/2006/main">
  <p:cSld>
    <p:bg>
      <p:bgPr>
        <a:solidFill xmlns:a="http://schemas.openxmlformats.org/drawingml/2006/main">
          <a:srgbClr val="F5F1E8"/>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7D6AE379-4825-4D85-8D79-2B87269B8E25}"/>
              </a:ext>
            </a:extLst>
          </p:cNvPr>
          <p:cNvSpPr>
            <a:spLocks xmlns:a="http://schemas.openxmlformats.org/drawingml/2006/main" noGrp="1"/>
          </p:cNvSpPr>
          <p:nvPr/>
        </p:nvSpPr>
        <p:spPr>
          <a:xfrm xmlns:a="http://schemas.openxmlformats.org/drawingml/2006/main">
            <a:off x="609600" y="600075"/>
            <a:ext cx="1097280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300" b="1">
                <a:solidFill>
                  <a:srgbClr val="122C42"/>
                </a:solidFill>
                <a:latin typeface="Helvetica Neue"/>
                <a:ea typeface="Helvetica Neue"/>
                <a:cs typeface="Helvetica Neue"/>
              </a:defRPr>
            </a:pPr>
            <a:r>
              <a:rPr sz="3300" b="1">
                <a:solidFill>
                  <a:srgbClr val="122C42"/>
                </a:solidFill>
                <a:latin typeface="Helvetica Neue"/>
                <a:ea typeface="Helvetica Neue"/>
                <a:cs typeface="Helvetica Neue"/>
              </a:rPr>
              <a:t>Host, guest ve hypervisor kim?</a:t>
            </a:r>
          </a:p>
        </p:txBody>
      </p:sp>
      <p:sp>
        <p:nvSpPr>
          <p:cNvPr id="2" name="">
            <a:extLst xmlns:a="http://schemas.openxmlformats.org/drawingml/2006/main">
              <a:ext uri="{FF2B5EF4-FFF2-40B4-BE49-F238E27FC236}">
                <a16:creationId xmlns:a16="http://schemas.microsoft.com/office/drawing/2014/main" id="{FA7E23CC-2910-45C7-9CCA-3AD9F873253C}"/>
              </a:ext>
            </a:extLst>
          </p:cNvPr>
          <p:cNvSpPr>
            <a:spLocks xmlns:a="http://schemas.openxmlformats.org/drawingml/2006/main" noGrp="1"/>
          </p:cNvSpPr>
          <p:nvPr/>
        </p:nvSpPr>
        <p:spPr>
          <a:xfrm xmlns:a="http://schemas.openxmlformats.org/drawingml/2006/main">
            <a:off x="609600" y="1714500"/>
            <a:ext cx="109728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00" b="0">
                <a:solidFill>
                  <a:srgbClr val="4D606A"/>
                </a:solidFill>
                <a:latin typeface="Helvetica Neue"/>
                <a:ea typeface="Helvetica Neue"/>
                <a:cs typeface="Helvetica Neue"/>
              </a:defRPr>
            </a:pPr>
            <a:r>
              <a:rPr sz="1800" b="0">
                <a:solidFill>
                  <a:srgbClr val="4D606A"/>
                </a:solidFill>
                <a:latin typeface="Helvetica Neue"/>
                <a:ea typeface="Helvetica Neue"/>
                <a:cs typeface="Helvetica Neue"/>
              </a:rPr>
              <a:t>Guest: sanal makine içindeki sistem.</a:t>
            </a:r>
          </a:p>
          <a:p xmlns:a="http://schemas.openxmlformats.org/drawingml/2006/main">
            <a:pPr>
              <a:defRPr sz="1800" b="0">
                <a:solidFill>
                  <a:srgbClr val="4D606A"/>
                </a:solidFill>
                <a:latin typeface="Helvetica Neue"/>
                <a:ea typeface="Helvetica Neue"/>
                <a:cs typeface="Helvetica Neue"/>
              </a:defRPr>
            </a:pPr>
            <a:r>
              <a:rPr sz="1800" b="0">
                <a:solidFill>
                  <a:srgbClr val="4D606A"/>
                </a:solidFill>
                <a:latin typeface="Helvetica Neue"/>
                <a:ea typeface="Helvetica Neue"/>
                <a:cs typeface="Helvetica Neue"/>
              </a:rPr>
              <a:t>Host: kaynakları sağlayan ortam.</a:t>
            </a:r>
          </a:p>
          <a:p xmlns:a="http://schemas.openxmlformats.org/drawingml/2006/main">
            <a:pPr>
              <a:defRPr sz="1800" b="0">
                <a:solidFill>
                  <a:srgbClr val="4D606A"/>
                </a:solidFill>
                <a:latin typeface="Helvetica Neue"/>
                <a:ea typeface="Helvetica Neue"/>
                <a:cs typeface="Helvetica Neue"/>
              </a:defRPr>
            </a:pPr>
            <a:r>
              <a:rPr sz="1800" b="0">
                <a:solidFill>
                  <a:srgbClr val="4D606A"/>
                </a:solidFill>
                <a:latin typeface="Helvetica Neue"/>
                <a:ea typeface="Helvetica Neue"/>
                <a:cs typeface="Helvetica Neue"/>
              </a:rPr>
              <a:t>Hypervisor/VMM: virtualization kontrolü.</a:t>
            </a:r>
          </a:p>
        </p:txBody>
      </p:sp>
      <p:graphicFrame>
        <p:nvGraphicFramePr>
          <p:cNvPr id="8" name=""/>
          <p:cNvGraphicFramePr/>
          <p:nvPr/>
        </p:nvGraphicFramePr>
        <p:xfrm>
          <a:off xmlns:a="http://schemas.openxmlformats.org/drawingml/2006/main" x="609600" y="2762250"/>
          <a:ext xmlns:a="http://schemas.openxmlformats.org/drawingml/2006/main" cx="10972800" cy="2981325"/>
        </p:xfrm>
        <a:graphic xmlns:a="http://schemas.openxmlformats.org/drawingml/2006/main">
          <a:graphicData uri="http://schemas.openxmlformats.org/drawingml/2006/table">
            <a:tbl>
              <a:tblPr/>
              <a:tblGrid>
                <a:gridCol w="5486400"/>
                <a:gridCol w="5486400"/>
              </a:tblGrid>
              <a:tr h="745331">
                <a:tc>
                  <a:txBody>
                    <a:bodyPr/>
                    <a:lstStyle/>
                    <a:p>
                      <a:r>
                        <a:rPr sz="1800" b="1">
                          <a:solidFill>
                            <a:srgbClr val="FFFFFF"/>
                          </a:solidFill>
                          <a:latin typeface="Helvetica Neue"/>
                          <a:ea typeface="Helvetica Neue"/>
                          <a:cs typeface="Helvetica Neue"/>
                        </a:rPr>
                        <a:t>Katman</a:t>
                      </a:r>
                    </a:p>
                  </a:txBody>
                  <a:tcPr marL="114300" marR="114300" marT="47625" marB="47625" anchor="ctr">
                    <a:solidFill>
                      <a:srgbClr val="122C42"/>
                    </a:solidFill>
                  </a:tcPr>
                </a:tc>
                <a:tc>
                  <a:txBody>
                    <a:bodyPr/>
                    <a:lstStyle/>
                    <a:p>
                      <a:r>
                        <a:rPr sz="1800" b="1">
                          <a:solidFill>
                            <a:srgbClr val="FFFFFF"/>
                          </a:solidFill>
                          <a:latin typeface="Helvetica Neue"/>
                          <a:ea typeface="Helvetica Neue"/>
                          <a:cs typeface="Helvetica Neue"/>
                        </a:rPr>
                        <a:t>Kontrol ettiği şey</a:t>
                      </a:r>
                    </a:p>
                  </a:txBody>
                  <a:tcPr marL="114300" marR="114300" marT="47625" marB="47625" anchor="ctr">
                    <a:solidFill>
                      <a:srgbClr val="122C42"/>
                    </a:solidFill>
                  </a:tcPr>
                </a:tc>
              </a:tr>
              <a:tr h="745331">
                <a:tc>
                  <a:txBody>
                    <a:bodyPr/>
                    <a:lstStyle/>
                    <a:p>
                      <a:r>
                        <a:rPr sz="1800" b="0">
                          <a:solidFill>
                            <a:srgbClr val="122C42"/>
                          </a:solidFill>
                          <a:latin typeface="Helvetica Neue"/>
                          <a:ea typeface="Helvetica Neue"/>
                          <a:cs typeface="Helvetica Neue"/>
                        </a:rPr>
                        <a:t>Guest kernel</a:t>
                      </a:r>
                    </a:p>
                  </a:txBody>
                  <a:tcPr marL="114300" marR="114300" marT="47625" marB="47625" anchor="ctr">
                    <a:solidFill>
                      <a:srgbClr val="FFFFFF"/>
                    </a:solidFill>
                  </a:tcPr>
                </a:tc>
                <a:tc>
                  <a:txBody>
                    <a:bodyPr/>
                    <a:lstStyle/>
                    <a:p>
                      <a:r>
                        <a:rPr sz="1800" b="0">
                          <a:solidFill>
                            <a:srgbClr val="122C42"/>
                          </a:solidFill>
                          <a:latin typeface="Helvetica Neue"/>
                          <a:ea typeface="Helvetica Neue"/>
                          <a:cs typeface="Helvetica Neue"/>
                        </a:rPr>
                        <a:t>Guest process kaynakları</a:t>
                      </a:r>
                    </a:p>
                  </a:txBody>
                  <a:tcPr marL="114300" marR="114300" marT="47625" marB="47625" anchor="ctr">
                    <a:solidFill>
                      <a:srgbClr val="FFFFFF"/>
                    </a:solidFill>
                  </a:tcPr>
                </a:tc>
              </a:tr>
              <a:tr h="745331">
                <a:tc>
                  <a:txBody>
                    <a:bodyPr/>
                    <a:lstStyle/>
                    <a:p>
                      <a:r>
                        <a:rPr sz="1800" b="0">
                          <a:solidFill>
                            <a:srgbClr val="122C42"/>
                          </a:solidFill>
                          <a:latin typeface="Helvetica Neue"/>
                          <a:ea typeface="Helvetica Neue"/>
                          <a:cs typeface="Helvetica Neue"/>
                        </a:rPr>
                        <a:t>VMM/hypervisor</a:t>
                      </a:r>
                    </a:p>
                  </a:txBody>
                  <a:tcPr marL="114300" marR="114300" marT="47625" marB="47625" anchor="ctr">
                    <a:solidFill>
                      <a:srgbClr val="ECF0EC"/>
                    </a:solidFill>
                  </a:tcPr>
                </a:tc>
                <a:tc>
                  <a:txBody>
                    <a:bodyPr/>
                    <a:lstStyle/>
                    <a:p>
                      <a:r>
                        <a:rPr sz="1800" b="0">
                          <a:solidFill>
                            <a:srgbClr val="122C42"/>
                          </a:solidFill>
                          <a:latin typeface="Helvetica Neue"/>
                          <a:ea typeface="Helvetica Neue"/>
                          <a:cs typeface="Helvetica Neue"/>
                        </a:rPr>
                        <a:t>Guest yürütme/aygıt görünümü</a:t>
                      </a:r>
                    </a:p>
                  </a:txBody>
                  <a:tcPr marL="114300" marR="114300" marT="47625" marB="47625" anchor="ctr">
                    <a:solidFill>
                      <a:srgbClr val="ECF0EC"/>
                    </a:solidFill>
                  </a:tcPr>
                </a:tc>
              </a:tr>
              <a:tr h="745331">
                <a:tc>
                  <a:txBody>
                    <a:bodyPr/>
                    <a:lstStyle/>
                    <a:p>
                      <a:r>
                        <a:rPr sz="1800" b="0">
                          <a:solidFill>
                            <a:srgbClr val="122C42"/>
                          </a:solidFill>
                          <a:latin typeface="Helvetica Neue"/>
                          <a:ea typeface="Helvetica Neue"/>
                          <a:cs typeface="Helvetica Neue"/>
                        </a:rPr>
                        <a:t>Host yönetimi</a:t>
                      </a:r>
                    </a:p>
                  </a:txBody>
                  <a:tcPr marL="114300" marR="114300" marT="47625" marB="47625" anchor="ctr">
                    <a:solidFill>
                      <a:srgbClr val="FFFFFF"/>
                    </a:solidFill>
                  </a:tcPr>
                </a:tc>
                <a:tc>
                  <a:txBody>
                    <a:bodyPr/>
                    <a:lstStyle/>
                    <a:p>
                      <a:r>
                        <a:rPr sz="1800" b="0">
                          <a:solidFill>
                            <a:srgbClr val="122C42"/>
                          </a:solidFill>
                          <a:latin typeface="Helvetica Neue"/>
                          <a:ea typeface="Helvetica Neue"/>
                          <a:cs typeface="Helvetica Neue"/>
                        </a:rPr>
                        <a:t>VM yapılandırma ve lifecycle</a:t>
                      </a:r>
                    </a:p>
                  </a:txBody>
                  <a:tcPr marL="114300" marR="114300" marT="47625" marB="47625" anchor="ctr">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5F9831A3-9567-4A86-BF38-C4761855E0D5}"/>
              </a:ext>
            </a:extLst>
          </p:cNvPr>
          <p:cNvSpPr>
            <a:spLocks xmlns:a="http://schemas.openxmlformats.org/drawingml/2006/main" noGrp="1"/>
          </p:cNvSpPr>
          <p:nvPr/>
        </p:nvSpPr>
        <p:spPr>
          <a:xfrm xmlns:a="http://schemas.openxmlformats.org/drawingml/2006/main">
            <a:off x="609600" y="6496050"/>
            <a:ext cx="8572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125" b="0">
                <a:solidFill>
                  <a:srgbClr val="4D606A"/>
                </a:solidFill>
                <a:latin typeface="Helvetica Neue"/>
                <a:ea typeface="Helvetica Neue"/>
                <a:cs typeface="Helvetica Neue"/>
              </a:defRPr>
            </a:pPr>
            <a:r>
              <a:rPr sz="1125" b="0">
                <a:solidFill>
                  <a:srgbClr val="4D606A"/>
                </a:solidFill>
                <a:latin typeface="Helvetica Neue"/>
                <a:ea typeface="Helvetica Neue"/>
                <a:cs typeface="Helvetica Neue"/>
              </a:rPr>
              <a:t>CSE513 · Hafta 9</a:t>
            </a:r>
          </a:p>
        </p:txBody>
      </p:sp>
      <p:sp>
        <p:nvSpPr>
          <p:cNvPr id="5" name="">
            <a:extLst xmlns:a="http://schemas.openxmlformats.org/drawingml/2006/main">
              <a:ext uri="{FF2B5EF4-FFF2-40B4-BE49-F238E27FC236}">
                <a16:creationId xmlns:a16="http://schemas.microsoft.com/office/drawing/2014/main" id="{E9BC0AEA-93B5-4D8C-88AC-AC0981AEC8FD}"/>
              </a:ext>
            </a:extLst>
          </p:cNvPr>
          <p:cNvSpPr>
            <a:spLocks xmlns:a="http://schemas.openxmlformats.org/drawingml/2006/main" noGrp="1"/>
          </p:cNvSpPr>
          <p:nvPr/>
        </p:nvSpPr>
        <p:spPr>
          <a:xfrm xmlns:a="http://schemas.openxmlformats.org/drawingml/2006/main">
            <a:off x="10477500" y="6457950"/>
            <a:ext cx="10953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350" b="1">
                <a:solidFill>
                  <a:srgbClr val="087E83"/>
                </a:solidFill>
                <a:latin typeface="Helvetica Neue"/>
                <a:ea typeface="Helvetica Neue"/>
                <a:cs typeface="Helvetica Neue"/>
              </a:defRPr>
            </a:pPr>
            <a:r>
              <a:rPr sz="1350" b="1">
                <a:solidFill>
                  <a:srgbClr val="087E83"/>
                </a:solidFill>
                <a:latin typeface="Helvetica Neue"/>
                <a:ea typeface="Helvetica Neue"/>
                <a:cs typeface="Helvetica Neue"/>
              </a:rPr>
              <a:t>05 / 27</a:t>
            </a:r>
          </a:p>
        </p:txBody>
      </p:sp>
    </p:spTree>
    <p:extLst>
      <p:ext uri="{BB962C8B-B14F-4D97-AF65-F5344CB8AC3E}">
        <p14:creationId xmlns:p14="http://schemas.microsoft.com/office/powerpoint/2010/main" val="857699775"/>
      </p:ext>
    </p:extLst>
  </p:cSld>
</p:sld>
</file>

<file path=ppt/slides/slide6.xml><?xml version="1.0" encoding="utf-8"?>
<p:sld xmlns:p="http://schemas.openxmlformats.org/presentationml/2006/main">
  <p:cSld>
    <p:bg>
      <p:bgPr>
        <a:solidFill xmlns:a="http://schemas.openxmlformats.org/drawingml/2006/main">
          <a:srgbClr val="F5F1E8"/>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24253784-C7F8-4248-88AB-CBD1C99DFAC4}"/>
              </a:ext>
            </a:extLst>
          </p:cNvPr>
          <p:cNvSpPr>
            <a:spLocks xmlns:a="http://schemas.openxmlformats.org/drawingml/2006/main" noGrp="1"/>
          </p:cNvSpPr>
          <p:nvPr/>
        </p:nvSpPr>
        <p:spPr>
          <a:xfrm xmlns:a="http://schemas.openxmlformats.org/drawingml/2006/main">
            <a:off x="609600" y="600075"/>
            <a:ext cx="1097280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300" b="1">
                <a:solidFill>
                  <a:srgbClr val="122C42"/>
                </a:solidFill>
                <a:latin typeface="Helvetica Neue"/>
                <a:ea typeface="Helvetica Neue"/>
                <a:cs typeface="Helvetica Neue"/>
              </a:defRPr>
            </a:pPr>
            <a:r>
              <a:rPr sz="3300" b="1">
                <a:solidFill>
                  <a:srgbClr val="122C42"/>
                </a:solidFill>
                <a:latin typeface="Helvetica Neue"/>
                <a:ea typeface="Helvetica Neue"/>
                <a:cs typeface="Helvetica Neue"/>
              </a:rPr>
              <a:t>vCPU fiziksel CPU garantisi mi?</a:t>
            </a:r>
          </a:p>
        </p:txBody>
      </p:sp>
      <p:sp>
        <p:nvSpPr>
          <p:cNvPr id="2" name="">
            <a:extLst xmlns:a="http://schemas.openxmlformats.org/drawingml/2006/main">
              <a:ext uri="{FF2B5EF4-FFF2-40B4-BE49-F238E27FC236}">
                <a16:creationId xmlns:a16="http://schemas.microsoft.com/office/drawing/2014/main" id="{6700E016-19DE-452D-B4C3-BA8D22D218AC}"/>
              </a:ext>
            </a:extLst>
          </p:cNvPr>
          <p:cNvSpPr>
            <a:spLocks xmlns:a="http://schemas.openxmlformats.org/drawingml/2006/main" noGrp="1"/>
          </p:cNvSpPr>
          <p:nvPr/>
        </p:nvSpPr>
        <p:spPr>
          <a:xfrm xmlns:a="http://schemas.openxmlformats.org/drawingml/2006/main">
            <a:off x="609600" y="1952625"/>
            <a:ext cx="438150" cy="771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1">
                <a:solidFill>
                  <a:srgbClr val="087E83"/>
                </a:solidFill>
                <a:latin typeface="Helvetica Neue"/>
                <a:ea typeface="Helvetica Neue"/>
                <a:cs typeface="Helvetica Neue"/>
              </a:defRPr>
            </a:pPr>
            <a:r>
              <a:rPr sz="2100" b="1">
                <a:solidFill>
                  <a:srgbClr val="087E83"/>
                </a:solidFill>
                <a:latin typeface="Helvetica Neue"/>
                <a:ea typeface="Helvetica Neue"/>
                <a:cs typeface="Helvetica Neue"/>
              </a:rPr>
              <a:t>01</a:t>
            </a:r>
          </a:p>
        </p:txBody>
      </p:sp>
      <p:sp>
        <p:nvSpPr>
          <p:cNvPr id="3" name="">
            <a:extLst xmlns:a="http://schemas.openxmlformats.org/drawingml/2006/main">
              <a:ext uri="{FF2B5EF4-FFF2-40B4-BE49-F238E27FC236}">
                <a16:creationId xmlns:a16="http://schemas.microsoft.com/office/drawing/2014/main" id="{D85ED0ED-0AB2-4494-92D5-D53622BB9E2A}"/>
              </a:ext>
            </a:extLst>
          </p:cNvPr>
          <p:cNvSpPr>
            <a:spLocks xmlns:a="http://schemas.openxmlformats.org/drawingml/2006/main" noGrp="1"/>
          </p:cNvSpPr>
          <p:nvPr/>
        </p:nvSpPr>
        <p:spPr>
          <a:xfrm xmlns:a="http://schemas.openxmlformats.org/drawingml/2006/main">
            <a:off x="1333500" y="1952625"/>
            <a:ext cx="10248900" cy="771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400" b="0">
                <a:solidFill>
                  <a:srgbClr val="122C42"/>
                </a:solidFill>
                <a:latin typeface="Helvetica Neue"/>
                <a:ea typeface="Helvetica Neue"/>
                <a:cs typeface="Helvetica Neue"/>
              </a:defRPr>
            </a:pPr>
            <a:r>
              <a:rPr sz="2400" b="0">
                <a:solidFill>
                  <a:srgbClr val="122C42"/>
                </a:solidFill>
                <a:latin typeface="Helvetica Neue"/>
                <a:ea typeface="Helvetica Neue"/>
                <a:cs typeface="Helvetica Neue"/>
              </a:rPr>
              <a:t>vCPU: guest’in yürütme arayüzü.</a:t>
            </a:r>
          </a:p>
        </p:txBody>
      </p:sp>
      <p:sp>
        <p:nvSpPr>
          <p:cNvPr id="4" name="">
            <a:extLst xmlns:a="http://schemas.openxmlformats.org/drawingml/2006/main">
              <a:ext uri="{FF2B5EF4-FFF2-40B4-BE49-F238E27FC236}">
                <a16:creationId xmlns:a16="http://schemas.microsoft.com/office/drawing/2014/main" id="{413D28B3-7E1A-4628-84A0-4523A509341F}"/>
              </a:ext>
            </a:extLst>
          </p:cNvPr>
          <p:cNvSpPr>
            <a:spLocks xmlns:a="http://schemas.openxmlformats.org/drawingml/2006/main" noGrp="1"/>
          </p:cNvSpPr>
          <p:nvPr/>
        </p:nvSpPr>
        <p:spPr>
          <a:xfrm xmlns:a="http://schemas.openxmlformats.org/drawingml/2006/main">
            <a:off x="609600" y="2819400"/>
            <a:ext cx="438150" cy="771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1">
                <a:solidFill>
                  <a:srgbClr val="087E83"/>
                </a:solidFill>
                <a:latin typeface="Helvetica Neue"/>
                <a:ea typeface="Helvetica Neue"/>
                <a:cs typeface="Helvetica Neue"/>
              </a:defRPr>
            </a:pPr>
            <a:r>
              <a:rPr sz="2100" b="1">
                <a:solidFill>
                  <a:srgbClr val="087E83"/>
                </a:solidFill>
                <a:latin typeface="Helvetica Neue"/>
                <a:ea typeface="Helvetica Neue"/>
                <a:cs typeface="Helvetica Neue"/>
              </a:rPr>
              <a:t>02</a:t>
            </a:r>
          </a:p>
        </p:txBody>
      </p:sp>
      <p:sp>
        <p:nvSpPr>
          <p:cNvPr id="5" name="">
            <a:extLst xmlns:a="http://schemas.openxmlformats.org/drawingml/2006/main">
              <a:ext uri="{FF2B5EF4-FFF2-40B4-BE49-F238E27FC236}">
                <a16:creationId xmlns:a16="http://schemas.microsoft.com/office/drawing/2014/main" id="{39E7F2B1-70BD-467B-9AEB-B92906ACCDBA}"/>
              </a:ext>
            </a:extLst>
          </p:cNvPr>
          <p:cNvSpPr>
            <a:spLocks xmlns:a="http://schemas.openxmlformats.org/drawingml/2006/main" noGrp="1"/>
          </p:cNvSpPr>
          <p:nvPr/>
        </p:nvSpPr>
        <p:spPr>
          <a:xfrm xmlns:a="http://schemas.openxmlformats.org/drawingml/2006/main">
            <a:off x="1333500" y="2819400"/>
            <a:ext cx="10248900" cy="771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400" b="0">
                <a:solidFill>
                  <a:srgbClr val="122C42"/>
                </a:solidFill>
                <a:latin typeface="Helvetica Neue"/>
                <a:ea typeface="Helvetica Neue"/>
                <a:cs typeface="Helvetica Neue"/>
              </a:defRPr>
            </a:pPr>
            <a:r>
              <a:rPr sz="2400" b="0">
                <a:solidFill>
                  <a:srgbClr val="122C42"/>
                </a:solidFill>
                <a:latin typeface="Helvetica Neue"/>
                <a:ea typeface="Helvetica Neue"/>
                <a:cs typeface="Helvetica Neue"/>
              </a:rPr>
              <a:t>Host scheduling fiziksel ilerlemeyi belirler.</a:t>
            </a:r>
          </a:p>
        </p:txBody>
      </p:sp>
      <p:sp>
        <p:nvSpPr>
          <p:cNvPr id="6" name="">
            <a:extLst xmlns:a="http://schemas.openxmlformats.org/drawingml/2006/main">
              <a:ext uri="{FF2B5EF4-FFF2-40B4-BE49-F238E27FC236}">
                <a16:creationId xmlns:a16="http://schemas.microsoft.com/office/drawing/2014/main" id="{754EC047-64EA-41E4-A1AB-7641617101C2}"/>
              </a:ext>
            </a:extLst>
          </p:cNvPr>
          <p:cNvSpPr>
            <a:spLocks xmlns:a="http://schemas.openxmlformats.org/drawingml/2006/main" noGrp="1"/>
          </p:cNvSpPr>
          <p:nvPr/>
        </p:nvSpPr>
        <p:spPr>
          <a:xfrm xmlns:a="http://schemas.openxmlformats.org/drawingml/2006/main">
            <a:off x="609600" y="3686175"/>
            <a:ext cx="438150" cy="771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1">
                <a:solidFill>
                  <a:srgbClr val="087E83"/>
                </a:solidFill>
                <a:latin typeface="Helvetica Neue"/>
                <a:ea typeface="Helvetica Neue"/>
                <a:cs typeface="Helvetica Neue"/>
              </a:defRPr>
            </a:pPr>
            <a:r>
              <a:rPr sz="2100" b="1">
                <a:solidFill>
                  <a:srgbClr val="087E83"/>
                </a:solidFill>
                <a:latin typeface="Helvetica Neue"/>
                <a:ea typeface="Helvetica Neue"/>
                <a:cs typeface="Helvetica Neue"/>
              </a:rPr>
              <a:t>03</a:t>
            </a:r>
          </a:p>
        </p:txBody>
      </p:sp>
      <p:sp>
        <p:nvSpPr>
          <p:cNvPr id="7" name="">
            <a:extLst xmlns:a="http://schemas.openxmlformats.org/drawingml/2006/main">
              <a:ext uri="{FF2B5EF4-FFF2-40B4-BE49-F238E27FC236}">
                <a16:creationId xmlns:a16="http://schemas.microsoft.com/office/drawing/2014/main" id="{11B1D067-0777-45D9-9C2D-EEDEA3B3E8B7}"/>
              </a:ext>
            </a:extLst>
          </p:cNvPr>
          <p:cNvSpPr>
            <a:spLocks xmlns:a="http://schemas.openxmlformats.org/drawingml/2006/main" noGrp="1"/>
          </p:cNvSpPr>
          <p:nvPr/>
        </p:nvSpPr>
        <p:spPr>
          <a:xfrm xmlns:a="http://schemas.openxmlformats.org/drawingml/2006/main">
            <a:off x="1333500" y="3686175"/>
            <a:ext cx="10248900" cy="771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400" b="0">
                <a:solidFill>
                  <a:srgbClr val="122C42"/>
                </a:solidFill>
                <a:latin typeface="Helvetica Neue"/>
                <a:ea typeface="Helvetica Neue"/>
                <a:cs typeface="Helvetica Neue"/>
              </a:defRPr>
            </a:pPr>
            <a:r>
              <a:rPr sz="2400" b="0">
                <a:solidFill>
                  <a:srgbClr val="122C42"/>
                </a:solidFill>
                <a:latin typeface="Helvetica Neue"/>
                <a:ea typeface="Helvetica Neue"/>
                <a:cs typeface="Helvetica Neue"/>
              </a:rPr>
              <a:t>Allocation ≠ reservation.</a:t>
            </a:r>
          </a:p>
        </p:txBody>
      </p:sp>
      <p:sp>
        <p:nvSpPr>
          <p:cNvPr id="8" name="">
            <a:extLst xmlns:a="http://schemas.openxmlformats.org/drawingml/2006/main">
              <a:ext uri="{FF2B5EF4-FFF2-40B4-BE49-F238E27FC236}">
                <a16:creationId xmlns:a16="http://schemas.microsoft.com/office/drawing/2014/main" id="{6A531003-E07B-4A77-9404-846CABCC43E0}"/>
              </a:ext>
            </a:extLst>
          </p:cNvPr>
          <p:cNvSpPr>
            <a:spLocks xmlns:a="http://schemas.openxmlformats.org/drawingml/2006/main" noGrp="1"/>
          </p:cNvSpPr>
          <p:nvPr/>
        </p:nvSpPr>
        <p:spPr>
          <a:xfrm xmlns:a="http://schemas.openxmlformats.org/drawingml/2006/main">
            <a:off x="609600" y="4714875"/>
            <a:ext cx="109728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75" b="1">
                <a:solidFill>
                  <a:srgbClr val="087E83"/>
                </a:solidFill>
                <a:latin typeface="Helvetica Neue"/>
                <a:ea typeface="Helvetica Neue"/>
                <a:cs typeface="Helvetica Neue"/>
              </a:defRPr>
            </a:pPr>
            <a:r>
              <a:rPr sz="1875" b="1">
                <a:solidFill>
                  <a:srgbClr val="087E83"/>
                </a:solidFill>
                <a:latin typeface="Helvetica Neue"/>
                <a:ea typeface="Helvetica Neue"/>
                <a:cs typeface="Helvetica Neue"/>
              </a:rPr>
              <a:t>Düşün: 4 vCPU her zaman 4 kat throughput mu?</a:t>
            </a:r>
          </a:p>
        </p:txBody>
      </p:sp>
      <p:sp>
        <p:nvSpPr>
          <p:cNvPr id="9" name="">
            <a:extLst xmlns:a="http://schemas.openxmlformats.org/drawingml/2006/main">
              <a:ext uri="{FF2B5EF4-FFF2-40B4-BE49-F238E27FC236}">
                <a16:creationId xmlns:a16="http://schemas.microsoft.com/office/drawing/2014/main" id="{78DCF872-61AE-4CD0-928F-CA4CFB534982}"/>
              </a:ext>
            </a:extLst>
          </p:cNvPr>
          <p:cNvSpPr>
            <a:spLocks xmlns:a="http://schemas.openxmlformats.org/drawingml/2006/main" noGrp="1"/>
          </p:cNvSpPr>
          <p:nvPr/>
        </p:nvSpPr>
        <p:spPr>
          <a:xfrm xmlns:a="http://schemas.openxmlformats.org/drawingml/2006/main">
            <a:off x="609600" y="5438775"/>
            <a:ext cx="109728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500" b="1">
                <a:solidFill>
                  <a:srgbClr val="C46225"/>
                </a:solidFill>
                <a:latin typeface="Helvetica Neue"/>
                <a:ea typeface="Helvetica Neue"/>
                <a:cs typeface="Helvetica Neue"/>
              </a:defRPr>
            </a:pPr>
            <a:r>
              <a:rPr sz="1500" b="1">
                <a:solidFill>
                  <a:srgbClr val="C46225"/>
                </a:solidFill>
                <a:latin typeface="Helvetica Neue"/>
                <a:ea typeface="Helvetica Neue"/>
                <a:cs typeface="Helvetica Neue"/>
              </a:rPr>
              <a:t>GERÇEK HAYAT · CI test runner</a:t>
            </a:r>
          </a:p>
        </p:txBody>
      </p:sp>
      <p:sp>
        <p:nvSpPr>
          <p:cNvPr id="10" name="">
            <a:extLst xmlns:a="http://schemas.openxmlformats.org/drawingml/2006/main">
              <a:ext uri="{FF2B5EF4-FFF2-40B4-BE49-F238E27FC236}">
                <a16:creationId xmlns:a16="http://schemas.microsoft.com/office/drawing/2014/main" id="{8ED5B1F8-1967-44B4-86D2-AEDAA55ACC2E}"/>
              </a:ext>
            </a:extLst>
          </p:cNvPr>
          <p:cNvSpPr>
            <a:spLocks xmlns:a="http://schemas.openxmlformats.org/drawingml/2006/main" noGrp="1"/>
          </p:cNvSpPr>
          <p:nvPr/>
        </p:nvSpPr>
        <p:spPr>
          <a:xfrm xmlns:a="http://schemas.openxmlformats.org/drawingml/2006/main">
            <a:off x="609600" y="5781675"/>
            <a:ext cx="109728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650" b="0">
                <a:solidFill>
                  <a:srgbClr val="4D606A"/>
                </a:solidFill>
                <a:latin typeface="Helvetica Neue"/>
                <a:ea typeface="Helvetica Neue"/>
                <a:cs typeface="Helvetica Neue"/>
              </a:defRPr>
            </a:pPr>
            <a:r>
              <a:rPr sz="1650" b="0">
                <a:solidFill>
                  <a:srgbClr val="4D606A"/>
                </a:solidFill>
                <a:latin typeface="Helvetica Neue"/>
                <a:ea typeface="Helvetica Neue"/>
                <a:cs typeface="Helvetica Neue"/>
              </a:rPr>
              <a:t>Paralel testler aynı host’u paylaşır.</a:t>
            </a:r>
          </a:p>
        </p:txBody>
      </p:sp>
      <p:sp>
        <p:nvSpPr>
          <p:cNvPr id="11" name="">
            <a:extLst xmlns:a="http://schemas.openxmlformats.org/drawingml/2006/main">
              <a:ext uri="{FF2B5EF4-FFF2-40B4-BE49-F238E27FC236}">
                <a16:creationId xmlns:a16="http://schemas.microsoft.com/office/drawing/2014/main" id="{3B73F5D7-7984-408E-AA3F-C8A32B40056F}"/>
              </a:ext>
            </a:extLst>
          </p:cNvPr>
          <p:cNvSpPr>
            <a:spLocks xmlns:a="http://schemas.openxmlformats.org/drawingml/2006/main" noGrp="1"/>
          </p:cNvSpPr>
          <p:nvPr/>
        </p:nvSpPr>
        <p:spPr>
          <a:xfrm xmlns:a="http://schemas.openxmlformats.org/drawingml/2006/main">
            <a:off x="609600" y="6496050"/>
            <a:ext cx="8572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125" b="0">
                <a:solidFill>
                  <a:srgbClr val="4D606A"/>
                </a:solidFill>
                <a:latin typeface="Helvetica Neue"/>
                <a:ea typeface="Helvetica Neue"/>
                <a:cs typeface="Helvetica Neue"/>
              </a:defRPr>
            </a:pPr>
            <a:r>
              <a:rPr sz="1125" b="0">
                <a:solidFill>
                  <a:srgbClr val="4D606A"/>
                </a:solidFill>
                <a:latin typeface="Helvetica Neue"/>
                <a:ea typeface="Helvetica Neue"/>
                <a:cs typeface="Helvetica Neue"/>
              </a:rPr>
              <a:t>CSE513 · Hafta 9</a:t>
            </a:r>
          </a:p>
        </p:txBody>
      </p:sp>
      <p:sp>
        <p:nvSpPr>
          <p:cNvPr id="12" name="">
            <a:extLst xmlns:a="http://schemas.openxmlformats.org/drawingml/2006/main">
              <a:ext uri="{FF2B5EF4-FFF2-40B4-BE49-F238E27FC236}">
                <a16:creationId xmlns:a16="http://schemas.microsoft.com/office/drawing/2014/main" id="{C1963FA0-2E9A-4D71-A924-4CED9D27A85A}"/>
              </a:ext>
            </a:extLst>
          </p:cNvPr>
          <p:cNvSpPr>
            <a:spLocks xmlns:a="http://schemas.openxmlformats.org/drawingml/2006/main" noGrp="1"/>
          </p:cNvSpPr>
          <p:nvPr/>
        </p:nvSpPr>
        <p:spPr>
          <a:xfrm xmlns:a="http://schemas.openxmlformats.org/drawingml/2006/main">
            <a:off x="10477500" y="6457950"/>
            <a:ext cx="10953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350" b="1">
                <a:solidFill>
                  <a:srgbClr val="087E83"/>
                </a:solidFill>
                <a:latin typeface="Helvetica Neue"/>
                <a:ea typeface="Helvetica Neue"/>
                <a:cs typeface="Helvetica Neue"/>
              </a:defRPr>
            </a:pPr>
            <a:r>
              <a:rPr sz="1350" b="1">
                <a:solidFill>
                  <a:srgbClr val="087E83"/>
                </a:solidFill>
                <a:latin typeface="Helvetica Neue"/>
                <a:ea typeface="Helvetica Neue"/>
                <a:cs typeface="Helvetica Neue"/>
              </a:rPr>
              <a:t>06 / 27</a:t>
            </a:r>
          </a:p>
        </p:txBody>
      </p:sp>
    </p:spTree>
    <p:extLst>
      <p:ext uri="{BB962C8B-B14F-4D97-AF65-F5344CB8AC3E}">
        <p14:creationId xmlns:p14="http://schemas.microsoft.com/office/powerpoint/2010/main" val="1810228165"/>
      </p:ext>
    </p:extLst>
  </p:cSld>
</p:sld>
</file>

<file path=ppt/slides/slide7.xml><?xml version="1.0" encoding="utf-8"?>
<p:sld xmlns:p="http://schemas.openxmlformats.org/presentationml/2006/main">
  <p:cSld>
    <p:bg>
      <p:bgPr>
        <a:solidFill xmlns:a="http://schemas.openxmlformats.org/drawingml/2006/main">
          <a:srgbClr val="F5F1E8"/>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B2207BC6-5600-4E56-ADE8-AF2DB37137A5}"/>
              </a:ext>
            </a:extLst>
          </p:cNvPr>
          <p:cNvSpPr>
            <a:spLocks xmlns:a="http://schemas.openxmlformats.org/drawingml/2006/main" noGrp="1"/>
          </p:cNvSpPr>
          <p:nvPr/>
        </p:nvSpPr>
        <p:spPr>
          <a:xfrm xmlns:a="http://schemas.openxmlformats.org/drawingml/2006/main">
            <a:off x="609600" y="600075"/>
            <a:ext cx="1097280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300" b="1">
                <a:solidFill>
                  <a:srgbClr val="122C42"/>
                </a:solidFill>
                <a:latin typeface="Helvetica Neue"/>
                <a:ea typeface="Helvetica Neue"/>
                <a:cs typeface="Helvetica Neue"/>
              </a:defRPr>
            </a:pPr>
            <a:r>
              <a:rPr sz="3300" b="1">
                <a:solidFill>
                  <a:srgbClr val="122C42"/>
                </a:solidFill>
                <a:latin typeface="Helvetica Neue"/>
                <a:ea typeface="Helvetica Neue"/>
                <a:cs typeface="Helvetica Neue"/>
              </a:rPr>
              <a:t>Guest adresi host pointer’ı değildir</a:t>
            </a:r>
          </a:p>
        </p:txBody>
      </p:sp>
      <p:sp>
        <p:nvSpPr>
          <p:cNvPr id="2" name="">
            <a:extLst xmlns:a="http://schemas.openxmlformats.org/drawingml/2006/main">
              <a:ext uri="{FF2B5EF4-FFF2-40B4-BE49-F238E27FC236}">
                <a16:creationId xmlns:a16="http://schemas.microsoft.com/office/drawing/2014/main" id="{30B9B559-7BAD-4E40-9ED7-B76DAC8AFD54}"/>
              </a:ext>
            </a:extLst>
          </p:cNvPr>
          <p:cNvSpPr>
            <a:spLocks xmlns:a="http://schemas.openxmlformats.org/drawingml/2006/main" noGrp="1"/>
          </p:cNvSpPr>
          <p:nvPr/>
        </p:nvSpPr>
        <p:spPr>
          <a:xfrm xmlns:a="http://schemas.openxmlformats.org/drawingml/2006/main">
            <a:off x="609600" y="1952625"/>
            <a:ext cx="438150" cy="993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1">
                <a:solidFill>
                  <a:srgbClr val="087E83"/>
                </a:solidFill>
                <a:latin typeface="Helvetica Neue"/>
                <a:ea typeface="Helvetica Neue"/>
                <a:cs typeface="Helvetica Neue"/>
              </a:defRPr>
            </a:pPr>
            <a:r>
              <a:rPr sz="2100" b="1">
                <a:solidFill>
                  <a:srgbClr val="087E83"/>
                </a:solidFill>
                <a:latin typeface="Helvetica Neue"/>
                <a:ea typeface="Helvetica Neue"/>
                <a:cs typeface="Helvetica Neue"/>
              </a:rPr>
              <a:t>01</a:t>
            </a:r>
          </a:p>
        </p:txBody>
      </p:sp>
      <p:sp>
        <p:nvSpPr>
          <p:cNvPr id="3" name="">
            <a:extLst xmlns:a="http://schemas.openxmlformats.org/drawingml/2006/main">
              <a:ext uri="{FF2B5EF4-FFF2-40B4-BE49-F238E27FC236}">
                <a16:creationId xmlns:a16="http://schemas.microsoft.com/office/drawing/2014/main" id="{D0D7C3AC-8CDA-4838-A564-EAEA7640198D}"/>
              </a:ext>
            </a:extLst>
          </p:cNvPr>
          <p:cNvSpPr>
            <a:spLocks xmlns:a="http://schemas.openxmlformats.org/drawingml/2006/main" noGrp="1"/>
          </p:cNvSpPr>
          <p:nvPr/>
        </p:nvSpPr>
        <p:spPr>
          <a:xfrm xmlns:a="http://schemas.openxmlformats.org/drawingml/2006/main">
            <a:off x="1333500" y="1952625"/>
            <a:ext cx="10248900" cy="993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400" b="0">
                <a:solidFill>
                  <a:srgbClr val="122C42"/>
                </a:solidFill>
                <a:latin typeface="Helvetica Neue"/>
                <a:ea typeface="Helvetica Neue"/>
                <a:cs typeface="Helvetica Neue"/>
              </a:defRPr>
            </a:pPr>
            <a:r>
              <a:rPr sz="2400" b="0">
                <a:solidFill>
                  <a:srgbClr val="122C42"/>
                </a:solidFill>
                <a:latin typeface="Helvetica Neue"/>
                <a:ea typeface="Helvetica Neue"/>
                <a:cs typeface="Helvetica Neue"/>
              </a:rPr>
              <a:t>Guest virtual → guest physical.</a:t>
            </a:r>
          </a:p>
        </p:txBody>
      </p:sp>
      <p:sp>
        <p:nvSpPr>
          <p:cNvPr id="4" name="">
            <a:extLst xmlns:a="http://schemas.openxmlformats.org/drawingml/2006/main">
              <a:ext uri="{FF2B5EF4-FFF2-40B4-BE49-F238E27FC236}">
                <a16:creationId xmlns:a16="http://schemas.microsoft.com/office/drawing/2014/main" id="{B6E1C0ED-A5AB-4436-8F4E-BA1D923AA03B}"/>
              </a:ext>
            </a:extLst>
          </p:cNvPr>
          <p:cNvSpPr>
            <a:spLocks xmlns:a="http://schemas.openxmlformats.org/drawingml/2006/main" noGrp="1"/>
          </p:cNvSpPr>
          <p:nvPr/>
        </p:nvSpPr>
        <p:spPr>
          <a:xfrm xmlns:a="http://schemas.openxmlformats.org/drawingml/2006/main">
            <a:off x="609600" y="3041650"/>
            <a:ext cx="438150" cy="993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1">
                <a:solidFill>
                  <a:srgbClr val="087E83"/>
                </a:solidFill>
                <a:latin typeface="Helvetica Neue"/>
                <a:ea typeface="Helvetica Neue"/>
                <a:cs typeface="Helvetica Neue"/>
              </a:defRPr>
            </a:pPr>
            <a:r>
              <a:rPr sz="2100" b="1">
                <a:solidFill>
                  <a:srgbClr val="087E83"/>
                </a:solidFill>
                <a:latin typeface="Helvetica Neue"/>
                <a:ea typeface="Helvetica Neue"/>
                <a:cs typeface="Helvetica Neue"/>
              </a:rPr>
              <a:t>02</a:t>
            </a:r>
          </a:p>
        </p:txBody>
      </p:sp>
      <p:sp>
        <p:nvSpPr>
          <p:cNvPr id="5" name="">
            <a:extLst xmlns:a="http://schemas.openxmlformats.org/drawingml/2006/main">
              <a:ext uri="{FF2B5EF4-FFF2-40B4-BE49-F238E27FC236}">
                <a16:creationId xmlns:a16="http://schemas.microsoft.com/office/drawing/2014/main" id="{1544D164-3ABF-4356-AD48-C416ED08E797}"/>
              </a:ext>
            </a:extLst>
          </p:cNvPr>
          <p:cNvSpPr>
            <a:spLocks xmlns:a="http://schemas.openxmlformats.org/drawingml/2006/main" noGrp="1"/>
          </p:cNvSpPr>
          <p:nvPr/>
        </p:nvSpPr>
        <p:spPr>
          <a:xfrm xmlns:a="http://schemas.openxmlformats.org/drawingml/2006/main">
            <a:off x="1333500" y="3041650"/>
            <a:ext cx="10248900" cy="993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400" b="0">
                <a:solidFill>
                  <a:srgbClr val="122C42"/>
                </a:solidFill>
                <a:latin typeface="Helvetica Neue"/>
                <a:ea typeface="Helvetica Neue"/>
                <a:cs typeface="Helvetica Neue"/>
              </a:defRPr>
            </a:pPr>
            <a:r>
              <a:rPr sz="2400" b="0">
                <a:solidFill>
                  <a:srgbClr val="122C42"/>
                </a:solidFill>
                <a:latin typeface="Helvetica Neue"/>
                <a:ea typeface="Helvetica Neue"/>
                <a:cs typeface="Helvetica Neue"/>
              </a:rPr>
              <a:t>Virtualization guest physical’ı host memory’ye eşler.</a:t>
            </a:r>
          </a:p>
        </p:txBody>
      </p:sp>
      <p:sp>
        <p:nvSpPr>
          <p:cNvPr id="6" name="">
            <a:extLst xmlns:a="http://schemas.openxmlformats.org/drawingml/2006/main">
              <a:ext uri="{FF2B5EF4-FFF2-40B4-BE49-F238E27FC236}">
                <a16:creationId xmlns:a16="http://schemas.microsoft.com/office/drawing/2014/main" id="{FDF2CE5E-CBB3-4BD7-83CA-38678EF07DB5}"/>
              </a:ext>
            </a:extLst>
          </p:cNvPr>
          <p:cNvSpPr>
            <a:spLocks xmlns:a="http://schemas.openxmlformats.org/drawingml/2006/main" noGrp="1"/>
          </p:cNvSpPr>
          <p:nvPr/>
        </p:nvSpPr>
        <p:spPr>
          <a:xfrm xmlns:a="http://schemas.openxmlformats.org/drawingml/2006/main">
            <a:off x="609600" y="4130675"/>
            <a:ext cx="438150" cy="993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1">
                <a:solidFill>
                  <a:srgbClr val="087E83"/>
                </a:solidFill>
                <a:latin typeface="Helvetica Neue"/>
                <a:ea typeface="Helvetica Neue"/>
                <a:cs typeface="Helvetica Neue"/>
              </a:defRPr>
            </a:pPr>
            <a:r>
              <a:rPr sz="2100" b="1">
                <a:solidFill>
                  <a:srgbClr val="087E83"/>
                </a:solidFill>
                <a:latin typeface="Helvetica Neue"/>
                <a:ea typeface="Helvetica Neue"/>
                <a:cs typeface="Helvetica Neue"/>
              </a:rPr>
              <a:t>03</a:t>
            </a:r>
          </a:p>
        </p:txBody>
      </p:sp>
      <p:sp>
        <p:nvSpPr>
          <p:cNvPr id="7" name="">
            <a:extLst xmlns:a="http://schemas.openxmlformats.org/drawingml/2006/main">
              <a:ext uri="{FF2B5EF4-FFF2-40B4-BE49-F238E27FC236}">
                <a16:creationId xmlns:a16="http://schemas.microsoft.com/office/drawing/2014/main" id="{DA6F67AA-6E35-4EBF-886A-DA65D2EAF6B3}"/>
              </a:ext>
            </a:extLst>
          </p:cNvPr>
          <p:cNvSpPr>
            <a:spLocks xmlns:a="http://schemas.openxmlformats.org/drawingml/2006/main" noGrp="1"/>
          </p:cNvSpPr>
          <p:nvPr/>
        </p:nvSpPr>
        <p:spPr>
          <a:xfrm xmlns:a="http://schemas.openxmlformats.org/drawingml/2006/main">
            <a:off x="1333500" y="4130675"/>
            <a:ext cx="10248900" cy="993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400" b="0">
                <a:solidFill>
                  <a:srgbClr val="122C42"/>
                </a:solidFill>
                <a:latin typeface="Helvetica Neue"/>
                <a:ea typeface="Helvetica Neue"/>
                <a:cs typeface="Helvetica Neue"/>
              </a:defRPr>
            </a:pPr>
            <a:r>
              <a:rPr sz="2400" b="0">
                <a:solidFill>
                  <a:srgbClr val="122C42"/>
                </a:solidFill>
                <a:latin typeface="Helvetica Neue"/>
                <a:ea typeface="Helvetica Neue"/>
                <a:cs typeface="Helvetica Neue"/>
              </a:rPr>
              <a:t>Permission ve mapping sınır uygular.</a:t>
            </a:r>
          </a:p>
        </p:txBody>
      </p:sp>
      <p:sp>
        <p:nvSpPr>
          <p:cNvPr id="8" name="">
            <a:extLst xmlns:a="http://schemas.openxmlformats.org/drawingml/2006/main">
              <a:ext uri="{FF2B5EF4-FFF2-40B4-BE49-F238E27FC236}">
                <a16:creationId xmlns:a16="http://schemas.microsoft.com/office/drawing/2014/main" id="{A4363075-62A1-4B0F-A501-31B8A53A54DF}"/>
              </a:ext>
            </a:extLst>
          </p:cNvPr>
          <p:cNvSpPr>
            <a:spLocks xmlns:a="http://schemas.openxmlformats.org/drawingml/2006/main" noGrp="1"/>
          </p:cNvSpPr>
          <p:nvPr/>
        </p:nvSpPr>
        <p:spPr>
          <a:xfrm xmlns:a="http://schemas.openxmlformats.org/drawingml/2006/main">
            <a:off x="609600" y="5438775"/>
            <a:ext cx="109728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500" b="1">
                <a:solidFill>
                  <a:srgbClr val="C46225"/>
                </a:solidFill>
                <a:latin typeface="Helvetica Neue"/>
                <a:ea typeface="Helvetica Neue"/>
                <a:cs typeface="Helvetica Neue"/>
              </a:defRPr>
            </a:pPr>
            <a:r>
              <a:rPr sz="1500" b="1">
                <a:solidFill>
                  <a:srgbClr val="C46225"/>
                </a:solidFill>
                <a:latin typeface="Helvetica Neue"/>
                <a:ea typeface="Helvetica Neue"/>
                <a:cs typeface="Helvetica Neue"/>
              </a:rPr>
              <a:t>GERÇEK HAYAT · İki guest’te 0x1000</a:t>
            </a:r>
          </a:p>
        </p:txBody>
      </p:sp>
      <p:sp>
        <p:nvSpPr>
          <p:cNvPr id="9" name="">
            <a:extLst xmlns:a="http://schemas.openxmlformats.org/drawingml/2006/main">
              <a:ext uri="{FF2B5EF4-FFF2-40B4-BE49-F238E27FC236}">
                <a16:creationId xmlns:a16="http://schemas.microsoft.com/office/drawing/2014/main" id="{089D8D3D-98FC-4FE0-9164-3ACCA3D6B074}"/>
              </a:ext>
            </a:extLst>
          </p:cNvPr>
          <p:cNvSpPr>
            <a:spLocks xmlns:a="http://schemas.openxmlformats.org/drawingml/2006/main" noGrp="1"/>
          </p:cNvSpPr>
          <p:nvPr/>
        </p:nvSpPr>
        <p:spPr>
          <a:xfrm xmlns:a="http://schemas.openxmlformats.org/drawingml/2006/main">
            <a:off x="609600" y="5781675"/>
            <a:ext cx="109728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650" b="0">
                <a:solidFill>
                  <a:srgbClr val="4D606A"/>
                </a:solidFill>
                <a:latin typeface="Helvetica Neue"/>
                <a:ea typeface="Helvetica Neue"/>
                <a:cs typeface="Helvetica Neue"/>
              </a:defRPr>
            </a:pPr>
            <a:r>
              <a:rPr sz="1650" b="0">
                <a:solidFill>
                  <a:srgbClr val="4D606A"/>
                </a:solidFill>
                <a:latin typeface="Helvetica Neue"/>
                <a:ea typeface="Helvetica Neue"/>
                <a:cs typeface="Helvetica Neue"/>
              </a:rPr>
              <a:t>Adresler aynı görünür.</a:t>
            </a:r>
          </a:p>
        </p:txBody>
      </p:sp>
      <p:sp>
        <p:nvSpPr>
          <p:cNvPr id="10" name="">
            <a:extLst xmlns:a="http://schemas.openxmlformats.org/drawingml/2006/main">
              <a:ext uri="{FF2B5EF4-FFF2-40B4-BE49-F238E27FC236}">
                <a16:creationId xmlns:a16="http://schemas.microsoft.com/office/drawing/2014/main" id="{B34FA107-3F80-469A-807F-0BB96CD1A2D4}"/>
              </a:ext>
            </a:extLst>
          </p:cNvPr>
          <p:cNvSpPr>
            <a:spLocks xmlns:a="http://schemas.openxmlformats.org/drawingml/2006/main" noGrp="1"/>
          </p:cNvSpPr>
          <p:nvPr/>
        </p:nvSpPr>
        <p:spPr>
          <a:xfrm xmlns:a="http://schemas.openxmlformats.org/drawingml/2006/main">
            <a:off x="609600" y="6496050"/>
            <a:ext cx="8572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125" b="0">
                <a:solidFill>
                  <a:srgbClr val="4D606A"/>
                </a:solidFill>
                <a:latin typeface="Helvetica Neue"/>
                <a:ea typeface="Helvetica Neue"/>
                <a:cs typeface="Helvetica Neue"/>
              </a:defRPr>
            </a:pPr>
            <a:r>
              <a:rPr sz="1125" b="0">
                <a:solidFill>
                  <a:srgbClr val="4D606A"/>
                </a:solidFill>
                <a:latin typeface="Helvetica Neue"/>
                <a:ea typeface="Helvetica Neue"/>
                <a:cs typeface="Helvetica Neue"/>
              </a:rPr>
              <a:t>CSE513 · Hafta 9</a:t>
            </a:r>
          </a:p>
        </p:txBody>
      </p:sp>
      <p:sp>
        <p:nvSpPr>
          <p:cNvPr id="11" name="">
            <a:extLst xmlns:a="http://schemas.openxmlformats.org/drawingml/2006/main">
              <a:ext uri="{FF2B5EF4-FFF2-40B4-BE49-F238E27FC236}">
                <a16:creationId xmlns:a16="http://schemas.microsoft.com/office/drawing/2014/main" id="{88215D38-86E1-44AA-92DC-6C5B25D79D13}"/>
              </a:ext>
            </a:extLst>
          </p:cNvPr>
          <p:cNvSpPr>
            <a:spLocks xmlns:a="http://schemas.openxmlformats.org/drawingml/2006/main" noGrp="1"/>
          </p:cNvSpPr>
          <p:nvPr/>
        </p:nvSpPr>
        <p:spPr>
          <a:xfrm xmlns:a="http://schemas.openxmlformats.org/drawingml/2006/main">
            <a:off x="10477500" y="6457950"/>
            <a:ext cx="10953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350" b="1">
                <a:solidFill>
                  <a:srgbClr val="087E83"/>
                </a:solidFill>
                <a:latin typeface="Helvetica Neue"/>
                <a:ea typeface="Helvetica Neue"/>
                <a:cs typeface="Helvetica Neue"/>
              </a:defRPr>
            </a:pPr>
            <a:r>
              <a:rPr sz="1350" b="1">
                <a:solidFill>
                  <a:srgbClr val="087E83"/>
                </a:solidFill>
                <a:latin typeface="Helvetica Neue"/>
                <a:ea typeface="Helvetica Neue"/>
                <a:cs typeface="Helvetica Neue"/>
              </a:rPr>
              <a:t>07 / 27</a:t>
            </a:r>
          </a:p>
        </p:txBody>
      </p:sp>
    </p:spTree>
    <p:extLst>
      <p:ext uri="{BB962C8B-B14F-4D97-AF65-F5344CB8AC3E}">
        <p14:creationId xmlns:p14="http://schemas.microsoft.com/office/powerpoint/2010/main" val="228329642"/>
      </p:ext>
    </p:extLst>
  </p:cSld>
</p:sld>
</file>

<file path=ppt/slides/slide8.xml><?xml version="1.0" encoding="utf-8"?>
<p:sld xmlns:p="http://schemas.openxmlformats.org/presentationml/2006/main">
  <p:cSld>
    <p:bg>
      <p:bgPr>
        <a:solidFill xmlns:a="http://schemas.openxmlformats.org/drawingml/2006/main">
          <a:srgbClr val="F5F1E8"/>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DD1EA717-7A24-442D-8638-E6B099226E81}"/>
              </a:ext>
            </a:extLst>
          </p:cNvPr>
          <p:cNvSpPr>
            <a:spLocks xmlns:a="http://schemas.openxmlformats.org/drawingml/2006/main" noGrp="1"/>
          </p:cNvSpPr>
          <p:nvPr/>
        </p:nvSpPr>
        <p:spPr>
          <a:xfrm xmlns:a="http://schemas.openxmlformats.org/drawingml/2006/main">
            <a:off x="609600" y="600075"/>
            <a:ext cx="1097280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300" b="1">
                <a:solidFill>
                  <a:srgbClr val="122C42"/>
                </a:solidFill>
                <a:latin typeface="Helvetica Neue"/>
                <a:ea typeface="Helvetica Neue"/>
                <a:cs typeface="Helvetica Neue"/>
              </a:defRPr>
            </a:pPr>
            <a:r>
              <a:rPr sz="3300" b="1">
                <a:solidFill>
                  <a:srgbClr val="122C42"/>
                </a:solidFill>
                <a:latin typeface="Helvetica Neue"/>
                <a:ea typeface="Helvetica Neue"/>
                <a:cs typeface="Helvetica Neue"/>
              </a:rPr>
              <a:t>Virtual I/O: paylaşılan dış dünya</a:t>
            </a:r>
          </a:p>
        </p:txBody>
      </p:sp>
      <p:sp>
        <p:nvSpPr>
          <p:cNvPr id="2" name="">
            <a:extLst xmlns:a="http://schemas.openxmlformats.org/drawingml/2006/main">
              <a:ext uri="{FF2B5EF4-FFF2-40B4-BE49-F238E27FC236}">
                <a16:creationId xmlns:a16="http://schemas.microsoft.com/office/drawing/2014/main" id="{4DE49940-B783-4C6F-8E06-0A34B347C9E3}"/>
              </a:ext>
            </a:extLst>
          </p:cNvPr>
          <p:cNvSpPr>
            <a:spLocks xmlns:a="http://schemas.openxmlformats.org/drawingml/2006/main" noGrp="1"/>
          </p:cNvSpPr>
          <p:nvPr/>
        </p:nvSpPr>
        <p:spPr>
          <a:xfrm xmlns:a="http://schemas.openxmlformats.org/drawingml/2006/main">
            <a:off x="609600" y="1952625"/>
            <a:ext cx="438150" cy="993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1">
                <a:solidFill>
                  <a:srgbClr val="087E83"/>
                </a:solidFill>
                <a:latin typeface="Helvetica Neue"/>
                <a:ea typeface="Helvetica Neue"/>
                <a:cs typeface="Helvetica Neue"/>
              </a:defRPr>
            </a:pPr>
            <a:r>
              <a:rPr sz="2100" b="1">
                <a:solidFill>
                  <a:srgbClr val="087E83"/>
                </a:solidFill>
                <a:latin typeface="Helvetica Neue"/>
                <a:ea typeface="Helvetica Neue"/>
                <a:cs typeface="Helvetica Neue"/>
              </a:rPr>
              <a:t>01</a:t>
            </a:r>
          </a:p>
        </p:txBody>
      </p:sp>
      <p:sp>
        <p:nvSpPr>
          <p:cNvPr id="3" name="">
            <a:extLst xmlns:a="http://schemas.openxmlformats.org/drawingml/2006/main">
              <a:ext uri="{FF2B5EF4-FFF2-40B4-BE49-F238E27FC236}">
                <a16:creationId xmlns:a16="http://schemas.microsoft.com/office/drawing/2014/main" id="{71E90518-A788-4FA5-A7AA-E17CC0A0D6A1}"/>
              </a:ext>
            </a:extLst>
          </p:cNvPr>
          <p:cNvSpPr>
            <a:spLocks xmlns:a="http://schemas.openxmlformats.org/drawingml/2006/main" noGrp="1"/>
          </p:cNvSpPr>
          <p:nvPr/>
        </p:nvSpPr>
        <p:spPr>
          <a:xfrm xmlns:a="http://schemas.openxmlformats.org/drawingml/2006/main">
            <a:off x="1333500" y="1952625"/>
            <a:ext cx="10248900" cy="993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400" b="0">
                <a:solidFill>
                  <a:srgbClr val="122C42"/>
                </a:solidFill>
                <a:latin typeface="Helvetica Neue"/>
                <a:ea typeface="Helvetica Neue"/>
                <a:cs typeface="Helvetica Neue"/>
              </a:defRPr>
            </a:pPr>
            <a:r>
              <a:rPr sz="2400" b="0">
                <a:solidFill>
                  <a:srgbClr val="122C42"/>
                </a:solidFill>
                <a:latin typeface="Helvetica Neue"/>
                <a:ea typeface="Helvetica Neue"/>
                <a:cs typeface="Helvetica Neue"/>
              </a:rPr>
              <a:t>Guest aygıt görünümü virtual olabilir.</a:t>
            </a:r>
          </a:p>
        </p:txBody>
      </p:sp>
      <p:sp>
        <p:nvSpPr>
          <p:cNvPr id="4" name="">
            <a:extLst xmlns:a="http://schemas.openxmlformats.org/drawingml/2006/main">
              <a:ext uri="{FF2B5EF4-FFF2-40B4-BE49-F238E27FC236}">
                <a16:creationId xmlns:a16="http://schemas.microsoft.com/office/drawing/2014/main" id="{7BC4E46D-46C8-4615-A0DD-3ADEA8100B86}"/>
              </a:ext>
            </a:extLst>
          </p:cNvPr>
          <p:cNvSpPr>
            <a:spLocks xmlns:a="http://schemas.openxmlformats.org/drawingml/2006/main" noGrp="1"/>
          </p:cNvSpPr>
          <p:nvPr/>
        </p:nvSpPr>
        <p:spPr>
          <a:xfrm xmlns:a="http://schemas.openxmlformats.org/drawingml/2006/main">
            <a:off x="609600" y="3041650"/>
            <a:ext cx="438150" cy="993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1">
                <a:solidFill>
                  <a:srgbClr val="087E83"/>
                </a:solidFill>
                <a:latin typeface="Helvetica Neue"/>
                <a:ea typeface="Helvetica Neue"/>
                <a:cs typeface="Helvetica Neue"/>
              </a:defRPr>
            </a:pPr>
            <a:r>
              <a:rPr sz="2100" b="1">
                <a:solidFill>
                  <a:srgbClr val="087E83"/>
                </a:solidFill>
                <a:latin typeface="Helvetica Neue"/>
                <a:ea typeface="Helvetica Neue"/>
                <a:cs typeface="Helvetica Neue"/>
              </a:rPr>
              <a:t>02</a:t>
            </a:r>
          </a:p>
        </p:txBody>
      </p:sp>
      <p:sp>
        <p:nvSpPr>
          <p:cNvPr id="5" name="">
            <a:extLst xmlns:a="http://schemas.openxmlformats.org/drawingml/2006/main">
              <a:ext uri="{FF2B5EF4-FFF2-40B4-BE49-F238E27FC236}">
                <a16:creationId xmlns:a16="http://schemas.microsoft.com/office/drawing/2014/main" id="{106E8262-4509-49AD-B960-71A8B47AB8CB}"/>
              </a:ext>
            </a:extLst>
          </p:cNvPr>
          <p:cNvSpPr>
            <a:spLocks xmlns:a="http://schemas.openxmlformats.org/drawingml/2006/main" noGrp="1"/>
          </p:cNvSpPr>
          <p:nvPr/>
        </p:nvSpPr>
        <p:spPr>
          <a:xfrm xmlns:a="http://schemas.openxmlformats.org/drawingml/2006/main">
            <a:off x="1333500" y="3041650"/>
            <a:ext cx="10248900" cy="993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400" b="0">
                <a:solidFill>
                  <a:srgbClr val="122C42"/>
                </a:solidFill>
                <a:latin typeface="Helvetica Neue"/>
                <a:ea typeface="Helvetica Neue"/>
                <a:cs typeface="Helvetica Neue"/>
              </a:defRPr>
            </a:pPr>
            <a:r>
              <a:rPr sz="2400" b="0">
                <a:solidFill>
                  <a:srgbClr val="122C42"/>
                </a:solidFill>
                <a:latin typeface="Helvetica Neue"/>
                <a:ea typeface="Helvetica Neue"/>
                <a:cs typeface="Helvetica Neue"/>
              </a:rPr>
              <a:t>Emulation/paravirtualization yolları farklı.</a:t>
            </a:r>
          </a:p>
        </p:txBody>
      </p:sp>
      <p:sp>
        <p:nvSpPr>
          <p:cNvPr id="6" name="">
            <a:extLst xmlns:a="http://schemas.openxmlformats.org/drawingml/2006/main">
              <a:ext uri="{FF2B5EF4-FFF2-40B4-BE49-F238E27FC236}">
                <a16:creationId xmlns:a16="http://schemas.microsoft.com/office/drawing/2014/main" id="{C25B69B1-D5A9-4108-80C3-42DD27F29A04}"/>
              </a:ext>
            </a:extLst>
          </p:cNvPr>
          <p:cNvSpPr>
            <a:spLocks xmlns:a="http://schemas.openxmlformats.org/drawingml/2006/main" noGrp="1"/>
          </p:cNvSpPr>
          <p:nvPr/>
        </p:nvSpPr>
        <p:spPr>
          <a:xfrm xmlns:a="http://schemas.openxmlformats.org/drawingml/2006/main">
            <a:off x="609600" y="4130675"/>
            <a:ext cx="438150" cy="993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1">
                <a:solidFill>
                  <a:srgbClr val="087E83"/>
                </a:solidFill>
                <a:latin typeface="Helvetica Neue"/>
                <a:ea typeface="Helvetica Neue"/>
                <a:cs typeface="Helvetica Neue"/>
              </a:defRPr>
            </a:pPr>
            <a:r>
              <a:rPr sz="2100" b="1">
                <a:solidFill>
                  <a:srgbClr val="087E83"/>
                </a:solidFill>
                <a:latin typeface="Helvetica Neue"/>
                <a:ea typeface="Helvetica Neue"/>
                <a:cs typeface="Helvetica Neue"/>
              </a:rPr>
              <a:t>03</a:t>
            </a:r>
          </a:p>
        </p:txBody>
      </p:sp>
      <p:sp>
        <p:nvSpPr>
          <p:cNvPr id="7" name="">
            <a:extLst xmlns:a="http://schemas.openxmlformats.org/drawingml/2006/main">
              <a:ext uri="{FF2B5EF4-FFF2-40B4-BE49-F238E27FC236}">
                <a16:creationId xmlns:a16="http://schemas.microsoft.com/office/drawing/2014/main" id="{48800DC6-4C99-4879-B120-F1A31D3BC6CD}"/>
              </a:ext>
            </a:extLst>
          </p:cNvPr>
          <p:cNvSpPr>
            <a:spLocks xmlns:a="http://schemas.openxmlformats.org/drawingml/2006/main" noGrp="1"/>
          </p:cNvSpPr>
          <p:nvPr/>
        </p:nvSpPr>
        <p:spPr>
          <a:xfrm xmlns:a="http://schemas.openxmlformats.org/drawingml/2006/main">
            <a:off x="1333500" y="4130675"/>
            <a:ext cx="10248900" cy="993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400" b="0">
                <a:solidFill>
                  <a:srgbClr val="122C42"/>
                </a:solidFill>
                <a:latin typeface="Helvetica Neue"/>
                <a:ea typeface="Helvetica Neue"/>
                <a:cs typeface="Helvetica Neue"/>
              </a:defRPr>
            </a:pPr>
            <a:r>
              <a:rPr sz="2400" b="0">
                <a:solidFill>
                  <a:srgbClr val="122C42"/>
                </a:solidFill>
                <a:latin typeface="Helvetica Neue"/>
                <a:ea typeface="Helvetica Neue"/>
                <a:cs typeface="Helvetica Neue"/>
              </a:rPr>
              <a:t>Shared folder ve network bilinçli açıklıktır.</a:t>
            </a:r>
          </a:p>
        </p:txBody>
      </p:sp>
      <p:sp>
        <p:nvSpPr>
          <p:cNvPr id="8" name="">
            <a:extLst xmlns:a="http://schemas.openxmlformats.org/drawingml/2006/main">
              <a:ext uri="{FF2B5EF4-FFF2-40B4-BE49-F238E27FC236}">
                <a16:creationId xmlns:a16="http://schemas.microsoft.com/office/drawing/2014/main" id="{2DDDE93D-4D48-447B-AEB1-8CE13C209016}"/>
              </a:ext>
            </a:extLst>
          </p:cNvPr>
          <p:cNvSpPr>
            <a:spLocks xmlns:a="http://schemas.openxmlformats.org/drawingml/2006/main" noGrp="1"/>
          </p:cNvSpPr>
          <p:nvPr/>
        </p:nvSpPr>
        <p:spPr>
          <a:xfrm xmlns:a="http://schemas.openxmlformats.org/drawingml/2006/main">
            <a:off x="609600" y="5438775"/>
            <a:ext cx="109728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500" b="1">
                <a:solidFill>
                  <a:srgbClr val="C46225"/>
                </a:solidFill>
                <a:latin typeface="Helvetica Neue"/>
                <a:ea typeface="Helvetica Neue"/>
                <a:cs typeface="Helvetica Neue"/>
              </a:defRPr>
            </a:pPr>
            <a:r>
              <a:rPr sz="1500" b="1">
                <a:solidFill>
                  <a:srgbClr val="C46225"/>
                </a:solidFill>
                <a:latin typeface="Helvetica Neue"/>
                <a:ea typeface="Helvetica Neue"/>
                <a:cs typeface="Helvetica Neue"/>
              </a:rPr>
              <a:t>GERÇEK HAYAT · Shared proje klasörü</a:t>
            </a:r>
          </a:p>
        </p:txBody>
      </p:sp>
      <p:sp>
        <p:nvSpPr>
          <p:cNvPr id="9" name="">
            <a:extLst xmlns:a="http://schemas.openxmlformats.org/drawingml/2006/main">
              <a:ext uri="{FF2B5EF4-FFF2-40B4-BE49-F238E27FC236}">
                <a16:creationId xmlns:a16="http://schemas.microsoft.com/office/drawing/2014/main" id="{DF2F8171-A086-442E-84D9-EE4F33CFFB0F}"/>
              </a:ext>
            </a:extLst>
          </p:cNvPr>
          <p:cNvSpPr>
            <a:spLocks xmlns:a="http://schemas.openxmlformats.org/drawingml/2006/main" noGrp="1"/>
          </p:cNvSpPr>
          <p:nvPr/>
        </p:nvSpPr>
        <p:spPr>
          <a:xfrm xmlns:a="http://schemas.openxmlformats.org/drawingml/2006/main">
            <a:off x="609600" y="5781675"/>
            <a:ext cx="109728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650" b="0">
                <a:solidFill>
                  <a:srgbClr val="4D606A"/>
                </a:solidFill>
                <a:latin typeface="Helvetica Neue"/>
                <a:ea typeface="Helvetica Neue"/>
                <a:cs typeface="Helvetica Neue"/>
              </a:defRPr>
            </a:pPr>
            <a:r>
              <a:rPr sz="1650" b="0">
                <a:solidFill>
                  <a:srgbClr val="4D606A"/>
                </a:solidFill>
                <a:latin typeface="Helvetica Neue"/>
                <a:ea typeface="Helvetica Neue"/>
                <a:cs typeface="Helvetica Neue"/>
              </a:rPr>
              <a:t>Guest aynı proje verisini görebilir.</a:t>
            </a:r>
          </a:p>
        </p:txBody>
      </p:sp>
      <p:sp>
        <p:nvSpPr>
          <p:cNvPr id="10" name="">
            <a:extLst xmlns:a="http://schemas.openxmlformats.org/drawingml/2006/main">
              <a:ext uri="{FF2B5EF4-FFF2-40B4-BE49-F238E27FC236}">
                <a16:creationId xmlns:a16="http://schemas.microsoft.com/office/drawing/2014/main" id="{89A3A53C-3508-4C31-9EB3-DDFF3BEDF969}"/>
              </a:ext>
            </a:extLst>
          </p:cNvPr>
          <p:cNvSpPr>
            <a:spLocks xmlns:a="http://schemas.openxmlformats.org/drawingml/2006/main" noGrp="1"/>
          </p:cNvSpPr>
          <p:nvPr/>
        </p:nvSpPr>
        <p:spPr>
          <a:xfrm xmlns:a="http://schemas.openxmlformats.org/drawingml/2006/main">
            <a:off x="609600" y="6496050"/>
            <a:ext cx="8572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125" b="0">
                <a:solidFill>
                  <a:srgbClr val="4D606A"/>
                </a:solidFill>
                <a:latin typeface="Helvetica Neue"/>
                <a:ea typeface="Helvetica Neue"/>
                <a:cs typeface="Helvetica Neue"/>
              </a:defRPr>
            </a:pPr>
            <a:r>
              <a:rPr sz="1125" b="0">
                <a:solidFill>
                  <a:srgbClr val="4D606A"/>
                </a:solidFill>
                <a:latin typeface="Helvetica Neue"/>
                <a:ea typeface="Helvetica Neue"/>
                <a:cs typeface="Helvetica Neue"/>
              </a:rPr>
              <a:t>CSE513 · Hafta 9</a:t>
            </a:r>
          </a:p>
        </p:txBody>
      </p:sp>
      <p:sp>
        <p:nvSpPr>
          <p:cNvPr id="11" name="">
            <a:extLst xmlns:a="http://schemas.openxmlformats.org/drawingml/2006/main">
              <a:ext uri="{FF2B5EF4-FFF2-40B4-BE49-F238E27FC236}">
                <a16:creationId xmlns:a16="http://schemas.microsoft.com/office/drawing/2014/main" id="{C2308269-F4E2-4901-A74F-C28D0B06F296}"/>
              </a:ext>
            </a:extLst>
          </p:cNvPr>
          <p:cNvSpPr>
            <a:spLocks xmlns:a="http://schemas.openxmlformats.org/drawingml/2006/main" noGrp="1"/>
          </p:cNvSpPr>
          <p:nvPr/>
        </p:nvSpPr>
        <p:spPr>
          <a:xfrm xmlns:a="http://schemas.openxmlformats.org/drawingml/2006/main">
            <a:off x="10477500" y="6457950"/>
            <a:ext cx="10953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350" b="1">
                <a:solidFill>
                  <a:srgbClr val="087E83"/>
                </a:solidFill>
                <a:latin typeface="Helvetica Neue"/>
                <a:ea typeface="Helvetica Neue"/>
                <a:cs typeface="Helvetica Neue"/>
              </a:defRPr>
            </a:pPr>
            <a:r>
              <a:rPr sz="1350" b="1">
                <a:solidFill>
                  <a:srgbClr val="087E83"/>
                </a:solidFill>
                <a:latin typeface="Helvetica Neue"/>
                <a:ea typeface="Helvetica Neue"/>
                <a:cs typeface="Helvetica Neue"/>
              </a:rPr>
              <a:t>08 / 27</a:t>
            </a:r>
          </a:p>
        </p:txBody>
      </p:sp>
    </p:spTree>
    <p:extLst>
      <p:ext uri="{BB962C8B-B14F-4D97-AF65-F5344CB8AC3E}">
        <p14:creationId xmlns:p14="http://schemas.microsoft.com/office/powerpoint/2010/main" val="208634068"/>
      </p:ext>
    </p:extLst>
  </p:cSld>
</p:sld>
</file>

<file path=ppt/slides/slide9.xml><?xml version="1.0" encoding="utf-8"?>
<p:sld xmlns:p="http://schemas.openxmlformats.org/presentationml/2006/main">
  <p:cSld>
    <p:bg>
      <p:bgPr>
        <a:solidFill xmlns:a="http://schemas.openxmlformats.org/drawingml/2006/main">
          <a:srgbClr val="F5F1E8"/>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E5416A6D-9240-49CA-9E50-7DFDC476D465}"/>
              </a:ext>
            </a:extLst>
          </p:cNvPr>
          <p:cNvSpPr>
            <a:spLocks xmlns:a="http://schemas.openxmlformats.org/drawingml/2006/main" noGrp="1"/>
          </p:cNvSpPr>
          <p:nvPr/>
        </p:nvSpPr>
        <p:spPr>
          <a:xfrm xmlns:a="http://schemas.openxmlformats.org/drawingml/2006/main">
            <a:off x="609600" y="600075"/>
            <a:ext cx="1097280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300" b="1">
                <a:solidFill>
                  <a:srgbClr val="122C42"/>
                </a:solidFill>
                <a:latin typeface="Helvetica Neue"/>
                <a:ea typeface="Helvetica Neue"/>
                <a:cs typeface="Helvetica Neue"/>
              </a:defRPr>
            </a:pPr>
            <a:r>
              <a:rPr sz="3300" b="1">
                <a:solidFill>
                  <a:srgbClr val="122C42"/>
                </a:solidFill>
                <a:latin typeface="Helvetica Neue"/>
                <a:ea typeface="Helvetica Neue"/>
                <a:cs typeface="Helvetica Neue"/>
              </a:rPr>
              <a:t>Container: guest kernel nerede?</a:t>
            </a:r>
          </a:p>
        </p:txBody>
      </p:sp>
      <p:sp>
        <p:nvSpPr>
          <p:cNvPr id="2" name="">
            <a:extLst xmlns:a="http://schemas.openxmlformats.org/drawingml/2006/main">
              <a:ext uri="{FF2B5EF4-FFF2-40B4-BE49-F238E27FC236}">
                <a16:creationId xmlns:a16="http://schemas.microsoft.com/office/drawing/2014/main" id="{A180A9C1-A9D0-4AEE-A8B5-BAC657349481}"/>
              </a:ext>
            </a:extLst>
          </p:cNvPr>
          <p:cNvSpPr>
            <a:spLocks xmlns:a="http://schemas.openxmlformats.org/drawingml/2006/main" noGrp="1"/>
          </p:cNvSpPr>
          <p:nvPr/>
        </p:nvSpPr>
        <p:spPr>
          <a:xfrm xmlns:a="http://schemas.openxmlformats.org/drawingml/2006/main">
            <a:off x="609600" y="1952625"/>
            <a:ext cx="438150" cy="771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1">
                <a:solidFill>
                  <a:srgbClr val="087E83"/>
                </a:solidFill>
                <a:latin typeface="Helvetica Neue"/>
                <a:ea typeface="Helvetica Neue"/>
                <a:cs typeface="Helvetica Neue"/>
              </a:defRPr>
            </a:pPr>
            <a:r>
              <a:rPr sz="2100" b="1">
                <a:solidFill>
                  <a:srgbClr val="087E83"/>
                </a:solidFill>
                <a:latin typeface="Helvetica Neue"/>
                <a:ea typeface="Helvetica Neue"/>
                <a:cs typeface="Helvetica Neue"/>
              </a:rPr>
              <a:t>01</a:t>
            </a:r>
          </a:p>
        </p:txBody>
      </p:sp>
      <p:sp>
        <p:nvSpPr>
          <p:cNvPr id="3" name="">
            <a:extLst xmlns:a="http://schemas.openxmlformats.org/drawingml/2006/main">
              <a:ext uri="{FF2B5EF4-FFF2-40B4-BE49-F238E27FC236}">
                <a16:creationId xmlns:a16="http://schemas.microsoft.com/office/drawing/2014/main" id="{6E110FF1-2A43-47A0-AB05-F918002DAEC1}"/>
              </a:ext>
            </a:extLst>
          </p:cNvPr>
          <p:cNvSpPr>
            <a:spLocks xmlns:a="http://schemas.openxmlformats.org/drawingml/2006/main" noGrp="1"/>
          </p:cNvSpPr>
          <p:nvPr/>
        </p:nvSpPr>
        <p:spPr>
          <a:xfrm xmlns:a="http://schemas.openxmlformats.org/drawingml/2006/main">
            <a:off x="1333500" y="1952625"/>
            <a:ext cx="10248900" cy="771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400" b="0">
                <a:solidFill>
                  <a:srgbClr val="122C42"/>
                </a:solidFill>
                <a:latin typeface="Helvetica Neue"/>
                <a:ea typeface="Helvetica Neue"/>
                <a:cs typeface="Helvetica Neue"/>
              </a:defRPr>
            </a:pPr>
            <a:r>
              <a:rPr sz="2400" b="0">
                <a:solidFill>
                  <a:srgbClr val="122C42"/>
                </a:solidFill>
                <a:latin typeface="Helvetica Neue"/>
                <a:ea typeface="Helvetica Neue"/>
                <a:cs typeface="Helvetica Neue"/>
              </a:rPr>
              <a:t>Linux container process’leri kernel paylaşır.</a:t>
            </a:r>
          </a:p>
        </p:txBody>
      </p:sp>
      <p:sp>
        <p:nvSpPr>
          <p:cNvPr id="4" name="">
            <a:extLst xmlns:a="http://schemas.openxmlformats.org/drawingml/2006/main">
              <a:ext uri="{FF2B5EF4-FFF2-40B4-BE49-F238E27FC236}">
                <a16:creationId xmlns:a16="http://schemas.microsoft.com/office/drawing/2014/main" id="{70ED35D9-BD37-4C6F-BB76-693E2CE8E7AD}"/>
              </a:ext>
            </a:extLst>
          </p:cNvPr>
          <p:cNvSpPr>
            <a:spLocks xmlns:a="http://schemas.openxmlformats.org/drawingml/2006/main" noGrp="1"/>
          </p:cNvSpPr>
          <p:nvPr/>
        </p:nvSpPr>
        <p:spPr>
          <a:xfrm xmlns:a="http://schemas.openxmlformats.org/drawingml/2006/main">
            <a:off x="609600" y="2819400"/>
            <a:ext cx="438150" cy="771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1">
                <a:solidFill>
                  <a:srgbClr val="087E83"/>
                </a:solidFill>
                <a:latin typeface="Helvetica Neue"/>
                <a:ea typeface="Helvetica Neue"/>
                <a:cs typeface="Helvetica Neue"/>
              </a:defRPr>
            </a:pPr>
            <a:r>
              <a:rPr sz="2100" b="1">
                <a:solidFill>
                  <a:srgbClr val="087E83"/>
                </a:solidFill>
                <a:latin typeface="Helvetica Neue"/>
                <a:ea typeface="Helvetica Neue"/>
                <a:cs typeface="Helvetica Neue"/>
              </a:rPr>
              <a:t>02</a:t>
            </a:r>
          </a:p>
        </p:txBody>
      </p:sp>
      <p:sp>
        <p:nvSpPr>
          <p:cNvPr id="5" name="">
            <a:extLst xmlns:a="http://schemas.openxmlformats.org/drawingml/2006/main">
              <a:ext uri="{FF2B5EF4-FFF2-40B4-BE49-F238E27FC236}">
                <a16:creationId xmlns:a16="http://schemas.microsoft.com/office/drawing/2014/main" id="{C28152C3-5149-47AD-965E-1B9A1452C291}"/>
              </a:ext>
            </a:extLst>
          </p:cNvPr>
          <p:cNvSpPr>
            <a:spLocks xmlns:a="http://schemas.openxmlformats.org/drawingml/2006/main" noGrp="1"/>
          </p:cNvSpPr>
          <p:nvPr/>
        </p:nvSpPr>
        <p:spPr>
          <a:xfrm xmlns:a="http://schemas.openxmlformats.org/drawingml/2006/main">
            <a:off x="1333500" y="2819400"/>
            <a:ext cx="10248900" cy="771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400" b="0">
                <a:solidFill>
                  <a:srgbClr val="122C42"/>
                </a:solidFill>
                <a:latin typeface="Helvetica Neue"/>
                <a:ea typeface="Helvetica Neue"/>
                <a:cs typeface="Helvetica Neue"/>
              </a:defRPr>
            </a:pPr>
            <a:r>
              <a:rPr sz="2400" b="0">
                <a:solidFill>
                  <a:srgbClr val="122C42"/>
                </a:solidFill>
                <a:latin typeface="Helvetica Neue"/>
                <a:ea typeface="Helvetica Neue"/>
                <a:cs typeface="Helvetica Neue"/>
              </a:rPr>
              <a:t>Image, bağımsız boot edilmiş guest OS değildir.</a:t>
            </a:r>
          </a:p>
        </p:txBody>
      </p:sp>
      <p:sp>
        <p:nvSpPr>
          <p:cNvPr id="6" name="">
            <a:extLst xmlns:a="http://schemas.openxmlformats.org/drawingml/2006/main">
              <a:ext uri="{FF2B5EF4-FFF2-40B4-BE49-F238E27FC236}">
                <a16:creationId xmlns:a16="http://schemas.microsoft.com/office/drawing/2014/main" id="{DE261220-E9B4-4D7D-B66F-9720C3A4E553}"/>
              </a:ext>
            </a:extLst>
          </p:cNvPr>
          <p:cNvSpPr>
            <a:spLocks xmlns:a="http://schemas.openxmlformats.org/drawingml/2006/main" noGrp="1"/>
          </p:cNvSpPr>
          <p:nvPr/>
        </p:nvSpPr>
        <p:spPr>
          <a:xfrm xmlns:a="http://schemas.openxmlformats.org/drawingml/2006/main">
            <a:off x="609600" y="3686175"/>
            <a:ext cx="438150" cy="771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1">
                <a:solidFill>
                  <a:srgbClr val="087E83"/>
                </a:solidFill>
                <a:latin typeface="Helvetica Neue"/>
                <a:ea typeface="Helvetica Neue"/>
                <a:cs typeface="Helvetica Neue"/>
              </a:defRPr>
            </a:pPr>
            <a:r>
              <a:rPr sz="2100" b="1">
                <a:solidFill>
                  <a:srgbClr val="087E83"/>
                </a:solidFill>
                <a:latin typeface="Helvetica Neue"/>
                <a:ea typeface="Helvetica Neue"/>
                <a:cs typeface="Helvetica Neue"/>
              </a:rPr>
              <a:t>03</a:t>
            </a:r>
          </a:p>
        </p:txBody>
      </p:sp>
      <p:sp>
        <p:nvSpPr>
          <p:cNvPr id="7" name="">
            <a:extLst xmlns:a="http://schemas.openxmlformats.org/drawingml/2006/main">
              <a:ext uri="{FF2B5EF4-FFF2-40B4-BE49-F238E27FC236}">
                <a16:creationId xmlns:a16="http://schemas.microsoft.com/office/drawing/2014/main" id="{0B75EF81-7FD3-4142-A433-44EA148BD4E4}"/>
              </a:ext>
            </a:extLst>
          </p:cNvPr>
          <p:cNvSpPr>
            <a:spLocks xmlns:a="http://schemas.openxmlformats.org/drawingml/2006/main" noGrp="1"/>
          </p:cNvSpPr>
          <p:nvPr/>
        </p:nvSpPr>
        <p:spPr>
          <a:xfrm xmlns:a="http://schemas.openxmlformats.org/drawingml/2006/main">
            <a:off x="1333500" y="3686175"/>
            <a:ext cx="10248900" cy="771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400" b="0">
                <a:solidFill>
                  <a:srgbClr val="122C42"/>
                </a:solidFill>
                <a:latin typeface="Helvetica Neue"/>
                <a:ea typeface="Helvetica Neue"/>
                <a:cs typeface="Helvetica Neue"/>
              </a:defRPr>
            </a:pPr>
            <a:r>
              <a:rPr sz="2400" b="0">
                <a:solidFill>
                  <a:srgbClr val="122C42"/>
                </a:solidFill>
                <a:latin typeface="Helvetica Neue"/>
                <a:ea typeface="Helvetica Neue"/>
                <a:cs typeface="Helvetica Neue"/>
              </a:rPr>
              <a:t>Namespace/resource policies ayrıştırır.</a:t>
            </a:r>
          </a:p>
        </p:txBody>
      </p:sp>
      <p:sp>
        <p:nvSpPr>
          <p:cNvPr id="8" name="">
            <a:extLst xmlns:a="http://schemas.openxmlformats.org/drawingml/2006/main">
              <a:ext uri="{FF2B5EF4-FFF2-40B4-BE49-F238E27FC236}">
                <a16:creationId xmlns:a16="http://schemas.microsoft.com/office/drawing/2014/main" id="{AEDB1C4C-22A6-4C7B-B6EB-CC2017EF4630}"/>
              </a:ext>
            </a:extLst>
          </p:cNvPr>
          <p:cNvSpPr>
            <a:spLocks xmlns:a="http://schemas.openxmlformats.org/drawingml/2006/main" noGrp="1"/>
          </p:cNvSpPr>
          <p:nvPr/>
        </p:nvSpPr>
        <p:spPr>
          <a:xfrm xmlns:a="http://schemas.openxmlformats.org/drawingml/2006/main">
            <a:off x="609600" y="4714875"/>
            <a:ext cx="109728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75" b="1">
                <a:solidFill>
                  <a:srgbClr val="087E83"/>
                </a:solidFill>
                <a:latin typeface="Helvetica Neue"/>
                <a:ea typeface="Helvetica Neue"/>
                <a:cs typeface="Helvetica Neue"/>
              </a:defRPr>
            </a:pPr>
            <a:r>
              <a:rPr sz="1875" b="1">
                <a:solidFill>
                  <a:srgbClr val="087E83"/>
                </a:solidFill>
                <a:latin typeface="Helvetica Neue"/>
                <a:ea typeface="Helvetica Neue"/>
                <a:cs typeface="Helvetica Neue"/>
              </a:rPr>
              <a:t>Düşün: Container image içinde Ubuntu varsa ayrı Ubuntu kernel mi?</a:t>
            </a:r>
          </a:p>
        </p:txBody>
      </p:sp>
      <p:sp>
        <p:nvSpPr>
          <p:cNvPr id="9" name="">
            <a:extLst xmlns:a="http://schemas.openxmlformats.org/drawingml/2006/main">
              <a:ext uri="{FF2B5EF4-FFF2-40B4-BE49-F238E27FC236}">
                <a16:creationId xmlns:a16="http://schemas.microsoft.com/office/drawing/2014/main" id="{0F50F14D-FC80-4EC2-8DE3-76E41B871D48}"/>
              </a:ext>
            </a:extLst>
          </p:cNvPr>
          <p:cNvSpPr>
            <a:spLocks xmlns:a="http://schemas.openxmlformats.org/drawingml/2006/main" noGrp="1"/>
          </p:cNvSpPr>
          <p:nvPr/>
        </p:nvSpPr>
        <p:spPr>
          <a:xfrm xmlns:a="http://schemas.openxmlformats.org/drawingml/2006/main">
            <a:off x="609600" y="5438775"/>
            <a:ext cx="109728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500" b="1">
                <a:solidFill>
                  <a:srgbClr val="C46225"/>
                </a:solidFill>
                <a:latin typeface="Helvetica Neue"/>
                <a:ea typeface="Helvetica Neue"/>
                <a:cs typeface="Helvetica Neue"/>
              </a:defRPr>
            </a:pPr>
            <a:r>
              <a:rPr sz="1500" b="1">
                <a:solidFill>
                  <a:srgbClr val="C46225"/>
                </a:solidFill>
                <a:latin typeface="Helvetica Neue"/>
                <a:ea typeface="Helvetica Neue"/>
                <a:cs typeface="Helvetica Neue"/>
              </a:rPr>
              <a:t>GERÇEK HAYAT · Paketleme ve deploy</a:t>
            </a:r>
          </a:p>
        </p:txBody>
      </p:sp>
      <p:sp>
        <p:nvSpPr>
          <p:cNvPr id="10" name="">
            <a:extLst xmlns:a="http://schemas.openxmlformats.org/drawingml/2006/main">
              <a:ext uri="{FF2B5EF4-FFF2-40B4-BE49-F238E27FC236}">
                <a16:creationId xmlns:a16="http://schemas.microsoft.com/office/drawing/2014/main" id="{706898F5-4547-4324-9EC8-14D52FDB010D}"/>
              </a:ext>
            </a:extLst>
          </p:cNvPr>
          <p:cNvSpPr>
            <a:spLocks xmlns:a="http://schemas.openxmlformats.org/drawingml/2006/main" noGrp="1"/>
          </p:cNvSpPr>
          <p:nvPr/>
        </p:nvSpPr>
        <p:spPr>
          <a:xfrm xmlns:a="http://schemas.openxmlformats.org/drawingml/2006/main">
            <a:off x="609600" y="5781675"/>
            <a:ext cx="109728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650" b="0">
                <a:solidFill>
                  <a:srgbClr val="4D606A"/>
                </a:solidFill>
                <a:latin typeface="Helvetica Neue"/>
                <a:ea typeface="Helvetica Neue"/>
                <a:cs typeface="Helvetica Neue"/>
              </a:defRPr>
            </a:pPr>
            <a:r>
              <a:rPr sz="1650" b="0">
                <a:solidFill>
                  <a:srgbClr val="4D606A"/>
                </a:solidFill>
                <a:latin typeface="Helvetica Neue"/>
                <a:ea typeface="Helvetica Neue"/>
                <a:cs typeface="Helvetica Neue"/>
              </a:rPr>
              <a:t>Aynı binary bağımlılıkları image ile taşınır.</a:t>
            </a:r>
          </a:p>
        </p:txBody>
      </p:sp>
      <p:sp>
        <p:nvSpPr>
          <p:cNvPr id="11" name="">
            <a:extLst xmlns:a="http://schemas.openxmlformats.org/drawingml/2006/main">
              <a:ext uri="{FF2B5EF4-FFF2-40B4-BE49-F238E27FC236}">
                <a16:creationId xmlns:a16="http://schemas.microsoft.com/office/drawing/2014/main" id="{3A35DCEB-F667-47A2-9E5B-F31DD58BAB99}"/>
              </a:ext>
            </a:extLst>
          </p:cNvPr>
          <p:cNvSpPr>
            <a:spLocks xmlns:a="http://schemas.openxmlformats.org/drawingml/2006/main" noGrp="1"/>
          </p:cNvSpPr>
          <p:nvPr/>
        </p:nvSpPr>
        <p:spPr>
          <a:xfrm xmlns:a="http://schemas.openxmlformats.org/drawingml/2006/main">
            <a:off x="609600" y="6496050"/>
            <a:ext cx="8572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125" b="0">
                <a:solidFill>
                  <a:srgbClr val="4D606A"/>
                </a:solidFill>
                <a:latin typeface="Helvetica Neue"/>
                <a:ea typeface="Helvetica Neue"/>
                <a:cs typeface="Helvetica Neue"/>
              </a:defRPr>
            </a:pPr>
            <a:r>
              <a:rPr sz="1125" b="0">
                <a:solidFill>
                  <a:srgbClr val="4D606A"/>
                </a:solidFill>
                <a:latin typeface="Helvetica Neue"/>
                <a:ea typeface="Helvetica Neue"/>
                <a:cs typeface="Helvetica Neue"/>
              </a:rPr>
              <a:t>CSE513 · Hafta 9</a:t>
            </a:r>
          </a:p>
        </p:txBody>
      </p:sp>
      <p:sp>
        <p:nvSpPr>
          <p:cNvPr id="12" name="">
            <a:extLst xmlns:a="http://schemas.openxmlformats.org/drawingml/2006/main">
              <a:ext uri="{FF2B5EF4-FFF2-40B4-BE49-F238E27FC236}">
                <a16:creationId xmlns:a16="http://schemas.microsoft.com/office/drawing/2014/main" id="{BFEE6529-56DA-4F7B-8032-190EC430430B}"/>
              </a:ext>
            </a:extLst>
          </p:cNvPr>
          <p:cNvSpPr>
            <a:spLocks xmlns:a="http://schemas.openxmlformats.org/drawingml/2006/main" noGrp="1"/>
          </p:cNvSpPr>
          <p:nvPr/>
        </p:nvSpPr>
        <p:spPr>
          <a:xfrm xmlns:a="http://schemas.openxmlformats.org/drawingml/2006/main">
            <a:off x="10477500" y="6457950"/>
            <a:ext cx="10953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350" b="1">
                <a:solidFill>
                  <a:srgbClr val="087E83"/>
                </a:solidFill>
                <a:latin typeface="Helvetica Neue"/>
                <a:ea typeface="Helvetica Neue"/>
                <a:cs typeface="Helvetica Neue"/>
              </a:defRPr>
            </a:pPr>
            <a:r>
              <a:rPr sz="1350" b="1">
                <a:solidFill>
                  <a:srgbClr val="087E83"/>
                </a:solidFill>
                <a:latin typeface="Helvetica Neue"/>
                <a:ea typeface="Helvetica Neue"/>
                <a:cs typeface="Helvetica Neue"/>
              </a:rPr>
              <a:t>09 / 27</a:t>
            </a:r>
          </a:p>
        </p:txBody>
      </p:sp>
    </p:spTree>
    <p:extLst>
      <p:ext uri="{BB962C8B-B14F-4D97-AF65-F5344CB8AC3E}">
        <p14:creationId xmlns:p14="http://schemas.microsoft.com/office/powerpoint/2010/main" val="1353929633"/>
      </p:ext>
    </p:extLst>
  </p:cSld>
</p:sld>
</file>

<file path=ppt/slides/slide10.xml><?xml version="1.0" encoding="utf-8"?>
<p:sld xmlns:p="http://schemas.openxmlformats.org/presentationml/2006/main">
  <p:cSld>
    <p:bg>
      <p:bgPr>
        <a:solidFill xmlns:a="http://schemas.openxmlformats.org/drawingml/2006/main">
          <a:srgbClr val="F5F1E8"/>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17B6786D-AA06-4DE1-905B-909728738323}"/>
              </a:ext>
            </a:extLst>
          </p:cNvPr>
          <p:cNvSpPr>
            <a:spLocks xmlns:a="http://schemas.openxmlformats.org/drawingml/2006/main" noGrp="1"/>
          </p:cNvSpPr>
          <p:nvPr/>
        </p:nvSpPr>
        <p:spPr>
          <a:xfrm xmlns:a="http://schemas.openxmlformats.org/drawingml/2006/main">
            <a:off x="609600" y="600075"/>
            <a:ext cx="1097280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300" b="1">
                <a:solidFill>
                  <a:srgbClr val="122C42"/>
                </a:solidFill>
                <a:latin typeface="Helvetica Neue"/>
                <a:ea typeface="Helvetica Neue"/>
                <a:cs typeface="Helvetica Neue"/>
              </a:defRPr>
            </a:pPr>
            <a:r>
              <a:rPr sz="3300" b="1">
                <a:solidFill>
                  <a:srgbClr val="122C42"/>
                </a:solidFill>
                <a:latin typeface="Helvetica Neue"/>
                <a:ea typeface="Helvetica Neue"/>
                <a:cs typeface="Helvetica Neue"/>
              </a:rPr>
              <a:t>VM ile container’ı karşılaştır</a:t>
            </a:r>
          </a:p>
        </p:txBody>
      </p:sp>
      <p:sp>
        <p:nvSpPr>
          <p:cNvPr id="2" name="">
            <a:extLst xmlns:a="http://schemas.openxmlformats.org/drawingml/2006/main">
              <a:ext uri="{FF2B5EF4-FFF2-40B4-BE49-F238E27FC236}">
                <a16:creationId xmlns:a16="http://schemas.microsoft.com/office/drawing/2014/main" id="{D5AD1D1C-DF83-482D-AFDF-37158FA7761C}"/>
              </a:ext>
            </a:extLst>
          </p:cNvPr>
          <p:cNvSpPr>
            <a:spLocks xmlns:a="http://schemas.openxmlformats.org/drawingml/2006/main" noGrp="1"/>
          </p:cNvSpPr>
          <p:nvPr/>
        </p:nvSpPr>
        <p:spPr>
          <a:xfrm xmlns:a="http://schemas.openxmlformats.org/drawingml/2006/main">
            <a:off x="609600" y="1714500"/>
            <a:ext cx="109728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00" b="0">
                <a:solidFill>
                  <a:srgbClr val="4D606A"/>
                </a:solidFill>
                <a:latin typeface="Helvetica Neue"/>
                <a:ea typeface="Helvetica Neue"/>
                <a:cs typeface="Helvetica Neue"/>
              </a:defRPr>
            </a:pPr>
            <a:r>
              <a:rPr sz="1800" b="0">
                <a:solidFill>
                  <a:srgbClr val="4D606A"/>
                </a:solidFill>
                <a:latin typeface="Helvetica Neue"/>
                <a:ea typeface="Helvetica Neue"/>
                <a:cs typeface="Helvetica Neue"/>
              </a:rPr>
              <a:t>Sınırları mekanizmadan çıkar.</a:t>
            </a:r>
          </a:p>
          <a:p xmlns:a="http://schemas.openxmlformats.org/drawingml/2006/main">
            <a:pPr>
              <a:defRPr sz="1800" b="0">
                <a:solidFill>
                  <a:srgbClr val="4D606A"/>
                </a:solidFill>
                <a:latin typeface="Helvetica Neue"/>
                <a:ea typeface="Helvetica Neue"/>
                <a:cs typeface="Helvetica Neue"/>
              </a:defRPr>
            </a:pPr>
            <a:r>
              <a:rPr sz="1800" b="0">
                <a:solidFill>
                  <a:srgbClr val="4D606A"/>
                </a:solidFill>
                <a:latin typeface="Helvetica Neue"/>
                <a:ea typeface="Helvetica Neue"/>
                <a:cs typeface="Helvetica Neue"/>
              </a:rPr>
              <a:t>Başlangıç süresi güvenlik kanıtı değil.</a:t>
            </a:r>
          </a:p>
          <a:p xmlns:a="http://schemas.openxmlformats.org/drawingml/2006/main">
            <a:pPr>
              <a:defRPr sz="1800" b="0">
                <a:solidFill>
                  <a:srgbClr val="4D606A"/>
                </a:solidFill>
                <a:latin typeface="Helvetica Neue"/>
                <a:ea typeface="Helvetica Neue"/>
                <a:cs typeface="Helvetica Neue"/>
              </a:defRPr>
            </a:pPr>
            <a:r>
              <a:rPr sz="1800" b="0">
                <a:solidFill>
                  <a:srgbClr val="4D606A"/>
                </a:solidFill>
                <a:latin typeface="Helvetica Neue"/>
                <a:ea typeface="Helvetica Neue"/>
                <a:cs typeface="Helvetica Neue"/>
              </a:rPr>
              <a:t>İkisi de bilinçli kaynak paylaşabilir.</a:t>
            </a:r>
          </a:p>
        </p:txBody>
      </p:sp>
      <p:graphicFrame>
        <p:nvGraphicFramePr>
          <p:cNvPr id="8" name=""/>
          <p:cNvGraphicFramePr/>
          <p:nvPr/>
        </p:nvGraphicFramePr>
        <p:xfrm>
          <a:off xmlns:a="http://schemas.openxmlformats.org/drawingml/2006/main" x="609600" y="2762250"/>
          <a:ext xmlns:a="http://schemas.openxmlformats.org/drawingml/2006/main" cx="10972800" cy="2981325"/>
        </p:xfrm>
        <a:graphic xmlns:a="http://schemas.openxmlformats.org/drawingml/2006/main">
          <a:graphicData uri="http://schemas.openxmlformats.org/drawingml/2006/table">
            <a:tbl>
              <a:tblPr/>
              <a:tblGrid>
                <a:gridCol w="3657600"/>
                <a:gridCol w="3657600"/>
                <a:gridCol w="3657600"/>
              </a:tblGrid>
              <a:tr h="745331">
                <a:tc>
                  <a:txBody>
                    <a:bodyPr/>
                    <a:lstStyle/>
                    <a:p>
                      <a:r>
                        <a:rPr sz="1800" b="1">
                          <a:solidFill>
                            <a:srgbClr val="FFFFFF"/>
                          </a:solidFill>
                          <a:latin typeface="Helvetica Neue"/>
                          <a:ea typeface="Helvetica Neue"/>
                          <a:cs typeface="Helvetica Neue"/>
                        </a:rPr>
                        <a:t>Özellik</a:t>
                      </a:r>
                    </a:p>
                  </a:txBody>
                  <a:tcPr marL="114300" marR="114300" marT="47625" marB="47625" anchor="ctr">
                    <a:solidFill>
                      <a:srgbClr val="122C42"/>
                    </a:solidFill>
                  </a:tcPr>
                </a:tc>
                <a:tc>
                  <a:txBody>
                    <a:bodyPr/>
                    <a:lstStyle/>
                    <a:p>
                      <a:r>
                        <a:rPr sz="1800" b="1">
                          <a:solidFill>
                            <a:srgbClr val="FFFFFF"/>
                          </a:solidFill>
                          <a:latin typeface="Helvetica Neue"/>
                          <a:ea typeface="Helvetica Neue"/>
                          <a:cs typeface="Helvetica Neue"/>
                        </a:rPr>
                        <a:t>VM</a:t>
                      </a:r>
                    </a:p>
                  </a:txBody>
                  <a:tcPr marL="114300" marR="114300" marT="47625" marB="47625" anchor="ctr">
                    <a:solidFill>
                      <a:srgbClr val="122C42"/>
                    </a:solidFill>
                  </a:tcPr>
                </a:tc>
                <a:tc>
                  <a:txBody>
                    <a:bodyPr/>
                    <a:lstStyle/>
                    <a:p>
                      <a:r>
                        <a:rPr sz="1800" b="1">
                          <a:solidFill>
                            <a:srgbClr val="FFFFFF"/>
                          </a:solidFill>
                          <a:latin typeface="Helvetica Neue"/>
                          <a:ea typeface="Helvetica Neue"/>
                          <a:cs typeface="Helvetica Neue"/>
                        </a:rPr>
                        <a:t>Linux container</a:t>
                      </a:r>
                    </a:p>
                  </a:txBody>
                  <a:tcPr marL="114300" marR="114300" marT="47625" marB="47625" anchor="ctr">
                    <a:solidFill>
                      <a:srgbClr val="122C42"/>
                    </a:solidFill>
                  </a:tcPr>
                </a:tc>
              </a:tr>
              <a:tr h="745331">
                <a:tc>
                  <a:txBody>
                    <a:bodyPr/>
                    <a:lstStyle/>
                    <a:p>
                      <a:r>
                        <a:rPr sz="1800" b="0">
                          <a:solidFill>
                            <a:srgbClr val="122C42"/>
                          </a:solidFill>
                          <a:latin typeface="Helvetica Neue"/>
                          <a:ea typeface="Helvetica Neue"/>
                          <a:cs typeface="Helvetica Neue"/>
                        </a:rPr>
                        <a:t>Kernel</a:t>
                      </a:r>
                    </a:p>
                  </a:txBody>
                  <a:tcPr marL="114300" marR="114300" marT="47625" marB="47625" anchor="ctr">
                    <a:solidFill>
                      <a:srgbClr val="FFFFFF"/>
                    </a:solidFill>
                  </a:tcPr>
                </a:tc>
                <a:tc>
                  <a:txBody>
                    <a:bodyPr/>
                    <a:lstStyle/>
                    <a:p>
                      <a:r>
                        <a:rPr sz="1800" b="0">
                          <a:solidFill>
                            <a:srgbClr val="122C42"/>
                          </a:solidFill>
                          <a:latin typeface="Helvetica Neue"/>
                          <a:ea typeface="Helvetica Neue"/>
                          <a:cs typeface="Helvetica Neue"/>
                        </a:rPr>
                        <a:t>Guest kernel</a:t>
                      </a:r>
                    </a:p>
                  </a:txBody>
                  <a:tcPr marL="114300" marR="114300" marT="47625" marB="47625" anchor="ctr">
                    <a:solidFill>
                      <a:srgbClr val="FFFFFF"/>
                    </a:solidFill>
                  </a:tcPr>
                </a:tc>
                <a:tc>
                  <a:txBody>
                    <a:bodyPr/>
                    <a:lstStyle/>
                    <a:p>
                      <a:r>
                        <a:rPr sz="1800" b="0">
                          <a:solidFill>
                            <a:srgbClr val="122C42"/>
                          </a:solidFill>
                          <a:latin typeface="Helvetica Neue"/>
                          <a:ea typeface="Helvetica Neue"/>
                          <a:cs typeface="Helvetica Neue"/>
                        </a:rPr>
                        <a:t>Paylaşılan kernel</a:t>
                      </a:r>
                    </a:p>
                  </a:txBody>
                  <a:tcPr marL="114300" marR="114300" marT="47625" marB="47625" anchor="ctr">
                    <a:solidFill>
                      <a:srgbClr val="FFFFFF"/>
                    </a:solidFill>
                  </a:tcPr>
                </a:tc>
              </a:tr>
              <a:tr h="745331">
                <a:tc>
                  <a:txBody>
                    <a:bodyPr/>
                    <a:lstStyle/>
                    <a:p>
                      <a:r>
                        <a:rPr sz="1800" b="0">
                          <a:solidFill>
                            <a:srgbClr val="122C42"/>
                          </a:solidFill>
                          <a:latin typeface="Helvetica Neue"/>
                          <a:ea typeface="Helvetica Neue"/>
                          <a:cs typeface="Helvetica Neue"/>
                        </a:rPr>
                        <a:t>Arayüz</a:t>
                      </a:r>
                    </a:p>
                  </a:txBody>
                  <a:tcPr marL="114300" marR="114300" marT="47625" marB="47625" anchor="ctr">
                    <a:solidFill>
                      <a:srgbClr val="ECF0EC"/>
                    </a:solidFill>
                  </a:tcPr>
                </a:tc>
                <a:tc>
                  <a:txBody>
                    <a:bodyPr/>
                    <a:lstStyle/>
                    <a:p>
                      <a:r>
                        <a:rPr sz="1800" b="0">
                          <a:solidFill>
                            <a:srgbClr val="122C42"/>
                          </a:solidFill>
                          <a:latin typeface="Helvetica Neue"/>
                          <a:ea typeface="Helvetica Neue"/>
                          <a:cs typeface="Helvetica Neue"/>
                        </a:rPr>
                        <a:t>Virtual hardware</a:t>
                      </a:r>
                    </a:p>
                  </a:txBody>
                  <a:tcPr marL="114300" marR="114300" marT="47625" marB="47625" anchor="ctr">
                    <a:solidFill>
                      <a:srgbClr val="ECF0EC"/>
                    </a:solidFill>
                  </a:tcPr>
                </a:tc>
                <a:tc>
                  <a:txBody>
                    <a:bodyPr/>
                    <a:lstStyle/>
                    <a:p>
                      <a:r>
                        <a:rPr sz="1800" b="0">
                          <a:solidFill>
                            <a:srgbClr val="122C42"/>
                          </a:solidFill>
                          <a:latin typeface="Helvetica Neue"/>
                          <a:ea typeface="Helvetica Neue"/>
                          <a:cs typeface="Helvetica Neue"/>
                        </a:rPr>
                        <a:t>OS process interfaces</a:t>
                      </a:r>
                    </a:p>
                  </a:txBody>
                  <a:tcPr marL="114300" marR="114300" marT="47625" marB="47625" anchor="ctr">
                    <a:solidFill>
                      <a:srgbClr val="ECF0EC"/>
                    </a:solidFill>
                  </a:tcPr>
                </a:tc>
              </a:tr>
              <a:tr h="745331">
                <a:tc>
                  <a:txBody>
                    <a:bodyPr/>
                    <a:lstStyle/>
                    <a:p>
                      <a:r>
                        <a:rPr sz="1800" b="0">
                          <a:solidFill>
                            <a:srgbClr val="122C42"/>
                          </a:solidFill>
                          <a:latin typeface="Helvetica Neue"/>
                          <a:ea typeface="Helvetica Neue"/>
                          <a:cs typeface="Helvetica Neue"/>
                        </a:rPr>
                        <a:t>Paylaşım</a:t>
                      </a:r>
                    </a:p>
                  </a:txBody>
                  <a:tcPr marL="114300" marR="114300" marT="47625" marB="47625" anchor="ctr">
                    <a:solidFill>
                      <a:srgbClr val="FFFFFF"/>
                    </a:solidFill>
                  </a:tcPr>
                </a:tc>
                <a:tc>
                  <a:txBody>
                    <a:bodyPr/>
                    <a:lstStyle/>
                    <a:p>
                      <a:r>
                        <a:rPr sz="1800" b="0">
                          <a:solidFill>
                            <a:srgbClr val="122C42"/>
                          </a:solidFill>
                          <a:latin typeface="Helvetica Neue"/>
                          <a:ea typeface="Helvetica Neue"/>
                          <a:cs typeface="Helvetica Neue"/>
                        </a:rPr>
                        <a:t>Explicit interfaces</a:t>
                      </a:r>
                    </a:p>
                  </a:txBody>
                  <a:tcPr marL="114300" marR="114300" marT="47625" marB="47625" anchor="ctr">
                    <a:solidFill>
                      <a:srgbClr val="FFFFFF"/>
                    </a:solidFill>
                  </a:tcPr>
                </a:tc>
                <a:tc>
                  <a:txBody>
                    <a:bodyPr/>
                    <a:lstStyle/>
                    <a:p>
                      <a:r>
                        <a:rPr sz="1800" b="0">
                          <a:solidFill>
                            <a:srgbClr val="122C42"/>
                          </a:solidFill>
                          <a:latin typeface="Helvetica Neue"/>
                          <a:ea typeface="Helvetica Neue"/>
                          <a:cs typeface="Helvetica Neue"/>
                        </a:rPr>
                        <a:t>Namespaces + resource policy</a:t>
                      </a:r>
                    </a:p>
                  </a:txBody>
                  <a:tcPr marL="114300" marR="114300" marT="47625" marB="47625" anchor="ctr">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AA1A7411-2D58-4E25-94AB-F39CEF2BDA30}"/>
              </a:ext>
            </a:extLst>
          </p:cNvPr>
          <p:cNvSpPr>
            <a:spLocks xmlns:a="http://schemas.openxmlformats.org/drawingml/2006/main" noGrp="1"/>
          </p:cNvSpPr>
          <p:nvPr/>
        </p:nvSpPr>
        <p:spPr>
          <a:xfrm xmlns:a="http://schemas.openxmlformats.org/drawingml/2006/main">
            <a:off x="609600" y="6496050"/>
            <a:ext cx="8572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125" b="0">
                <a:solidFill>
                  <a:srgbClr val="4D606A"/>
                </a:solidFill>
                <a:latin typeface="Helvetica Neue"/>
                <a:ea typeface="Helvetica Neue"/>
                <a:cs typeface="Helvetica Neue"/>
              </a:defRPr>
            </a:pPr>
            <a:r>
              <a:rPr sz="1125" b="0">
                <a:solidFill>
                  <a:srgbClr val="4D606A"/>
                </a:solidFill>
                <a:latin typeface="Helvetica Neue"/>
                <a:ea typeface="Helvetica Neue"/>
                <a:cs typeface="Helvetica Neue"/>
              </a:rPr>
              <a:t>CSE513 · Hafta 9</a:t>
            </a:r>
          </a:p>
        </p:txBody>
      </p:sp>
      <p:sp>
        <p:nvSpPr>
          <p:cNvPr id="5" name="">
            <a:extLst xmlns:a="http://schemas.openxmlformats.org/drawingml/2006/main">
              <a:ext uri="{FF2B5EF4-FFF2-40B4-BE49-F238E27FC236}">
                <a16:creationId xmlns:a16="http://schemas.microsoft.com/office/drawing/2014/main" id="{846BED47-17C0-4DF8-AF46-05858D6ECDFA}"/>
              </a:ext>
            </a:extLst>
          </p:cNvPr>
          <p:cNvSpPr>
            <a:spLocks xmlns:a="http://schemas.openxmlformats.org/drawingml/2006/main" noGrp="1"/>
          </p:cNvSpPr>
          <p:nvPr/>
        </p:nvSpPr>
        <p:spPr>
          <a:xfrm xmlns:a="http://schemas.openxmlformats.org/drawingml/2006/main">
            <a:off x="10477500" y="6457950"/>
            <a:ext cx="10953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350" b="1">
                <a:solidFill>
                  <a:srgbClr val="087E83"/>
                </a:solidFill>
                <a:latin typeface="Helvetica Neue"/>
                <a:ea typeface="Helvetica Neue"/>
                <a:cs typeface="Helvetica Neue"/>
              </a:defRPr>
            </a:pPr>
            <a:r>
              <a:rPr sz="1350" b="1">
                <a:solidFill>
                  <a:srgbClr val="087E83"/>
                </a:solidFill>
                <a:latin typeface="Helvetica Neue"/>
                <a:ea typeface="Helvetica Neue"/>
                <a:cs typeface="Helvetica Neue"/>
              </a:rPr>
              <a:t>10 / 27</a:t>
            </a:r>
          </a:p>
        </p:txBody>
      </p:sp>
    </p:spTree>
    <p:extLst>
      <p:ext uri="{BB962C8B-B14F-4D97-AF65-F5344CB8AC3E}">
        <p14:creationId xmlns:p14="http://schemas.microsoft.com/office/powerpoint/2010/main" val="779868132"/>
      </p:ext>
    </p:extLst>
  </p:cSld>
</p:sld>
</file>

<file path=ppt/slides/slide11.xml><?xml version="1.0" encoding="utf-8"?>
<p:sld xmlns:p="http://schemas.openxmlformats.org/presentationml/2006/main">
  <p:cSld>
    <p:bg>
      <p:bgPr>
        <a:solidFill xmlns:a="http://schemas.openxmlformats.org/drawingml/2006/main">
          <a:srgbClr val="F5F1E8"/>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00CA9F90-9C4E-4088-A0A8-B6CCD505629A}"/>
              </a:ext>
            </a:extLst>
          </p:cNvPr>
          <p:cNvSpPr>
            <a:spLocks xmlns:a="http://schemas.openxmlformats.org/drawingml/2006/main" noGrp="1"/>
          </p:cNvSpPr>
          <p:nvPr/>
        </p:nvSpPr>
        <p:spPr>
          <a:xfrm xmlns:a="http://schemas.openxmlformats.org/drawingml/2006/main">
            <a:off x="609600" y="600075"/>
            <a:ext cx="1097280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300" b="1">
                <a:solidFill>
                  <a:srgbClr val="122C42"/>
                </a:solidFill>
                <a:latin typeface="Helvetica Neue"/>
                <a:ea typeface="Helvetica Neue"/>
                <a:cs typeface="Helvetica Neue"/>
              </a:defRPr>
            </a:pPr>
            <a:r>
              <a:rPr sz="3300" b="1">
                <a:solidFill>
                  <a:srgbClr val="122C42"/>
                </a:solidFill>
                <a:latin typeface="Helvetica Neue"/>
                <a:ea typeface="Helvetica Neue"/>
                <a:cs typeface="Helvetica Neue"/>
              </a:rPr>
              <a:t>Namespace: ne görünür?</a:t>
            </a:r>
          </a:p>
        </p:txBody>
      </p:sp>
      <p:sp>
        <p:nvSpPr>
          <p:cNvPr id="2" name="">
            <a:extLst xmlns:a="http://schemas.openxmlformats.org/drawingml/2006/main">
              <a:ext uri="{FF2B5EF4-FFF2-40B4-BE49-F238E27FC236}">
                <a16:creationId xmlns:a16="http://schemas.microsoft.com/office/drawing/2014/main" id="{9333DB36-5992-458C-8310-DCB1C730536A}"/>
              </a:ext>
            </a:extLst>
          </p:cNvPr>
          <p:cNvSpPr>
            <a:spLocks xmlns:a="http://schemas.openxmlformats.org/drawingml/2006/main" noGrp="1"/>
          </p:cNvSpPr>
          <p:nvPr/>
        </p:nvSpPr>
        <p:spPr>
          <a:xfrm xmlns:a="http://schemas.openxmlformats.org/drawingml/2006/main">
            <a:off x="609600" y="1952625"/>
            <a:ext cx="438150" cy="993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1">
                <a:solidFill>
                  <a:srgbClr val="087E83"/>
                </a:solidFill>
                <a:latin typeface="Helvetica Neue"/>
                <a:ea typeface="Helvetica Neue"/>
                <a:cs typeface="Helvetica Neue"/>
              </a:defRPr>
            </a:pPr>
            <a:r>
              <a:rPr sz="2100" b="1">
                <a:solidFill>
                  <a:srgbClr val="087E83"/>
                </a:solidFill>
                <a:latin typeface="Helvetica Neue"/>
                <a:ea typeface="Helvetica Neue"/>
                <a:cs typeface="Helvetica Neue"/>
              </a:rPr>
              <a:t>01</a:t>
            </a:r>
          </a:p>
        </p:txBody>
      </p:sp>
      <p:sp>
        <p:nvSpPr>
          <p:cNvPr id="3" name="">
            <a:extLst xmlns:a="http://schemas.openxmlformats.org/drawingml/2006/main">
              <a:ext uri="{FF2B5EF4-FFF2-40B4-BE49-F238E27FC236}">
                <a16:creationId xmlns:a16="http://schemas.microsoft.com/office/drawing/2014/main" id="{F0AF8424-8C41-4219-B79F-46A8245A2A8A}"/>
              </a:ext>
            </a:extLst>
          </p:cNvPr>
          <p:cNvSpPr>
            <a:spLocks xmlns:a="http://schemas.openxmlformats.org/drawingml/2006/main" noGrp="1"/>
          </p:cNvSpPr>
          <p:nvPr/>
        </p:nvSpPr>
        <p:spPr>
          <a:xfrm xmlns:a="http://schemas.openxmlformats.org/drawingml/2006/main">
            <a:off x="1333500" y="1952625"/>
            <a:ext cx="10248900" cy="993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400" b="0">
                <a:solidFill>
                  <a:srgbClr val="122C42"/>
                </a:solidFill>
                <a:latin typeface="Helvetica Neue"/>
                <a:ea typeface="Helvetica Neue"/>
                <a:cs typeface="Helvetica Neue"/>
              </a:defRPr>
            </a:pPr>
            <a:r>
              <a:rPr sz="2400" b="0">
                <a:solidFill>
                  <a:srgbClr val="122C42"/>
                </a:solidFill>
                <a:latin typeface="Helvetica Neue"/>
                <a:ea typeface="Helvetica Neue"/>
                <a:cs typeface="Helvetica Neue"/>
              </a:rPr>
              <a:t>PID, mount, network, user görünümleri.</a:t>
            </a:r>
          </a:p>
        </p:txBody>
      </p:sp>
      <p:sp>
        <p:nvSpPr>
          <p:cNvPr id="4" name="">
            <a:extLst xmlns:a="http://schemas.openxmlformats.org/drawingml/2006/main">
              <a:ext uri="{FF2B5EF4-FFF2-40B4-BE49-F238E27FC236}">
                <a16:creationId xmlns:a16="http://schemas.microsoft.com/office/drawing/2014/main" id="{CB6AC1E7-A526-47A9-B21D-252F87954CCE}"/>
              </a:ext>
            </a:extLst>
          </p:cNvPr>
          <p:cNvSpPr>
            <a:spLocks xmlns:a="http://schemas.openxmlformats.org/drawingml/2006/main" noGrp="1"/>
          </p:cNvSpPr>
          <p:nvPr/>
        </p:nvSpPr>
        <p:spPr>
          <a:xfrm xmlns:a="http://schemas.openxmlformats.org/drawingml/2006/main">
            <a:off x="609600" y="3041650"/>
            <a:ext cx="438150" cy="993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1">
                <a:solidFill>
                  <a:srgbClr val="087E83"/>
                </a:solidFill>
                <a:latin typeface="Helvetica Neue"/>
                <a:ea typeface="Helvetica Neue"/>
                <a:cs typeface="Helvetica Neue"/>
              </a:defRPr>
            </a:pPr>
            <a:r>
              <a:rPr sz="2100" b="1">
                <a:solidFill>
                  <a:srgbClr val="087E83"/>
                </a:solidFill>
                <a:latin typeface="Helvetica Neue"/>
                <a:ea typeface="Helvetica Neue"/>
                <a:cs typeface="Helvetica Neue"/>
              </a:rPr>
              <a:t>02</a:t>
            </a:r>
          </a:p>
        </p:txBody>
      </p:sp>
      <p:sp>
        <p:nvSpPr>
          <p:cNvPr id="5" name="">
            <a:extLst xmlns:a="http://schemas.openxmlformats.org/drawingml/2006/main">
              <a:ext uri="{FF2B5EF4-FFF2-40B4-BE49-F238E27FC236}">
                <a16:creationId xmlns:a16="http://schemas.microsoft.com/office/drawing/2014/main" id="{12AA431E-4B36-44E5-922F-3775E5A2369A}"/>
              </a:ext>
            </a:extLst>
          </p:cNvPr>
          <p:cNvSpPr>
            <a:spLocks xmlns:a="http://schemas.openxmlformats.org/drawingml/2006/main" noGrp="1"/>
          </p:cNvSpPr>
          <p:nvPr/>
        </p:nvSpPr>
        <p:spPr>
          <a:xfrm xmlns:a="http://schemas.openxmlformats.org/drawingml/2006/main">
            <a:off x="1333500" y="3041650"/>
            <a:ext cx="10248900" cy="993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400" b="0">
                <a:solidFill>
                  <a:srgbClr val="122C42"/>
                </a:solidFill>
                <a:latin typeface="Helvetica Neue"/>
                <a:ea typeface="Helvetica Neue"/>
                <a:cs typeface="Helvetica Neue"/>
              </a:defRPr>
            </a:pPr>
            <a:r>
              <a:rPr sz="2400" b="0">
                <a:solidFill>
                  <a:srgbClr val="122C42"/>
                </a:solidFill>
                <a:latin typeface="Helvetica Neue"/>
                <a:ea typeface="Helvetica Neue"/>
                <a:cs typeface="Helvetica Neue"/>
              </a:rPr>
              <a:t>Üyelik ve configuration önemlidir.</a:t>
            </a:r>
          </a:p>
        </p:txBody>
      </p:sp>
      <p:sp>
        <p:nvSpPr>
          <p:cNvPr id="6" name="">
            <a:extLst xmlns:a="http://schemas.openxmlformats.org/drawingml/2006/main">
              <a:ext uri="{FF2B5EF4-FFF2-40B4-BE49-F238E27FC236}">
                <a16:creationId xmlns:a16="http://schemas.microsoft.com/office/drawing/2014/main" id="{633D42D4-7211-4B10-AE95-C0D24034616F}"/>
              </a:ext>
            </a:extLst>
          </p:cNvPr>
          <p:cNvSpPr>
            <a:spLocks xmlns:a="http://schemas.openxmlformats.org/drawingml/2006/main" noGrp="1"/>
          </p:cNvSpPr>
          <p:nvPr/>
        </p:nvSpPr>
        <p:spPr>
          <a:xfrm xmlns:a="http://schemas.openxmlformats.org/drawingml/2006/main">
            <a:off x="609600" y="4130675"/>
            <a:ext cx="438150" cy="993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1">
                <a:solidFill>
                  <a:srgbClr val="087E83"/>
                </a:solidFill>
                <a:latin typeface="Helvetica Neue"/>
                <a:ea typeface="Helvetica Neue"/>
                <a:cs typeface="Helvetica Neue"/>
              </a:defRPr>
            </a:pPr>
            <a:r>
              <a:rPr sz="2100" b="1">
                <a:solidFill>
                  <a:srgbClr val="087E83"/>
                </a:solidFill>
                <a:latin typeface="Helvetica Neue"/>
                <a:ea typeface="Helvetica Neue"/>
                <a:cs typeface="Helvetica Neue"/>
              </a:rPr>
              <a:t>03</a:t>
            </a:r>
          </a:p>
        </p:txBody>
      </p:sp>
      <p:sp>
        <p:nvSpPr>
          <p:cNvPr id="7" name="">
            <a:extLst xmlns:a="http://schemas.openxmlformats.org/drawingml/2006/main">
              <a:ext uri="{FF2B5EF4-FFF2-40B4-BE49-F238E27FC236}">
                <a16:creationId xmlns:a16="http://schemas.microsoft.com/office/drawing/2014/main" id="{92D2B69F-1181-41A2-87ED-08C7A552E95F}"/>
              </a:ext>
            </a:extLst>
          </p:cNvPr>
          <p:cNvSpPr>
            <a:spLocks xmlns:a="http://schemas.openxmlformats.org/drawingml/2006/main" noGrp="1"/>
          </p:cNvSpPr>
          <p:nvPr/>
        </p:nvSpPr>
        <p:spPr>
          <a:xfrm xmlns:a="http://schemas.openxmlformats.org/drawingml/2006/main">
            <a:off x="1333500" y="4130675"/>
            <a:ext cx="10248900" cy="993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400" b="0">
                <a:solidFill>
                  <a:srgbClr val="122C42"/>
                </a:solidFill>
                <a:latin typeface="Helvetica Neue"/>
                <a:ea typeface="Helvetica Neue"/>
                <a:cs typeface="Helvetica Neue"/>
              </a:defRPr>
            </a:pPr>
            <a:r>
              <a:rPr sz="2400" b="0">
                <a:solidFill>
                  <a:srgbClr val="122C42"/>
                </a:solidFill>
                <a:latin typeface="Helvetica Neue"/>
                <a:ea typeface="Helvetica Neue"/>
                <a:cs typeface="Helvetica Neue"/>
              </a:rPr>
              <a:t>Namespace kapasite kotası değildir.</a:t>
            </a:r>
          </a:p>
        </p:txBody>
      </p:sp>
      <p:sp>
        <p:nvSpPr>
          <p:cNvPr id="8" name="">
            <a:extLst xmlns:a="http://schemas.openxmlformats.org/drawingml/2006/main">
              <a:ext uri="{FF2B5EF4-FFF2-40B4-BE49-F238E27FC236}">
                <a16:creationId xmlns:a16="http://schemas.microsoft.com/office/drawing/2014/main" id="{1B384CBB-CB4D-4B3E-A69C-9F4762EA4F18}"/>
              </a:ext>
            </a:extLst>
          </p:cNvPr>
          <p:cNvSpPr>
            <a:spLocks xmlns:a="http://schemas.openxmlformats.org/drawingml/2006/main" noGrp="1"/>
          </p:cNvSpPr>
          <p:nvPr/>
        </p:nvSpPr>
        <p:spPr>
          <a:xfrm xmlns:a="http://schemas.openxmlformats.org/drawingml/2006/main">
            <a:off x="609600" y="5438775"/>
            <a:ext cx="109728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500" b="1">
                <a:solidFill>
                  <a:srgbClr val="C46225"/>
                </a:solidFill>
                <a:latin typeface="Helvetica Neue"/>
                <a:ea typeface="Helvetica Neue"/>
                <a:cs typeface="Helvetica Neue"/>
              </a:defRPr>
            </a:pPr>
            <a:r>
              <a:rPr sz="1500" b="1">
                <a:solidFill>
                  <a:srgbClr val="C46225"/>
                </a:solidFill>
                <a:latin typeface="Helvetica Neue"/>
                <a:ea typeface="Helvetica Neue"/>
                <a:cs typeface="Helvetica Neue"/>
              </a:rPr>
              <a:t>GERÇEK HAYAT · Aynı local port</a:t>
            </a:r>
          </a:p>
        </p:txBody>
      </p:sp>
      <p:sp>
        <p:nvSpPr>
          <p:cNvPr id="9" name="">
            <a:extLst xmlns:a="http://schemas.openxmlformats.org/drawingml/2006/main">
              <a:ext uri="{FF2B5EF4-FFF2-40B4-BE49-F238E27FC236}">
                <a16:creationId xmlns:a16="http://schemas.microsoft.com/office/drawing/2014/main" id="{FDD9783E-32E1-4596-B66F-FB0D6ACDC0ED}"/>
              </a:ext>
            </a:extLst>
          </p:cNvPr>
          <p:cNvSpPr>
            <a:spLocks xmlns:a="http://schemas.openxmlformats.org/drawingml/2006/main" noGrp="1"/>
          </p:cNvSpPr>
          <p:nvPr/>
        </p:nvSpPr>
        <p:spPr>
          <a:xfrm xmlns:a="http://schemas.openxmlformats.org/drawingml/2006/main">
            <a:off x="609600" y="5781675"/>
            <a:ext cx="109728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650" b="0">
                <a:solidFill>
                  <a:srgbClr val="4D606A"/>
                </a:solidFill>
                <a:latin typeface="Helvetica Neue"/>
                <a:ea typeface="Helvetica Neue"/>
                <a:cs typeface="Helvetica Neue"/>
              </a:defRPr>
            </a:pPr>
            <a:r>
              <a:rPr sz="1650" b="0">
                <a:solidFill>
                  <a:srgbClr val="4D606A"/>
                </a:solidFill>
                <a:latin typeface="Helvetica Neue"/>
                <a:ea typeface="Helvetica Neue"/>
                <a:cs typeface="Helvetica Neue"/>
              </a:rPr>
              <a:t>Ayrı network görünümleri aynı port adını kullanabilir.</a:t>
            </a:r>
          </a:p>
        </p:txBody>
      </p:sp>
      <p:sp>
        <p:nvSpPr>
          <p:cNvPr id="10" name="">
            <a:extLst xmlns:a="http://schemas.openxmlformats.org/drawingml/2006/main">
              <a:ext uri="{FF2B5EF4-FFF2-40B4-BE49-F238E27FC236}">
                <a16:creationId xmlns:a16="http://schemas.microsoft.com/office/drawing/2014/main" id="{04801D6B-7494-4473-B263-6C64986EC247}"/>
              </a:ext>
            </a:extLst>
          </p:cNvPr>
          <p:cNvSpPr>
            <a:spLocks xmlns:a="http://schemas.openxmlformats.org/drawingml/2006/main" noGrp="1"/>
          </p:cNvSpPr>
          <p:nvPr/>
        </p:nvSpPr>
        <p:spPr>
          <a:xfrm xmlns:a="http://schemas.openxmlformats.org/drawingml/2006/main">
            <a:off x="609600" y="6496050"/>
            <a:ext cx="8572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125" b="0">
                <a:solidFill>
                  <a:srgbClr val="4D606A"/>
                </a:solidFill>
                <a:latin typeface="Helvetica Neue"/>
                <a:ea typeface="Helvetica Neue"/>
                <a:cs typeface="Helvetica Neue"/>
              </a:defRPr>
            </a:pPr>
            <a:r>
              <a:rPr sz="1125" b="0">
                <a:solidFill>
                  <a:srgbClr val="4D606A"/>
                </a:solidFill>
                <a:latin typeface="Helvetica Neue"/>
                <a:ea typeface="Helvetica Neue"/>
                <a:cs typeface="Helvetica Neue"/>
              </a:rPr>
              <a:t>CSE513 · Hafta 9</a:t>
            </a:r>
          </a:p>
        </p:txBody>
      </p:sp>
      <p:sp>
        <p:nvSpPr>
          <p:cNvPr id="11" name="">
            <a:extLst xmlns:a="http://schemas.openxmlformats.org/drawingml/2006/main">
              <a:ext uri="{FF2B5EF4-FFF2-40B4-BE49-F238E27FC236}">
                <a16:creationId xmlns:a16="http://schemas.microsoft.com/office/drawing/2014/main" id="{99FE4662-721A-457C-AB06-1BE5917E401F}"/>
              </a:ext>
            </a:extLst>
          </p:cNvPr>
          <p:cNvSpPr>
            <a:spLocks xmlns:a="http://schemas.openxmlformats.org/drawingml/2006/main" noGrp="1"/>
          </p:cNvSpPr>
          <p:nvPr/>
        </p:nvSpPr>
        <p:spPr>
          <a:xfrm xmlns:a="http://schemas.openxmlformats.org/drawingml/2006/main">
            <a:off x="10477500" y="6457950"/>
            <a:ext cx="10953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350" b="1">
                <a:solidFill>
                  <a:srgbClr val="087E83"/>
                </a:solidFill>
                <a:latin typeface="Helvetica Neue"/>
                <a:ea typeface="Helvetica Neue"/>
                <a:cs typeface="Helvetica Neue"/>
              </a:defRPr>
            </a:pPr>
            <a:r>
              <a:rPr sz="1350" b="1">
                <a:solidFill>
                  <a:srgbClr val="087E83"/>
                </a:solidFill>
                <a:latin typeface="Helvetica Neue"/>
                <a:ea typeface="Helvetica Neue"/>
                <a:cs typeface="Helvetica Neue"/>
              </a:rPr>
              <a:t>11 / 27</a:t>
            </a:r>
          </a:p>
        </p:txBody>
      </p:sp>
    </p:spTree>
    <p:extLst>
      <p:ext uri="{BB962C8B-B14F-4D97-AF65-F5344CB8AC3E}">
        <p14:creationId xmlns:p14="http://schemas.microsoft.com/office/powerpoint/2010/main" val="1921858071"/>
      </p:ext>
    </p:extLst>
  </p:cSld>
</p:sld>
</file>

<file path=ppt/slides/slide12.xml><?xml version="1.0" encoding="utf-8"?>
<p:sld xmlns:p="http://schemas.openxmlformats.org/presentationml/2006/main">
  <p:cSld>
    <p:bg>
      <p:bgPr>
        <a:solidFill xmlns:a="http://schemas.openxmlformats.org/drawingml/2006/main">
          <a:srgbClr val="F5F1E8"/>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F7CA1E4F-0563-455C-BD1D-58423B900A86}"/>
              </a:ext>
            </a:extLst>
          </p:cNvPr>
          <p:cNvSpPr>
            <a:spLocks xmlns:a="http://schemas.openxmlformats.org/drawingml/2006/main" noGrp="1"/>
          </p:cNvSpPr>
          <p:nvPr/>
        </p:nvSpPr>
        <p:spPr>
          <a:xfrm xmlns:a="http://schemas.openxmlformats.org/drawingml/2006/main">
            <a:off x="609600" y="600075"/>
            <a:ext cx="1097280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300" b="1">
                <a:solidFill>
                  <a:srgbClr val="122C42"/>
                </a:solidFill>
                <a:latin typeface="Helvetica Neue"/>
                <a:ea typeface="Helvetica Neue"/>
                <a:cs typeface="Helvetica Neue"/>
              </a:defRPr>
            </a:pPr>
            <a:r>
              <a:rPr sz="3300" b="1">
                <a:solidFill>
                  <a:srgbClr val="122C42"/>
                </a:solidFill>
                <a:latin typeface="Helvetica Neue"/>
                <a:ea typeface="Helvetica Neue"/>
                <a:cs typeface="Helvetica Neue"/>
              </a:rPr>
              <a:t>PID1 iki yerde aynı process mi?</a:t>
            </a:r>
          </a:p>
        </p:txBody>
      </p:sp>
      <p:sp>
        <p:nvSpPr>
          <p:cNvPr id="2" name="">
            <a:extLst xmlns:a="http://schemas.openxmlformats.org/drawingml/2006/main">
              <a:ext uri="{FF2B5EF4-FFF2-40B4-BE49-F238E27FC236}">
                <a16:creationId xmlns:a16="http://schemas.microsoft.com/office/drawing/2014/main" id="{9DBA970E-1064-45FA-8A42-1A11CF14315D}"/>
              </a:ext>
            </a:extLst>
          </p:cNvPr>
          <p:cNvSpPr>
            <a:spLocks xmlns:a="http://schemas.openxmlformats.org/drawingml/2006/main" noGrp="1"/>
          </p:cNvSpPr>
          <p:nvPr/>
        </p:nvSpPr>
        <p:spPr>
          <a:xfrm xmlns:a="http://schemas.openxmlformats.org/drawingml/2006/main">
            <a:off x="609600" y="1952625"/>
            <a:ext cx="438150" cy="946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1">
                <a:solidFill>
                  <a:srgbClr val="087E83"/>
                </a:solidFill>
                <a:latin typeface="Helvetica Neue"/>
                <a:ea typeface="Helvetica Neue"/>
                <a:cs typeface="Helvetica Neue"/>
              </a:defRPr>
            </a:pPr>
            <a:r>
              <a:rPr sz="2100" b="1">
                <a:solidFill>
                  <a:srgbClr val="087E83"/>
                </a:solidFill>
                <a:latin typeface="Helvetica Neue"/>
                <a:ea typeface="Helvetica Neue"/>
                <a:cs typeface="Helvetica Neue"/>
              </a:rPr>
              <a:t>01</a:t>
            </a:r>
          </a:p>
        </p:txBody>
      </p:sp>
      <p:sp>
        <p:nvSpPr>
          <p:cNvPr id="3" name="">
            <a:extLst xmlns:a="http://schemas.openxmlformats.org/drawingml/2006/main">
              <a:ext uri="{FF2B5EF4-FFF2-40B4-BE49-F238E27FC236}">
                <a16:creationId xmlns:a16="http://schemas.microsoft.com/office/drawing/2014/main" id="{A550F29C-0A8C-4F61-BE31-67F1958A3527}"/>
              </a:ext>
            </a:extLst>
          </p:cNvPr>
          <p:cNvSpPr>
            <a:spLocks xmlns:a="http://schemas.openxmlformats.org/drawingml/2006/main" noGrp="1"/>
          </p:cNvSpPr>
          <p:nvPr/>
        </p:nvSpPr>
        <p:spPr>
          <a:xfrm xmlns:a="http://schemas.openxmlformats.org/drawingml/2006/main">
            <a:off x="1333500" y="1952625"/>
            <a:ext cx="10248900" cy="946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400" b="0">
                <a:solidFill>
                  <a:srgbClr val="122C42"/>
                </a:solidFill>
                <a:latin typeface="Helvetica Neue"/>
                <a:ea typeface="Helvetica Neue"/>
                <a:cs typeface="Helvetica Neue"/>
              </a:defRPr>
            </a:pPr>
            <a:r>
              <a:rPr sz="2400" b="0">
                <a:solidFill>
                  <a:srgbClr val="122C42"/>
                </a:solidFill>
                <a:latin typeface="Helvetica Neue"/>
                <a:ea typeface="Helvetica Neue"/>
                <a:cs typeface="Helvetica Neue"/>
              </a:rPr>
              <a:t>Container A: local PID1 → host PID410.</a:t>
            </a:r>
          </a:p>
        </p:txBody>
      </p:sp>
      <p:sp>
        <p:nvSpPr>
          <p:cNvPr id="4" name="">
            <a:extLst xmlns:a="http://schemas.openxmlformats.org/drawingml/2006/main">
              <a:ext uri="{FF2B5EF4-FFF2-40B4-BE49-F238E27FC236}">
                <a16:creationId xmlns:a16="http://schemas.microsoft.com/office/drawing/2014/main" id="{F414A89B-D03E-4E61-A480-E7A50FE36545}"/>
              </a:ext>
            </a:extLst>
          </p:cNvPr>
          <p:cNvSpPr>
            <a:spLocks xmlns:a="http://schemas.openxmlformats.org/drawingml/2006/main" noGrp="1"/>
          </p:cNvSpPr>
          <p:nvPr/>
        </p:nvSpPr>
        <p:spPr>
          <a:xfrm xmlns:a="http://schemas.openxmlformats.org/drawingml/2006/main">
            <a:off x="609600" y="2994025"/>
            <a:ext cx="438150" cy="946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1">
                <a:solidFill>
                  <a:srgbClr val="087E83"/>
                </a:solidFill>
                <a:latin typeface="Helvetica Neue"/>
                <a:ea typeface="Helvetica Neue"/>
                <a:cs typeface="Helvetica Neue"/>
              </a:defRPr>
            </a:pPr>
            <a:r>
              <a:rPr sz="2100" b="1">
                <a:solidFill>
                  <a:srgbClr val="087E83"/>
                </a:solidFill>
                <a:latin typeface="Helvetica Neue"/>
                <a:ea typeface="Helvetica Neue"/>
                <a:cs typeface="Helvetica Neue"/>
              </a:rPr>
              <a:t>02</a:t>
            </a:r>
          </a:p>
        </p:txBody>
      </p:sp>
      <p:sp>
        <p:nvSpPr>
          <p:cNvPr id="5" name="">
            <a:extLst xmlns:a="http://schemas.openxmlformats.org/drawingml/2006/main">
              <a:ext uri="{FF2B5EF4-FFF2-40B4-BE49-F238E27FC236}">
                <a16:creationId xmlns:a16="http://schemas.microsoft.com/office/drawing/2014/main" id="{A012E5DC-58C2-4F87-9880-01760028F2A5}"/>
              </a:ext>
            </a:extLst>
          </p:cNvPr>
          <p:cNvSpPr>
            <a:spLocks xmlns:a="http://schemas.openxmlformats.org/drawingml/2006/main" noGrp="1"/>
          </p:cNvSpPr>
          <p:nvPr/>
        </p:nvSpPr>
        <p:spPr>
          <a:xfrm xmlns:a="http://schemas.openxmlformats.org/drawingml/2006/main">
            <a:off x="1333500" y="2994025"/>
            <a:ext cx="10248900" cy="946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400" b="0">
                <a:solidFill>
                  <a:srgbClr val="122C42"/>
                </a:solidFill>
                <a:latin typeface="Helvetica Neue"/>
                <a:ea typeface="Helvetica Neue"/>
                <a:cs typeface="Helvetica Neue"/>
              </a:defRPr>
            </a:pPr>
            <a:r>
              <a:rPr sz="2400" b="0">
                <a:solidFill>
                  <a:srgbClr val="122C42"/>
                </a:solidFill>
                <a:latin typeface="Helvetica Neue"/>
                <a:ea typeface="Helvetica Neue"/>
                <a:cs typeface="Helvetica Neue"/>
              </a:rPr>
              <a:t>Container B: local PID1 → host PID520.</a:t>
            </a:r>
          </a:p>
        </p:txBody>
      </p:sp>
      <p:sp>
        <p:nvSpPr>
          <p:cNvPr id="6" name="">
            <a:extLst xmlns:a="http://schemas.openxmlformats.org/drawingml/2006/main">
              <a:ext uri="{FF2B5EF4-FFF2-40B4-BE49-F238E27FC236}">
                <a16:creationId xmlns:a16="http://schemas.microsoft.com/office/drawing/2014/main" id="{CC97149E-FB02-435A-9F49-BBAA2FD3ED69}"/>
              </a:ext>
            </a:extLst>
          </p:cNvPr>
          <p:cNvSpPr>
            <a:spLocks xmlns:a="http://schemas.openxmlformats.org/drawingml/2006/main" noGrp="1"/>
          </p:cNvSpPr>
          <p:nvPr/>
        </p:nvSpPr>
        <p:spPr>
          <a:xfrm xmlns:a="http://schemas.openxmlformats.org/drawingml/2006/main">
            <a:off x="609600" y="4035425"/>
            <a:ext cx="438150" cy="946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1">
                <a:solidFill>
                  <a:srgbClr val="087E83"/>
                </a:solidFill>
                <a:latin typeface="Helvetica Neue"/>
                <a:ea typeface="Helvetica Neue"/>
                <a:cs typeface="Helvetica Neue"/>
              </a:defRPr>
            </a:pPr>
            <a:r>
              <a:rPr sz="2100" b="1">
                <a:solidFill>
                  <a:srgbClr val="087E83"/>
                </a:solidFill>
                <a:latin typeface="Helvetica Neue"/>
                <a:ea typeface="Helvetica Neue"/>
                <a:cs typeface="Helvetica Neue"/>
              </a:rPr>
              <a:t>03</a:t>
            </a:r>
          </a:p>
        </p:txBody>
      </p:sp>
      <p:sp>
        <p:nvSpPr>
          <p:cNvPr id="7" name="">
            <a:extLst xmlns:a="http://schemas.openxmlformats.org/drawingml/2006/main">
              <a:ext uri="{FF2B5EF4-FFF2-40B4-BE49-F238E27FC236}">
                <a16:creationId xmlns:a16="http://schemas.microsoft.com/office/drawing/2014/main" id="{07044D36-D99D-424D-B4C5-548E754C7ECA}"/>
              </a:ext>
            </a:extLst>
          </p:cNvPr>
          <p:cNvSpPr>
            <a:spLocks xmlns:a="http://schemas.openxmlformats.org/drawingml/2006/main" noGrp="1"/>
          </p:cNvSpPr>
          <p:nvPr/>
        </p:nvSpPr>
        <p:spPr>
          <a:xfrm xmlns:a="http://schemas.openxmlformats.org/drawingml/2006/main">
            <a:off x="1333500" y="4035425"/>
            <a:ext cx="10248900" cy="946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400" b="0">
                <a:solidFill>
                  <a:srgbClr val="122C42"/>
                </a:solidFill>
                <a:latin typeface="Helvetica Neue"/>
                <a:ea typeface="Helvetica Neue"/>
                <a:cs typeface="Helvetica Neue"/>
              </a:defRPr>
            </a:pPr>
            <a:r>
              <a:rPr sz="2400" b="0">
                <a:solidFill>
                  <a:srgbClr val="122C42"/>
                </a:solidFill>
                <a:latin typeface="Helvetica Neue"/>
                <a:ea typeface="Helvetica Neue"/>
                <a:cs typeface="Helvetica Neue"/>
              </a:rPr>
              <a:t>Aynı local isim, farklı object.</a:t>
            </a:r>
          </a:p>
        </p:txBody>
      </p:sp>
      <p:sp>
        <p:nvSpPr>
          <p:cNvPr id="8" name="">
            <a:extLst xmlns:a="http://schemas.openxmlformats.org/drawingml/2006/main">
              <a:ext uri="{FF2B5EF4-FFF2-40B4-BE49-F238E27FC236}">
                <a16:creationId xmlns:a16="http://schemas.microsoft.com/office/drawing/2014/main" id="{C7485194-9930-42C4-A874-60B1D7EFD6F8}"/>
              </a:ext>
            </a:extLst>
          </p:cNvPr>
          <p:cNvSpPr>
            <a:spLocks xmlns:a="http://schemas.openxmlformats.org/drawingml/2006/main" noGrp="1"/>
          </p:cNvSpPr>
          <p:nvPr/>
        </p:nvSpPr>
        <p:spPr>
          <a:xfrm xmlns:a="http://schemas.openxmlformats.org/drawingml/2006/main">
            <a:off x="609600" y="5238750"/>
            <a:ext cx="109728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75" b="1">
                <a:solidFill>
                  <a:srgbClr val="087E83"/>
                </a:solidFill>
                <a:latin typeface="Helvetica Neue"/>
                <a:ea typeface="Helvetica Neue"/>
                <a:cs typeface="Helvetica Neue"/>
              </a:defRPr>
            </a:pPr>
            <a:r>
              <a:rPr sz="1875" b="1">
                <a:solidFill>
                  <a:srgbClr val="087E83"/>
                </a:solidFill>
                <a:latin typeface="Helvetica Neue"/>
                <a:ea typeface="Helvetica Neue"/>
                <a:cs typeface="Helvetica Neue"/>
              </a:rPr>
              <a:t>Düşün: A ve B PID1 olduğundan birbirini görebilir mi?</a:t>
            </a:r>
          </a:p>
        </p:txBody>
      </p:sp>
      <p:sp>
        <p:nvSpPr>
          <p:cNvPr id="9" name="">
            <a:extLst xmlns:a="http://schemas.openxmlformats.org/drawingml/2006/main">
              <a:ext uri="{FF2B5EF4-FFF2-40B4-BE49-F238E27FC236}">
                <a16:creationId xmlns:a16="http://schemas.microsoft.com/office/drawing/2014/main" id="{A1A21529-24DE-4F74-807F-FDE24E5D826C}"/>
              </a:ext>
            </a:extLst>
          </p:cNvPr>
          <p:cNvSpPr>
            <a:spLocks xmlns:a="http://schemas.openxmlformats.org/drawingml/2006/main" noGrp="1"/>
          </p:cNvSpPr>
          <p:nvPr/>
        </p:nvSpPr>
        <p:spPr>
          <a:xfrm xmlns:a="http://schemas.openxmlformats.org/drawingml/2006/main">
            <a:off x="609600" y="6496050"/>
            <a:ext cx="8572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125" b="0">
                <a:solidFill>
                  <a:srgbClr val="4D606A"/>
                </a:solidFill>
                <a:latin typeface="Helvetica Neue"/>
                <a:ea typeface="Helvetica Neue"/>
                <a:cs typeface="Helvetica Neue"/>
              </a:defRPr>
            </a:pPr>
            <a:r>
              <a:rPr sz="1125" b="0">
                <a:solidFill>
                  <a:srgbClr val="4D606A"/>
                </a:solidFill>
                <a:latin typeface="Helvetica Neue"/>
                <a:ea typeface="Helvetica Neue"/>
                <a:cs typeface="Helvetica Neue"/>
              </a:rPr>
              <a:t>CSE513 · Hafta 9</a:t>
            </a:r>
          </a:p>
        </p:txBody>
      </p:sp>
      <p:sp>
        <p:nvSpPr>
          <p:cNvPr id="10" name="">
            <a:extLst xmlns:a="http://schemas.openxmlformats.org/drawingml/2006/main">
              <a:ext uri="{FF2B5EF4-FFF2-40B4-BE49-F238E27FC236}">
                <a16:creationId xmlns:a16="http://schemas.microsoft.com/office/drawing/2014/main" id="{C2234273-12E8-4FC4-8078-3E3094C2C179}"/>
              </a:ext>
            </a:extLst>
          </p:cNvPr>
          <p:cNvSpPr>
            <a:spLocks xmlns:a="http://schemas.openxmlformats.org/drawingml/2006/main" noGrp="1"/>
          </p:cNvSpPr>
          <p:nvPr/>
        </p:nvSpPr>
        <p:spPr>
          <a:xfrm xmlns:a="http://schemas.openxmlformats.org/drawingml/2006/main">
            <a:off x="10477500" y="6457950"/>
            <a:ext cx="10953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350" b="1">
                <a:solidFill>
                  <a:srgbClr val="087E83"/>
                </a:solidFill>
                <a:latin typeface="Helvetica Neue"/>
                <a:ea typeface="Helvetica Neue"/>
                <a:cs typeface="Helvetica Neue"/>
              </a:defRPr>
            </a:pPr>
            <a:r>
              <a:rPr sz="1350" b="1">
                <a:solidFill>
                  <a:srgbClr val="087E83"/>
                </a:solidFill>
                <a:latin typeface="Helvetica Neue"/>
                <a:ea typeface="Helvetica Neue"/>
                <a:cs typeface="Helvetica Neue"/>
              </a:rPr>
              <a:t>12 / 27</a:t>
            </a:r>
          </a:p>
        </p:txBody>
      </p:sp>
    </p:spTree>
    <p:extLst>
      <p:ext uri="{BB962C8B-B14F-4D97-AF65-F5344CB8AC3E}">
        <p14:creationId xmlns:p14="http://schemas.microsoft.com/office/powerpoint/2010/main" val="471615873"/>
      </p:ext>
    </p:extLst>
  </p:cSld>
</p:sld>
</file>

<file path=ppt/slides/slide13.xml><?xml version="1.0" encoding="utf-8"?>
<p:sld xmlns:p="http://schemas.openxmlformats.org/presentationml/2006/main">
  <p:cSld>
    <p:bg>
      <p:bgPr>
        <a:solidFill xmlns:a="http://schemas.openxmlformats.org/drawingml/2006/main">
          <a:srgbClr val="F5F1E8"/>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E5EEBE5E-B4D5-4DFB-85D3-0DDB24C22CB5}"/>
              </a:ext>
            </a:extLst>
          </p:cNvPr>
          <p:cNvSpPr>
            <a:spLocks xmlns:a="http://schemas.openxmlformats.org/drawingml/2006/main" noGrp="1"/>
          </p:cNvSpPr>
          <p:nvPr/>
        </p:nvSpPr>
        <p:spPr>
          <a:xfrm xmlns:a="http://schemas.openxmlformats.org/drawingml/2006/main">
            <a:off x="609600" y="600075"/>
            <a:ext cx="1097280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300" b="1">
                <a:solidFill>
                  <a:srgbClr val="122C42"/>
                </a:solidFill>
                <a:latin typeface="Helvetica Neue"/>
                <a:ea typeface="Helvetica Neue"/>
                <a:cs typeface="Helvetica Neue"/>
              </a:defRPr>
            </a:pPr>
            <a:r>
              <a:rPr sz="3300" b="1">
                <a:solidFill>
                  <a:srgbClr val="122C42"/>
                </a:solidFill>
                <a:latin typeface="Helvetica Neue"/>
                <a:ea typeface="Helvetica Neue"/>
                <a:cs typeface="Helvetica Neue"/>
              </a:rPr>
              <a:t>İlk kontrol: çizim yeterli mi?</a:t>
            </a:r>
          </a:p>
        </p:txBody>
      </p:sp>
      <p:sp>
        <p:nvSpPr>
          <p:cNvPr id="2" name="">
            <a:extLst xmlns:a="http://schemas.openxmlformats.org/drawingml/2006/main">
              <a:ext uri="{FF2B5EF4-FFF2-40B4-BE49-F238E27FC236}">
                <a16:creationId xmlns:a16="http://schemas.microsoft.com/office/drawing/2014/main" id="{D8F2401C-4C65-4490-8FF6-6FA0AF66522D}"/>
              </a:ext>
            </a:extLst>
          </p:cNvPr>
          <p:cNvSpPr>
            <a:spLocks xmlns:a="http://schemas.openxmlformats.org/drawingml/2006/main" noGrp="1"/>
          </p:cNvSpPr>
          <p:nvPr/>
        </p:nvSpPr>
        <p:spPr>
          <a:xfrm xmlns:a="http://schemas.openxmlformats.org/drawingml/2006/main">
            <a:off x="609600" y="1952625"/>
            <a:ext cx="438150" cy="1168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1">
                <a:solidFill>
                  <a:srgbClr val="087E83"/>
                </a:solidFill>
                <a:latin typeface="Helvetica Neue"/>
                <a:ea typeface="Helvetica Neue"/>
                <a:cs typeface="Helvetica Neue"/>
              </a:defRPr>
            </a:pPr>
            <a:r>
              <a:rPr sz="2100" b="1">
                <a:solidFill>
                  <a:srgbClr val="087E83"/>
                </a:solidFill>
                <a:latin typeface="Helvetica Neue"/>
                <a:ea typeface="Helvetica Neue"/>
                <a:cs typeface="Helvetica Neue"/>
              </a:rPr>
              <a:t>01</a:t>
            </a:r>
          </a:p>
        </p:txBody>
      </p:sp>
      <p:sp>
        <p:nvSpPr>
          <p:cNvPr id="3" name="">
            <a:extLst xmlns:a="http://schemas.openxmlformats.org/drawingml/2006/main">
              <a:ext uri="{FF2B5EF4-FFF2-40B4-BE49-F238E27FC236}">
                <a16:creationId xmlns:a16="http://schemas.microsoft.com/office/drawing/2014/main" id="{8C708576-3DA6-4636-B2A8-4EC6920A672D}"/>
              </a:ext>
            </a:extLst>
          </p:cNvPr>
          <p:cNvSpPr>
            <a:spLocks xmlns:a="http://schemas.openxmlformats.org/drawingml/2006/main" noGrp="1"/>
          </p:cNvSpPr>
          <p:nvPr/>
        </p:nvSpPr>
        <p:spPr>
          <a:xfrm xmlns:a="http://schemas.openxmlformats.org/drawingml/2006/main">
            <a:off x="1333500" y="1952625"/>
            <a:ext cx="10248900" cy="1168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400" b="0">
                <a:solidFill>
                  <a:srgbClr val="122C42"/>
                </a:solidFill>
                <a:latin typeface="Helvetica Neue"/>
                <a:ea typeface="Helvetica Neue"/>
                <a:cs typeface="Helvetica Neue"/>
              </a:defRPr>
            </a:pPr>
            <a:r>
              <a:rPr sz="2400" b="0">
                <a:solidFill>
                  <a:srgbClr val="122C42"/>
                </a:solidFill>
                <a:latin typeface="Helvetica Neue"/>
                <a:ea typeface="Helvetica Neue"/>
                <a:cs typeface="Helvetica Neue"/>
              </a:rPr>
              <a:t>Guest kernel ile shared kernel farkı?</a:t>
            </a:r>
          </a:p>
        </p:txBody>
      </p:sp>
      <p:sp>
        <p:nvSpPr>
          <p:cNvPr id="4" name="">
            <a:extLst xmlns:a="http://schemas.openxmlformats.org/drawingml/2006/main">
              <a:ext uri="{FF2B5EF4-FFF2-40B4-BE49-F238E27FC236}">
                <a16:creationId xmlns:a16="http://schemas.microsoft.com/office/drawing/2014/main" id="{8E6949BB-A4F8-47E2-B3FC-E2B2453E010A}"/>
              </a:ext>
            </a:extLst>
          </p:cNvPr>
          <p:cNvSpPr>
            <a:spLocks xmlns:a="http://schemas.openxmlformats.org/drawingml/2006/main" noGrp="1"/>
          </p:cNvSpPr>
          <p:nvPr/>
        </p:nvSpPr>
        <p:spPr>
          <a:xfrm xmlns:a="http://schemas.openxmlformats.org/drawingml/2006/main">
            <a:off x="609600" y="3216275"/>
            <a:ext cx="438150" cy="1168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1">
                <a:solidFill>
                  <a:srgbClr val="087E83"/>
                </a:solidFill>
                <a:latin typeface="Helvetica Neue"/>
                <a:ea typeface="Helvetica Neue"/>
                <a:cs typeface="Helvetica Neue"/>
              </a:defRPr>
            </a:pPr>
            <a:r>
              <a:rPr sz="2100" b="1">
                <a:solidFill>
                  <a:srgbClr val="087E83"/>
                </a:solidFill>
                <a:latin typeface="Helvetica Neue"/>
                <a:ea typeface="Helvetica Neue"/>
                <a:cs typeface="Helvetica Neue"/>
              </a:rPr>
              <a:t>02</a:t>
            </a:r>
          </a:p>
        </p:txBody>
      </p:sp>
      <p:sp>
        <p:nvSpPr>
          <p:cNvPr id="5" name="">
            <a:extLst xmlns:a="http://schemas.openxmlformats.org/drawingml/2006/main">
              <a:ext uri="{FF2B5EF4-FFF2-40B4-BE49-F238E27FC236}">
                <a16:creationId xmlns:a16="http://schemas.microsoft.com/office/drawing/2014/main" id="{B796A481-932A-41B1-A1AA-04761AC660A9}"/>
              </a:ext>
            </a:extLst>
          </p:cNvPr>
          <p:cNvSpPr>
            <a:spLocks xmlns:a="http://schemas.openxmlformats.org/drawingml/2006/main" noGrp="1"/>
          </p:cNvSpPr>
          <p:nvPr/>
        </p:nvSpPr>
        <p:spPr>
          <a:xfrm xmlns:a="http://schemas.openxmlformats.org/drawingml/2006/main">
            <a:off x="1333500" y="3216275"/>
            <a:ext cx="10248900" cy="1168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400" b="0">
                <a:solidFill>
                  <a:srgbClr val="122C42"/>
                </a:solidFill>
                <a:latin typeface="Helvetica Neue"/>
                <a:ea typeface="Helvetica Neue"/>
                <a:cs typeface="Helvetica Neue"/>
              </a:defRPr>
            </a:pPr>
            <a:r>
              <a:rPr sz="2400" b="0">
                <a:solidFill>
                  <a:srgbClr val="122C42"/>
                </a:solidFill>
                <a:latin typeface="Helvetica Neue"/>
                <a:ea typeface="Helvetica Neue"/>
                <a:cs typeface="Helvetica Neue"/>
              </a:rPr>
              <a:t>Namespace bir quota mı?</a:t>
            </a:r>
          </a:p>
        </p:txBody>
      </p:sp>
      <p:sp>
        <p:nvSpPr>
          <p:cNvPr id="6" name="">
            <a:extLst xmlns:a="http://schemas.openxmlformats.org/drawingml/2006/main">
              <a:ext uri="{FF2B5EF4-FFF2-40B4-BE49-F238E27FC236}">
                <a16:creationId xmlns:a16="http://schemas.microsoft.com/office/drawing/2014/main" id="{0610BBF4-C0C2-4E52-8C5A-446BBEA04F83}"/>
              </a:ext>
            </a:extLst>
          </p:cNvPr>
          <p:cNvSpPr>
            <a:spLocks xmlns:a="http://schemas.openxmlformats.org/drawingml/2006/main" noGrp="1"/>
          </p:cNvSpPr>
          <p:nvPr/>
        </p:nvSpPr>
        <p:spPr>
          <a:xfrm xmlns:a="http://schemas.openxmlformats.org/drawingml/2006/main">
            <a:off x="609600" y="4479925"/>
            <a:ext cx="438150" cy="1168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1">
                <a:solidFill>
                  <a:srgbClr val="087E83"/>
                </a:solidFill>
                <a:latin typeface="Helvetica Neue"/>
                <a:ea typeface="Helvetica Neue"/>
                <a:cs typeface="Helvetica Neue"/>
              </a:defRPr>
            </a:pPr>
            <a:r>
              <a:rPr sz="2100" b="1">
                <a:solidFill>
                  <a:srgbClr val="087E83"/>
                </a:solidFill>
                <a:latin typeface="Helvetica Neue"/>
                <a:ea typeface="Helvetica Neue"/>
                <a:cs typeface="Helvetica Neue"/>
              </a:rPr>
              <a:t>03</a:t>
            </a:r>
          </a:p>
        </p:txBody>
      </p:sp>
      <p:sp>
        <p:nvSpPr>
          <p:cNvPr id="7" name="">
            <a:extLst xmlns:a="http://schemas.openxmlformats.org/drawingml/2006/main">
              <a:ext uri="{FF2B5EF4-FFF2-40B4-BE49-F238E27FC236}">
                <a16:creationId xmlns:a16="http://schemas.microsoft.com/office/drawing/2014/main" id="{AA3CB731-6CC8-4AD6-BEB1-3626C8279DFC}"/>
              </a:ext>
            </a:extLst>
          </p:cNvPr>
          <p:cNvSpPr>
            <a:spLocks xmlns:a="http://schemas.openxmlformats.org/drawingml/2006/main" noGrp="1"/>
          </p:cNvSpPr>
          <p:nvPr/>
        </p:nvSpPr>
        <p:spPr>
          <a:xfrm xmlns:a="http://schemas.openxmlformats.org/drawingml/2006/main">
            <a:off x="1333500" y="4479925"/>
            <a:ext cx="10248900" cy="1168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400" b="0">
                <a:solidFill>
                  <a:srgbClr val="122C42"/>
                </a:solidFill>
                <a:latin typeface="Helvetica Neue"/>
                <a:ea typeface="Helvetica Neue"/>
                <a:cs typeface="Helvetica Neue"/>
              </a:defRPr>
            </a:pPr>
            <a:r>
              <a:rPr sz="2400" b="0">
                <a:solidFill>
                  <a:srgbClr val="122C42"/>
                </a:solidFill>
                <a:latin typeface="Helvetica Neue"/>
                <a:ea typeface="Helvetica Neue"/>
                <a:cs typeface="Helvetica Neue"/>
              </a:rPr>
              <a:t>vCPU bir guaranteed core mu?</a:t>
            </a:r>
          </a:p>
        </p:txBody>
      </p:sp>
      <p:sp>
        <p:nvSpPr>
          <p:cNvPr id="8" name="">
            <a:extLst xmlns:a="http://schemas.openxmlformats.org/drawingml/2006/main">
              <a:ext uri="{FF2B5EF4-FFF2-40B4-BE49-F238E27FC236}">
                <a16:creationId xmlns:a16="http://schemas.microsoft.com/office/drawing/2014/main" id="{44435BB1-D4FF-4950-AB10-F6614F3A874D}"/>
              </a:ext>
            </a:extLst>
          </p:cNvPr>
          <p:cNvSpPr>
            <a:spLocks xmlns:a="http://schemas.openxmlformats.org/drawingml/2006/main" noGrp="1"/>
          </p:cNvSpPr>
          <p:nvPr/>
        </p:nvSpPr>
        <p:spPr>
          <a:xfrm xmlns:a="http://schemas.openxmlformats.org/drawingml/2006/main">
            <a:off x="609600" y="6496050"/>
            <a:ext cx="8572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125" b="0">
                <a:solidFill>
                  <a:srgbClr val="4D606A"/>
                </a:solidFill>
                <a:latin typeface="Helvetica Neue"/>
                <a:ea typeface="Helvetica Neue"/>
                <a:cs typeface="Helvetica Neue"/>
              </a:defRPr>
            </a:pPr>
            <a:r>
              <a:rPr sz="1125" b="0">
                <a:solidFill>
                  <a:srgbClr val="4D606A"/>
                </a:solidFill>
                <a:latin typeface="Helvetica Neue"/>
                <a:ea typeface="Helvetica Neue"/>
                <a:cs typeface="Helvetica Neue"/>
              </a:rPr>
              <a:t>CSE513 · Hafta 9</a:t>
            </a:r>
          </a:p>
        </p:txBody>
      </p:sp>
      <p:sp>
        <p:nvSpPr>
          <p:cNvPr id="9" name="">
            <a:extLst xmlns:a="http://schemas.openxmlformats.org/drawingml/2006/main">
              <a:ext uri="{FF2B5EF4-FFF2-40B4-BE49-F238E27FC236}">
                <a16:creationId xmlns:a16="http://schemas.microsoft.com/office/drawing/2014/main" id="{FF2B23E3-9D9B-4EC4-8F3D-B74300E29F1B}"/>
              </a:ext>
            </a:extLst>
          </p:cNvPr>
          <p:cNvSpPr>
            <a:spLocks xmlns:a="http://schemas.openxmlformats.org/drawingml/2006/main" noGrp="1"/>
          </p:cNvSpPr>
          <p:nvPr/>
        </p:nvSpPr>
        <p:spPr>
          <a:xfrm xmlns:a="http://schemas.openxmlformats.org/drawingml/2006/main">
            <a:off x="10477500" y="6457950"/>
            <a:ext cx="10953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350" b="1">
                <a:solidFill>
                  <a:srgbClr val="087E83"/>
                </a:solidFill>
                <a:latin typeface="Helvetica Neue"/>
                <a:ea typeface="Helvetica Neue"/>
                <a:cs typeface="Helvetica Neue"/>
              </a:defRPr>
            </a:pPr>
            <a:r>
              <a:rPr sz="1350" b="1">
                <a:solidFill>
                  <a:srgbClr val="087E83"/>
                </a:solidFill>
                <a:latin typeface="Helvetica Neue"/>
                <a:ea typeface="Helvetica Neue"/>
                <a:cs typeface="Helvetica Neue"/>
              </a:rPr>
              <a:t>13 / 27</a:t>
            </a:r>
          </a:p>
        </p:txBody>
      </p:sp>
    </p:spTree>
    <p:extLst>
      <p:ext uri="{BB962C8B-B14F-4D97-AF65-F5344CB8AC3E}">
        <p14:creationId xmlns:p14="http://schemas.microsoft.com/office/powerpoint/2010/main" val="1463219058"/>
      </p:ext>
    </p:extLst>
  </p:cSld>
</p:sld>
</file>

<file path=ppt/slides/slide14.xml><?xml version="1.0" encoding="utf-8"?>
<p:sld xmlns:p="http://schemas.openxmlformats.org/presentationml/2006/main">
  <p:cSld>
    <p:bg>
      <p:bgPr>
        <a:solidFill xmlns:a="http://schemas.openxmlformats.org/drawingml/2006/main">
          <a:srgbClr val="F5F1E8"/>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D90DEDED-4F47-4ACC-A876-3413A4EA8343}"/>
              </a:ext>
            </a:extLst>
          </p:cNvPr>
          <p:cNvSpPr>
            <a:spLocks xmlns:a="http://schemas.openxmlformats.org/drawingml/2006/main" noGrp="1"/>
          </p:cNvSpPr>
          <p:nvPr/>
        </p:nvSpPr>
        <p:spPr>
          <a:xfrm xmlns:a="http://schemas.openxmlformats.org/drawingml/2006/main">
            <a:off x="609600" y="600075"/>
            <a:ext cx="1097280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300" b="1">
                <a:solidFill>
                  <a:srgbClr val="122C42"/>
                </a:solidFill>
                <a:latin typeface="Helvetica Neue"/>
                <a:ea typeface="Helvetica Neue"/>
                <a:cs typeface="Helvetica Neue"/>
              </a:defRPr>
            </a:pPr>
            <a:r>
              <a:rPr sz="3300" b="1">
                <a:solidFill>
                  <a:srgbClr val="122C42"/>
                </a:solidFill>
                <a:latin typeface="Helvetica Neue"/>
                <a:ea typeface="Helvetica Neue"/>
                <a:cs typeface="Helvetica Neue"/>
              </a:rPr>
              <a:t>cgroup: ne kadar kullanabilirsin?</a:t>
            </a:r>
          </a:p>
        </p:txBody>
      </p:sp>
      <p:sp>
        <p:nvSpPr>
          <p:cNvPr id="2" name="">
            <a:extLst xmlns:a="http://schemas.openxmlformats.org/drawingml/2006/main">
              <a:ext uri="{FF2B5EF4-FFF2-40B4-BE49-F238E27FC236}">
                <a16:creationId xmlns:a16="http://schemas.microsoft.com/office/drawing/2014/main" id="{E4C193E6-9BA9-4EE6-B64F-3FF3E45AB1DB}"/>
              </a:ext>
            </a:extLst>
          </p:cNvPr>
          <p:cNvSpPr>
            <a:spLocks xmlns:a="http://schemas.openxmlformats.org/drawingml/2006/main" noGrp="1"/>
          </p:cNvSpPr>
          <p:nvPr/>
        </p:nvSpPr>
        <p:spPr>
          <a:xfrm xmlns:a="http://schemas.openxmlformats.org/drawingml/2006/main">
            <a:off x="609600" y="1952625"/>
            <a:ext cx="438150" cy="993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1">
                <a:solidFill>
                  <a:srgbClr val="087E83"/>
                </a:solidFill>
                <a:latin typeface="Helvetica Neue"/>
                <a:ea typeface="Helvetica Neue"/>
                <a:cs typeface="Helvetica Neue"/>
              </a:defRPr>
            </a:pPr>
            <a:r>
              <a:rPr sz="2100" b="1">
                <a:solidFill>
                  <a:srgbClr val="087E83"/>
                </a:solidFill>
                <a:latin typeface="Helvetica Neue"/>
                <a:ea typeface="Helvetica Neue"/>
                <a:cs typeface="Helvetica Neue"/>
              </a:rPr>
              <a:t>01</a:t>
            </a:r>
          </a:p>
        </p:txBody>
      </p:sp>
      <p:sp>
        <p:nvSpPr>
          <p:cNvPr id="3" name="">
            <a:extLst xmlns:a="http://schemas.openxmlformats.org/drawingml/2006/main">
              <a:ext uri="{FF2B5EF4-FFF2-40B4-BE49-F238E27FC236}">
                <a16:creationId xmlns:a16="http://schemas.microsoft.com/office/drawing/2014/main" id="{4B56D9E0-EEC4-40C8-A0ED-520D9DFE13F1}"/>
              </a:ext>
            </a:extLst>
          </p:cNvPr>
          <p:cNvSpPr>
            <a:spLocks xmlns:a="http://schemas.openxmlformats.org/drawingml/2006/main" noGrp="1"/>
          </p:cNvSpPr>
          <p:nvPr/>
        </p:nvSpPr>
        <p:spPr>
          <a:xfrm xmlns:a="http://schemas.openxmlformats.org/drawingml/2006/main">
            <a:off x="1333500" y="1952625"/>
            <a:ext cx="10248900" cy="993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400" b="0">
                <a:solidFill>
                  <a:srgbClr val="122C42"/>
                </a:solidFill>
                <a:latin typeface="Helvetica Neue"/>
                <a:ea typeface="Helvetica Neue"/>
                <a:cs typeface="Helvetica Neue"/>
              </a:defRPr>
            </a:pPr>
            <a:r>
              <a:rPr sz="2400" b="0">
                <a:solidFill>
                  <a:srgbClr val="122C42"/>
                </a:solidFill>
                <a:latin typeface="Helvetica Neue"/>
                <a:ea typeface="Helvetica Neue"/>
                <a:cs typeface="Helvetica Neue"/>
              </a:rPr>
              <a:t>Accounting ve kaynak kontrolü.</a:t>
            </a:r>
          </a:p>
        </p:txBody>
      </p:sp>
      <p:sp>
        <p:nvSpPr>
          <p:cNvPr id="4" name="">
            <a:extLst xmlns:a="http://schemas.openxmlformats.org/drawingml/2006/main">
              <a:ext uri="{FF2B5EF4-FFF2-40B4-BE49-F238E27FC236}">
                <a16:creationId xmlns:a16="http://schemas.microsoft.com/office/drawing/2014/main" id="{2C402DC5-8B31-4350-805A-E91B5FF05466}"/>
              </a:ext>
            </a:extLst>
          </p:cNvPr>
          <p:cNvSpPr>
            <a:spLocks xmlns:a="http://schemas.openxmlformats.org/drawingml/2006/main" noGrp="1"/>
          </p:cNvSpPr>
          <p:nvPr/>
        </p:nvSpPr>
        <p:spPr>
          <a:xfrm xmlns:a="http://schemas.openxmlformats.org/drawingml/2006/main">
            <a:off x="609600" y="3041650"/>
            <a:ext cx="438150" cy="993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1">
                <a:solidFill>
                  <a:srgbClr val="087E83"/>
                </a:solidFill>
                <a:latin typeface="Helvetica Neue"/>
                <a:ea typeface="Helvetica Neue"/>
                <a:cs typeface="Helvetica Neue"/>
              </a:defRPr>
            </a:pPr>
            <a:r>
              <a:rPr sz="2100" b="1">
                <a:solidFill>
                  <a:srgbClr val="087E83"/>
                </a:solidFill>
                <a:latin typeface="Helvetica Neue"/>
                <a:ea typeface="Helvetica Neue"/>
                <a:cs typeface="Helvetica Neue"/>
              </a:rPr>
              <a:t>02</a:t>
            </a:r>
          </a:p>
        </p:txBody>
      </p:sp>
      <p:sp>
        <p:nvSpPr>
          <p:cNvPr id="5" name="">
            <a:extLst xmlns:a="http://schemas.openxmlformats.org/drawingml/2006/main">
              <a:ext uri="{FF2B5EF4-FFF2-40B4-BE49-F238E27FC236}">
                <a16:creationId xmlns:a16="http://schemas.microsoft.com/office/drawing/2014/main" id="{3454C6F4-E163-4FDB-9C35-D8306522F168}"/>
              </a:ext>
            </a:extLst>
          </p:cNvPr>
          <p:cNvSpPr>
            <a:spLocks xmlns:a="http://schemas.openxmlformats.org/drawingml/2006/main" noGrp="1"/>
          </p:cNvSpPr>
          <p:nvPr/>
        </p:nvSpPr>
        <p:spPr>
          <a:xfrm xmlns:a="http://schemas.openxmlformats.org/drawingml/2006/main">
            <a:off x="1333500" y="3041650"/>
            <a:ext cx="10248900" cy="993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400" b="0">
                <a:solidFill>
                  <a:srgbClr val="122C42"/>
                </a:solidFill>
                <a:latin typeface="Helvetica Neue"/>
                <a:ea typeface="Helvetica Neue"/>
                <a:cs typeface="Helvetica Neue"/>
              </a:defRPr>
            </a:pPr>
            <a:r>
              <a:rPr sz="2400" b="0">
                <a:solidFill>
                  <a:srgbClr val="122C42"/>
                </a:solidFill>
                <a:latin typeface="Helvetica Neue"/>
                <a:ea typeface="Helvetica Neue"/>
                <a:cs typeface="Helvetica Neue"/>
              </a:rPr>
              <a:t>CPU/memory gibi farklı controller’lar.</a:t>
            </a:r>
          </a:p>
        </p:txBody>
      </p:sp>
      <p:sp>
        <p:nvSpPr>
          <p:cNvPr id="6" name="">
            <a:extLst xmlns:a="http://schemas.openxmlformats.org/drawingml/2006/main">
              <a:ext uri="{FF2B5EF4-FFF2-40B4-BE49-F238E27FC236}">
                <a16:creationId xmlns:a16="http://schemas.microsoft.com/office/drawing/2014/main" id="{BA8462DC-E581-498D-B494-A48883C9506A}"/>
              </a:ext>
            </a:extLst>
          </p:cNvPr>
          <p:cNvSpPr>
            <a:spLocks xmlns:a="http://schemas.openxmlformats.org/drawingml/2006/main" noGrp="1"/>
          </p:cNvSpPr>
          <p:nvPr/>
        </p:nvSpPr>
        <p:spPr>
          <a:xfrm xmlns:a="http://schemas.openxmlformats.org/drawingml/2006/main">
            <a:off x="609600" y="4130675"/>
            <a:ext cx="438150" cy="993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1">
                <a:solidFill>
                  <a:srgbClr val="087E83"/>
                </a:solidFill>
                <a:latin typeface="Helvetica Neue"/>
                <a:ea typeface="Helvetica Neue"/>
                <a:cs typeface="Helvetica Neue"/>
              </a:defRPr>
            </a:pPr>
            <a:r>
              <a:rPr sz="2100" b="1">
                <a:solidFill>
                  <a:srgbClr val="087E83"/>
                </a:solidFill>
                <a:latin typeface="Helvetica Neue"/>
                <a:ea typeface="Helvetica Neue"/>
                <a:cs typeface="Helvetica Neue"/>
              </a:rPr>
              <a:t>03</a:t>
            </a:r>
          </a:p>
        </p:txBody>
      </p:sp>
      <p:sp>
        <p:nvSpPr>
          <p:cNvPr id="7" name="">
            <a:extLst xmlns:a="http://schemas.openxmlformats.org/drawingml/2006/main">
              <a:ext uri="{FF2B5EF4-FFF2-40B4-BE49-F238E27FC236}">
                <a16:creationId xmlns:a16="http://schemas.microsoft.com/office/drawing/2014/main" id="{51DEAAD5-4E85-4933-B7FA-C7FB7DF569E4}"/>
              </a:ext>
            </a:extLst>
          </p:cNvPr>
          <p:cNvSpPr>
            <a:spLocks xmlns:a="http://schemas.openxmlformats.org/drawingml/2006/main" noGrp="1"/>
          </p:cNvSpPr>
          <p:nvPr/>
        </p:nvSpPr>
        <p:spPr>
          <a:xfrm xmlns:a="http://schemas.openxmlformats.org/drawingml/2006/main">
            <a:off x="1333500" y="4130675"/>
            <a:ext cx="10248900" cy="993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400" b="0">
                <a:solidFill>
                  <a:srgbClr val="122C42"/>
                </a:solidFill>
                <a:latin typeface="Helvetica Neue"/>
                <a:ea typeface="Helvetica Neue"/>
                <a:cs typeface="Helvetica Neue"/>
              </a:defRPr>
            </a:pPr>
            <a:r>
              <a:rPr sz="2400" b="0">
                <a:solidFill>
                  <a:srgbClr val="122C42"/>
                </a:solidFill>
                <a:latin typeface="Helvetica Neue"/>
                <a:ea typeface="Helvetica Neue"/>
                <a:cs typeface="Helvetica Neue"/>
              </a:rPr>
              <a:t>Limit minimum service garantisi değildir.</a:t>
            </a:r>
          </a:p>
        </p:txBody>
      </p:sp>
      <p:sp>
        <p:nvSpPr>
          <p:cNvPr id="8" name="">
            <a:extLst xmlns:a="http://schemas.openxmlformats.org/drawingml/2006/main">
              <a:ext uri="{FF2B5EF4-FFF2-40B4-BE49-F238E27FC236}">
                <a16:creationId xmlns:a16="http://schemas.microsoft.com/office/drawing/2014/main" id="{DEA54A72-CE96-42CD-BBA1-9DBE520319EA}"/>
              </a:ext>
            </a:extLst>
          </p:cNvPr>
          <p:cNvSpPr>
            <a:spLocks xmlns:a="http://schemas.openxmlformats.org/drawingml/2006/main" noGrp="1"/>
          </p:cNvSpPr>
          <p:nvPr/>
        </p:nvSpPr>
        <p:spPr>
          <a:xfrm xmlns:a="http://schemas.openxmlformats.org/drawingml/2006/main">
            <a:off x="609600" y="5438775"/>
            <a:ext cx="109728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500" b="1">
                <a:solidFill>
                  <a:srgbClr val="C46225"/>
                </a:solidFill>
                <a:latin typeface="Helvetica Neue"/>
                <a:ea typeface="Helvetica Neue"/>
                <a:cs typeface="Helvetica Neue"/>
              </a:defRPr>
            </a:pPr>
            <a:r>
              <a:rPr sz="1500" b="1">
                <a:solidFill>
                  <a:srgbClr val="C46225"/>
                </a:solidFill>
                <a:latin typeface="Helvetica Neue"/>
                <a:ea typeface="Helvetica Neue"/>
                <a:cs typeface="Helvetica Neue"/>
              </a:rPr>
              <a:t>GERÇEK HAYAT · Komşu servis gürültüsü</a:t>
            </a:r>
          </a:p>
        </p:txBody>
      </p:sp>
      <p:sp>
        <p:nvSpPr>
          <p:cNvPr id="9" name="">
            <a:extLst xmlns:a="http://schemas.openxmlformats.org/drawingml/2006/main">
              <a:ext uri="{FF2B5EF4-FFF2-40B4-BE49-F238E27FC236}">
                <a16:creationId xmlns:a16="http://schemas.microsoft.com/office/drawing/2014/main" id="{738BE914-EF54-4565-8327-E9924607E45E}"/>
              </a:ext>
            </a:extLst>
          </p:cNvPr>
          <p:cNvSpPr>
            <a:spLocks xmlns:a="http://schemas.openxmlformats.org/drawingml/2006/main" noGrp="1"/>
          </p:cNvSpPr>
          <p:nvPr/>
        </p:nvSpPr>
        <p:spPr>
          <a:xfrm xmlns:a="http://schemas.openxmlformats.org/drawingml/2006/main">
            <a:off x="609600" y="5781675"/>
            <a:ext cx="109728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650" b="0">
                <a:solidFill>
                  <a:srgbClr val="4D606A"/>
                </a:solidFill>
                <a:latin typeface="Helvetica Neue"/>
                <a:ea typeface="Helvetica Neue"/>
                <a:cs typeface="Helvetica Neue"/>
              </a:defRPr>
            </a:pPr>
            <a:r>
              <a:rPr sz="1650" b="0">
                <a:solidFill>
                  <a:srgbClr val="4D606A"/>
                </a:solidFill>
                <a:latin typeface="Helvetica Neue"/>
                <a:ea typeface="Helvetica Neue"/>
                <a:cs typeface="Helvetica Neue"/>
              </a:rPr>
              <a:t>Yoğun worker başka işin gecikmesini artırır.</a:t>
            </a:r>
          </a:p>
        </p:txBody>
      </p:sp>
      <p:sp>
        <p:nvSpPr>
          <p:cNvPr id="10" name="">
            <a:extLst xmlns:a="http://schemas.openxmlformats.org/drawingml/2006/main">
              <a:ext uri="{FF2B5EF4-FFF2-40B4-BE49-F238E27FC236}">
                <a16:creationId xmlns:a16="http://schemas.microsoft.com/office/drawing/2014/main" id="{EE98CBC7-067D-46ED-AAD3-181231568235}"/>
              </a:ext>
            </a:extLst>
          </p:cNvPr>
          <p:cNvSpPr>
            <a:spLocks xmlns:a="http://schemas.openxmlformats.org/drawingml/2006/main" noGrp="1"/>
          </p:cNvSpPr>
          <p:nvPr/>
        </p:nvSpPr>
        <p:spPr>
          <a:xfrm xmlns:a="http://schemas.openxmlformats.org/drawingml/2006/main">
            <a:off x="609600" y="6496050"/>
            <a:ext cx="8572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125" b="0">
                <a:solidFill>
                  <a:srgbClr val="4D606A"/>
                </a:solidFill>
                <a:latin typeface="Helvetica Neue"/>
                <a:ea typeface="Helvetica Neue"/>
                <a:cs typeface="Helvetica Neue"/>
              </a:defRPr>
            </a:pPr>
            <a:r>
              <a:rPr sz="1125" b="0">
                <a:solidFill>
                  <a:srgbClr val="4D606A"/>
                </a:solidFill>
                <a:latin typeface="Helvetica Neue"/>
                <a:ea typeface="Helvetica Neue"/>
                <a:cs typeface="Helvetica Neue"/>
              </a:rPr>
              <a:t>CSE513 · Hafta 9</a:t>
            </a:r>
          </a:p>
        </p:txBody>
      </p:sp>
      <p:sp>
        <p:nvSpPr>
          <p:cNvPr id="11" name="">
            <a:extLst xmlns:a="http://schemas.openxmlformats.org/drawingml/2006/main">
              <a:ext uri="{FF2B5EF4-FFF2-40B4-BE49-F238E27FC236}">
                <a16:creationId xmlns:a16="http://schemas.microsoft.com/office/drawing/2014/main" id="{E3B5F478-49B5-4099-A09D-C5F687CAC088}"/>
              </a:ext>
            </a:extLst>
          </p:cNvPr>
          <p:cNvSpPr>
            <a:spLocks xmlns:a="http://schemas.openxmlformats.org/drawingml/2006/main" noGrp="1"/>
          </p:cNvSpPr>
          <p:nvPr/>
        </p:nvSpPr>
        <p:spPr>
          <a:xfrm xmlns:a="http://schemas.openxmlformats.org/drawingml/2006/main">
            <a:off x="10477500" y="6457950"/>
            <a:ext cx="10953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350" b="1">
                <a:solidFill>
                  <a:srgbClr val="087E83"/>
                </a:solidFill>
                <a:latin typeface="Helvetica Neue"/>
                <a:ea typeface="Helvetica Neue"/>
                <a:cs typeface="Helvetica Neue"/>
              </a:defRPr>
            </a:pPr>
            <a:r>
              <a:rPr sz="1350" b="1">
                <a:solidFill>
                  <a:srgbClr val="087E83"/>
                </a:solidFill>
                <a:latin typeface="Helvetica Neue"/>
                <a:ea typeface="Helvetica Neue"/>
                <a:cs typeface="Helvetica Neue"/>
              </a:rPr>
              <a:t>14 / 27</a:t>
            </a:r>
          </a:p>
        </p:txBody>
      </p:sp>
    </p:spTree>
    <p:extLst>
      <p:ext uri="{BB962C8B-B14F-4D97-AF65-F5344CB8AC3E}">
        <p14:creationId xmlns:p14="http://schemas.microsoft.com/office/powerpoint/2010/main" val="1496244259"/>
      </p:ext>
    </p:extLst>
  </p:cSld>
</p:sld>
</file>

<file path=ppt/slides/slide15.xml><?xml version="1.0" encoding="utf-8"?>
<p:sld xmlns:p="http://schemas.openxmlformats.org/presentationml/2006/main">
  <p:cSld>
    <p:bg>
      <p:bgPr>
        <a:solidFill xmlns:a="http://schemas.openxmlformats.org/drawingml/2006/main">
          <a:srgbClr val="F5F1E8"/>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34FD158C-ED33-47FD-AF0E-07B13020B098}"/>
              </a:ext>
            </a:extLst>
          </p:cNvPr>
          <p:cNvSpPr>
            <a:spLocks xmlns:a="http://schemas.openxmlformats.org/drawingml/2006/main" noGrp="1"/>
          </p:cNvSpPr>
          <p:nvPr/>
        </p:nvSpPr>
        <p:spPr>
          <a:xfrm xmlns:a="http://schemas.openxmlformats.org/drawingml/2006/main">
            <a:off x="609600" y="600075"/>
            <a:ext cx="1097280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300" b="1">
                <a:solidFill>
                  <a:srgbClr val="122C42"/>
                </a:solidFill>
                <a:latin typeface="Helvetica Neue"/>
                <a:ea typeface="Helvetica Neue"/>
                <a:cs typeface="Helvetica Neue"/>
              </a:defRPr>
            </a:pPr>
            <a:r>
              <a:rPr sz="3300" b="1">
                <a:solidFill>
                  <a:srgbClr val="122C42"/>
                </a:solidFill>
                <a:latin typeface="Helvetica Neue"/>
                <a:ea typeface="Helvetica Neue"/>
                <a:cs typeface="Helvetica Neue"/>
              </a:rPr>
              <a:t>CPU budget: sayısal model</a:t>
            </a:r>
          </a:p>
        </p:txBody>
      </p:sp>
      <p:sp>
        <p:nvSpPr>
          <p:cNvPr id="2" name="">
            <a:extLst xmlns:a="http://schemas.openxmlformats.org/drawingml/2006/main">
              <a:ext uri="{FF2B5EF4-FFF2-40B4-BE49-F238E27FC236}">
                <a16:creationId xmlns:a16="http://schemas.microsoft.com/office/drawing/2014/main" id="{F308DB3A-71B3-4B74-8D3E-C06BB5FDFFC7}"/>
              </a:ext>
            </a:extLst>
          </p:cNvPr>
          <p:cNvSpPr>
            <a:spLocks xmlns:a="http://schemas.openxmlformats.org/drawingml/2006/main" noGrp="1"/>
          </p:cNvSpPr>
          <p:nvPr/>
        </p:nvSpPr>
        <p:spPr>
          <a:xfrm xmlns:a="http://schemas.openxmlformats.org/drawingml/2006/main">
            <a:off x="609600" y="1952625"/>
            <a:ext cx="438150" cy="946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1">
                <a:solidFill>
                  <a:srgbClr val="087E83"/>
                </a:solidFill>
                <a:latin typeface="Helvetica Neue"/>
                <a:ea typeface="Helvetica Neue"/>
                <a:cs typeface="Helvetica Neue"/>
              </a:defRPr>
            </a:pPr>
            <a:r>
              <a:rPr sz="2100" b="1">
                <a:solidFill>
                  <a:srgbClr val="087E83"/>
                </a:solidFill>
                <a:latin typeface="Helvetica Neue"/>
                <a:ea typeface="Helvetica Neue"/>
                <a:cs typeface="Helvetica Neue"/>
              </a:rPr>
              <a:t>01</a:t>
            </a:r>
          </a:p>
        </p:txBody>
      </p:sp>
      <p:sp>
        <p:nvSpPr>
          <p:cNvPr id="3" name="">
            <a:extLst xmlns:a="http://schemas.openxmlformats.org/drawingml/2006/main">
              <a:ext uri="{FF2B5EF4-FFF2-40B4-BE49-F238E27FC236}">
                <a16:creationId xmlns:a16="http://schemas.microsoft.com/office/drawing/2014/main" id="{E5B3D727-665E-44EC-9FFD-54356A0AFA95}"/>
              </a:ext>
            </a:extLst>
          </p:cNvPr>
          <p:cNvSpPr>
            <a:spLocks xmlns:a="http://schemas.openxmlformats.org/drawingml/2006/main" noGrp="1"/>
          </p:cNvSpPr>
          <p:nvPr/>
        </p:nvSpPr>
        <p:spPr>
          <a:xfrm xmlns:a="http://schemas.openxmlformats.org/drawingml/2006/main">
            <a:off x="1333500" y="1952625"/>
            <a:ext cx="10248900" cy="946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400" b="0">
                <a:solidFill>
                  <a:srgbClr val="122C42"/>
                </a:solidFill>
                <a:latin typeface="Helvetica Neue"/>
                <a:ea typeface="Helvetica Neue"/>
                <a:cs typeface="Helvetica Neue"/>
              </a:defRPr>
            </a:pPr>
            <a:r>
              <a:rPr sz="2400" b="0">
                <a:solidFill>
                  <a:srgbClr val="122C42"/>
                </a:solidFill>
                <a:latin typeface="Helvetica Neue"/>
                <a:ea typeface="Helvetica Neue"/>
                <a:cs typeface="Helvetica Neue"/>
              </a:rPr>
              <a:t>Period=100 ms; quota=50 ms.</a:t>
            </a:r>
          </a:p>
        </p:txBody>
      </p:sp>
      <p:sp>
        <p:nvSpPr>
          <p:cNvPr id="4" name="">
            <a:extLst xmlns:a="http://schemas.openxmlformats.org/drawingml/2006/main">
              <a:ext uri="{FF2B5EF4-FFF2-40B4-BE49-F238E27FC236}">
                <a16:creationId xmlns:a16="http://schemas.microsoft.com/office/drawing/2014/main" id="{6A0578D0-CCF4-4045-9EAD-5A77FA0FDFBC}"/>
              </a:ext>
            </a:extLst>
          </p:cNvPr>
          <p:cNvSpPr>
            <a:spLocks xmlns:a="http://schemas.openxmlformats.org/drawingml/2006/main" noGrp="1"/>
          </p:cNvSpPr>
          <p:nvPr/>
        </p:nvSpPr>
        <p:spPr>
          <a:xfrm xmlns:a="http://schemas.openxmlformats.org/drawingml/2006/main">
            <a:off x="609600" y="2994025"/>
            <a:ext cx="438150" cy="946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1">
                <a:solidFill>
                  <a:srgbClr val="087E83"/>
                </a:solidFill>
                <a:latin typeface="Helvetica Neue"/>
                <a:ea typeface="Helvetica Neue"/>
                <a:cs typeface="Helvetica Neue"/>
              </a:defRPr>
            </a:pPr>
            <a:r>
              <a:rPr sz="2100" b="1">
                <a:solidFill>
                  <a:srgbClr val="087E83"/>
                </a:solidFill>
                <a:latin typeface="Helvetica Neue"/>
                <a:ea typeface="Helvetica Neue"/>
                <a:cs typeface="Helvetica Neue"/>
              </a:rPr>
              <a:t>02</a:t>
            </a:r>
          </a:p>
        </p:txBody>
      </p:sp>
      <p:sp>
        <p:nvSpPr>
          <p:cNvPr id="5" name="">
            <a:extLst xmlns:a="http://schemas.openxmlformats.org/drawingml/2006/main">
              <a:ext uri="{FF2B5EF4-FFF2-40B4-BE49-F238E27FC236}">
                <a16:creationId xmlns:a16="http://schemas.microsoft.com/office/drawing/2014/main" id="{329A677A-FA6B-4A64-94B0-CB9831AFD17B}"/>
              </a:ext>
            </a:extLst>
          </p:cNvPr>
          <p:cNvSpPr>
            <a:spLocks xmlns:a="http://schemas.openxmlformats.org/drawingml/2006/main" noGrp="1"/>
          </p:cNvSpPr>
          <p:nvPr/>
        </p:nvSpPr>
        <p:spPr>
          <a:xfrm xmlns:a="http://schemas.openxmlformats.org/drawingml/2006/main">
            <a:off x="1333500" y="2994025"/>
            <a:ext cx="10248900" cy="946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400" b="0">
                <a:solidFill>
                  <a:srgbClr val="122C42"/>
                </a:solidFill>
                <a:latin typeface="Helvetica Neue"/>
                <a:ea typeface="Helvetica Neue"/>
                <a:cs typeface="Helvetica Neue"/>
              </a:defRPr>
            </a:pPr>
            <a:r>
              <a:rPr sz="2400" b="0">
                <a:solidFill>
                  <a:srgbClr val="122C42"/>
                </a:solidFill>
                <a:latin typeface="Helvetica Neue"/>
                <a:ea typeface="Helvetica Neue"/>
                <a:cs typeface="Helvetica Neue"/>
              </a:rPr>
              <a:t>Demand=80 ms → served50, throttled30.</a:t>
            </a:r>
          </a:p>
        </p:txBody>
      </p:sp>
      <p:sp>
        <p:nvSpPr>
          <p:cNvPr id="6" name="">
            <a:extLst xmlns:a="http://schemas.openxmlformats.org/drawingml/2006/main">
              <a:ext uri="{FF2B5EF4-FFF2-40B4-BE49-F238E27FC236}">
                <a16:creationId xmlns:a16="http://schemas.microsoft.com/office/drawing/2014/main" id="{43E7820A-62E1-40E7-8516-D2CA07ECE07A}"/>
              </a:ext>
            </a:extLst>
          </p:cNvPr>
          <p:cNvSpPr>
            <a:spLocks xmlns:a="http://schemas.openxmlformats.org/drawingml/2006/main" noGrp="1"/>
          </p:cNvSpPr>
          <p:nvPr/>
        </p:nvSpPr>
        <p:spPr>
          <a:xfrm xmlns:a="http://schemas.openxmlformats.org/drawingml/2006/main">
            <a:off x="609600" y="4035425"/>
            <a:ext cx="438150" cy="946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1">
                <a:solidFill>
                  <a:srgbClr val="087E83"/>
                </a:solidFill>
                <a:latin typeface="Helvetica Neue"/>
                <a:ea typeface="Helvetica Neue"/>
                <a:cs typeface="Helvetica Neue"/>
              </a:defRPr>
            </a:pPr>
            <a:r>
              <a:rPr sz="2100" b="1">
                <a:solidFill>
                  <a:srgbClr val="087E83"/>
                </a:solidFill>
                <a:latin typeface="Helvetica Neue"/>
                <a:ea typeface="Helvetica Neue"/>
                <a:cs typeface="Helvetica Neue"/>
              </a:rPr>
              <a:t>03</a:t>
            </a:r>
          </a:p>
        </p:txBody>
      </p:sp>
      <p:sp>
        <p:nvSpPr>
          <p:cNvPr id="7" name="">
            <a:extLst xmlns:a="http://schemas.openxmlformats.org/drawingml/2006/main">
              <a:ext uri="{FF2B5EF4-FFF2-40B4-BE49-F238E27FC236}">
                <a16:creationId xmlns:a16="http://schemas.microsoft.com/office/drawing/2014/main" id="{9062793A-71A3-422D-BCB0-CCC593BEC134}"/>
              </a:ext>
            </a:extLst>
          </p:cNvPr>
          <p:cNvSpPr>
            <a:spLocks xmlns:a="http://schemas.openxmlformats.org/drawingml/2006/main" noGrp="1"/>
          </p:cNvSpPr>
          <p:nvPr/>
        </p:nvSpPr>
        <p:spPr>
          <a:xfrm xmlns:a="http://schemas.openxmlformats.org/drawingml/2006/main">
            <a:off x="1333500" y="4035425"/>
            <a:ext cx="10248900" cy="946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400" b="0">
                <a:solidFill>
                  <a:srgbClr val="122C42"/>
                </a:solidFill>
                <a:latin typeface="Helvetica Neue"/>
                <a:ea typeface="Helvetica Neue"/>
                <a:cs typeface="Helvetica Neue"/>
              </a:defRPr>
            </a:pPr>
            <a:r>
              <a:rPr sz="2400" b="0">
                <a:solidFill>
                  <a:srgbClr val="122C42"/>
                </a:solidFill>
                <a:latin typeface="Helvetica Neue"/>
                <a:ea typeface="Helvetica Neue"/>
                <a:cs typeface="Helvetica Neue"/>
              </a:rPr>
              <a:t>Yeni period budget’i yeniler.</a:t>
            </a:r>
          </a:p>
        </p:txBody>
      </p:sp>
      <p:sp>
        <p:nvSpPr>
          <p:cNvPr id="8" name="">
            <a:extLst xmlns:a="http://schemas.openxmlformats.org/drawingml/2006/main">
              <a:ext uri="{FF2B5EF4-FFF2-40B4-BE49-F238E27FC236}">
                <a16:creationId xmlns:a16="http://schemas.microsoft.com/office/drawing/2014/main" id="{8E53A807-4711-4ED6-9EFA-3B164B23F078}"/>
              </a:ext>
            </a:extLst>
          </p:cNvPr>
          <p:cNvSpPr>
            <a:spLocks xmlns:a="http://schemas.openxmlformats.org/drawingml/2006/main" noGrp="1"/>
          </p:cNvSpPr>
          <p:nvPr/>
        </p:nvSpPr>
        <p:spPr>
          <a:xfrm xmlns:a="http://schemas.openxmlformats.org/drawingml/2006/main">
            <a:off x="609600" y="5238750"/>
            <a:ext cx="109728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75" b="1">
                <a:solidFill>
                  <a:srgbClr val="087E83"/>
                </a:solidFill>
                <a:latin typeface="Helvetica Neue"/>
                <a:ea typeface="Helvetica Neue"/>
                <a:cs typeface="Helvetica Neue"/>
              </a:defRPr>
            </a:pPr>
            <a:r>
              <a:rPr sz="1875" b="1">
                <a:solidFill>
                  <a:srgbClr val="087E83"/>
                </a:solidFill>
                <a:latin typeface="Helvetica Neue"/>
                <a:ea typeface="Helvetica Neue"/>
                <a:cs typeface="Helvetica Neue"/>
              </a:rPr>
              <a:t>Düşün: Quota50/100 her request100ms içinde biter demek mi?</a:t>
            </a:r>
          </a:p>
        </p:txBody>
      </p:sp>
      <p:sp>
        <p:nvSpPr>
          <p:cNvPr id="9" name="">
            <a:extLst xmlns:a="http://schemas.openxmlformats.org/drawingml/2006/main">
              <a:ext uri="{FF2B5EF4-FFF2-40B4-BE49-F238E27FC236}">
                <a16:creationId xmlns:a16="http://schemas.microsoft.com/office/drawing/2014/main" id="{3BDE3226-0F50-4297-98B4-626F1B78516A}"/>
              </a:ext>
            </a:extLst>
          </p:cNvPr>
          <p:cNvSpPr>
            <a:spLocks xmlns:a="http://schemas.openxmlformats.org/drawingml/2006/main" noGrp="1"/>
          </p:cNvSpPr>
          <p:nvPr/>
        </p:nvSpPr>
        <p:spPr>
          <a:xfrm xmlns:a="http://schemas.openxmlformats.org/drawingml/2006/main">
            <a:off x="609600" y="6496050"/>
            <a:ext cx="8572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125" b="0">
                <a:solidFill>
                  <a:srgbClr val="4D606A"/>
                </a:solidFill>
                <a:latin typeface="Helvetica Neue"/>
                <a:ea typeface="Helvetica Neue"/>
                <a:cs typeface="Helvetica Neue"/>
              </a:defRPr>
            </a:pPr>
            <a:r>
              <a:rPr sz="1125" b="0">
                <a:solidFill>
                  <a:srgbClr val="4D606A"/>
                </a:solidFill>
                <a:latin typeface="Helvetica Neue"/>
                <a:ea typeface="Helvetica Neue"/>
                <a:cs typeface="Helvetica Neue"/>
              </a:rPr>
              <a:t>CSE513 · Hafta 9</a:t>
            </a:r>
          </a:p>
        </p:txBody>
      </p:sp>
      <p:sp>
        <p:nvSpPr>
          <p:cNvPr id="10" name="">
            <a:extLst xmlns:a="http://schemas.openxmlformats.org/drawingml/2006/main">
              <a:ext uri="{FF2B5EF4-FFF2-40B4-BE49-F238E27FC236}">
                <a16:creationId xmlns:a16="http://schemas.microsoft.com/office/drawing/2014/main" id="{3BC46ACE-80E4-40DE-B72F-6C35380D347A}"/>
              </a:ext>
            </a:extLst>
          </p:cNvPr>
          <p:cNvSpPr>
            <a:spLocks xmlns:a="http://schemas.openxmlformats.org/drawingml/2006/main" noGrp="1"/>
          </p:cNvSpPr>
          <p:nvPr/>
        </p:nvSpPr>
        <p:spPr>
          <a:xfrm xmlns:a="http://schemas.openxmlformats.org/drawingml/2006/main">
            <a:off x="10477500" y="6457950"/>
            <a:ext cx="10953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350" b="1">
                <a:solidFill>
                  <a:srgbClr val="087E83"/>
                </a:solidFill>
                <a:latin typeface="Helvetica Neue"/>
                <a:ea typeface="Helvetica Neue"/>
                <a:cs typeface="Helvetica Neue"/>
              </a:defRPr>
            </a:pPr>
            <a:r>
              <a:rPr sz="1350" b="1">
                <a:solidFill>
                  <a:srgbClr val="087E83"/>
                </a:solidFill>
                <a:latin typeface="Helvetica Neue"/>
                <a:ea typeface="Helvetica Neue"/>
                <a:cs typeface="Helvetica Neue"/>
              </a:rPr>
              <a:t>15 / 27</a:t>
            </a:r>
          </a:p>
        </p:txBody>
      </p:sp>
    </p:spTree>
    <p:extLst>
      <p:ext uri="{BB962C8B-B14F-4D97-AF65-F5344CB8AC3E}">
        <p14:creationId xmlns:p14="http://schemas.microsoft.com/office/powerpoint/2010/main" val="1942500346"/>
      </p:ext>
    </p:extLst>
  </p:cSld>
</p:sld>
</file>

<file path=ppt/slides/slide16.xml><?xml version="1.0" encoding="utf-8"?>
<p:sld xmlns:p="http://schemas.openxmlformats.org/presentationml/2006/main">
  <p:cSld>
    <p:bg>
      <p:bgPr>
        <a:solidFill xmlns:a="http://schemas.openxmlformats.org/drawingml/2006/main">
          <a:srgbClr val="F5F1E8"/>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50A52C17-4E08-4D15-B5B2-37E9BCB48DA6}"/>
              </a:ext>
            </a:extLst>
          </p:cNvPr>
          <p:cNvSpPr>
            <a:spLocks xmlns:a="http://schemas.openxmlformats.org/drawingml/2006/main" noGrp="1"/>
          </p:cNvSpPr>
          <p:nvPr/>
        </p:nvSpPr>
        <p:spPr>
          <a:xfrm xmlns:a="http://schemas.openxmlformats.org/drawingml/2006/main">
            <a:off x="609600" y="600075"/>
            <a:ext cx="1097280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300" b="1">
                <a:solidFill>
                  <a:srgbClr val="122C42"/>
                </a:solidFill>
                <a:latin typeface="Helvetica Neue"/>
                <a:ea typeface="Helvetica Neue"/>
                <a:cs typeface="Helvetica Neue"/>
              </a:defRPr>
            </a:pPr>
            <a:r>
              <a:rPr sz="3300" b="1">
                <a:solidFill>
                  <a:srgbClr val="122C42"/>
                </a:solidFill>
                <a:latin typeface="Helvetica Neue"/>
                <a:ea typeface="Helvetica Neue"/>
                <a:cs typeface="Helvetica Neue"/>
              </a:rPr>
              <a:t>Memory limit: model ile gerçeği ayır</a:t>
            </a:r>
          </a:p>
        </p:txBody>
      </p:sp>
      <p:sp>
        <p:nvSpPr>
          <p:cNvPr id="2" name="">
            <a:extLst xmlns:a="http://schemas.openxmlformats.org/drawingml/2006/main">
              <a:ext uri="{FF2B5EF4-FFF2-40B4-BE49-F238E27FC236}">
                <a16:creationId xmlns:a16="http://schemas.microsoft.com/office/drawing/2014/main" id="{ECD4BA13-6B53-4AC3-9771-DE9D2F35410E}"/>
              </a:ext>
            </a:extLst>
          </p:cNvPr>
          <p:cNvSpPr>
            <a:spLocks xmlns:a="http://schemas.openxmlformats.org/drawingml/2006/main" noGrp="1"/>
          </p:cNvSpPr>
          <p:nvPr/>
        </p:nvSpPr>
        <p:spPr>
          <a:xfrm xmlns:a="http://schemas.openxmlformats.org/drawingml/2006/main">
            <a:off x="609600" y="1952625"/>
            <a:ext cx="438150" cy="993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1">
                <a:solidFill>
                  <a:srgbClr val="087E83"/>
                </a:solidFill>
                <a:latin typeface="Helvetica Neue"/>
                <a:ea typeface="Helvetica Neue"/>
                <a:cs typeface="Helvetica Neue"/>
              </a:defRPr>
            </a:pPr>
            <a:r>
              <a:rPr sz="2100" b="1">
                <a:solidFill>
                  <a:srgbClr val="087E83"/>
                </a:solidFill>
                <a:latin typeface="Helvetica Neue"/>
                <a:ea typeface="Helvetica Neue"/>
                <a:cs typeface="Helvetica Neue"/>
              </a:rPr>
              <a:t>01</a:t>
            </a:r>
          </a:p>
        </p:txBody>
      </p:sp>
      <p:sp>
        <p:nvSpPr>
          <p:cNvPr id="3" name="">
            <a:extLst xmlns:a="http://schemas.openxmlformats.org/drawingml/2006/main">
              <a:ext uri="{FF2B5EF4-FFF2-40B4-BE49-F238E27FC236}">
                <a16:creationId xmlns:a16="http://schemas.microsoft.com/office/drawing/2014/main" id="{D54E9564-6A0D-4527-A659-6DEAAE70B81D}"/>
              </a:ext>
            </a:extLst>
          </p:cNvPr>
          <p:cNvSpPr>
            <a:spLocks xmlns:a="http://schemas.openxmlformats.org/drawingml/2006/main" noGrp="1"/>
          </p:cNvSpPr>
          <p:nvPr/>
        </p:nvSpPr>
        <p:spPr>
          <a:xfrm xmlns:a="http://schemas.openxmlformats.org/drawingml/2006/main">
            <a:off x="1333500" y="1952625"/>
            <a:ext cx="10248900" cy="993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400" b="0">
                <a:solidFill>
                  <a:srgbClr val="122C42"/>
                </a:solidFill>
                <a:latin typeface="Helvetica Neue"/>
                <a:ea typeface="Helvetica Neue"/>
                <a:cs typeface="Helvetica Neue"/>
              </a:defRPr>
            </a:pPr>
            <a:r>
              <a:rPr sz="2400" b="0">
                <a:solidFill>
                  <a:srgbClr val="122C42"/>
                </a:solidFill>
                <a:latin typeface="Helvetica Neue"/>
                <a:ea typeface="Helvetica Neue"/>
                <a:cs typeface="Helvetica Neue"/>
              </a:rPr>
              <a:t>Model capacity=256 MiB.</a:t>
            </a:r>
          </a:p>
        </p:txBody>
      </p:sp>
      <p:sp>
        <p:nvSpPr>
          <p:cNvPr id="4" name="">
            <a:extLst xmlns:a="http://schemas.openxmlformats.org/drawingml/2006/main">
              <a:ext uri="{FF2B5EF4-FFF2-40B4-BE49-F238E27FC236}">
                <a16:creationId xmlns:a16="http://schemas.microsoft.com/office/drawing/2014/main" id="{6B0ACCCA-9AC9-473A-8468-88623F99FECF}"/>
              </a:ext>
            </a:extLst>
          </p:cNvPr>
          <p:cNvSpPr>
            <a:spLocks xmlns:a="http://schemas.openxmlformats.org/drawingml/2006/main" noGrp="1"/>
          </p:cNvSpPr>
          <p:nvPr/>
        </p:nvSpPr>
        <p:spPr>
          <a:xfrm xmlns:a="http://schemas.openxmlformats.org/drawingml/2006/main">
            <a:off x="609600" y="3041650"/>
            <a:ext cx="438150" cy="993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1">
                <a:solidFill>
                  <a:srgbClr val="087E83"/>
                </a:solidFill>
                <a:latin typeface="Helvetica Neue"/>
                <a:ea typeface="Helvetica Neue"/>
                <a:cs typeface="Helvetica Neue"/>
              </a:defRPr>
            </a:pPr>
            <a:r>
              <a:rPr sz="2100" b="1">
                <a:solidFill>
                  <a:srgbClr val="087E83"/>
                </a:solidFill>
                <a:latin typeface="Helvetica Neue"/>
                <a:ea typeface="Helvetica Neue"/>
                <a:cs typeface="Helvetica Neue"/>
              </a:rPr>
              <a:t>02</a:t>
            </a:r>
          </a:p>
        </p:txBody>
      </p:sp>
      <p:sp>
        <p:nvSpPr>
          <p:cNvPr id="5" name="">
            <a:extLst xmlns:a="http://schemas.openxmlformats.org/drawingml/2006/main">
              <a:ext uri="{FF2B5EF4-FFF2-40B4-BE49-F238E27FC236}">
                <a16:creationId xmlns:a16="http://schemas.microsoft.com/office/drawing/2014/main" id="{9389829C-0085-45CC-B4D0-8B28088E4725}"/>
              </a:ext>
            </a:extLst>
          </p:cNvPr>
          <p:cNvSpPr>
            <a:spLocks xmlns:a="http://schemas.openxmlformats.org/drawingml/2006/main" noGrp="1"/>
          </p:cNvSpPr>
          <p:nvPr/>
        </p:nvSpPr>
        <p:spPr>
          <a:xfrm xmlns:a="http://schemas.openxmlformats.org/drawingml/2006/main">
            <a:off x="1333500" y="3041650"/>
            <a:ext cx="10248900" cy="993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400" b="0">
                <a:solidFill>
                  <a:srgbClr val="122C42"/>
                </a:solidFill>
                <a:latin typeface="Helvetica Neue"/>
                <a:ea typeface="Helvetica Neue"/>
                <a:cs typeface="Helvetica Neue"/>
              </a:defRPr>
            </a:pPr>
            <a:r>
              <a:rPr sz="2400" b="0">
                <a:solidFill>
                  <a:srgbClr val="122C42"/>
                </a:solidFill>
                <a:latin typeface="Helvetica Neue"/>
                <a:ea typeface="Helvetica Neue"/>
                <a:cs typeface="Helvetica Neue"/>
              </a:rPr>
              <a:t>Used192 + request80 =272: deny.</a:t>
            </a:r>
          </a:p>
        </p:txBody>
      </p:sp>
      <p:sp>
        <p:nvSpPr>
          <p:cNvPr id="6" name="">
            <a:extLst xmlns:a="http://schemas.openxmlformats.org/drawingml/2006/main">
              <a:ext uri="{FF2B5EF4-FFF2-40B4-BE49-F238E27FC236}">
                <a16:creationId xmlns:a16="http://schemas.microsoft.com/office/drawing/2014/main" id="{34AC8557-69B9-4A3D-AF92-F17603E9B48B}"/>
              </a:ext>
            </a:extLst>
          </p:cNvPr>
          <p:cNvSpPr>
            <a:spLocks xmlns:a="http://schemas.openxmlformats.org/drawingml/2006/main" noGrp="1"/>
          </p:cNvSpPr>
          <p:nvPr/>
        </p:nvSpPr>
        <p:spPr>
          <a:xfrm xmlns:a="http://schemas.openxmlformats.org/drawingml/2006/main">
            <a:off x="609600" y="4130675"/>
            <a:ext cx="438150" cy="993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1">
                <a:solidFill>
                  <a:srgbClr val="087E83"/>
                </a:solidFill>
                <a:latin typeface="Helvetica Neue"/>
                <a:ea typeface="Helvetica Neue"/>
                <a:cs typeface="Helvetica Neue"/>
              </a:defRPr>
            </a:pPr>
            <a:r>
              <a:rPr sz="2100" b="1">
                <a:solidFill>
                  <a:srgbClr val="087E83"/>
                </a:solidFill>
                <a:latin typeface="Helvetica Neue"/>
                <a:ea typeface="Helvetica Neue"/>
                <a:cs typeface="Helvetica Neue"/>
              </a:rPr>
              <a:t>03</a:t>
            </a:r>
          </a:p>
        </p:txBody>
      </p:sp>
      <p:sp>
        <p:nvSpPr>
          <p:cNvPr id="7" name="">
            <a:extLst xmlns:a="http://schemas.openxmlformats.org/drawingml/2006/main">
              <a:ext uri="{FF2B5EF4-FFF2-40B4-BE49-F238E27FC236}">
                <a16:creationId xmlns:a16="http://schemas.microsoft.com/office/drawing/2014/main" id="{A439D0C3-4615-4E93-A357-91688B6B8C98}"/>
              </a:ext>
            </a:extLst>
          </p:cNvPr>
          <p:cNvSpPr>
            <a:spLocks xmlns:a="http://schemas.openxmlformats.org/drawingml/2006/main" noGrp="1"/>
          </p:cNvSpPr>
          <p:nvPr/>
        </p:nvSpPr>
        <p:spPr>
          <a:xfrm xmlns:a="http://schemas.openxmlformats.org/drawingml/2006/main">
            <a:off x="1333500" y="4130675"/>
            <a:ext cx="10248900" cy="993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400" b="0">
                <a:solidFill>
                  <a:srgbClr val="122C42"/>
                </a:solidFill>
                <a:latin typeface="Helvetica Neue"/>
                <a:ea typeface="Helvetica Neue"/>
                <a:cs typeface="Helvetica Neue"/>
              </a:defRPr>
            </a:pPr>
            <a:r>
              <a:rPr sz="2400" b="0">
                <a:solidFill>
                  <a:srgbClr val="122C42"/>
                </a:solidFill>
                <a:latin typeface="Helvetica Neue"/>
                <a:ea typeface="Helvetica Neue"/>
                <a:cs typeface="Helvetica Neue"/>
              </a:rPr>
              <a:t>Gerçekte reclaim/OOM davranışı farklı olabilir.</a:t>
            </a:r>
          </a:p>
        </p:txBody>
      </p:sp>
      <p:sp>
        <p:nvSpPr>
          <p:cNvPr id="8" name="">
            <a:extLst xmlns:a="http://schemas.openxmlformats.org/drawingml/2006/main">
              <a:ext uri="{FF2B5EF4-FFF2-40B4-BE49-F238E27FC236}">
                <a16:creationId xmlns:a16="http://schemas.microsoft.com/office/drawing/2014/main" id="{C5411B3A-D3A9-4917-B82D-FD81CF1C8EBA}"/>
              </a:ext>
            </a:extLst>
          </p:cNvPr>
          <p:cNvSpPr>
            <a:spLocks xmlns:a="http://schemas.openxmlformats.org/drawingml/2006/main" noGrp="1"/>
          </p:cNvSpPr>
          <p:nvPr/>
        </p:nvSpPr>
        <p:spPr>
          <a:xfrm xmlns:a="http://schemas.openxmlformats.org/drawingml/2006/main">
            <a:off x="609600" y="5438775"/>
            <a:ext cx="109728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500" b="1">
                <a:solidFill>
                  <a:srgbClr val="C46225"/>
                </a:solidFill>
                <a:latin typeface="Helvetica Neue"/>
                <a:ea typeface="Helvetica Neue"/>
                <a:cs typeface="Helvetica Neue"/>
              </a:defRPr>
            </a:pPr>
            <a:r>
              <a:rPr sz="1500" b="1">
                <a:solidFill>
                  <a:srgbClr val="C46225"/>
                </a:solidFill>
                <a:latin typeface="Helvetica Neue"/>
                <a:ea typeface="Helvetica Neue"/>
                <a:cs typeface="Helvetica Neue"/>
              </a:rPr>
              <a:t>GERÇEK HAYAT · Batch worker büyüyor</a:t>
            </a:r>
          </a:p>
        </p:txBody>
      </p:sp>
      <p:sp>
        <p:nvSpPr>
          <p:cNvPr id="9" name="">
            <a:extLst xmlns:a="http://schemas.openxmlformats.org/drawingml/2006/main">
              <a:ext uri="{FF2B5EF4-FFF2-40B4-BE49-F238E27FC236}">
                <a16:creationId xmlns:a16="http://schemas.microsoft.com/office/drawing/2014/main" id="{3DEE5DE2-1FB4-4BD2-9CB8-D91543C4F0F4}"/>
              </a:ext>
            </a:extLst>
          </p:cNvPr>
          <p:cNvSpPr>
            <a:spLocks xmlns:a="http://schemas.openxmlformats.org/drawingml/2006/main" noGrp="1"/>
          </p:cNvSpPr>
          <p:nvPr/>
        </p:nvSpPr>
        <p:spPr>
          <a:xfrm xmlns:a="http://schemas.openxmlformats.org/drawingml/2006/main">
            <a:off x="609600" y="5781675"/>
            <a:ext cx="109728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650" b="0">
                <a:solidFill>
                  <a:srgbClr val="4D606A"/>
                </a:solidFill>
                <a:latin typeface="Helvetica Neue"/>
                <a:ea typeface="Helvetica Neue"/>
                <a:cs typeface="Helvetica Neue"/>
              </a:defRPr>
            </a:pPr>
            <a:r>
              <a:rPr sz="1650" b="0">
                <a:solidFill>
                  <a:srgbClr val="4D606A"/>
                </a:solidFill>
                <a:latin typeface="Helvetica Neue"/>
                <a:ea typeface="Helvetica Neue"/>
                <a:cs typeface="Helvetica Neue"/>
              </a:rPr>
              <a:t>İşin memory tüketimi capacity’yi aşabilir.</a:t>
            </a:r>
          </a:p>
        </p:txBody>
      </p:sp>
      <p:sp>
        <p:nvSpPr>
          <p:cNvPr id="10" name="">
            <a:extLst xmlns:a="http://schemas.openxmlformats.org/drawingml/2006/main">
              <a:ext uri="{FF2B5EF4-FFF2-40B4-BE49-F238E27FC236}">
                <a16:creationId xmlns:a16="http://schemas.microsoft.com/office/drawing/2014/main" id="{E8B5E4E6-73C7-4177-9A38-2654BB975B07}"/>
              </a:ext>
            </a:extLst>
          </p:cNvPr>
          <p:cNvSpPr>
            <a:spLocks xmlns:a="http://schemas.openxmlformats.org/drawingml/2006/main" noGrp="1"/>
          </p:cNvSpPr>
          <p:nvPr/>
        </p:nvSpPr>
        <p:spPr>
          <a:xfrm xmlns:a="http://schemas.openxmlformats.org/drawingml/2006/main">
            <a:off x="609600" y="6496050"/>
            <a:ext cx="8572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125" b="0">
                <a:solidFill>
                  <a:srgbClr val="4D606A"/>
                </a:solidFill>
                <a:latin typeface="Helvetica Neue"/>
                <a:ea typeface="Helvetica Neue"/>
                <a:cs typeface="Helvetica Neue"/>
              </a:defRPr>
            </a:pPr>
            <a:r>
              <a:rPr sz="1125" b="0">
                <a:solidFill>
                  <a:srgbClr val="4D606A"/>
                </a:solidFill>
                <a:latin typeface="Helvetica Neue"/>
                <a:ea typeface="Helvetica Neue"/>
                <a:cs typeface="Helvetica Neue"/>
              </a:rPr>
              <a:t>CSE513 · Hafta 9</a:t>
            </a:r>
          </a:p>
        </p:txBody>
      </p:sp>
      <p:sp>
        <p:nvSpPr>
          <p:cNvPr id="11" name="">
            <a:extLst xmlns:a="http://schemas.openxmlformats.org/drawingml/2006/main">
              <a:ext uri="{FF2B5EF4-FFF2-40B4-BE49-F238E27FC236}">
                <a16:creationId xmlns:a16="http://schemas.microsoft.com/office/drawing/2014/main" id="{3C54147D-7FA0-4074-8169-4379A1FBCCAB}"/>
              </a:ext>
            </a:extLst>
          </p:cNvPr>
          <p:cNvSpPr>
            <a:spLocks xmlns:a="http://schemas.openxmlformats.org/drawingml/2006/main" noGrp="1"/>
          </p:cNvSpPr>
          <p:nvPr/>
        </p:nvSpPr>
        <p:spPr>
          <a:xfrm xmlns:a="http://schemas.openxmlformats.org/drawingml/2006/main">
            <a:off x="10477500" y="6457950"/>
            <a:ext cx="10953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350" b="1">
                <a:solidFill>
                  <a:srgbClr val="087E83"/>
                </a:solidFill>
                <a:latin typeface="Helvetica Neue"/>
                <a:ea typeface="Helvetica Neue"/>
                <a:cs typeface="Helvetica Neue"/>
              </a:defRPr>
            </a:pPr>
            <a:r>
              <a:rPr sz="1350" b="1">
                <a:solidFill>
                  <a:srgbClr val="087E83"/>
                </a:solidFill>
                <a:latin typeface="Helvetica Neue"/>
                <a:ea typeface="Helvetica Neue"/>
                <a:cs typeface="Helvetica Neue"/>
              </a:rPr>
              <a:t>16 / 27</a:t>
            </a:r>
          </a:p>
        </p:txBody>
      </p:sp>
    </p:spTree>
    <p:extLst>
      <p:ext uri="{BB962C8B-B14F-4D97-AF65-F5344CB8AC3E}">
        <p14:creationId xmlns:p14="http://schemas.microsoft.com/office/powerpoint/2010/main" val="975696929"/>
      </p:ext>
    </p:extLst>
  </p:cSld>
</p:sld>
</file>

<file path=ppt/slides/slide17.xml><?xml version="1.0" encoding="utf-8"?>
<p:sld xmlns:p="http://schemas.openxmlformats.org/presentationml/2006/main">
  <p:cSld>
    <p:bg>
      <p:bgPr>
        <a:solidFill xmlns:a="http://schemas.openxmlformats.org/drawingml/2006/main">
          <a:srgbClr val="F5F1E8"/>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59E0737A-968C-4AC4-AF9D-2438CF6F8731}"/>
              </a:ext>
            </a:extLst>
          </p:cNvPr>
          <p:cNvSpPr>
            <a:spLocks xmlns:a="http://schemas.openxmlformats.org/drawingml/2006/main" noGrp="1"/>
          </p:cNvSpPr>
          <p:nvPr/>
        </p:nvSpPr>
        <p:spPr>
          <a:xfrm xmlns:a="http://schemas.openxmlformats.org/drawingml/2006/main">
            <a:off x="609600" y="600075"/>
            <a:ext cx="1097280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300" b="1">
                <a:solidFill>
                  <a:srgbClr val="122C42"/>
                </a:solidFill>
                <a:latin typeface="Helvetica Neue"/>
                <a:ea typeface="Helvetica Neue"/>
                <a:cs typeface="Helvetica Neue"/>
              </a:defRPr>
            </a:pPr>
            <a:r>
              <a:rPr sz="3300" b="1">
                <a:solidFill>
                  <a:srgbClr val="122C42"/>
                </a:solidFill>
                <a:latin typeface="Helvetica Neue"/>
                <a:ea typeface="Helvetica Neue"/>
                <a:cs typeface="Helvetica Neue"/>
              </a:rPr>
              <a:t>Görünürlük ve yetki aynı değil</a:t>
            </a:r>
          </a:p>
        </p:txBody>
      </p:sp>
      <p:sp>
        <p:nvSpPr>
          <p:cNvPr id="2" name="">
            <a:extLst xmlns:a="http://schemas.openxmlformats.org/drawingml/2006/main">
              <a:ext uri="{FF2B5EF4-FFF2-40B4-BE49-F238E27FC236}">
                <a16:creationId xmlns:a16="http://schemas.microsoft.com/office/drawing/2014/main" id="{1BE24196-F077-4B71-8B14-1EFBBF9CEA39}"/>
              </a:ext>
            </a:extLst>
          </p:cNvPr>
          <p:cNvSpPr>
            <a:spLocks xmlns:a="http://schemas.openxmlformats.org/drawingml/2006/main" noGrp="1"/>
          </p:cNvSpPr>
          <p:nvPr/>
        </p:nvSpPr>
        <p:spPr>
          <a:xfrm xmlns:a="http://schemas.openxmlformats.org/drawingml/2006/main">
            <a:off x="609600" y="1952625"/>
            <a:ext cx="438150" cy="993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1">
                <a:solidFill>
                  <a:srgbClr val="087E83"/>
                </a:solidFill>
                <a:latin typeface="Helvetica Neue"/>
                <a:ea typeface="Helvetica Neue"/>
                <a:cs typeface="Helvetica Neue"/>
              </a:defRPr>
            </a:pPr>
            <a:r>
              <a:rPr sz="2100" b="1">
                <a:solidFill>
                  <a:srgbClr val="087E83"/>
                </a:solidFill>
                <a:latin typeface="Helvetica Neue"/>
                <a:ea typeface="Helvetica Neue"/>
                <a:cs typeface="Helvetica Neue"/>
              </a:rPr>
              <a:t>01</a:t>
            </a:r>
          </a:p>
        </p:txBody>
      </p:sp>
      <p:sp>
        <p:nvSpPr>
          <p:cNvPr id="3" name="">
            <a:extLst xmlns:a="http://schemas.openxmlformats.org/drawingml/2006/main">
              <a:ext uri="{FF2B5EF4-FFF2-40B4-BE49-F238E27FC236}">
                <a16:creationId xmlns:a16="http://schemas.microsoft.com/office/drawing/2014/main" id="{4C8679FD-98E2-4185-9917-CD74E8E78810}"/>
              </a:ext>
            </a:extLst>
          </p:cNvPr>
          <p:cNvSpPr>
            <a:spLocks xmlns:a="http://schemas.openxmlformats.org/drawingml/2006/main" noGrp="1"/>
          </p:cNvSpPr>
          <p:nvPr/>
        </p:nvSpPr>
        <p:spPr>
          <a:xfrm xmlns:a="http://schemas.openxmlformats.org/drawingml/2006/main">
            <a:off x="1333500" y="1952625"/>
            <a:ext cx="10248900" cy="993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400" b="0">
                <a:solidFill>
                  <a:srgbClr val="122C42"/>
                </a:solidFill>
                <a:latin typeface="Helvetica Neue"/>
                <a:ea typeface="Helvetica Neue"/>
                <a:cs typeface="Helvetica Neue"/>
              </a:defRPr>
            </a:pPr>
            <a:r>
              <a:rPr sz="2400" b="0">
                <a:solidFill>
                  <a:srgbClr val="122C42"/>
                </a:solidFill>
                <a:latin typeface="Helvetica Neue"/>
                <a:ea typeface="Helvetica Neue"/>
                <a:cs typeface="Helvetica Neue"/>
              </a:rPr>
              <a:t>Path görünür mü?</a:t>
            </a:r>
          </a:p>
        </p:txBody>
      </p:sp>
      <p:sp>
        <p:nvSpPr>
          <p:cNvPr id="4" name="">
            <a:extLst xmlns:a="http://schemas.openxmlformats.org/drawingml/2006/main">
              <a:ext uri="{FF2B5EF4-FFF2-40B4-BE49-F238E27FC236}">
                <a16:creationId xmlns:a16="http://schemas.microsoft.com/office/drawing/2014/main" id="{14EE3077-12BF-4981-8A96-02BE6987F0BC}"/>
              </a:ext>
            </a:extLst>
          </p:cNvPr>
          <p:cNvSpPr>
            <a:spLocks xmlns:a="http://schemas.openxmlformats.org/drawingml/2006/main" noGrp="1"/>
          </p:cNvSpPr>
          <p:nvPr/>
        </p:nvSpPr>
        <p:spPr>
          <a:xfrm xmlns:a="http://schemas.openxmlformats.org/drawingml/2006/main">
            <a:off x="609600" y="3041650"/>
            <a:ext cx="438150" cy="993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1">
                <a:solidFill>
                  <a:srgbClr val="087E83"/>
                </a:solidFill>
                <a:latin typeface="Helvetica Neue"/>
                <a:ea typeface="Helvetica Neue"/>
                <a:cs typeface="Helvetica Neue"/>
              </a:defRPr>
            </a:pPr>
            <a:r>
              <a:rPr sz="2100" b="1">
                <a:solidFill>
                  <a:srgbClr val="087E83"/>
                </a:solidFill>
                <a:latin typeface="Helvetica Neue"/>
                <a:ea typeface="Helvetica Neue"/>
                <a:cs typeface="Helvetica Neue"/>
              </a:rPr>
              <a:t>02</a:t>
            </a:r>
          </a:p>
        </p:txBody>
      </p:sp>
      <p:sp>
        <p:nvSpPr>
          <p:cNvPr id="5" name="">
            <a:extLst xmlns:a="http://schemas.openxmlformats.org/drawingml/2006/main">
              <a:ext uri="{FF2B5EF4-FFF2-40B4-BE49-F238E27FC236}">
                <a16:creationId xmlns:a16="http://schemas.microsoft.com/office/drawing/2014/main" id="{DED07A4A-4731-44D0-9FBA-69CC5B7AEA4D}"/>
              </a:ext>
            </a:extLst>
          </p:cNvPr>
          <p:cNvSpPr>
            <a:spLocks xmlns:a="http://schemas.openxmlformats.org/drawingml/2006/main" noGrp="1"/>
          </p:cNvSpPr>
          <p:nvPr/>
        </p:nvSpPr>
        <p:spPr>
          <a:xfrm xmlns:a="http://schemas.openxmlformats.org/drawingml/2006/main">
            <a:off x="1333500" y="3041650"/>
            <a:ext cx="10248900" cy="993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400" b="0">
                <a:solidFill>
                  <a:srgbClr val="122C42"/>
                </a:solidFill>
                <a:latin typeface="Helvetica Neue"/>
                <a:ea typeface="Helvetica Neue"/>
                <a:cs typeface="Helvetica Neue"/>
              </a:defRPr>
            </a:pPr>
            <a:r>
              <a:rPr sz="2400" b="0">
                <a:solidFill>
                  <a:srgbClr val="122C42"/>
                </a:solidFill>
                <a:latin typeface="Helvetica Neue"/>
                <a:ea typeface="Helvetica Neue"/>
                <a:cs typeface="Helvetica Neue"/>
              </a:rPr>
              <a:t>Kimlik/policy erişimi izinli kılar mı?</a:t>
            </a:r>
          </a:p>
        </p:txBody>
      </p:sp>
      <p:sp>
        <p:nvSpPr>
          <p:cNvPr id="6" name="">
            <a:extLst xmlns:a="http://schemas.openxmlformats.org/drawingml/2006/main">
              <a:ext uri="{FF2B5EF4-FFF2-40B4-BE49-F238E27FC236}">
                <a16:creationId xmlns:a16="http://schemas.microsoft.com/office/drawing/2014/main" id="{4CF32795-E8FC-45D0-B263-9DB0E7A2BDC9}"/>
              </a:ext>
            </a:extLst>
          </p:cNvPr>
          <p:cNvSpPr>
            <a:spLocks xmlns:a="http://schemas.openxmlformats.org/drawingml/2006/main" noGrp="1"/>
          </p:cNvSpPr>
          <p:nvPr/>
        </p:nvSpPr>
        <p:spPr>
          <a:xfrm xmlns:a="http://schemas.openxmlformats.org/drawingml/2006/main">
            <a:off x="609600" y="4130675"/>
            <a:ext cx="438150" cy="993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1">
                <a:solidFill>
                  <a:srgbClr val="087E83"/>
                </a:solidFill>
                <a:latin typeface="Helvetica Neue"/>
                <a:ea typeface="Helvetica Neue"/>
                <a:cs typeface="Helvetica Neue"/>
              </a:defRPr>
            </a:pPr>
            <a:r>
              <a:rPr sz="2100" b="1">
                <a:solidFill>
                  <a:srgbClr val="087E83"/>
                </a:solidFill>
                <a:latin typeface="Helvetica Neue"/>
                <a:ea typeface="Helvetica Neue"/>
                <a:cs typeface="Helvetica Neue"/>
              </a:rPr>
              <a:t>03</a:t>
            </a:r>
          </a:p>
        </p:txBody>
      </p:sp>
      <p:sp>
        <p:nvSpPr>
          <p:cNvPr id="7" name="">
            <a:extLst xmlns:a="http://schemas.openxmlformats.org/drawingml/2006/main">
              <a:ext uri="{FF2B5EF4-FFF2-40B4-BE49-F238E27FC236}">
                <a16:creationId xmlns:a16="http://schemas.microsoft.com/office/drawing/2014/main" id="{7248EE98-BD8D-4207-91A9-ABD884F7AD3F}"/>
              </a:ext>
            </a:extLst>
          </p:cNvPr>
          <p:cNvSpPr>
            <a:spLocks xmlns:a="http://schemas.openxmlformats.org/drawingml/2006/main" noGrp="1"/>
          </p:cNvSpPr>
          <p:nvPr/>
        </p:nvSpPr>
        <p:spPr>
          <a:xfrm xmlns:a="http://schemas.openxmlformats.org/drawingml/2006/main">
            <a:off x="1333500" y="4130675"/>
            <a:ext cx="10248900" cy="993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400" b="0">
                <a:solidFill>
                  <a:srgbClr val="122C42"/>
                </a:solidFill>
                <a:latin typeface="Helvetica Neue"/>
                <a:ea typeface="Helvetica Neue"/>
                <a:cs typeface="Helvetica Neue"/>
              </a:defRPr>
            </a:pPr>
            <a:r>
              <a:rPr sz="2400" b="0">
                <a:solidFill>
                  <a:srgbClr val="122C42"/>
                </a:solidFill>
                <a:latin typeface="Helvetica Neue"/>
                <a:ea typeface="Helvetica Neue"/>
                <a:cs typeface="Helvetica Neue"/>
              </a:rPr>
              <a:t>Resource budget uygun mu?</a:t>
            </a:r>
          </a:p>
        </p:txBody>
      </p:sp>
      <p:sp>
        <p:nvSpPr>
          <p:cNvPr id="8" name="">
            <a:extLst xmlns:a="http://schemas.openxmlformats.org/drawingml/2006/main">
              <a:ext uri="{FF2B5EF4-FFF2-40B4-BE49-F238E27FC236}">
                <a16:creationId xmlns:a16="http://schemas.microsoft.com/office/drawing/2014/main" id="{DB7BA288-64EC-4E1F-ABAB-205E151891E6}"/>
              </a:ext>
            </a:extLst>
          </p:cNvPr>
          <p:cNvSpPr>
            <a:spLocks xmlns:a="http://schemas.openxmlformats.org/drawingml/2006/main" noGrp="1"/>
          </p:cNvSpPr>
          <p:nvPr/>
        </p:nvSpPr>
        <p:spPr>
          <a:xfrm xmlns:a="http://schemas.openxmlformats.org/drawingml/2006/main">
            <a:off x="609600" y="5438775"/>
            <a:ext cx="109728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500" b="1">
                <a:solidFill>
                  <a:srgbClr val="C46225"/>
                </a:solidFill>
                <a:latin typeface="Helvetica Neue"/>
                <a:ea typeface="Helvetica Neue"/>
                <a:cs typeface="Helvetica Neue"/>
              </a:defRPr>
            </a:pPr>
            <a:r>
              <a:rPr sz="1500" b="1">
                <a:solidFill>
                  <a:srgbClr val="C46225"/>
                </a:solidFill>
                <a:latin typeface="Helvetica Neue"/>
                <a:ea typeface="Helvetica Neue"/>
                <a:cs typeface="Helvetica Neue"/>
              </a:rPr>
              <a:t>GERÇEK HAYAT · Salt okunur config</a:t>
            </a:r>
          </a:p>
        </p:txBody>
      </p:sp>
      <p:sp>
        <p:nvSpPr>
          <p:cNvPr id="9" name="">
            <a:extLst xmlns:a="http://schemas.openxmlformats.org/drawingml/2006/main">
              <a:ext uri="{FF2B5EF4-FFF2-40B4-BE49-F238E27FC236}">
                <a16:creationId xmlns:a16="http://schemas.microsoft.com/office/drawing/2014/main" id="{9D797A3F-ECFE-4785-BF5B-F6A02FD4AE29}"/>
              </a:ext>
            </a:extLst>
          </p:cNvPr>
          <p:cNvSpPr>
            <a:spLocks xmlns:a="http://schemas.openxmlformats.org/drawingml/2006/main" noGrp="1"/>
          </p:cNvSpPr>
          <p:nvPr/>
        </p:nvSpPr>
        <p:spPr>
          <a:xfrm xmlns:a="http://schemas.openxmlformats.org/drawingml/2006/main">
            <a:off x="609600" y="5781675"/>
            <a:ext cx="109728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650" b="0">
                <a:solidFill>
                  <a:srgbClr val="4D606A"/>
                </a:solidFill>
                <a:latin typeface="Helvetica Neue"/>
                <a:ea typeface="Helvetica Neue"/>
                <a:cs typeface="Helvetica Neue"/>
              </a:defRPr>
            </a:pPr>
            <a:r>
              <a:rPr sz="1650" b="0">
                <a:solidFill>
                  <a:srgbClr val="4D606A"/>
                </a:solidFill>
                <a:latin typeface="Helvetica Neue"/>
                <a:ea typeface="Helvetica Neue"/>
                <a:cs typeface="Helvetica Neue"/>
              </a:rPr>
              <a:t>Servis config’i okuyabilir ama değiştiremez.</a:t>
            </a:r>
          </a:p>
        </p:txBody>
      </p:sp>
      <p:sp>
        <p:nvSpPr>
          <p:cNvPr id="10" name="">
            <a:extLst xmlns:a="http://schemas.openxmlformats.org/drawingml/2006/main">
              <a:ext uri="{FF2B5EF4-FFF2-40B4-BE49-F238E27FC236}">
                <a16:creationId xmlns:a16="http://schemas.microsoft.com/office/drawing/2014/main" id="{AABCB142-8F9B-4034-B006-9D4B6F5F0FCA}"/>
              </a:ext>
            </a:extLst>
          </p:cNvPr>
          <p:cNvSpPr>
            <a:spLocks xmlns:a="http://schemas.openxmlformats.org/drawingml/2006/main" noGrp="1"/>
          </p:cNvSpPr>
          <p:nvPr/>
        </p:nvSpPr>
        <p:spPr>
          <a:xfrm xmlns:a="http://schemas.openxmlformats.org/drawingml/2006/main">
            <a:off x="609600" y="6496050"/>
            <a:ext cx="8572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125" b="0">
                <a:solidFill>
                  <a:srgbClr val="4D606A"/>
                </a:solidFill>
                <a:latin typeface="Helvetica Neue"/>
                <a:ea typeface="Helvetica Neue"/>
                <a:cs typeface="Helvetica Neue"/>
              </a:defRPr>
            </a:pPr>
            <a:r>
              <a:rPr sz="1125" b="0">
                <a:solidFill>
                  <a:srgbClr val="4D606A"/>
                </a:solidFill>
                <a:latin typeface="Helvetica Neue"/>
                <a:ea typeface="Helvetica Neue"/>
                <a:cs typeface="Helvetica Neue"/>
              </a:rPr>
              <a:t>CSE513 · Hafta 9</a:t>
            </a:r>
          </a:p>
        </p:txBody>
      </p:sp>
      <p:sp>
        <p:nvSpPr>
          <p:cNvPr id="11" name="">
            <a:extLst xmlns:a="http://schemas.openxmlformats.org/drawingml/2006/main">
              <a:ext uri="{FF2B5EF4-FFF2-40B4-BE49-F238E27FC236}">
                <a16:creationId xmlns:a16="http://schemas.microsoft.com/office/drawing/2014/main" id="{DB52FDC5-344B-4284-A4FB-25C333A0F333}"/>
              </a:ext>
            </a:extLst>
          </p:cNvPr>
          <p:cNvSpPr>
            <a:spLocks xmlns:a="http://schemas.openxmlformats.org/drawingml/2006/main" noGrp="1"/>
          </p:cNvSpPr>
          <p:nvPr/>
        </p:nvSpPr>
        <p:spPr>
          <a:xfrm xmlns:a="http://schemas.openxmlformats.org/drawingml/2006/main">
            <a:off x="10477500" y="6457950"/>
            <a:ext cx="10953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350" b="1">
                <a:solidFill>
                  <a:srgbClr val="087E83"/>
                </a:solidFill>
                <a:latin typeface="Helvetica Neue"/>
                <a:ea typeface="Helvetica Neue"/>
                <a:cs typeface="Helvetica Neue"/>
              </a:defRPr>
            </a:pPr>
            <a:r>
              <a:rPr sz="1350" b="1">
                <a:solidFill>
                  <a:srgbClr val="087E83"/>
                </a:solidFill>
                <a:latin typeface="Helvetica Neue"/>
                <a:ea typeface="Helvetica Neue"/>
                <a:cs typeface="Helvetica Neue"/>
              </a:rPr>
              <a:t>17 / 27</a:t>
            </a:r>
          </a:p>
        </p:txBody>
      </p:sp>
    </p:spTree>
    <p:extLst>
      <p:ext uri="{BB962C8B-B14F-4D97-AF65-F5344CB8AC3E}">
        <p14:creationId xmlns:p14="http://schemas.microsoft.com/office/powerpoint/2010/main" val="1654440022"/>
      </p:ext>
    </p:extLst>
  </p:cSld>
</p:sld>
</file>

<file path=ppt/slides/slide18.xml><?xml version="1.0" encoding="utf-8"?>
<p:sld xmlns:p="http://schemas.openxmlformats.org/presentationml/2006/main">
  <p:cSld>
    <p:bg>
      <p:bgPr>
        <a:solidFill xmlns:a="http://schemas.openxmlformats.org/drawingml/2006/main">
          <a:srgbClr val="F5F1E8"/>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40480CEA-D735-4BB2-A1E0-44F75F931721}"/>
              </a:ext>
            </a:extLst>
          </p:cNvPr>
          <p:cNvSpPr>
            <a:spLocks xmlns:a="http://schemas.openxmlformats.org/drawingml/2006/main" noGrp="1"/>
          </p:cNvSpPr>
          <p:nvPr/>
        </p:nvSpPr>
        <p:spPr>
          <a:xfrm xmlns:a="http://schemas.openxmlformats.org/drawingml/2006/main">
            <a:off x="609600" y="600075"/>
            <a:ext cx="1097280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300" b="1">
                <a:solidFill>
                  <a:srgbClr val="122C42"/>
                </a:solidFill>
                <a:latin typeface="Helvetica Neue"/>
                <a:ea typeface="Helvetica Neue"/>
                <a:cs typeface="Helvetica Neue"/>
              </a:defRPr>
            </a:pPr>
            <a:r>
              <a:rPr sz="3300" b="1">
                <a:solidFill>
                  <a:srgbClr val="122C42"/>
                </a:solidFill>
                <a:latin typeface="Helvetica Neue"/>
                <a:ea typeface="Helvetica Neue"/>
                <a:cs typeface="Helvetica Neue"/>
              </a:rPr>
              <a:t>Container root host root mu?</a:t>
            </a:r>
          </a:p>
        </p:txBody>
      </p:sp>
      <p:sp>
        <p:nvSpPr>
          <p:cNvPr id="2" name="">
            <a:extLst xmlns:a="http://schemas.openxmlformats.org/drawingml/2006/main">
              <a:ext uri="{FF2B5EF4-FFF2-40B4-BE49-F238E27FC236}">
                <a16:creationId xmlns:a16="http://schemas.microsoft.com/office/drawing/2014/main" id="{2BEA0398-81CC-4CE6-AFDE-D566022560DB}"/>
              </a:ext>
            </a:extLst>
          </p:cNvPr>
          <p:cNvSpPr>
            <a:spLocks xmlns:a="http://schemas.openxmlformats.org/drawingml/2006/main" noGrp="1"/>
          </p:cNvSpPr>
          <p:nvPr/>
        </p:nvSpPr>
        <p:spPr>
          <a:xfrm xmlns:a="http://schemas.openxmlformats.org/drawingml/2006/main">
            <a:off x="609600" y="1952625"/>
            <a:ext cx="438150" cy="946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1">
                <a:solidFill>
                  <a:srgbClr val="087E83"/>
                </a:solidFill>
                <a:latin typeface="Helvetica Neue"/>
                <a:ea typeface="Helvetica Neue"/>
                <a:cs typeface="Helvetica Neue"/>
              </a:defRPr>
            </a:pPr>
            <a:r>
              <a:rPr sz="2100" b="1">
                <a:solidFill>
                  <a:srgbClr val="087E83"/>
                </a:solidFill>
                <a:latin typeface="Helvetica Neue"/>
                <a:ea typeface="Helvetica Neue"/>
                <a:cs typeface="Helvetica Neue"/>
              </a:rPr>
              <a:t>01</a:t>
            </a:r>
          </a:p>
        </p:txBody>
      </p:sp>
      <p:sp>
        <p:nvSpPr>
          <p:cNvPr id="3" name="">
            <a:extLst xmlns:a="http://schemas.openxmlformats.org/drawingml/2006/main">
              <a:ext uri="{FF2B5EF4-FFF2-40B4-BE49-F238E27FC236}">
                <a16:creationId xmlns:a16="http://schemas.microsoft.com/office/drawing/2014/main" id="{D78BC68C-004C-4CCA-AEA8-8C13AAB65FE5}"/>
              </a:ext>
            </a:extLst>
          </p:cNvPr>
          <p:cNvSpPr>
            <a:spLocks xmlns:a="http://schemas.openxmlformats.org/drawingml/2006/main" noGrp="1"/>
          </p:cNvSpPr>
          <p:nvPr/>
        </p:nvSpPr>
        <p:spPr>
          <a:xfrm xmlns:a="http://schemas.openxmlformats.org/drawingml/2006/main">
            <a:off x="1333500" y="1952625"/>
            <a:ext cx="10248900" cy="946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400" b="0">
                <a:solidFill>
                  <a:srgbClr val="122C42"/>
                </a:solidFill>
                <a:latin typeface="Helvetica Neue"/>
                <a:ea typeface="Helvetica Neue"/>
                <a:cs typeface="Helvetica Neue"/>
              </a:defRPr>
            </a:pPr>
            <a:r>
              <a:rPr sz="2400" b="0">
                <a:solidFill>
                  <a:srgbClr val="122C42"/>
                </a:solidFill>
                <a:latin typeface="Helvetica Neue"/>
                <a:ea typeface="Helvetica Neue"/>
                <a:cs typeface="Helvetica Neue"/>
              </a:rPr>
              <a:t>UID görünümü ve user namespace mapping.</a:t>
            </a:r>
          </a:p>
        </p:txBody>
      </p:sp>
      <p:sp>
        <p:nvSpPr>
          <p:cNvPr id="4" name="">
            <a:extLst xmlns:a="http://schemas.openxmlformats.org/drawingml/2006/main">
              <a:ext uri="{FF2B5EF4-FFF2-40B4-BE49-F238E27FC236}">
                <a16:creationId xmlns:a16="http://schemas.microsoft.com/office/drawing/2014/main" id="{3F91B89F-6FBE-4120-BBEA-1BCD40BE9BA5}"/>
              </a:ext>
            </a:extLst>
          </p:cNvPr>
          <p:cNvSpPr>
            <a:spLocks xmlns:a="http://schemas.openxmlformats.org/drawingml/2006/main" noGrp="1"/>
          </p:cNvSpPr>
          <p:nvPr/>
        </p:nvSpPr>
        <p:spPr>
          <a:xfrm xmlns:a="http://schemas.openxmlformats.org/drawingml/2006/main">
            <a:off x="609600" y="2994025"/>
            <a:ext cx="438150" cy="946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1">
                <a:solidFill>
                  <a:srgbClr val="087E83"/>
                </a:solidFill>
                <a:latin typeface="Helvetica Neue"/>
                <a:ea typeface="Helvetica Neue"/>
                <a:cs typeface="Helvetica Neue"/>
              </a:defRPr>
            </a:pPr>
            <a:r>
              <a:rPr sz="2100" b="1">
                <a:solidFill>
                  <a:srgbClr val="087E83"/>
                </a:solidFill>
                <a:latin typeface="Helvetica Neue"/>
                <a:ea typeface="Helvetica Neue"/>
                <a:cs typeface="Helvetica Neue"/>
              </a:rPr>
              <a:t>02</a:t>
            </a:r>
          </a:p>
        </p:txBody>
      </p:sp>
      <p:sp>
        <p:nvSpPr>
          <p:cNvPr id="5" name="">
            <a:extLst xmlns:a="http://schemas.openxmlformats.org/drawingml/2006/main">
              <a:ext uri="{FF2B5EF4-FFF2-40B4-BE49-F238E27FC236}">
                <a16:creationId xmlns:a16="http://schemas.microsoft.com/office/drawing/2014/main" id="{4731F90D-D1BA-49FB-A5C5-F48A6593F93C}"/>
              </a:ext>
            </a:extLst>
          </p:cNvPr>
          <p:cNvSpPr>
            <a:spLocks xmlns:a="http://schemas.openxmlformats.org/drawingml/2006/main" noGrp="1"/>
          </p:cNvSpPr>
          <p:nvPr/>
        </p:nvSpPr>
        <p:spPr>
          <a:xfrm xmlns:a="http://schemas.openxmlformats.org/drawingml/2006/main">
            <a:off x="1333500" y="2994025"/>
            <a:ext cx="10248900" cy="946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400" b="0">
                <a:solidFill>
                  <a:srgbClr val="122C42"/>
                </a:solidFill>
                <a:latin typeface="Helvetica Neue"/>
                <a:ea typeface="Helvetica Neue"/>
                <a:cs typeface="Helvetica Neue"/>
              </a:defRPr>
            </a:pPr>
            <a:r>
              <a:rPr sz="2400" b="0">
                <a:solidFill>
                  <a:srgbClr val="122C42"/>
                </a:solidFill>
                <a:latin typeface="Helvetica Neue"/>
                <a:ea typeface="Helvetica Neue"/>
                <a:cs typeface="Helvetica Neue"/>
              </a:rPr>
              <a:t>Capabilities ayrı yetkiler sağlar.</a:t>
            </a:r>
          </a:p>
        </p:txBody>
      </p:sp>
      <p:sp>
        <p:nvSpPr>
          <p:cNvPr id="6" name="">
            <a:extLst xmlns:a="http://schemas.openxmlformats.org/drawingml/2006/main">
              <a:ext uri="{FF2B5EF4-FFF2-40B4-BE49-F238E27FC236}">
                <a16:creationId xmlns:a16="http://schemas.microsoft.com/office/drawing/2014/main" id="{812057BE-E7E3-42F9-ABD4-6877D5EB9AA5}"/>
              </a:ext>
            </a:extLst>
          </p:cNvPr>
          <p:cNvSpPr>
            <a:spLocks xmlns:a="http://schemas.openxmlformats.org/drawingml/2006/main" noGrp="1"/>
          </p:cNvSpPr>
          <p:nvPr/>
        </p:nvSpPr>
        <p:spPr>
          <a:xfrm xmlns:a="http://schemas.openxmlformats.org/drawingml/2006/main">
            <a:off x="609600" y="4035425"/>
            <a:ext cx="438150" cy="946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1">
                <a:solidFill>
                  <a:srgbClr val="087E83"/>
                </a:solidFill>
                <a:latin typeface="Helvetica Neue"/>
                <a:ea typeface="Helvetica Neue"/>
                <a:cs typeface="Helvetica Neue"/>
              </a:defRPr>
            </a:pPr>
            <a:r>
              <a:rPr sz="2100" b="1">
                <a:solidFill>
                  <a:srgbClr val="087E83"/>
                </a:solidFill>
                <a:latin typeface="Helvetica Neue"/>
                <a:ea typeface="Helvetica Neue"/>
                <a:cs typeface="Helvetica Neue"/>
              </a:rPr>
              <a:t>03</a:t>
            </a:r>
          </a:p>
        </p:txBody>
      </p:sp>
      <p:sp>
        <p:nvSpPr>
          <p:cNvPr id="7" name="">
            <a:extLst xmlns:a="http://schemas.openxmlformats.org/drawingml/2006/main">
              <a:ext uri="{FF2B5EF4-FFF2-40B4-BE49-F238E27FC236}">
                <a16:creationId xmlns:a16="http://schemas.microsoft.com/office/drawing/2014/main" id="{0A055657-8AF8-4DD7-ABC5-1BB3F84F0417}"/>
              </a:ext>
            </a:extLst>
          </p:cNvPr>
          <p:cNvSpPr>
            <a:spLocks xmlns:a="http://schemas.openxmlformats.org/drawingml/2006/main" noGrp="1"/>
          </p:cNvSpPr>
          <p:nvPr/>
        </p:nvSpPr>
        <p:spPr>
          <a:xfrm xmlns:a="http://schemas.openxmlformats.org/drawingml/2006/main">
            <a:off x="1333500" y="4035425"/>
            <a:ext cx="10248900" cy="946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400" b="0">
                <a:solidFill>
                  <a:srgbClr val="122C42"/>
                </a:solidFill>
                <a:latin typeface="Helvetica Neue"/>
                <a:ea typeface="Helvetica Neue"/>
                <a:cs typeface="Helvetica Neue"/>
              </a:defRPr>
            </a:pPr>
            <a:r>
              <a:rPr sz="2400" b="0">
                <a:solidFill>
                  <a:srgbClr val="122C42"/>
                </a:solidFill>
                <a:latin typeface="Helvetica Neue"/>
                <a:ea typeface="Helvetica Neue"/>
                <a:cs typeface="Helvetica Neue"/>
              </a:rPr>
              <a:t>Root etiketi tek başına sınır kanıtı değil.</a:t>
            </a:r>
          </a:p>
        </p:txBody>
      </p:sp>
      <p:sp>
        <p:nvSpPr>
          <p:cNvPr id="8" name="">
            <a:extLst xmlns:a="http://schemas.openxmlformats.org/drawingml/2006/main">
              <a:ext uri="{FF2B5EF4-FFF2-40B4-BE49-F238E27FC236}">
                <a16:creationId xmlns:a16="http://schemas.microsoft.com/office/drawing/2014/main" id="{B9137183-DA42-4401-BC37-87487DD5572B}"/>
              </a:ext>
            </a:extLst>
          </p:cNvPr>
          <p:cNvSpPr>
            <a:spLocks xmlns:a="http://schemas.openxmlformats.org/drawingml/2006/main" noGrp="1"/>
          </p:cNvSpPr>
          <p:nvPr/>
        </p:nvSpPr>
        <p:spPr>
          <a:xfrm xmlns:a="http://schemas.openxmlformats.org/drawingml/2006/main">
            <a:off x="609600" y="5238750"/>
            <a:ext cx="109728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75" b="1">
                <a:solidFill>
                  <a:srgbClr val="087E83"/>
                </a:solidFill>
                <a:latin typeface="Helvetica Neue"/>
                <a:ea typeface="Helvetica Neue"/>
                <a:cs typeface="Helvetica Neue"/>
              </a:defRPr>
            </a:pPr>
            <a:r>
              <a:rPr sz="1875" b="1">
                <a:solidFill>
                  <a:srgbClr val="087E83"/>
                </a:solidFill>
                <a:latin typeface="Helvetica Neue"/>
                <a:ea typeface="Helvetica Neue"/>
                <a:cs typeface="Helvetica Neue"/>
              </a:rPr>
              <a:t>Düşün: Ekranda root yazdı: güvenli veya güvensiz sonucunu çıkarabilir miyiz?</a:t>
            </a:r>
          </a:p>
        </p:txBody>
      </p:sp>
      <p:sp>
        <p:nvSpPr>
          <p:cNvPr id="9" name="">
            <a:extLst xmlns:a="http://schemas.openxmlformats.org/drawingml/2006/main">
              <a:ext uri="{FF2B5EF4-FFF2-40B4-BE49-F238E27FC236}">
                <a16:creationId xmlns:a16="http://schemas.microsoft.com/office/drawing/2014/main" id="{2C62CCEF-A6DE-4600-8A00-40A5C0215426}"/>
              </a:ext>
            </a:extLst>
          </p:cNvPr>
          <p:cNvSpPr>
            <a:spLocks xmlns:a="http://schemas.openxmlformats.org/drawingml/2006/main" noGrp="1"/>
          </p:cNvSpPr>
          <p:nvPr/>
        </p:nvSpPr>
        <p:spPr>
          <a:xfrm xmlns:a="http://schemas.openxmlformats.org/drawingml/2006/main">
            <a:off x="609600" y="6496050"/>
            <a:ext cx="8572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125" b="0">
                <a:solidFill>
                  <a:srgbClr val="4D606A"/>
                </a:solidFill>
                <a:latin typeface="Helvetica Neue"/>
                <a:ea typeface="Helvetica Neue"/>
                <a:cs typeface="Helvetica Neue"/>
              </a:defRPr>
            </a:pPr>
            <a:r>
              <a:rPr sz="1125" b="0">
                <a:solidFill>
                  <a:srgbClr val="4D606A"/>
                </a:solidFill>
                <a:latin typeface="Helvetica Neue"/>
                <a:ea typeface="Helvetica Neue"/>
                <a:cs typeface="Helvetica Neue"/>
              </a:rPr>
              <a:t>CSE513 · Hafta 9</a:t>
            </a:r>
          </a:p>
        </p:txBody>
      </p:sp>
      <p:sp>
        <p:nvSpPr>
          <p:cNvPr id="10" name="">
            <a:extLst xmlns:a="http://schemas.openxmlformats.org/drawingml/2006/main">
              <a:ext uri="{FF2B5EF4-FFF2-40B4-BE49-F238E27FC236}">
                <a16:creationId xmlns:a16="http://schemas.microsoft.com/office/drawing/2014/main" id="{BD9AAFAB-4E20-49B8-B807-9F91652DE737}"/>
              </a:ext>
            </a:extLst>
          </p:cNvPr>
          <p:cNvSpPr>
            <a:spLocks xmlns:a="http://schemas.openxmlformats.org/drawingml/2006/main" noGrp="1"/>
          </p:cNvSpPr>
          <p:nvPr/>
        </p:nvSpPr>
        <p:spPr>
          <a:xfrm xmlns:a="http://schemas.openxmlformats.org/drawingml/2006/main">
            <a:off x="10477500" y="6457950"/>
            <a:ext cx="10953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350" b="1">
                <a:solidFill>
                  <a:srgbClr val="087E83"/>
                </a:solidFill>
                <a:latin typeface="Helvetica Neue"/>
                <a:ea typeface="Helvetica Neue"/>
                <a:cs typeface="Helvetica Neue"/>
              </a:defRPr>
            </a:pPr>
            <a:r>
              <a:rPr sz="1350" b="1">
                <a:solidFill>
                  <a:srgbClr val="087E83"/>
                </a:solidFill>
                <a:latin typeface="Helvetica Neue"/>
                <a:ea typeface="Helvetica Neue"/>
                <a:cs typeface="Helvetica Neue"/>
              </a:rPr>
              <a:t>18 / 27</a:t>
            </a:r>
          </a:p>
        </p:txBody>
      </p:sp>
    </p:spTree>
    <p:extLst>
      <p:ext uri="{BB962C8B-B14F-4D97-AF65-F5344CB8AC3E}">
        <p14:creationId xmlns:p14="http://schemas.microsoft.com/office/powerpoint/2010/main" val="2131787086"/>
      </p:ext>
    </p:extLst>
  </p:cSld>
</p:sld>
</file>

<file path=ppt/slides/slide19.xml><?xml version="1.0" encoding="utf-8"?>
<p:sld xmlns:p="http://schemas.openxmlformats.org/presentationml/2006/main">
  <p:cSld>
    <p:bg>
      <p:bgPr>
        <a:solidFill xmlns:a="http://schemas.openxmlformats.org/drawingml/2006/main">
          <a:srgbClr val="F5F1E8"/>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ADA609BF-1069-447A-ACF4-0EDB5B6FD7AE}"/>
              </a:ext>
            </a:extLst>
          </p:cNvPr>
          <p:cNvSpPr>
            <a:spLocks xmlns:a="http://schemas.openxmlformats.org/drawingml/2006/main" noGrp="1"/>
          </p:cNvSpPr>
          <p:nvPr/>
        </p:nvSpPr>
        <p:spPr>
          <a:xfrm xmlns:a="http://schemas.openxmlformats.org/drawingml/2006/main">
            <a:off x="609600" y="600075"/>
            <a:ext cx="1097280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300" b="1">
                <a:solidFill>
                  <a:srgbClr val="122C42"/>
                </a:solidFill>
                <a:latin typeface="Helvetica Neue"/>
                <a:ea typeface="Helvetica Neue"/>
                <a:cs typeface="Helvetica Neue"/>
              </a:defRPr>
            </a:pPr>
            <a:r>
              <a:rPr sz="3300" b="1">
                <a:solidFill>
                  <a:srgbClr val="122C42"/>
                </a:solidFill>
                <a:latin typeface="Helvetica Neue"/>
                <a:ea typeface="Helvetica Neue"/>
                <a:cs typeface="Helvetica Neue"/>
              </a:rPr>
              <a:t>En az yetki: role → operation</a:t>
            </a:r>
          </a:p>
        </p:txBody>
      </p:sp>
      <p:sp>
        <p:nvSpPr>
          <p:cNvPr id="2" name="">
            <a:extLst xmlns:a="http://schemas.openxmlformats.org/drawingml/2006/main">
              <a:ext uri="{FF2B5EF4-FFF2-40B4-BE49-F238E27FC236}">
                <a16:creationId xmlns:a16="http://schemas.microsoft.com/office/drawing/2014/main" id="{C84A210B-D386-46D4-BDAF-A30E939428ED}"/>
              </a:ext>
            </a:extLst>
          </p:cNvPr>
          <p:cNvSpPr>
            <a:spLocks xmlns:a="http://schemas.openxmlformats.org/drawingml/2006/main" noGrp="1"/>
          </p:cNvSpPr>
          <p:nvPr/>
        </p:nvSpPr>
        <p:spPr>
          <a:xfrm xmlns:a="http://schemas.openxmlformats.org/drawingml/2006/main">
            <a:off x="609600" y="1952625"/>
            <a:ext cx="438150" cy="993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1">
                <a:solidFill>
                  <a:srgbClr val="087E83"/>
                </a:solidFill>
                <a:latin typeface="Helvetica Neue"/>
                <a:ea typeface="Helvetica Neue"/>
                <a:cs typeface="Helvetica Neue"/>
              </a:defRPr>
            </a:pPr>
            <a:r>
              <a:rPr sz="2100" b="1">
                <a:solidFill>
                  <a:srgbClr val="087E83"/>
                </a:solidFill>
                <a:latin typeface="Helvetica Neue"/>
                <a:ea typeface="Helvetica Neue"/>
                <a:cs typeface="Helvetica Neue"/>
              </a:rPr>
              <a:t>01</a:t>
            </a:r>
          </a:p>
        </p:txBody>
      </p:sp>
      <p:sp>
        <p:nvSpPr>
          <p:cNvPr id="3" name="">
            <a:extLst xmlns:a="http://schemas.openxmlformats.org/drawingml/2006/main">
              <a:ext uri="{FF2B5EF4-FFF2-40B4-BE49-F238E27FC236}">
                <a16:creationId xmlns:a16="http://schemas.microsoft.com/office/drawing/2014/main" id="{8EBF7B4B-5F33-4C0D-B6EA-BE0F0D55531E}"/>
              </a:ext>
            </a:extLst>
          </p:cNvPr>
          <p:cNvSpPr>
            <a:spLocks xmlns:a="http://schemas.openxmlformats.org/drawingml/2006/main" noGrp="1"/>
          </p:cNvSpPr>
          <p:nvPr/>
        </p:nvSpPr>
        <p:spPr>
          <a:xfrm xmlns:a="http://schemas.openxmlformats.org/drawingml/2006/main">
            <a:off x="1333500" y="1952625"/>
            <a:ext cx="10248900" cy="993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400" b="0">
                <a:solidFill>
                  <a:srgbClr val="122C42"/>
                </a:solidFill>
                <a:latin typeface="Helvetica Neue"/>
                <a:ea typeface="Helvetica Neue"/>
                <a:cs typeface="Helvetica Neue"/>
              </a:defRPr>
            </a:pPr>
            <a:r>
              <a:rPr sz="2400" b="0">
                <a:solidFill>
                  <a:srgbClr val="122C42"/>
                </a:solidFill>
                <a:latin typeface="Helvetica Neue"/>
                <a:ea typeface="Helvetica Neue"/>
                <a:cs typeface="Helvetica Neue"/>
              </a:rPr>
              <a:t>Viewer: yalnız read.</a:t>
            </a:r>
          </a:p>
        </p:txBody>
      </p:sp>
      <p:sp>
        <p:nvSpPr>
          <p:cNvPr id="4" name="">
            <a:extLst xmlns:a="http://schemas.openxmlformats.org/drawingml/2006/main">
              <a:ext uri="{FF2B5EF4-FFF2-40B4-BE49-F238E27FC236}">
                <a16:creationId xmlns:a16="http://schemas.microsoft.com/office/drawing/2014/main" id="{94A99E29-46A7-43F5-9B7E-862486B8CB31}"/>
              </a:ext>
            </a:extLst>
          </p:cNvPr>
          <p:cNvSpPr>
            <a:spLocks xmlns:a="http://schemas.openxmlformats.org/drawingml/2006/main" noGrp="1"/>
          </p:cNvSpPr>
          <p:nvPr/>
        </p:nvSpPr>
        <p:spPr>
          <a:xfrm xmlns:a="http://schemas.openxmlformats.org/drawingml/2006/main">
            <a:off x="609600" y="3041650"/>
            <a:ext cx="438150" cy="993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1">
                <a:solidFill>
                  <a:srgbClr val="087E83"/>
                </a:solidFill>
                <a:latin typeface="Helvetica Neue"/>
                <a:ea typeface="Helvetica Neue"/>
                <a:cs typeface="Helvetica Neue"/>
              </a:defRPr>
            </a:pPr>
            <a:r>
              <a:rPr sz="2100" b="1">
                <a:solidFill>
                  <a:srgbClr val="087E83"/>
                </a:solidFill>
                <a:latin typeface="Helvetica Neue"/>
                <a:ea typeface="Helvetica Neue"/>
                <a:cs typeface="Helvetica Neue"/>
              </a:rPr>
              <a:t>02</a:t>
            </a:r>
          </a:p>
        </p:txBody>
      </p:sp>
      <p:sp>
        <p:nvSpPr>
          <p:cNvPr id="5" name="">
            <a:extLst xmlns:a="http://schemas.openxmlformats.org/drawingml/2006/main">
              <a:ext uri="{FF2B5EF4-FFF2-40B4-BE49-F238E27FC236}">
                <a16:creationId xmlns:a16="http://schemas.microsoft.com/office/drawing/2014/main" id="{CC47885E-197A-4AB1-A70B-D2D37A9A4FC8}"/>
              </a:ext>
            </a:extLst>
          </p:cNvPr>
          <p:cNvSpPr>
            <a:spLocks xmlns:a="http://schemas.openxmlformats.org/drawingml/2006/main" noGrp="1"/>
          </p:cNvSpPr>
          <p:nvPr/>
        </p:nvSpPr>
        <p:spPr>
          <a:xfrm xmlns:a="http://schemas.openxmlformats.org/drawingml/2006/main">
            <a:off x="1333500" y="3041650"/>
            <a:ext cx="10248900" cy="993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400" b="0">
                <a:solidFill>
                  <a:srgbClr val="122C42"/>
                </a:solidFill>
                <a:latin typeface="Helvetica Neue"/>
                <a:ea typeface="Helvetica Neue"/>
                <a:cs typeface="Helvetica Neue"/>
              </a:defRPr>
            </a:pPr>
            <a:r>
              <a:rPr sz="2400" b="0">
                <a:solidFill>
                  <a:srgbClr val="122C42"/>
                </a:solidFill>
                <a:latin typeface="Helvetica Neue"/>
                <a:ea typeface="Helvetica Neue"/>
                <a:cs typeface="Helvetica Neue"/>
              </a:rPr>
              <a:t>Editor: read + write own data.</a:t>
            </a:r>
          </a:p>
        </p:txBody>
      </p:sp>
      <p:sp>
        <p:nvSpPr>
          <p:cNvPr id="6" name="">
            <a:extLst xmlns:a="http://schemas.openxmlformats.org/drawingml/2006/main">
              <a:ext uri="{FF2B5EF4-FFF2-40B4-BE49-F238E27FC236}">
                <a16:creationId xmlns:a16="http://schemas.microsoft.com/office/drawing/2014/main" id="{76A9247C-796C-47C9-A4D8-6005B7BC1C1D}"/>
              </a:ext>
            </a:extLst>
          </p:cNvPr>
          <p:cNvSpPr>
            <a:spLocks xmlns:a="http://schemas.openxmlformats.org/drawingml/2006/main" noGrp="1"/>
          </p:cNvSpPr>
          <p:nvPr/>
        </p:nvSpPr>
        <p:spPr>
          <a:xfrm xmlns:a="http://schemas.openxmlformats.org/drawingml/2006/main">
            <a:off x="609600" y="4130675"/>
            <a:ext cx="438150" cy="993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1">
                <a:solidFill>
                  <a:srgbClr val="087E83"/>
                </a:solidFill>
                <a:latin typeface="Helvetica Neue"/>
                <a:ea typeface="Helvetica Neue"/>
                <a:cs typeface="Helvetica Neue"/>
              </a:defRPr>
            </a:pPr>
            <a:r>
              <a:rPr sz="2100" b="1">
                <a:solidFill>
                  <a:srgbClr val="087E83"/>
                </a:solidFill>
                <a:latin typeface="Helvetica Neue"/>
                <a:ea typeface="Helvetica Neue"/>
                <a:cs typeface="Helvetica Neue"/>
              </a:rPr>
              <a:t>03</a:t>
            </a:r>
          </a:p>
        </p:txBody>
      </p:sp>
      <p:sp>
        <p:nvSpPr>
          <p:cNvPr id="7" name="">
            <a:extLst xmlns:a="http://schemas.openxmlformats.org/drawingml/2006/main">
              <a:ext uri="{FF2B5EF4-FFF2-40B4-BE49-F238E27FC236}">
                <a16:creationId xmlns:a16="http://schemas.microsoft.com/office/drawing/2014/main" id="{38CEFBED-32A4-434B-A274-0520E76E538E}"/>
              </a:ext>
            </a:extLst>
          </p:cNvPr>
          <p:cNvSpPr>
            <a:spLocks xmlns:a="http://schemas.openxmlformats.org/drawingml/2006/main" noGrp="1"/>
          </p:cNvSpPr>
          <p:nvPr/>
        </p:nvSpPr>
        <p:spPr>
          <a:xfrm xmlns:a="http://schemas.openxmlformats.org/drawingml/2006/main">
            <a:off x="1333500" y="4130675"/>
            <a:ext cx="10248900" cy="993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400" b="0">
                <a:solidFill>
                  <a:srgbClr val="122C42"/>
                </a:solidFill>
                <a:latin typeface="Helvetica Neue"/>
                <a:ea typeface="Helvetica Neue"/>
                <a:cs typeface="Helvetica Neue"/>
              </a:defRPr>
            </a:pPr>
            <a:r>
              <a:rPr sz="2400" b="0">
                <a:solidFill>
                  <a:srgbClr val="122C42"/>
                </a:solidFill>
                <a:latin typeface="Helvetica Neue"/>
                <a:ea typeface="Helvetica Neue"/>
                <a:cs typeface="Helvetica Neue"/>
              </a:rPr>
              <a:t>Deploy yönetimi başka role.</a:t>
            </a:r>
          </a:p>
        </p:txBody>
      </p:sp>
      <p:sp>
        <p:nvSpPr>
          <p:cNvPr id="8" name="">
            <a:extLst xmlns:a="http://schemas.openxmlformats.org/drawingml/2006/main">
              <a:ext uri="{FF2B5EF4-FFF2-40B4-BE49-F238E27FC236}">
                <a16:creationId xmlns:a16="http://schemas.microsoft.com/office/drawing/2014/main" id="{917AFF28-E965-421D-B1D8-C9666A5C9DFD}"/>
              </a:ext>
            </a:extLst>
          </p:cNvPr>
          <p:cNvSpPr>
            <a:spLocks xmlns:a="http://schemas.openxmlformats.org/drawingml/2006/main" noGrp="1"/>
          </p:cNvSpPr>
          <p:nvPr/>
        </p:nvSpPr>
        <p:spPr>
          <a:xfrm xmlns:a="http://schemas.openxmlformats.org/drawingml/2006/main">
            <a:off x="609600" y="5438775"/>
            <a:ext cx="109728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500" b="1">
                <a:solidFill>
                  <a:srgbClr val="C46225"/>
                </a:solidFill>
                <a:latin typeface="Helvetica Neue"/>
                <a:ea typeface="Helvetica Neue"/>
                <a:cs typeface="Helvetica Neue"/>
              </a:defRPr>
            </a:pPr>
            <a:r>
              <a:rPr sz="1500" b="1">
                <a:solidFill>
                  <a:srgbClr val="C46225"/>
                </a:solidFill>
                <a:latin typeface="Helvetica Neue"/>
                <a:ea typeface="Helvetica Neue"/>
                <a:cs typeface="Helvetica Neue"/>
              </a:rPr>
              <a:t>GERÇEK HAYAT · Rapor API’si</a:t>
            </a:r>
          </a:p>
        </p:txBody>
      </p:sp>
      <p:sp>
        <p:nvSpPr>
          <p:cNvPr id="9" name="">
            <a:extLst xmlns:a="http://schemas.openxmlformats.org/drawingml/2006/main">
              <a:ext uri="{FF2B5EF4-FFF2-40B4-BE49-F238E27FC236}">
                <a16:creationId xmlns:a16="http://schemas.microsoft.com/office/drawing/2014/main" id="{1358E682-76DD-483B-986C-E2EA6A64304F}"/>
              </a:ext>
            </a:extLst>
          </p:cNvPr>
          <p:cNvSpPr>
            <a:spLocks xmlns:a="http://schemas.openxmlformats.org/drawingml/2006/main" noGrp="1"/>
          </p:cNvSpPr>
          <p:nvPr/>
        </p:nvSpPr>
        <p:spPr>
          <a:xfrm xmlns:a="http://schemas.openxmlformats.org/drawingml/2006/main">
            <a:off x="609600" y="5781675"/>
            <a:ext cx="109728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650" b="0">
                <a:solidFill>
                  <a:srgbClr val="4D606A"/>
                </a:solidFill>
                <a:latin typeface="Helvetica Neue"/>
                <a:ea typeface="Helvetica Neue"/>
                <a:cs typeface="Helvetica Neue"/>
              </a:defRPr>
            </a:pPr>
            <a:r>
              <a:rPr sz="1650" b="0">
                <a:solidFill>
                  <a:srgbClr val="4D606A"/>
                </a:solidFill>
                <a:latin typeface="Helvetica Neue"/>
                <a:ea typeface="Helvetica Neue"/>
                <a:cs typeface="Helvetica Neue"/>
              </a:rPr>
              <a:t>Rapor okumak isteyen client deploy erişimi istemez.</a:t>
            </a:r>
          </a:p>
        </p:txBody>
      </p:sp>
      <p:sp>
        <p:nvSpPr>
          <p:cNvPr id="10" name="">
            <a:extLst xmlns:a="http://schemas.openxmlformats.org/drawingml/2006/main">
              <a:ext uri="{FF2B5EF4-FFF2-40B4-BE49-F238E27FC236}">
                <a16:creationId xmlns:a16="http://schemas.microsoft.com/office/drawing/2014/main" id="{78B00D84-B10D-4EFE-9406-8C076206237C}"/>
              </a:ext>
            </a:extLst>
          </p:cNvPr>
          <p:cNvSpPr>
            <a:spLocks xmlns:a="http://schemas.openxmlformats.org/drawingml/2006/main" noGrp="1"/>
          </p:cNvSpPr>
          <p:nvPr/>
        </p:nvSpPr>
        <p:spPr>
          <a:xfrm xmlns:a="http://schemas.openxmlformats.org/drawingml/2006/main">
            <a:off x="609600" y="6496050"/>
            <a:ext cx="8572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125" b="0">
                <a:solidFill>
                  <a:srgbClr val="4D606A"/>
                </a:solidFill>
                <a:latin typeface="Helvetica Neue"/>
                <a:ea typeface="Helvetica Neue"/>
                <a:cs typeface="Helvetica Neue"/>
              </a:defRPr>
            </a:pPr>
            <a:r>
              <a:rPr sz="1125" b="0">
                <a:solidFill>
                  <a:srgbClr val="4D606A"/>
                </a:solidFill>
                <a:latin typeface="Helvetica Neue"/>
                <a:ea typeface="Helvetica Neue"/>
                <a:cs typeface="Helvetica Neue"/>
              </a:rPr>
              <a:t>CSE513 · Hafta 9</a:t>
            </a:r>
          </a:p>
        </p:txBody>
      </p:sp>
      <p:sp>
        <p:nvSpPr>
          <p:cNvPr id="11" name="">
            <a:extLst xmlns:a="http://schemas.openxmlformats.org/drawingml/2006/main">
              <a:ext uri="{FF2B5EF4-FFF2-40B4-BE49-F238E27FC236}">
                <a16:creationId xmlns:a16="http://schemas.microsoft.com/office/drawing/2014/main" id="{B51B4A10-F3E2-460B-9F40-9C8ACA8B0932}"/>
              </a:ext>
            </a:extLst>
          </p:cNvPr>
          <p:cNvSpPr>
            <a:spLocks xmlns:a="http://schemas.openxmlformats.org/drawingml/2006/main" noGrp="1"/>
          </p:cNvSpPr>
          <p:nvPr/>
        </p:nvSpPr>
        <p:spPr>
          <a:xfrm xmlns:a="http://schemas.openxmlformats.org/drawingml/2006/main">
            <a:off x="10477500" y="6457950"/>
            <a:ext cx="10953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350" b="1">
                <a:solidFill>
                  <a:srgbClr val="087E83"/>
                </a:solidFill>
                <a:latin typeface="Helvetica Neue"/>
                <a:ea typeface="Helvetica Neue"/>
                <a:cs typeface="Helvetica Neue"/>
              </a:defRPr>
            </a:pPr>
            <a:r>
              <a:rPr sz="1350" b="1">
                <a:solidFill>
                  <a:srgbClr val="087E83"/>
                </a:solidFill>
                <a:latin typeface="Helvetica Neue"/>
                <a:ea typeface="Helvetica Neue"/>
                <a:cs typeface="Helvetica Neue"/>
              </a:rPr>
              <a:t>19 / 27</a:t>
            </a:r>
          </a:p>
        </p:txBody>
      </p:sp>
    </p:spTree>
    <p:extLst>
      <p:ext uri="{BB962C8B-B14F-4D97-AF65-F5344CB8AC3E}">
        <p14:creationId xmlns:p14="http://schemas.microsoft.com/office/powerpoint/2010/main" val="680782441"/>
      </p:ext>
    </p:extLst>
  </p:cSld>
</p:sld>
</file>

<file path=ppt/slides/slide20.xml><?xml version="1.0" encoding="utf-8"?>
<p:sld xmlns:p="http://schemas.openxmlformats.org/presentationml/2006/main">
  <p:cSld>
    <p:bg>
      <p:bgPr>
        <a:solidFill xmlns:a="http://schemas.openxmlformats.org/drawingml/2006/main">
          <a:srgbClr val="F5F1E8"/>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2F868850-6AF7-40D3-96CF-93BFD6246D9A}"/>
              </a:ext>
            </a:extLst>
          </p:cNvPr>
          <p:cNvSpPr>
            <a:spLocks xmlns:a="http://schemas.openxmlformats.org/drawingml/2006/main" noGrp="1"/>
          </p:cNvSpPr>
          <p:nvPr/>
        </p:nvSpPr>
        <p:spPr>
          <a:xfrm xmlns:a="http://schemas.openxmlformats.org/drawingml/2006/main">
            <a:off x="609600" y="600075"/>
            <a:ext cx="1097280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300" b="1">
                <a:solidFill>
                  <a:srgbClr val="122C42"/>
                </a:solidFill>
                <a:latin typeface="Helvetica Neue"/>
                <a:ea typeface="Helvetica Neue"/>
                <a:cs typeface="Helvetica Neue"/>
              </a:defRPr>
            </a:pPr>
            <a:r>
              <a:rPr sz="3300" b="1">
                <a:solidFill>
                  <a:srgbClr val="122C42"/>
                </a:solidFill>
                <a:latin typeface="Helvetica Neue"/>
                <a:ea typeface="Helvetica Neue"/>
                <a:cs typeface="Helvetica Neue"/>
              </a:rPr>
              <a:t>Bind mount: sınırı bilerek açmak</a:t>
            </a:r>
          </a:p>
        </p:txBody>
      </p:sp>
      <p:sp>
        <p:nvSpPr>
          <p:cNvPr id="2" name="">
            <a:extLst xmlns:a="http://schemas.openxmlformats.org/drawingml/2006/main">
              <a:ext uri="{FF2B5EF4-FFF2-40B4-BE49-F238E27FC236}">
                <a16:creationId xmlns:a16="http://schemas.microsoft.com/office/drawing/2014/main" id="{E7884CE8-077D-4337-8125-3C53BCDE8DA4}"/>
              </a:ext>
            </a:extLst>
          </p:cNvPr>
          <p:cNvSpPr>
            <a:spLocks xmlns:a="http://schemas.openxmlformats.org/drawingml/2006/main" noGrp="1"/>
          </p:cNvSpPr>
          <p:nvPr/>
        </p:nvSpPr>
        <p:spPr>
          <a:xfrm xmlns:a="http://schemas.openxmlformats.org/drawingml/2006/main">
            <a:off x="609600" y="1952625"/>
            <a:ext cx="438150" cy="993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1">
                <a:solidFill>
                  <a:srgbClr val="087E83"/>
                </a:solidFill>
                <a:latin typeface="Helvetica Neue"/>
                <a:ea typeface="Helvetica Neue"/>
                <a:cs typeface="Helvetica Neue"/>
              </a:defRPr>
            </a:pPr>
            <a:r>
              <a:rPr sz="2100" b="1">
                <a:solidFill>
                  <a:srgbClr val="087E83"/>
                </a:solidFill>
                <a:latin typeface="Helvetica Neue"/>
                <a:ea typeface="Helvetica Neue"/>
                <a:cs typeface="Helvetica Neue"/>
              </a:rPr>
              <a:t>01</a:t>
            </a:r>
          </a:p>
        </p:txBody>
      </p:sp>
      <p:sp>
        <p:nvSpPr>
          <p:cNvPr id="3" name="">
            <a:extLst xmlns:a="http://schemas.openxmlformats.org/drawingml/2006/main">
              <a:ext uri="{FF2B5EF4-FFF2-40B4-BE49-F238E27FC236}">
                <a16:creationId xmlns:a16="http://schemas.microsoft.com/office/drawing/2014/main" id="{E04959F1-76C9-4122-A3D3-25E417CE41EE}"/>
              </a:ext>
            </a:extLst>
          </p:cNvPr>
          <p:cNvSpPr>
            <a:spLocks xmlns:a="http://schemas.openxmlformats.org/drawingml/2006/main" noGrp="1"/>
          </p:cNvSpPr>
          <p:nvPr/>
        </p:nvSpPr>
        <p:spPr>
          <a:xfrm xmlns:a="http://schemas.openxmlformats.org/drawingml/2006/main">
            <a:off x="1333500" y="1952625"/>
            <a:ext cx="10248900" cy="993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400" b="0">
                <a:solidFill>
                  <a:srgbClr val="122C42"/>
                </a:solidFill>
                <a:latin typeface="Helvetica Neue"/>
                <a:ea typeface="Helvetica Neue"/>
                <a:cs typeface="Helvetica Neue"/>
              </a:defRPr>
            </a:pPr>
            <a:r>
              <a:rPr sz="2400" b="0">
                <a:solidFill>
                  <a:srgbClr val="122C42"/>
                </a:solidFill>
                <a:latin typeface="Helvetica Neue"/>
                <a:ea typeface="Helvetica Neue"/>
                <a:cs typeface="Helvetica Neue"/>
              </a:rPr>
              <a:t>Host path’in expose edilmesi erişim yüzeyi oluşturur.</a:t>
            </a:r>
          </a:p>
        </p:txBody>
      </p:sp>
      <p:sp>
        <p:nvSpPr>
          <p:cNvPr id="4" name="">
            <a:extLst xmlns:a="http://schemas.openxmlformats.org/drawingml/2006/main">
              <a:ext uri="{FF2B5EF4-FFF2-40B4-BE49-F238E27FC236}">
                <a16:creationId xmlns:a16="http://schemas.microsoft.com/office/drawing/2014/main" id="{C6E8B981-9FE3-4297-BA44-FC624D169DA3}"/>
              </a:ext>
            </a:extLst>
          </p:cNvPr>
          <p:cNvSpPr>
            <a:spLocks xmlns:a="http://schemas.openxmlformats.org/drawingml/2006/main" noGrp="1"/>
          </p:cNvSpPr>
          <p:nvPr/>
        </p:nvSpPr>
        <p:spPr>
          <a:xfrm xmlns:a="http://schemas.openxmlformats.org/drawingml/2006/main">
            <a:off x="609600" y="3041650"/>
            <a:ext cx="438150" cy="993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1">
                <a:solidFill>
                  <a:srgbClr val="087E83"/>
                </a:solidFill>
                <a:latin typeface="Helvetica Neue"/>
                <a:ea typeface="Helvetica Neue"/>
                <a:cs typeface="Helvetica Neue"/>
              </a:defRPr>
            </a:pPr>
            <a:r>
              <a:rPr sz="2100" b="1">
                <a:solidFill>
                  <a:srgbClr val="087E83"/>
                </a:solidFill>
                <a:latin typeface="Helvetica Neue"/>
                <a:ea typeface="Helvetica Neue"/>
                <a:cs typeface="Helvetica Neue"/>
              </a:rPr>
              <a:t>02</a:t>
            </a:r>
          </a:p>
        </p:txBody>
      </p:sp>
      <p:sp>
        <p:nvSpPr>
          <p:cNvPr id="5" name="">
            <a:extLst xmlns:a="http://schemas.openxmlformats.org/drawingml/2006/main">
              <a:ext uri="{FF2B5EF4-FFF2-40B4-BE49-F238E27FC236}">
                <a16:creationId xmlns:a16="http://schemas.microsoft.com/office/drawing/2014/main" id="{BD4681C2-6F29-4316-8EE4-A36CA4229861}"/>
              </a:ext>
            </a:extLst>
          </p:cNvPr>
          <p:cNvSpPr>
            <a:spLocks xmlns:a="http://schemas.openxmlformats.org/drawingml/2006/main" noGrp="1"/>
          </p:cNvSpPr>
          <p:nvPr/>
        </p:nvSpPr>
        <p:spPr>
          <a:xfrm xmlns:a="http://schemas.openxmlformats.org/drawingml/2006/main">
            <a:off x="1333500" y="3041650"/>
            <a:ext cx="10248900" cy="993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400" b="0">
                <a:solidFill>
                  <a:srgbClr val="122C42"/>
                </a:solidFill>
                <a:latin typeface="Helvetica Neue"/>
                <a:ea typeface="Helvetica Neue"/>
                <a:cs typeface="Helvetica Neue"/>
              </a:defRPr>
            </a:pPr>
            <a:r>
              <a:rPr sz="2400" b="0">
                <a:solidFill>
                  <a:srgbClr val="122C42"/>
                </a:solidFill>
                <a:latin typeface="Helvetica Neue"/>
                <a:ea typeface="Helvetica Neue"/>
                <a:cs typeface="Helvetica Neue"/>
              </a:rPr>
              <a:t>Read-only/read-write farkını belirt.</a:t>
            </a:r>
          </a:p>
        </p:txBody>
      </p:sp>
      <p:sp>
        <p:nvSpPr>
          <p:cNvPr id="6" name="">
            <a:extLst xmlns:a="http://schemas.openxmlformats.org/drawingml/2006/main">
              <a:ext uri="{FF2B5EF4-FFF2-40B4-BE49-F238E27FC236}">
                <a16:creationId xmlns:a16="http://schemas.microsoft.com/office/drawing/2014/main" id="{1BB24B73-5E3C-4C56-BB4C-63C6EF3ABB86}"/>
              </a:ext>
            </a:extLst>
          </p:cNvPr>
          <p:cNvSpPr>
            <a:spLocks xmlns:a="http://schemas.openxmlformats.org/drawingml/2006/main" noGrp="1"/>
          </p:cNvSpPr>
          <p:nvPr/>
        </p:nvSpPr>
        <p:spPr>
          <a:xfrm xmlns:a="http://schemas.openxmlformats.org/drawingml/2006/main">
            <a:off x="609600" y="4130675"/>
            <a:ext cx="438150" cy="993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1">
                <a:solidFill>
                  <a:srgbClr val="087E83"/>
                </a:solidFill>
                <a:latin typeface="Helvetica Neue"/>
                <a:ea typeface="Helvetica Neue"/>
                <a:cs typeface="Helvetica Neue"/>
              </a:defRPr>
            </a:pPr>
            <a:r>
              <a:rPr sz="2100" b="1">
                <a:solidFill>
                  <a:srgbClr val="087E83"/>
                </a:solidFill>
                <a:latin typeface="Helvetica Neue"/>
                <a:ea typeface="Helvetica Neue"/>
                <a:cs typeface="Helvetica Neue"/>
              </a:rPr>
              <a:t>03</a:t>
            </a:r>
          </a:p>
        </p:txBody>
      </p:sp>
      <p:sp>
        <p:nvSpPr>
          <p:cNvPr id="7" name="">
            <a:extLst xmlns:a="http://schemas.openxmlformats.org/drawingml/2006/main">
              <a:ext uri="{FF2B5EF4-FFF2-40B4-BE49-F238E27FC236}">
                <a16:creationId xmlns:a16="http://schemas.microsoft.com/office/drawing/2014/main" id="{B7B1A45B-5A13-46A9-8F27-27F7FE5F94AF}"/>
              </a:ext>
            </a:extLst>
          </p:cNvPr>
          <p:cNvSpPr>
            <a:spLocks xmlns:a="http://schemas.openxmlformats.org/drawingml/2006/main" noGrp="1"/>
          </p:cNvSpPr>
          <p:nvPr/>
        </p:nvSpPr>
        <p:spPr>
          <a:xfrm xmlns:a="http://schemas.openxmlformats.org/drawingml/2006/main">
            <a:off x="1333500" y="4130675"/>
            <a:ext cx="10248900" cy="993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400" b="0">
                <a:solidFill>
                  <a:srgbClr val="122C42"/>
                </a:solidFill>
                <a:latin typeface="Helvetica Neue"/>
                <a:ea typeface="Helvetica Neue"/>
                <a:cs typeface="Helvetica Neue"/>
              </a:defRPr>
            </a:pPr>
            <a:r>
              <a:rPr sz="2400" b="0">
                <a:solidFill>
                  <a:srgbClr val="122C42"/>
                </a:solidFill>
                <a:latin typeface="Helvetica Neue"/>
                <a:ea typeface="Helvetica Neue"/>
                <a:cs typeface="Helvetica Neue"/>
              </a:rPr>
              <a:t>Secret’ı image/mount yolunda kontrol et.</a:t>
            </a:r>
          </a:p>
        </p:txBody>
      </p:sp>
      <p:sp>
        <p:nvSpPr>
          <p:cNvPr id="8" name="">
            <a:extLst xmlns:a="http://schemas.openxmlformats.org/drawingml/2006/main">
              <a:ext uri="{FF2B5EF4-FFF2-40B4-BE49-F238E27FC236}">
                <a16:creationId xmlns:a16="http://schemas.microsoft.com/office/drawing/2014/main" id="{A8BFB412-D467-4DB7-88FF-32E7F11A5B27}"/>
              </a:ext>
            </a:extLst>
          </p:cNvPr>
          <p:cNvSpPr>
            <a:spLocks xmlns:a="http://schemas.openxmlformats.org/drawingml/2006/main" noGrp="1"/>
          </p:cNvSpPr>
          <p:nvPr/>
        </p:nvSpPr>
        <p:spPr>
          <a:xfrm xmlns:a="http://schemas.openxmlformats.org/drawingml/2006/main">
            <a:off x="609600" y="5438775"/>
            <a:ext cx="109728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500" b="1">
                <a:solidFill>
                  <a:srgbClr val="C46225"/>
                </a:solidFill>
                <a:latin typeface="Helvetica Neue"/>
                <a:ea typeface="Helvetica Neue"/>
                <a:cs typeface="Helvetica Neue"/>
              </a:defRPr>
            </a:pPr>
            <a:r>
              <a:rPr sz="1500" b="1">
                <a:solidFill>
                  <a:srgbClr val="C46225"/>
                </a:solidFill>
                <a:latin typeface="Helvetica Neue"/>
                <a:ea typeface="Helvetica Neue"/>
                <a:cs typeface="Helvetica Neue"/>
              </a:rPr>
              <a:t>GERÇEK HAYAT · Paylaşılan çalışma klasörü</a:t>
            </a:r>
          </a:p>
        </p:txBody>
      </p:sp>
      <p:sp>
        <p:nvSpPr>
          <p:cNvPr id="9" name="">
            <a:extLst xmlns:a="http://schemas.openxmlformats.org/drawingml/2006/main">
              <a:ext uri="{FF2B5EF4-FFF2-40B4-BE49-F238E27FC236}">
                <a16:creationId xmlns:a16="http://schemas.microsoft.com/office/drawing/2014/main" id="{84CDF04D-E95F-42C6-A972-6E238B1F489D}"/>
              </a:ext>
            </a:extLst>
          </p:cNvPr>
          <p:cNvSpPr>
            <a:spLocks xmlns:a="http://schemas.openxmlformats.org/drawingml/2006/main" noGrp="1"/>
          </p:cNvSpPr>
          <p:nvPr/>
        </p:nvSpPr>
        <p:spPr>
          <a:xfrm xmlns:a="http://schemas.openxmlformats.org/drawingml/2006/main">
            <a:off x="609600" y="5781675"/>
            <a:ext cx="109728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650" b="0">
                <a:solidFill>
                  <a:srgbClr val="4D606A"/>
                </a:solidFill>
                <a:latin typeface="Helvetica Neue"/>
                <a:ea typeface="Helvetica Neue"/>
                <a:cs typeface="Helvetica Neue"/>
              </a:defRPr>
            </a:pPr>
            <a:r>
              <a:rPr sz="1650" b="0">
                <a:solidFill>
                  <a:srgbClr val="4D606A"/>
                </a:solidFill>
                <a:latin typeface="Helvetica Neue"/>
                <a:ea typeface="Helvetica Neue"/>
                <a:cs typeface="Helvetica Neue"/>
              </a:rPr>
              <a:t>Container host proje dosyasını değiştirebilir.</a:t>
            </a:r>
          </a:p>
        </p:txBody>
      </p:sp>
      <p:sp>
        <p:nvSpPr>
          <p:cNvPr id="10" name="">
            <a:extLst xmlns:a="http://schemas.openxmlformats.org/drawingml/2006/main">
              <a:ext uri="{FF2B5EF4-FFF2-40B4-BE49-F238E27FC236}">
                <a16:creationId xmlns:a16="http://schemas.microsoft.com/office/drawing/2014/main" id="{65E54576-BAC8-4ECA-AE3D-79C063852CBA}"/>
              </a:ext>
            </a:extLst>
          </p:cNvPr>
          <p:cNvSpPr>
            <a:spLocks xmlns:a="http://schemas.openxmlformats.org/drawingml/2006/main" noGrp="1"/>
          </p:cNvSpPr>
          <p:nvPr/>
        </p:nvSpPr>
        <p:spPr>
          <a:xfrm xmlns:a="http://schemas.openxmlformats.org/drawingml/2006/main">
            <a:off x="609600" y="6496050"/>
            <a:ext cx="8572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125" b="0">
                <a:solidFill>
                  <a:srgbClr val="4D606A"/>
                </a:solidFill>
                <a:latin typeface="Helvetica Neue"/>
                <a:ea typeface="Helvetica Neue"/>
                <a:cs typeface="Helvetica Neue"/>
              </a:defRPr>
            </a:pPr>
            <a:r>
              <a:rPr sz="1125" b="0">
                <a:solidFill>
                  <a:srgbClr val="4D606A"/>
                </a:solidFill>
                <a:latin typeface="Helvetica Neue"/>
                <a:ea typeface="Helvetica Neue"/>
                <a:cs typeface="Helvetica Neue"/>
              </a:rPr>
              <a:t>CSE513 · Hafta 9</a:t>
            </a:r>
          </a:p>
        </p:txBody>
      </p:sp>
      <p:sp>
        <p:nvSpPr>
          <p:cNvPr id="11" name="">
            <a:extLst xmlns:a="http://schemas.openxmlformats.org/drawingml/2006/main">
              <a:ext uri="{FF2B5EF4-FFF2-40B4-BE49-F238E27FC236}">
                <a16:creationId xmlns:a16="http://schemas.microsoft.com/office/drawing/2014/main" id="{B59C5E0F-FEF9-4073-8282-63B097D076E2}"/>
              </a:ext>
            </a:extLst>
          </p:cNvPr>
          <p:cNvSpPr>
            <a:spLocks xmlns:a="http://schemas.openxmlformats.org/drawingml/2006/main" noGrp="1"/>
          </p:cNvSpPr>
          <p:nvPr/>
        </p:nvSpPr>
        <p:spPr>
          <a:xfrm xmlns:a="http://schemas.openxmlformats.org/drawingml/2006/main">
            <a:off x="10477500" y="6457950"/>
            <a:ext cx="10953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350" b="1">
                <a:solidFill>
                  <a:srgbClr val="087E83"/>
                </a:solidFill>
                <a:latin typeface="Helvetica Neue"/>
                <a:ea typeface="Helvetica Neue"/>
                <a:cs typeface="Helvetica Neue"/>
              </a:defRPr>
            </a:pPr>
            <a:r>
              <a:rPr sz="1350" b="1">
                <a:solidFill>
                  <a:srgbClr val="087E83"/>
                </a:solidFill>
                <a:latin typeface="Helvetica Neue"/>
                <a:ea typeface="Helvetica Neue"/>
                <a:cs typeface="Helvetica Neue"/>
              </a:rPr>
              <a:t>20 / 27</a:t>
            </a:r>
          </a:p>
        </p:txBody>
      </p:sp>
    </p:spTree>
    <p:extLst>
      <p:ext uri="{BB962C8B-B14F-4D97-AF65-F5344CB8AC3E}">
        <p14:creationId xmlns:p14="http://schemas.microsoft.com/office/powerpoint/2010/main" val="1068672719"/>
      </p:ext>
    </p:extLst>
  </p:cSld>
</p:sld>
</file>

<file path=ppt/slides/slide21.xml><?xml version="1.0" encoding="utf-8"?>
<p:sld xmlns:p="http://schemas.openxmlformats.org/presentationml/2006/main">
  <p:cSld>
    <p:bg>
      <p:bgPr>
        <a:solidFill xmlns:a="http://schemas.openxmlformats.org/drawingml/2006/main">
          <a:srgbClr val="F5F1E8"/>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82542C68-73E2-4B4B-B157-0251726ADD4E}"/>
              </a:ext>
            </a:extLst>
          </p:cNvPr>
          <p:cNvSpPr>
            <a:spLocks xmlns:a="http://schemas.openxmlformats.org/drawingml/2006/main" noGrp="1"/>
          </p:cNvSpPr>
          <p:nvPr/>
        </p:nvSpPr>
        <p:spPr>
          <a:xfrm xmlns:a="http://schemas.openxmlformats.org/drawingml/2006/main">
            <a:off x="609600" y="600075"/>
            <a:ext cx="1097280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300" b="1">
                <a:solidFill>
                  <a:srgbClr val="122C42"/>
                </a:solidFill>
                <a:latin typeface="Helvetica Neue"/>
                <a:ea typeface="Helvetica Neue"/>
                <a:cs typeface="Helvetica Neue"/>
              </a:defRPr>
            </a:pPr>
            <a:r>
              <a:rPr sz="3300" b="1">
                <a:solidFill>
                  <a:srgbClr val="122C42"/>
                </a:solidFill>
                <a:latin typeface="Helvetica Neue"/>
                <a:ea typeface="Helvetica Neue"/>
                <a:cs typeface="Helvetica Neue"/>
              </a:rPr>
              <a:t>Daemon ve yönetim arayüzü</a:t>
            </a:r>
          </a:p>
        </p:txBody>
      </p:sp>
      <p:sp>
        <p:nvSpPr>
          <p:cNvPr id="2" name="">
            <a:extLst xmlns:a="http://schemas.openxmlformats.org/drawingml/2006/main">
              <a:ext uri="{FF2B5EF4-FFF2-40B4-BE49-F238E27FC236}">
                <a16:creationId xmlns:a16="http://schemas.microsoft.com/office/drawing/2014/main" id="{C2389FD9-B2D3-472F-A239-E4DC7DF7038C}"/>
              </a:ext>
            </a:extLst>
          </p:cNvPr>
          <p:cNvSpPr>
            <a:spLocks xmlns:a="http://schemas.openxmlformats.org/drawingml/2006/main" noGrp="1"/>
          </p:cNvSpPr>
          <p:nvPr/>
        </p:nvSpPr>
        <p:spPr>
          <a:xfrm xmlns:a="http://schemas.openxmlformats.org/drawingml/2006/main">
            <a:off x="609600" y="1952625"/>
            <a:ext cx="438150" cy="993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1">
                <a:solidFill>
                  <a:srgbClr val="087E83"/>
                </a:solidFill>
                <a:latin typeface="Helvetica Neue"/>
                <a:ea typeface="Helvetica Neue"/>
                <a:cs typeface="Helvetica Neue"/>
              </a:defRPr>
            </a:pPr>
            <a:r>
              <a:rPr sz="2100" b="1">
                <a:solidFill>
                  <a:srgbClr val="087E83"/>
                </a:solidFill>
                <a:latin typeface="Helvetica Neue"/>
                <a:ea typeface="Helvetica Neue"/>
                <a:cs typeface="Helvetica Neue"/>
              </a:rPr>
              <a:t>01</a:t>
            </a:r>
          </a:p>
        </p:txBody>
      </p:sp>
      <p:sp>
        <p:nvSpPr>
          <p:cNvPr id="3" name="">
            <a:extLst xmlns:a="http://schemas.openxmlformats.org/drawingml/2006/main">
              <a:ext uri="{FF2B5EF4-FFF2-40B4-BE49-F238E27FC236}">
                <a16:creationId xmlns:a16="http://schemas.microsoft.com/office/drawing/2014/main" id="{FDEA4871-886D-4520-9182-29140A81DC10}"/>
              </a:ext>
            </a:extLst>
          </p:cNvPr>
          <p:cNvSpPr>
            <a:spLocks xmlns:a="http://schemas.openxmlformats.org/drawingml/2006/main" noGrp="1"/>
          </p:cNvSpPr>
          <p:nvPr/>
        </p:nvSpPr>
        <p:spPr>
          <a:xfrm xmlns:a="http://schemas.openxmlformats.org/drawingml/2006/main">
            <a:off x="1333500" y="1952625"/>
            <a:ext cx="10248900" cy="993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400" b="0">
                <a:solidFill>
                  <a:srgbClr val="122C42"/>
                </a:solidFill>
                <a:latin typeface="Helvetica Neue"/>
                <a:ea typeface="Helvetica Neue"/>
                <a:cs typeface="Helvetica Neue"/>
              </a:defRPr>
            </a:pPr>
            <a:r>
              <a:rPr sz="2400" b="0">
                <a:solidFill>
                  <a:srgbClr val="122C42"/>
                </a:solidFill>
                <a:latin typeface="Helvetica Neue"/>
                <a:ea typeface="Helvetica Neue"/>
                <a:cs typeface="Helvetica Neue"/>
              </a:rPr>
              <a:t>Workload yetkisi ≠ runtime yönetim yetkisi.</a:t>
            </a:r>
          </a:p>
        </p:txBody>
      </p:sp>
      <p:sp>
        <p:nvSpPr>
          <p:cNvPr id="4" name="">
            <a:extLst xmlns:a="http://schemas.openxmlformats.org/drawingml/2006/main">
              <a:ext uri="{FF2B5EF4-FFF2-40B4-BE49-F238E27FC236}">
                <a16:creationId xmlns:a16="http://schemas.microsoft.com/office/drawing/2014/main" id="{454E0975-B775-4E0B-9A13-1C0E1AC13505}"/>
              </a:ext>
            </a:extLst>
          </p:cNvPr>
          <p:cNvSpPr>
            <a:spLocks xmlns:a="http://schemas.openxmlformats.org/drawingml/2006/main" noGrp="1"/>
          </p:cNvSpPr>
          <p:nvPr/>
        </p:nvSpPr>
        <p:spPr>
          <a:xfrm xmlns:a="http://schemas.openxmlformats.org/drawingml/2006/main">
            <a:off x="609600" y="3041650"/>
            <a:ext cx="438150" cy="993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1">
                <a:solidFill>
                  <a:srgbClr val="087E83"/>
                </a:solidFill>
                <a:latin typeface="Helvetica Neue"/>
                <a:ea typeface="Helvetica Neue"/>
                <a:cs typeface="Helvetica Neue"/>
              </a:defRPr>
            </a:pPr>
            <a:r>
              <a:rPr sz="2100" b="1">
                <a:solidFill>
                  <a:srgbClr val="087E83"/>
                </a:solidFill>
                <a:latin typeface="Helvetica Neue"/>
                <a:ea typeface="Helvetica Neue"/>
                <a:cs typeface="Helvetica Neue"/>
              </a:rPr>
              <a:t>02</a:t>
            </a:r>
          </a:p>
        </p:txBody>
      </p:sp>
      <p:sp>
        <p:nvSpPr>
          <p:cNvPr id="5" name="">
            <a:extLst xmlns:a="http://schemas.openxmlformats.org/drawingml/2006/main">
              <a:ext uri="{FF2B5EF4-FFF2-40B4-BE49-F238E27FC236}">
                <a16:creationId xmlns:a16="http://schemas.microsoft.com/office/drawing/2014/main" id="{533462A0-AFD3-4CB0-92ED-D9CE440FA09F}"/>
              </a:ext>
            </a:extLst>
          </p:cNvPr>
          <p:cNvSpPr>
            <a:spLocks xmlns:a="http://schemas.openxmlformats.org/drawingml/2006/main" noGrp="1"/>
          </p:cNvSpPr>
          <p:nvPr/>
        </p:nvSpPr>
        <p:spPr>
          <a:xfrm xmlns:a="http://schemas.openxmlformats.org/drawingml/2006/main">
            <a:off x="1333500" y="3041650"/>
            <a:ext cx="10248900" cy="993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400" b="0">
                <a:solidFill>
                  <a:srgbClr val="122C42"/>
                </a:solidFill>
                <a:latin typeface="Helvetica Neue"/>
                <a:ea typeface="Helvetica Neue"/>
                <a:cs typeface="Helvetica Neue"/>
              </a:defRPr>
            </a:pPr>
            <a:r>
              <a:rPr sz="2400" b="0">
                <a:solidFill>
                  <a:srgbClr val="122C42"/>
                </a:solidFill>
                <a:latin typeface="Helvetica Neue"/>
                <a:ea typeface="Helvetica Neue"/>
                <a:cs typeface="Helvetica Neue"/>
              </a:rPr>
              <a:t>API/socket erişimi lifecycle kontrolü açabilir.</a:t>
            </a:r>
          </a:p>
        </p:txBody>
      </p:sp>
      <p:sp>
        <p:nvSpPr>
          <p:cNvPr id="6" name="">
            <a:extLst xmlns:a="http://schemas.openxmlformats.org/drawingml/2006/main">
              <a:ext uri="{FF2B5EF4-FFF2-40B4-BE49-F238E27FC236}">
                <a16:creationId xmlns:a16="http://schemas.microsoft.com/office/drawing/2014/main" id="{4ABEB6AB-50A3-4DCB-9D0F-777F5846AFA7}"/>
              </a:ext>
            </a:extLst>
          </p:cNvPr>
          <p:cNvSpPr>
            <a:spLocks xmlns:a="http://schemas.openxmlformats.org/drawingml/2006/main" noGrp="1"/>
          </p:cNvSpPr>
          <p:nvPr/>
        </p:nvSpPr>
        <p:spPr>
          <a:xfrm xmlns:a="http://schemas.openxmlformats.org/drawingml/2006/main">
            <a:off x="609600" y="4130675"/>
            <a:ext cx="438150" cy="993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1">
                <a:solidFill>
                  <a:srgbClr val="087E83"/>
                </a:solidFill>
                <a:latin typeface="Helvetica Neue"/>
                <a:ea typeface="Helvetica Neue"/>
                <a:cs typeface="Helvetica Neue"/>
              </a:defRPr>
            </a:pPr>
            <a:r>
              <a:rPr sz="2100" b="1">
                <a:solidFill>
                  <a:srgbClr val="087E83"/>
                </a:solidFill>
                <a:latin typeface="Helvetica Neue"/>
                <a:ea typeface="Helvetica Neue"/>
                <a:cs typeface="Helvetica Neue"/>
              </a:rPr>
              <a:t>03</a:t>
            </a:r>
          </a:p>
        </p:txBody>
      </p:sp>
      <p:sp>
        <p:nvSpPr>
          <p:cNvPr id="7" name="">
            <a:extLst xmlns:a="http://schemas.openxmlformats.org/drawingml/2006/main">
              <a:ext uri="{FF2B5EF4-FFF2-40B4-BE49-F238E27FC236}">
                <a16:creationId xmlns:a16="http://schemas.microsoft.com/office/drawing/2014/main" id="{1164064B-A26A-420D-8074-F2DBC322EA43}"/>
              </a:ext>
            </a:extLst>
          </p:cNvPr>
          <p:cNvSpPr>
            <a:spLocks xmlns:a="http://schemas.openxmlformats.org/drawingml/2006/main" noGrp="1"/>
          </p:cNvSpPr>
          <p:nvPr/>
        </p:nvSpPr>
        <p:spPr>
          <a:xfrm xmlns:a="http://schemas.openxmlformats.org/drawingml/2006/main">
            <a:off x="1333500" y="4130675"/>
            <a:ext cx="10248900" cy="993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400" b="0">
                <a:solidFill>
                  <a:srgbClr val="122C42"/>
                </a:solidFill>
                <a:latin typeface="Helvetica Neue"/>
                <a:ea typeface="Helvetica Neue"/>
                <a:cs typeface="Helvetica Neue"/>
              </a:defRPr>
            </a:pPr>
            <a:r>
              <a:rPr sz="2400" b="0">
                <a:solidFill>
                  <a:srgbClr val="122C42"/>
                </a:solidFill>
                <a:latin typeface="Helvetica Neue"/>
                <a:ea typeface="Helvetica Neue"/>
                <a:cs typeface="Helvetica Neue"/>
              </a:rPr>
              <a:t>Management plane ayrı trust boundary.</a:t>
            </a:r>
          </a:p>
        </p:txBody>
      </p:sp>
      <p:sp>
        <p:nvSpPr>
          <p:cNvPr id="8" name="">
            <a:extLst xmlns:a="http://schemas.openxmlformats.org/drawingml/2006/main">
              <a:ext uri="{FF2B5EF4-FFF2-40B4-BE49-F238E27FC236}">
                <a16:creationId xmlns:a16="http://schemas.microsoft.com/office/drawing/2014/main" id="{9CAEA80B-BA34-4C29-85DC-86DCA45C68B0}"/>
              </a:ext>
            </a:extLst>
          </p:cNvPr>
          <p:cNvSpPr>
            <a:spLocks xmlns:a="http://schemas.openxmlformats.org/drawingml/2006/main" noGrp="1"/>
          </p:cNvSpPr>
          <p:nvPr/>
        </p:nvSpPr>
        <p:spPr>
          <a:xfrm xmlns:a="http://schemas.openxmlformats.org/drawingml/2006/main">
            <a:off x="609600" y="5438775"/>
            <a:ext cx="109728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500" b="1">
                <a:solidFill>
                  <a:srgbClr val="C46225"/>
                </a:solidFill>
                <a:latin typeface="Helvetica Neue"/>
                <a:ea typeface="Helvetica Neue"/>
                <a:cs typeface="Helvetica Neue"/>
              </a:defRPr>
            </a:pPr>
            <a:r>
              <a:rPr sz="1500" b="1">
                <a:solidFill>
                  <a:srgbClr val="C46225"/>
                </a:solidFill>
                <a:latin typeface="Helvetica Neue"/>
                <a:ea typeface="Helvetica Neue"/>
                <a:cs typeface="Helvetica Neue"/>
              </a:rPr>
              <a:t>GERÇEK HAYAT · Build servisinin socket’i</a:t>
            </a:r>
          </a:p>
        </p:txBody>
      </p:sp>
      <p:sp>
        <p:nvSpPr>
          <p:cNvPr id="9" name="">
            <a:extLst xmlns:a="http://schemas.openxmlformats.org/drawingml/2006/main">
              <a:ext uri="{FF2B5EF4-FFF2-40B4-BE49-F238E27FC236}">
                <a16:creationId xmlns:a16="http://schemas.microsoft.com/office/drawing/2014/main" id="{6459F686-2999-456F-BA13-1C61F47EB3EC}"/>
              </a:ext>
            </a:extLst>
          </p:cNvPr>
          <p:cNvSpPr>
            <a:spLocks xmlns:a="http://schemas.openxmlformats.org/drawingml/2006/main" noGrp="1"/>
          </p:cNvSpPr>
          <p:nvPr/>
        </p:nvSpPr>
        <p:spPr>
          <a:xfrm xmlns:a="http://schemas.openxmlformats.org/drawingml/2006/main">
            <a:off x="609600" y="5781675"/>
            <a:ext cx="109728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650" b="0">
                <a:solidFill>
                  <a:srgbClr val="4D606A"/>
                </a:solidFill>
                <a:latin typeface="Helvetica Neue"/>
                <a:ea typeface="Helvetica Neue"/>
                <a:cs typeface="Helvetica Neue"/>
              </a:defRPr>
            </a:pPr>
            <a:r>
              <a:rPr sz="1650" b="0">
                <a:solidFill>
                  <a:srgbClr val="4D606A"/>
                </a:solidFill>
                <a:latin typeface="Helvetica Neue"/>
                <a:ea typeface="Helvetica Neue"/>
                <a:cs typeface="Helvetica Neue"/>
              </a:rPr>
              <a:t>Build worker’a runtime yönetimi açılır.</a:t>
            </a:r>
          </a:p>
        </p:txBody>
      </p:sp>
      <p:sp>
        <p:nvSpPr>
          <p:cNvPr id="10" name="">
            <a:extLst xmlns:a="http://schemas.openxmlformats.org/drawingml/2006/main">
              <a:ext uri="{FF2B5EF4-FFF2-40B4-BE49-F238E27FC236}">
                <a16:creationId xmlns:a16="http://schemas.microsoft.com/office/drawing/2014/main" id="{17D793EC-BD9E-4720-8115-418BEFEE17D7}"/>
              </a:ext>
            </a:extLst>
          </p:cNvPr>
          <p:cNvSpPr>
            <a:spLocks xmlns:a="http://schemas.openxmlformats.org/drawingml/2006/main" noGrp="1"/>
          </p:cNvSpPr>
          <p:nvPr/>
        </p:nvSpPr>
        <p:spPr>
          <a:xfrm xmlns:a="http://schemas.openxmlformats.org/drawingml/2006/main">
            <a:off x="609600" y="6496050"/>
            <a:ext cx="8572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125" b="0">
                <a:solidFill>
                  <a:srgbClr val="4D606A"/>
                </a:solidFill>
                <a:latin typeface="Helvetica Neue"/>
                <a:ea typeface="Helvetica Neue"/>
                <a:cs typeface="Helvetica Neue"/>
              </a:defRPr>
            </a:pPr>
            <a:r>
              <a:rPr sz="1125" b="0">
                <a:solidFill>
                  <a:srgbClr val="4D606A"/>
                </a:solidFill>
                <a:latin typeface="Helvetica Neue"/>
                <a:ea typeface="Helvetica Neue"/>
                <a:cs typeface="Helvetica Neue"/>
              </a:rPr>
              <a:t>CSE513 · Hafta 9</a:t>
            </a:r>
          </a:p>
        </p:txBody>
      </p:sp>
      <p:sp>
        <p:nvSpPr>
          <p:cNvPr id="11" name="">
            <a:extLst xmlns:a="http://schemas.openxmlformats.org/drawingml/2006/main">
              <a:ext uri="{FF2B5EF4-FFF2-40B4-BE49-F238E27FC236}">
                <a16:creationId xmlns:a16="http://schemas.microsoft.com/office/drawing/2014/main" id="{CAFC3863-E0BF-4736-9BA2-E43226C7851D}"/>
              </a:ext>
            </a:extLst>
          </p:cNvPr>
          <p:cNvSpPr>
            <a:spLocks xmlns:a="http://schemas.openxmlformats.org/drawingml/2006/main" noGrp="1"/>
          </p:cNvSpPr>
          <p:nvPr/>
        </p:nvSpPr>
        <p:spPr>
          <a:xfrm xmlns:a="http://schemas.openxmlformats.org/drawingml/2006/main">
            <a:off x="10477500" y="6457950"/>
            <a:ext cx="10953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350" b="1">
                <a:solidFill>
                  <a:srgbClr val="087E83"/>
                </a:solidFill>
                <a:latin typeface="Helvetica Neue"/>
                <a:ea typeface="Helvetica Neue"/>
                <a:cs typeface="Helvetica Neue"/>
              </a:defRPr>
            </a:pPr>
            <a:r>
              <a:rPr sz="1350" b="1">
                <a:solidFill>
                  <a:srgbClr val="087E83"/>
                </a:solidFill>
                <a:latin typeface="Helvetica Neue"/>
                <a:ea typeface="Helvetica Neue"/>
                <a:cs typeface="Helvetica Neue"/>
              </a:rPr>
              <a:t>21 / 27</a:t>
            </a:r>
          </a:p>
        </p:txBody>
      </p:sp>
    </p:spTree>
    <p:extLst>
      <p:ext uri="{BB962C8B-B14F-4D97-AF65-F5344CB8AC3E}">
        <p14:creationId xmlns:p14="http://schemas.microsoft.com/office/powerpoint/2010/main" val="11057455"/>
      </p:ext>
    </p:extLst>
  </p:cSld>
</p:sld>
</file>

<file path=ppt/slides/slide22.xml><?xml version="1.0" encoding="utf-8"?>
<p:sld xmlns:p="http://schemas.openxmlformats.org/presentationml/2006/main">
  <p:cSld>
    <p:bg>
      <p:bgPr>
        <a:solidFill xmlns:a="http://schemas.openxmlformats.org/drawingml/2006/main">
          <a:srgbClr val="F5F1E8"/>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C044EEDA-5906-46CC-9801-AAE112C4B2F4}"/>
              </a:ext>
            </a:extLst>
          </p:cNvPr>
          <p:cNvSpPr>
            <a:spLocks xmlns:a="http://schemas.openxmlformats.org/drawingml/2006/main" noGrp="1"/>
          </p:cNvSpPr>
          <p:nvPr/>
        </p:nvSpPr>
        <p:spPr>
          <a:xfrm xmlns:a="http://schemas.openxmlformats.org/drawingml/2006/main">
            <a:off x="609600" y="600075"/>
            <a:ext cx="1097280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300" b="1">
                <a:solidFill>
                  <a:srgbClr val="122C42"/>
                </a:solidFill>
                <a:latin typeface="Helvetica Neue"/>
                <a:ea typeface="Helvetica Neue"/>
                <a:cs typeface="Helvetica Neue"/>
              </a:defRPr>
            </a:pPr>
            <a:r>
              <a:rPr sz="3300" b="1">
                <a:solidFill>
                  <a:srgbClr val="122C42"/>
                </a:solidFill>
                <a:latin typeface="Helvetica Neue"/>
                <a:ea typeface="Helvetica Neue"/>
                <a:cs typeface="Helvetica Neue"/>
              </a:rPr>
              <a:t>Kernel sharing: ortak failure yüzeyi</a:t>
            </a:r>
          </a:p>
        </p:txBody>
      </p:sp>
      <p:sp>
        <p:nvSpPr>
          <p:cNvPr id="2" name="">
            <a:extLst xmlns:a="http://schemas.openxmlformats.org/drawingml/2006/main">
              <a:ext uri="{FF2B5EF4-FFF2-40B4-BE49-F238E27FC236}">
                <a16:creationId xmlns:a16="http://schemas.microsoft.com/office/drawing/2014/main" id="{EA8CEEE2-C9BC-45B6-9AEB-793CF7D65D68}"/>
              </a:ext>
            </a:extLst>
          </p:cNvPr>
          <p:cNvSpPr>
            <a:spLocks xmlns:a="http://schemas.openxmlformats.org/drawingml/2006/main" noGrp="1"/>
          </p:cNvSpPr>
          <p:nvPr/>
        </p:nvSpPr>
        <p:spPr>
          <a:xfrm xmlns:a="http://schemas.openxmlformats.org/drawingml/2006/main">
            <a:off x="609600" y="1952625"/>
            <a:ext cx="438150" cy="1168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1">
                <a:solidFill>
                  <a:srgbClr val="087E83"/>
                </a:solidFill>
                <a:latin typeface="Helvetica Neue"/>
                <a:ea typeface="Helvetica Neue"/>
                <a:cs typeface="Helvetica Neue"/>
              </a:defRPr>
            </a:pPr>
            <a:r>
              <a:rPr sz="2100" b="1">
                <a:solidFill>
                  <a:srgbClr val="087E83"/>
                </a:solidFill>
                <a:latin typeface="Helvetica Neue"/>
                <a:ea typeface="Helvetica Neue"/>
                <a:cs typeface="Helvetica Neue"/>
              </a:rPr>
              <a:t>01</a:t>
            </a:r>
          </a:p>
        </p:txBody>
      </p:sp>
      <p:sp>
        <p:nvSpPr>
          <p:cNvPr id="3" name="">
            <a:extLst xmlns:a="http://schemas.openxmlformats.org/drawingml/2006/main">
              <a:ext uri="{FF2B5EF4-FFF2-40B4-BE49-F238E27FC236}">
                <a16:creationId xmlns:a16="http://schemas.microsoft.com/office/drawing/2014/main" id="{6D4194FE-3FC7-48F6-9550-57FFE90571EC}"/>
              </a:ext>
            </a:extLst>
          </p:cNvPr>
          <p:cNvSpPr>
            <a:spLocks xmlns:a="http://schemas.openxmlformats.org/drawingml/2006/main" noGrp="1"/>
          </p:cNvSpPr>
          <p:nvPr/>
        </p:nvSpPr>
        <p:spPr>
          <a:xfrm xmlns:a="http://schemas.openxmlformats.org/drawingml/2006/main">
            <a:off x="1333500" y="1952625"/>
            <a:ext cx="10248900" cy="1168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400" b="0">
                <a:solidFill>
                  <a:srgbClr val="122C42"/>
                </a:solidFill>
                <a:latin typeface="Helvetica Neue"/>
                <a:ea typeface="Helvetica Neue"/>
                <a:cs typeface="Helvetica Neue"/>
              </a:defRPr>
            </a:pPr>
            <a:r>
              <a:rPr sz="2400" b="0">
                <a:solidFill>
                  <a:srgbClr val="122C42"/>
                </a:solidFill>
                <a:latin typeface="Helvetica Neue"/>
                <a:ea typeface="Helvetica Neue"/>
                <a:cs typeface="Helvetica Neue"/>
              </a:rPr>
              <a:t>Container’lar kernel implementation paylaşır.</a:t>
            </a:r>
          </a:p>
        </p:txBody>
      </p:sp>
      <p:sp>
        <p:nvSpPr>
          <p:cNvPr id="4" name="">
            <a:extLst xmlns:a="http://schemas.openxmlformats.org/drawingml/2006/main">
              <a:ext uri="{FF2B5EF4-FFF2-40B4-BE49-F238E27FC236}">
                <a16:creationId xmlns:a16="http://schemas.microsoft.com/office/drawing/2014/main" id="{DB32C194-3337-4A69-AC4D-C6DCEA5D688C}"/>
              </a:ext>
            </a:extLst>
          </p:cNvPr>
          <p:cNvSpPr>
            <a:spLocks xmlns:a="http://schemas.openxmlformats.org/drawingml/2006/main" noGrp="1"/>
          </p:cNvSpPr>
          <p:nvPr/>
        </p:nvSpPr>
        <p:spPr>
          <a:xfrm xmlns:a="http://schemas.openxmlformats.org/drawingml/2006/main">
            <a:off x="609600" y="3216275"/>
            <a:ext cx="438150" cy="1168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1">
                <a:solidFill>
                  <a:srgbClr val="087E83"/>
                </a:solidFill>
                <a:latin typeface="Helvetica Neue"/>
                <a:ea typeface="Helvetica Neue"/>
                <a:cs typeface="Helvetica Neue"/>
              </a:defRPr>
            </a:pPr>
            <a:r>
              <a:rPr sz="2100" b="1">
                <a:solidFill>
                  <a:srgbClr val="087E83"/>
                </a:solidFill>
                <a:latin typeface="Helvetica Neue"/>
                <a:ea typeface="Helvetica Neue"/>
                <a:cs typeface="Helvetica Neue"/>
              </a:rPr>
              <a:t>02</a:t>
            </a:r>
          </a:p>
        </p:txBody>
      </p:sp>
      <p:sp>
        <p:nvSpPr>
          <p:cNvPr id="5" name="">
            <a:extLst xmlns:a="http://schemas.openxmlformats.org/drawingml/2006/main">
              <a:ext uri="{FF2B5EF4-FFF2-40B4-BE49-F238E27FC236}">
                <a16:creationId xmlns:a16="http://schemas.microsoft.com/office/drawing/2014/main" id="{19B42AB8-342D-4A80-8B6E-23A582DF73A4}"/>
              </a:ext>
            </a:extLst>
          </p:cNvPr>
          <p:cNvSpPr>
            <a:spLocks xmlns:a="http://schemas.openxmlformats.org/drawingml/2006/main" noGrp="1"/>
          </p:cNvSpPr>
          <p:nvPr/>
        </p:nvSpPr>
        <p:spPr>
          <a:xfrm xmlns:a="http://schemas.openxmlformats.org/drawingml/2006/main">
            <a:off x="1333500" y="3216275"/>
            <a:ext cx="10248900" cy="1168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400" b="0">
                <a:solidFill>
                  <a:srgbClr val="122C42"/>
                </a:solidFill>
                <a:latin typeface="Helvetica Neue"/>
                <a:ea typeface="Helvetica Neue"/>
                <a:cs typeface="Helvetica Neue"/>
              </a:defRPr>
            </a:pPr>
            <a:r>
              <a:rPr sz="2400" b="0">
                <a:solidFill>
                  <a:srgbClr val="122C42"/>
                </a:solidFill>
                <a:latin typeface="Helvetica Neue"/>
                <a:ea typeface="Helvetica Neue"/>
                <a:cs typeface="Helvetica Neue"/>
              </a:rPr>
              <a:t>VM ayrı kernel ile farklı boundary sunar.</a:t>
            </a:r>
          </a:p>
        </p:txBody>
      </p:sp>
      <p:sp>
        <p:nvSpPr>
          <p:cNvPr id="6" name="">
            <a:extLst xmlns:a="http://schemas.openxmlformats.org/drawingml/2006/main">
              <a:ext uri="{FF2B5EF4-FFF2-40B4-BE49-F238E27FC236}">
                <a16:creationId xmlns:a16="http://schemas.microsoft.com/office/drawing/2014/main" id="{47659B60-281F-4651-8B50-5693376A92F9}"/>
              </a:ext>
            </a:extLst>
          </p:cNvPr>
          <p:cNvSpPr>
            <a:spLocks xmlns:a="http://schemas.openxmlformats.org/drawingml/2006/main" noGrp="1"/>
          </p:cNvSpPr>
          <p:nvPr/>
        </p:nvSpPr>
        <p:spPr>
          <a:xfrm xmlns:a="http://schemas.openxmlformats.org/drawingml/2006/main">
            <a:off x="609600" y="4479925"/>
            <a:ext cx="438150" cy="1168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1">
                <a:solidFill>
                  <a:srgbClr val="087E83"/>
                </a:solidFill>
                <a:latin typeface="Helvetica Neue"/>
                <a:ea typeface="Helvetica Neue"/>
                <a:cs typeface="Helvetica Neue"/>
              </a:defRPr>
            </a:pPr>
            <a:r>
              <a:rPr sz="2100" b="1">
                <a:solidFill>
                  <a:srgbClr val="087E83"/>
                </a:solidFill>
                <a:latin typeface="Helvetica Neue"/>
                <a:ea typeface="Helvetica Neue"/>
                <a:cs typeface="Helvetica Neue"/>
              </a:rPr>
              <a:t>03</a:t>
            </a:r>
          </a:p>
        </p:txBody>
      </p:sp>
      <p:sp>
        <p:nvSpPr>
          <p:cNvPr id="7" name="">
            <a:extLst xmlns:a="http://schemas.openxmlformats.org/drawingml/2006/main">
              <a:ext uri="{FF2B5EF4-FFF2-40B4-BE49-F238E27FC236}">
                <a16:creationId xmlns:a16="http://schemas.microsoft.com/office/drawing/2014/main" id="{55604205-846F-4736-90A1-E830CE4308E3}"/>
              </a:ext>
            </a:extLst>
          </p:cNvPr>
          <p:cNvSpPr>
            <a:spLocks xmlns:a="http://schemas.openxmlformats.org/drawingml/2006/main" noGrp="1"/>
          </p:cNvSpPr>
          <p:nvPr/>
        </p:nvSpPr>
        <p:spPr>
          <a:xfrm xmlns:a="http://schemas.openxmlformats.org/drawingml/2006/main">
            <a:off x="1333500" y="4479925"/>
            <a:ext cx="10248900" cy="1168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400" b="0">
                <a:solidFill>
                  <a:srgbClr val="122C42"/>
                </a:solidFill>
                <a:latin typeface="Helvetica Neue"/>
                <a:ea typeface="Helvetica Neue"/>
                <a:cs typeface="Helvetica Neue"/>
              </a:defRPr>
            </a:pPr>
            <a:r>
              <a:rPr sz="2400" b="0">
                <a:solidFill>
                  <a:srgbClr val="122C42"/>
                </a:solidFill>
                <a:latin typeface="Helvetica Neue"/>
                <a:ea typeface="Helvetica Neue"/>
                <a:cs typeface="Helvetica Neue"/>
              </a:rPr>
              <a:t>Hiçbiri mutlak dokunulmaz değil.</a:t>
            </a:r>
          </a:p>
        </p:txBody>
      </p:sp>
      <p:sp>
        <p:nvSpPr>
          <p:cNvPr id="8" name="">
            <a:extLst xmlns:a="http://schemas.openxmlformats.org/drawingml/2006/main">
              <a:ext uri="{FF2B5EF4-FFF2-40B4-BE49-F238E27FC236}">
                <a16:creationId xmlns:a16="http://schemas.microsoft.com/office/drawing/2014/main" id="{0AA9617B-4CF8-4149-B92C-51920F4226E4}"/>
              </a:ext>
            </a:extLst>
          </p:cNvPr>
          <p:cNvSpPr>
            <a:spLocks xmlns:a="http://schemas.openxmlformats.org/drawingml/2006/main" noGrp="1"/>
          </p:cNvSpPr>
          <p:nvPr/>
        </p:nvSpPr>
        <p:spPr>
          <a:xfrm xmlns:a="http://schemas.openxmlformats.org/drawingml/2006/main">
            <a:off x="609600" y="6496050"/>
            <a:ext cx="8572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125" b="0">
                <a:solidFill>
                  <a:srgbClr val="4D606A"/>
                </a:solidFill>
                <a:latin typeface="Helvetica Neue"/>
                <a:ea typeface="Helvetica Neue"/>
                <a:cs typeface="Helvetica Neue"/>
              </a:defRPr>
            </a:pPr>
            <a:r>
              <a:rPr sz="1125" b="0">
                <a:solidFill>
                  <a:srgbClr val="4D606A"/>
                </a:solidFill>
                <a:latin typeface="Helvetica Neue"/>
                <a:ea typeface="Helvetica Neue"/>
                <a:cs typeface="Helvetica Neue"/>
              </a:rPr>
              <a:t>CSE513 · Hafta 9</a:t>
            </a:r>
          </a:p>
        </p:txBody>
      </p:sp>
      <p:sp>
        <p:nvSpPr>
          <p:cNvPr id="9" name="">
            <a:extLst xmlns:a="http://schemas.openxmlformats.org/drawingml/2006/main">
              <a:ext uri="{FF2B5EF4-FFF2-40B4-BE49-F238E27FC236}">
                <a16:creationId xmlns:a16="http://schemas.microsoft.com/office/drawing/2014/main" id="{84FF3725-CC6E-4583-92EC-CDB3C8D14254}"/>
              </a:ext>
            </a:extLst>
          </p:cNvPr>
          <p:cNvSpPr>
            <a:spLocks xmlns:a="http://schemas.openxmlformats.org/drawingml/2006/main" noGrp="1"/>
          </p:cNvSpPr>
          <p:nvPr/>
        </p:nvSpPr>
        <p:spPr>
          <a:xfrm xmlns:a="http://schemas.openxmlformats.org/drawingml/2006/main">
            <a:off x="10477500" y="6457950"/>
            <a:ext cx="10953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350" b="1">
                <a:solidFill>
                  <a:srgbClr val="087E83"/>
                </a:solidFill>
                <a:latin typeface="Helvetica Neue"/>
                <a:ea typeface="Helvetica Neue"/>
                <a:cs typeface="Helvetica Neue"/>
              </a:defRPr>
            </a:pPr>
            <a:r>
              <a:rPr sz="1350" b="1">
                <a:solidFill>
                  <a:srgbClr val="087E83"/>
                </a:solidFill>
                <a:latin typeface="Helvetica Neue"/>
                <a:ea typeface="Helvetica Neue"/>
                <a:cs typeface="Helvetica Neue"/>
              </a:rPr>
              <a:t>22 / 27</a:t>
            </a:r>
          </a:p>
        </p:txBody>
      </p:sp>
    </p:spTree>
    <p:extLst>
      <p:ext uri="{BB962C8B-B14F-4D97-AF65-F5344CB8AC3E}">
        <p14:creationId xmlns:p14="http://schemas.microsoft.com/office/powerpoint/2010/main" val="1170567157"/>
      </p:ext>
    </p:extLst>
  </p:cSld>
</p:sld>
</file>

<file path=ppt/slides/slide23.xml><?xml version="1.0" encoding="utf-8"?>
<p:sld xmlns:p="http://schemas.openxmlformats.org/presentationml/2006/main">
  <p:cSld>
    <p:bg>
      <p:bgPr>
        <a:solidFill xmlns:a="http://schemas.openxmlformats.org/drawingml/2006/main">
          <a:srgbClr val="F5F1E8"/>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9870F0A9-654D-4FCE-B694-D32308551F50}"/>
              </a:ext>
            </a:extLst>
          </p:cNvPr>
          <p:cNvSpPr>
            <a:spLocks xmlns:a="http://schemas.openxmlformats.org/drawingml/2006/main" noGrp="1"/>
          </p:cNvSpPr>
          <p:nvPr/>
        </p:nvSpPr>
        <p:spPr>
          <a:xfrm xmlns:a="http://schemas.openxmlformats.org/drawingml/2006/main">
            <a:off x="609600" y="600075"/>
            <a:ext cx="1097280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300" b="1">
                <a:solidFill>
                  <a:srgbClr val="122C42"/>
                </a:solidFill>
                <a:latin typeface="Helvetica Neue"/>
                <a:ea typeface="Helvetica Neue"/>
                <a:cs typeface="Helvetica Neue"/>
              </a:defRPr>
            </a:pPr>
            <a:r>
              <a:rPr sz="3300" b="1">
                <a:solidFill>
                  <a:srgbClr val="122C42"/>
                </a:solidFill>
                <a:latin typeface="Helvetica Neue"/>
                <a:ea typeface="Helvetica Neue"/>
                <a:cs typeface="Helvetica Neue"/>
              </a:rPr>
              <a:t>Savunma katmanlarını eşle</a:t>
            </a:r>
          </a:p>
        </p:txBody>
      </p:sp>
      <p:sp>
        <p:nvSpPr>
          <p:cNvPr id="2" name="">
            <a:extLst xmlns:a="http://schemas.openxmlformats.org/drawingml/2006/main">
              <a:ext uri="{FF2B5EF4-FFF2-40B4-BE49-F238E27FC236}">
                <a16:creationId xmlns:a16="http://schemas.microsoft.com/office/drawing/2014/main" id="{D8FF2503-5345-4497-9AA5-AE12E3924374}"/>
              </a:ext>
            </a:extLst>
          </p:cNvPr>
          <p:cNvSpPr>
            <a:spLocks xmlns:a="http://schemas.openxmlformats.org/drawingml/2006/main" noGrp="1"/>
          </p:cNvSpPr>
          <p:nvPr/>
        </p:nvSpPr>
        <p:spPr>
          <a:xfrm xmlns:a="http://schemas.openxmlformats.org/drawingml/2006/main">
            <a:off x="609600" y="1714500"/>
            <a:ext cx="10972800" cy="1181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00" b="0">
                <a:solidFill>
                  <a:srgbClr val="4D606A"/>
                </a:solidFill>
                <a:latin typeface="Helvetica Neue"/>
                <a:ea typeface="Helvetica Neue"/>
                <a:cs typeface="Helvetica Neue"/>
              </a:defRPr>
            </a:pPr>
            <a:r>
              <a:rPr sz="1800" b="0">
                <a:solidFill>
                  <a:srgbClr val="4D606A"/>
                </a:solidFill>
                <a:latin typeface="Helvetica Neue"/>
                <a:ea typeface="Helvetica Neue"/>
                <a:cs typeface="Helvetica Neue"/>
              </a:rPr>
              <a:t>Namespace: ayrı görünüm.</a:t>
            </a:r>
          </a:p>
          <a:p xmlns:a="http://schemas.openxmlformats.org/drawingml/2006/main">
            <a:pPr>
              <a:defRPr sz="1800" b="0">
                <a:solidFill>
                  <a:srgbClr val="4D606A"/>
                </a:solidFill>
                <a:latin typeface="Helvetica Neue"/>
                <a:ea typeface="Helvetica Neue"/>
                <a:cs typeface="Helvetica Neue"/>
              </a:defRPr>
            </a:pPr>
            <a:r>
              <a:rPr sz="1800" b="0">
                <a:solidFill>
                  <a:srgbClr val="4D606A"/>
                </a:solidFill>
                <a:latin typeface="Helvetica Neue"/>
                <a:ea typeface="Helvetica Neue"/>
                <a:cs typeface="Helvetica Neue"/>
              </a:rPr>
              <a:t>Permissions/capabilities: allowed operation.</a:t>
            </a:r>
          </a:p>
          <a:p xmlns:a="http://schemas.openxmlformats.org/drawingml/2006/main">
            <a:pPr>
              <a:defRPr sz="1800" b="0">
                <a:solidFill>
                  <a:srgbClr val="4D606A"/>
                </a:solidFill>
                <a:latin typeface="Helvetica Neue"/>
                <a:ea typeface="Helvetica Neue"/>
                <a:cs typeface="Helvetica Neue"/>
              </a:defRPr>
            </a:pPr>
            <a:r>
              <a:rPr sz="1800" b="0">
                <a:solidFill>
                  <a:srgbClr val="4D606A"/>
                </a:solidFill>
                <a:latin typeface="Helvetica Neue"/>
                <a:ea typeface="Helvetica Neue"/>
                <a:cs typeface="Helvetica Neue"/>
              </a:rPr>
              <a:t>cgroup: resource consumption.</a:t>
            </a:r>
          </a:p>
          <a:p xmlns:a="http://schemas.openxmlformats.org/drawingml/2006/main">
            <a:pPr>
              <a:defRPr sz="1800" b="0">
                <a:solidFill>
                  <a:srgbClr val="4D606A"/>
                </a:solidFill>
                <a:latin typeface="Helvetica Neue"/>
                <a:ea typeface="Helvetica Neue"/>
                <a:cs typeface="Helvetica Neue"/>
              </a:defRPr>
            </a:pPr>
            <a:r>
              <a:rPr sz="1800" b="0">
                <a:solidFill>
                  <a:srgbClr val="4D606A"/>
                </a:solidFill>
                <a:latin typeface="Helvetica Neue"/>
                <a:ea typeface="Helvetica Neue"/>
                <a:cs typeface="Helvetica Neue"/>
              </a:rPr>
              <a:t>VM boundary: guest execution kontrolü.</a:t>
            </a:r>
          </a:p>
        </p:txBody>
      </p:sp>
      <p:graphicFrame>
        <p:nvGraphicFramePr>
          <p:cNvPr id="8" name=""/>
          <p:cNvGraphicFramePr/>
          <p:nvPr/>
        </p:nvGraphicFramePr>
        <p:xfrm>
          <a:off xmlns:a="http://schemas.openxmlformats.org/drawingml/2006/main" x="609600" y="3038475"/>
          <a:ext xmlns:a="http://schemas.openxmlformats.org/drawingml/2006/main" cx="10972800" cy="2705100"/>
        </p:xfrm>
        <a:graphic xmlns:a="http://schemas.openxmlformats.org/drawingml/2006/main">
          <a:graphicData uri="http://schemas.openxmlformats.org/drawingml/2006/table">
            <a:tbl>
              <a:tblPr/>
              <a:tblGrid>
                <a:gridCol w="5486400"/>
                <a:gridCol w="5486400"/>
              </a:tblGrid>
              <a:tr h="541020">
                <a:tc>
                  <a:txBody>
                    <a:bodyPr/>
                    <a:lstStyle/>
                    <a:p>
                      <a:r>
                        <a:rPr sz="1800" b="1">
                          <a:solidFill>
                            <a:srgbClr val="FFFFFF"/>
                          </a:solidFill>
                          <a:latin typeface="Helvetica Neue"/>
                          <a:ea typeface="Helvetica Neue"/>
                          <a:cs typeface="Helvetica Neue"/>
                        </a:rPr>
                        <a:t>Soru</a:t>
                      </a:r>
                    </a:p>
                  </a:txBody>
                  <a:tcPr marL="114300" marR="114300" marT="47625" marB="47625" anchor="ctr">
                    <a:solidFill>
                      <a:srgbClr val="122C42"/>
                    </a:solidFill>
                  </a:tcPr>
                </a:tc>
                <a:tc>
                  <a:txBody>
                    <a:bodyPr/>
                    <a:lstStyle/>
                    <a:p>
                      <a:r>
                        <a:rPr sz="1800" b="1">
                          <a:solidFill>
                            <a:srgbClr val="FFFFFF"/>
                          </a:solidFill>
                          <a:latin typeface="Helvetica Neue"/>
                          <a:ea typeface="Helvetica Neue"/>
                          <a:cs typeface="Helvetica Neue"/>
                        </a:rPr>
                        <a:t>Mekanizma örneği</a:t>
                      </a:r>
                    </a:p>
                  </a:txBody>
                  <a:tcPr marL="114300" marR="114300" marT="47625" marB="47625" anchor="ctr">
                    <a:solidFill>
                      <a:srgbClr val="122C42"/>
                    </a:solidFill>
                  </a:tcPr>
                </a:tc>
              </a:tr>
              <a:tr h="541020">
                <a:tc>
                  <a:txBody>
                    <a:bodyPr/>
                    <a:lstStyle/>
                    <a:p>
                      <a:r>
                        <a:rPr sz="1800" b="0">
                          <a:solidFill>
                            <a:srgbClr val="122C42"/>
                          </a:solidFill>
                          <a:latin typeface="Helvetica Neue"/>
                          <a:ea typeface="Helvetica Neue"/>
                          <a:cs typeface="Helvetica Neue"/>
                        </a:rPr>
                        <a:t>Görebilir mi?</a:t>
                      </a:r>
                    </a:p>
                  </a:txBody>
                  <a:tcPr marL="114300" marR="114300" marT="47625" marB="47625" anchor="ctr">
                    <a:solidFill>
                      <a:srgbClr val="FFFFFF"/>
                    </a:solidFill>
                  </a:tcPr>
                </a:tc>
                <a:tc>
                  <a:txBody>
                    <a:bodyPr/>
                    <a:lstStyle/>
                    <a:p>
                      <a:r>
                        <a:rPr sz="1800" b="0">
                          <a:solidFill>
                            <a:srgbClr val="122C42"/>
                          </a:solidFill>
                          <a:latin typeface="Helvetica Neue"/>
                          <a:ea typeface="Helvetica Neue"/>
                          <a:cs typeface="Helvetica Neue"/>
                        </a:rPr>
                        <a:t>Namespace/mapping</a:t>
                      </a:r>
                    </a:p>
                  </a:txBody>
                  <a:tcPr marL="114300" marR="114300" marT="47625" marB="47625" anchor="ctr">
                    <a:solidFill>
                      <a:srgbClr val="FFFFFF"/>
                    </a:solidFill>
                  </a:tcPr>
                </a:tc>
              </a:tr>
              <a:tr h="541020">
                <a:tc>
                  <a:txBody>
                    <a:bodyPr/>
                    <a:lstStyle/>
                    <a:p>
                      <a:r>
                        <a:rPr sz="1800" b="0">
                          <a:solidFill>
                            <a:srgbClr val="122C42"/>
                          </a:solidFill>
                          <a:latin typeface="Helvetica Neue"/>
                          <a:ea typeface="Helvetica Neue"/>
                          <a:cs typeface="Helvetica Neue"/>
                        </a:rPr>
                        <a:t>Yapabilir mi?</a:t>
                      </a:r>
                    </a:p>
                  </a:txBody>
                  <a:tcPr marL="114300" marR="114300" marT="47625" marB="47625" anchor="ctr">
                    <a:solidFill>
                      <a:srgbClr val="ECF0EC"/>
                    </a:solidFill>
                  </a:tcPr>
                </a:tc>
                <a:tc>
                  <a:txBody>
                    <a:bodyPr/>
                    <a:lstStyle/>
                    <a:p>
                      <a:r>
                        <a:rPr sz="1800" b="0">
                          <a:solidFill>
                            <a:srgbClr val="122C42"/>
                          </a:solidFill>
                          <a:latin typeface="Helvetica Neue"/>
                          <a:ea typeface="Helvetica Neue"/>
                          <a:cs typeface="Helvetica Neue"/>
                        </a:rPr>
                        <a:t>Permission/policy</a:t>
                      </a:r>
                    </a:p>
                  </a:txBody>
                  <a:tcPr marL="114300" marR="114300" marT="47625" marB="47625" anchor="ctr">
                    <a:solidFill>
                      <a:srgbClr val="ECF0EC"/>
                    </a:solidFill>
                  </a:tcPr>
                </a:tc>
              </a:tr>
              <a:tr h="541020">
                <a:tc>
                  <a:txBody>
                    <a:bodyPr/>
                    <a:lstStyle/>
                    <a:p>
                      <a:r>
                        <a:rPr sz="1800" b="0">
                          <a:solidFill>
                            <a:srgbClr val="122C42"/>
                          </a:solidFill>
                          <a:latin typeface="Helvetica Neue"/>
                          <a:ea typeface="Helvetica Neue"/>
                          <a:cs typeface="Helvetica Neue"/>
                        </a:rPr>
                        <a:t>Ne kadar?</a:t>
                      </a:r>
                    </a:p>
                  </a:txBody>
                  <a:tcPr marL="114300" marR="114300" marT="47625" marB="47625" anchor="ctr">
                    <a:solidFill>
                      <a:srgbClr val="FFFFFF"/>
                    </a:solidFill>
                  </a:tcPr>
                </a:tc>
                <a:tc>
                  <a:txBody>
                    <a:bodyPr/>
                    <a:lstStyle/>
                    <a:p>
                      <a:r>
                        <a:rPr sz="1800" b="0">
                          <a:solidFill>
                            <a:srgbClr val="122C42"/>
                          </a:solidFill>
                          <a:latin typeface="Helvetica Neue"/>
                          <a:ea typeface="Helvetica Neue"/>
                          <a:cs typeface="Helvetica Neue"/>
                        </a:rPr>
                        <a:t>Resource limit</a:t>
                      </a:r>
                    </a:p>
                  </a:txBody>
                  <a:tcPr marL="114300" marR="114300" marT="47625" marB="47625" anchor="ctr">
                    <a:solidFill>
                      <a:srgbClr val="FFFFFF"/>
                    </a:solidFill>
                  </a:tcPr>
                </a:tc>
              </a:tr>
              <a:tr h="541020">
                <a:tc>
                  <a:txBody>
                    <a:bodyPr/>
                    <a:lstStyle/>
                    <a:p>
                      <a:r>
                        <a:rPr sz="1800" b="0">
                          <a:solidFill>
                            <a:srgbClr val="122C42"/>
                          </a:solidFill>
                          <a:latin typeface="Helvetica Neue"/>
                          <a:ea typeface="Helvetica Neue"/>
                          <a:cs typeface="Helvetica Neue"/>
                        </a:rPr>
                        <a:t>Hangi kernel?</a:t>
                      </a:r>
                    </a:p>
                  </a:txBody>
                  <a:tcPr marL="114300" marR="114300" marT="47625" marB="47625" anchor="ctr">
                    <a:solidFill>
                      <a:srgbClr val="ECF0EC"/>
                    </a:solidFill>
                  </a:tcPr>
                </a:tc>
                <a:tc>
                  <a:txBody>
                    <a:bodyPr/>
                    <a:lstStyle/>
                    <a:p>
                      <a:r>
                        <a:rPr sz="1800" b="0">
                          <a:solidFill>
                            <a:srgbClr val="122C42"/>
                          </a:solidFill>
                          <a:latin typeface="Helvetica Neue"/>
                          <a:ea typeface="Helvetica Neue"/>
                          <a:cs typeface="Helvetica Neue"/>
                        </a:rPr>
                        <a:t>VM/container architecture</a:t>
                      </a:r>
                    </a:p>
                  </a:txBody>
                  <a:tcPr marL="114300" marR="114300" marT="47625" marB="47625" anchor="ctr">
                    <a:solidFill>
                      <a:srgbClr val="ECF0EC"/>
                    </a:solidFill>
                  </a:tcPr>
                </a:tc>
              </a:tr>
            </a:tbl>
          </a:graphicData>
        </a:graphic>
      </p:graphicFrame>
      <p:sp>
        <p:nvSpPr>
          <p:cNvPr id="4" name="">
            <a:extLst xmlns:a="http://schemas.openxmlformats.org/drawingml/2006/main">
              <a:ext uri="{FF2B5EF4-FFF2-40B4-BE49-F238E27FC236}">
                <a16:creationId xmlns:a16="http://schemas.microsoft.com/office/drawing/2014/main" id="{08A286DF-190E-406A-81F5-F9F39E8FCF3A}"/>
              </a:ext>
            </a:extLst>
          </p:cNvPr>
          <p:cNvSpPr>
            <a:spLocks xmlns:a="http://schemas.openxmlformats.org/drawingml/2006/main" noGrp="1"/>
          </p:cNvSpPr>
          <p:nvPr/>
        </p:nvSpPr>
        <p:spPr>
          <a:xfrm xmlns:a="http://schemas.openxmlformats.org/drawingml/2006/main">
            <a:off x="609600" y="6496050"/>
            <a:ext cx="8572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125" b="0">
                <a:solidFill>
                  <a:srgbClr val="4D606A"/>
                </a:solidFill>
                <a:latin typeface="Helvetica Neue"/>
                <a:ea typeface="Helvetica Neue"/>
                <a:cs typeface="Helvetica Neue"/>
              </a:defRPr>
            </a:pPr>
            <a:r>
              <a:rPr sz="1125" b="0">
                <a:solidFill>
                  <a:srgbClr val="4D606A"/>
                </a:solidFill>
                <a:latin typeface="Helvetica Neue"/>
                <a:ea typeface="Helvetica Neue"/>
                <a:cs typeface="Helvetica Neue"/>
              </a:rPr>
              <a:t>CSE513 · Hafta 9</a:t>
            </a:r>
          </a:p>
        </p:txBody>
      </p:sp>
      <p:sp>
        <p:nvSpPr>
          <p:cNvPr id="5" name="">
            <a:extLst xmlns:a="http://schemas.openxmlformats.org/drawingml/2006/main">
              <a:ext uri="{FF2B5EF4-FFF2-40B4-BE49-F238E27FC236}">
                <a16:creationId xmlns:a16="http://schemas.microsoft.com/office/drawing/2014/main" id="{290BD287-DA4D-4950-9D79-F79A77D518DF}"/>
              </a:ext>
            </a:extLst>
          </p:cNvPr>
          <p:cNvSpPr>
            <a:spLocks xmlns:a="http://schemas.openxmlformats.org/drawingml/2006/main" noGrp="1"/>
          </p:cNvSpPr>
          <p:nvPr/>
        </p:nvSpPr>
        <p:spPr>
          <a:xfrm xmlns:a="http://schemas.openxmlformats.org/drawingml/2006/main">
            <a:off x="10477500" y="6457950"/>
            <a:ext cx="10953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350" b="1">
                <a:solidFill>
                  <a:srgbClr val="087E83"/>
                </a:solidFill>
                <a:latin typeface="Helvetica Neue"/>
                <a:ea typeface="Helvetica Neue"/>
                <a:cs typeface="Helvetica Neue"/>
              </a:defRPr>
            </a:pPr>
            <a:r>
              <a:rPr sz="1350" b="1">
                <a:solidFill>
                  <a:srgbClr val="087E83"/>
                </a:solidFill>
                <a:latin typeface="Helvetica Neue"/>
                <a:ea typeface="Helvetica Neue"/>
                <a:cs typeface="Helvetica Neue"/>
              </a:rPr>
              <a:t>23 / 27</a:t>
            </a:r>
          </a:p>
        </p:txBody>
      </p:sp>
    </p:spTree>
    <p:extLst>
      <p:ext uri="{BB962C8B-B14F-4D97-AF65-F5344CB8AC3E}">
        <p14:creationId xmlns:p14="http://schemas.microsoft.com/office/powerpoint/2010/main" val="1721718599"/>
      </p:ext>
    </p:extLst>
  </p:cSld>
</p:sld>
</file>

<file path=ppt/slides/slide24.xml><?xml version="1.0" encoding="utf-8"?>
<p:sld xmlns:p="http://schemas.openxmlformats.org/presentationml/2006/main">
  <p:cSld>
    <p:bg>
      <p:bgPr>
        <a:solidFill xmlns:a="http://schemas.openxmlformats.org/drawingml/2006/main">
          <a:srgbClr val="F5F1E8"/>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9CA45705-3929-4541-9FB1-D7A05A3BD304}"/>
              </a:ext>
            </a:extLst>
          </p:cNvPr>
          <p:cNvSpPr>
            <a:spLocks xmlns:a="http://schemas.openxmlformats.org/drawingml/2006/main" noGrp="1"/>
          </p:cNvSpPr>
          <p:nvPr/>
        </p:nvSpPr>
        <p:spPr>
          <a:xfrm xmlns:a="http://schemas.openxmlformats.org/drawingml/2006/main">
            <a:off x="609600" y="600075"/>
            <a:ext cx="1097280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300" b="1">
                <a:solidFill>
                  <a:srgbClr val="122C42"/>
                </a:solidFill>
                <a:latin typeface="Helvetica Neue"/>
                <a:ea typeface="Helvetica Neue"/>
                <a:cs typeface="Helvetica Neue"/>
              </a:defRPr>
            </a:pPr>
            <a:r>
              <a:rPr sz="3300" b="1">
                <a:solidFill>
                  <a:srgbClr val="122C42"/>
                </a:solidFill>
                <a:latin typeface="Helvetica Neue"/>
                <a:ea typeface="Helvetica Neue"/>
                <a:cs typeface="Helvetica Neue"/>
              </a:rPr>
              <a:t>Worked example: dört ayrı sonuç</a:t>
            </a:r>
          </a:p>
        </p:txBody>
      </p:sp>
      <p:sp>
        <p:nvSpPr>
          <p:cNvPr id="2" name="">
            <a:extLst xmlns:a="http://schemas.openxmlformats.org/drawingml/2006/main">
              <a:ext uri="{FF2B5EF4-FFF2-40B4-BE49-F238E27FC236}">
                <a16:creationId xmlns:a16="http://schemas.microsoft.com/office/drawing/2014/main" id="{AC7E7BFE-E4DB-4771-BC45-089B2DD487EA}"/>
              </a:ext>
            </a:extLst>
          </p:cNvPr>
          <p:cNvSpPr>
            <a:spLocks xmlns:a="http://schemas.openxmlformats.org/drawingml/2006/main" noGrp="1"/>
          </p:cNvSpPr>
          <p:nvPr/>
        </p:nvSpPr>
        <p:spPr>
          <a:xfrm xmlns:a="http://schemas.openxmlformats.org/drawingml/2006/main">
            <a:off x="609600" y="1952625"/>
            <a:ext cx="4381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1">
                <a:solidFill>
                  <a:srgbClr val="087E83"/>
                </a:solidFill>
                <a:latin typeface="Helvetica Neue"/>
                <a:ea typeface="Helvetica Neue"/>
                <a:cs typeface="Helvetica Neue"/>
              </a:defRPr>
            </a:pPr>
            <a:r>
              <a:rPr sz="2100" b="1">
                <a:solidFill>
                  <a:srgbClr val="087E83"/>
                </a:solidFill>
                <a:latin typeface="Helvetica Neue"/>
                <a:ea typeface="Helvetica Neue"/>
                <a:cs typeface="Helvetica Neue"/>
              </a:rPr>
              <a:t>01</a:t>
            </a:r>
          </a:p>
        </p:txBody>
      </p:sp>
      <p:sp>
        <p:nvSpPr>
          <p:cNvPr id="3" name="">
            <a:extLst xmlns:a="http://schemas.openxmlformats.org/drawingml/2006/main">
              <a:ext uri="{FF2B5EF4-FFF2-40B4-BE49-F238E27FC236}">
                <a16:creationId xmlns:a16="http://schemas.microsoft.com/office/drawing/2014/main" id="{643C8C66-1A6B-499B-B928-916848E735EB}"/>
              </a:ext>
            </a:extLst>
          </p:cNvPr>
          <p:cNvSpPr>
            <a:spLocks xmlns:a="http://schemas.openxmlformats.org/drawingml/2006/main" noGrp="1"/>
          </p:cNvSpPr>
          <p:nvPr/>
        </p:nvSpPr>
        <p:spPr>
          <a:xfrm xmlns:a="http://schemas.openxmlformats.org/drawingml/2006/main">
            <a:off x="1333500" y="1952625"/>
            <a:ext cx="102489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400" b="0">
                <a:solidFill>
                  <a:srgbClr val="122C42"/>
                </a:solidFill>
                <a:latin typeface="Helvetica Neue"/>
                <a:ea typeface="Helvetica Neue"/>
                <a:cs typeface="Helvetica Neue"/>
              </a:defRPr>
            </a:pPr>
            <a:r>
              <a:rPr sz="2400" b="0">
                <a:solidFill>
                  <a:srgbClr val="122C42"/>
                </a:solidFill>
                <a:latin typeface="Helvetica Neue"/>
                <a:ea typeface="Helvetica Neue"/>
                <a:cs typeface="Helvetica Neue"/>
              </a:rPr>
              <a:t>A viewer config read → allow.</a:t>
            </a:r>
          </a:p>
        </p:txBody>
      </p:sp>
      <p:sp>
        <p:nvSpPr>
          <p:cNvPr id="4" name="">
            <a:extLst xmlns:a="http://schemas.openxmlformats.org/drawingml/2006/main">
              <a:ext uri="{FF2B5EF4-FFF2-40B4-BE49-F238E27FC236}">
                <a16:creationId xmlns:a16="http://schemas.microsoft.com/office/drawing/2014/main" id="{BDFAD612-EF81-416F-A6C4-C04A5FE5D454}"/>
              </a:ext>
            </a:extLst>
          </p:cNvPr>
          <p:cNvSpPr>
            <a:spLocks xmlns:a="http://schemas.openxmlformats.org/drawingml/2006/main" noGrp="1"/>
          </p:cNvSpPr>
          <p:nvPr/>
        </p:nvSpPr>
        <p:spPr>
          <a:xfrm xmlns:a="http://schemas.openxmlformats.org/drawingml/2006/main">
            <a:off x="609600" y="2733675"/>
            <a:ext cx="4381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1">
                <a:solidFill>
                  <a:srgbClr val="087E83"/>
                </a:solidFill>
                <a:latin typeface="Helvetica Neue"/>
                <a:ea typeface="Helvetica Neue"/>
                <a:cs typeface="Helvetica Neue"/>
              </a:defRPr>
            </a:pPr>
            <a:r>
              <a:rPr sz="2100" b="1">
                <a:solidFill>
                  <a:srgbClr val="087E83"/>
                </a:solidFill>
                <a:latin typeface="Helvetica Neue"/>
                <a:ea typeface="Helvetica Neue"/>
                <a:cs typeface="Helvetica Neue"/>
              </a:rPr>
              <a:t>02</a:t>
            </a:r>
          </a:p>
        </p:txBody>
      </p:sp>
      <p:sp>
        <p:nvSpPr>
          <p:cNvPr id="5" name="">
            <a:extLst xmlns:a="http://schemas.openxmlformats.org/drawingml/2006/main">
              <a:ext uri="{FF2B5EF4-FFF2-40B4-BE49-F238E27FC236}">
                <a16:creationId xmlns:a16="http://schemas.microsoft.com/office/drawing/2014/main" id="{A1B58B49-F81A-4D47-A8FC-891455B09419}"/>
              </a:ext>
            </a:extLst>
          </p:cNvPr>
          <p:cNvSpPr>
            <a:spLocks xmlns:a="http://schemas.openxmlformats.org/drawingml/2006/main" noGrp="1"/>
          </p:cNvSpPr>
          <p:nvPr/>
        </p:nvSpPr>
        <p:spPr>
          <a:xfrm xmlns:a="http://schemas.openxmlformats.org/drawingml/2006/main">
            <a:off x="1333500" y="2733675"/>
            <a:ext cx="102489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400" b="0">
                <a:solidFill>
                  <a:srgbClr val="122C42"/>
                </a:solidFill>
                <a:latin typeface="Helvetica Neue"/>
                <a:ea typeface="Helvetica Neue"/>
                <a:cs typeface="Helvetica Neue"/>
              </a:defRPr>
            </a:pPr>
            <a:r>
              <a:rPr sz="2400" b="0">
                <a:solidFill>
                  <a:srgbClr val="122C42"/>
                </a:solidFill>
                <a:latin typeface="Helvetica Neue"/>
                <a:ea typeface="Helvetica Neue"/>
                <a:cs typeface="Helvetica Neue"/>
              </a:rPr>
              <a:t>A viewer data write → deny.</a:t>
            </a:r>
          </a:p>
        </p:txBody>
      </p:sp>
      <p:sp>
        <p:nvSpPr>
          <p:cNvPr id="6" name="">
            <a:extLst xmlns:a="http://schemas.openxmlformats.org/drawingml/2006/main">
              <a:ext uri="{FF2B5EF4-FFF2-40B4-BE49-F238E27FC236}">
                <a16:creationId xmlns:a16="http://schemas.microsoft.com/office/drawing/2014/main" id="{39CC79F3-2B66-4612-BA44-E20B88C5CD3C}"/>
              </a:ext>
            </a:extLst>
          </p:cNvPr>
          <p:cNvSpPr>
            <a:spLocks xmlns:a="http://schemas.openxmlformats.org/drawingml/2006/main" noGrp="1"/>
          </p:cNvSpPr>
          <p:nvPr/>
        </p:nvSpPr>
        <p:spPr>
          <a:xfrm xmlns:a="http://schemas.openxmlformats.org/drawingml/2006/main">
            <a:off x="609600" y="3514725"/>
            <a:ext cx="4381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1">
                <a:solidFill>
                  <a:srgbClr val="087E83"/>
                </a:solidFill>
                <a:latin typeface="Helvetica Neue"/>
                <a:ea typeface="Helvetica Neue"/>
                <a:cs typeface="Helvetica Neue"/>
              </a:defRPr>
            </a:pPr>
            <a:r>
              <a:rPr sz="2100" b="1">
                <a:solidFill>
                  <a:srgbClr val="087E83"/>
                </a:solidFill>
                <a:latin typeface="Helvetica Neue"/>
                <a:ea typeface="Helvetica Neue"/>
                <a:cs typeface="Helvetica Neue"/>
              </a:rPr>
              <a:t>03</a:t>
            </a:r>
          </a:p>
        </p:txBody>
      </p:sp>
      <p:sp>
        <p:nvSpPr>
          <p:cNvPr id="7" name="">
            <a:extLst xmlns:a="http://schemas.openxmlformats.org/drawingml/2006/main">
              <a:ext uri="{FF2B5EF4-FFF2-40B4-BE49-F238E27FC236}">
                <a16:creationId xmlns:a16="http://schemas.microsoft.com/office/drawing/2014/main" id="{1E651680-5B40-478C-8135-C0E156B4DD63}"/>
              </a:ext>
            </a:extLst>
          </p:cNvPr>
          <p:cNvSpPr>
            <a:spLocks xmlns:a="http://schemas.openxmlformats.org/drawingml/2006/main" noGrp="1"/>
          </p:cNvSpPr>
          <p:nvPr/>
        </p:nvSpPr>
        <p:spPr>
          <a:xfrm xmlns:a="http://schemas.openxmlformats.org/drawingml/2006/main">
            <a:off x="1333500" y="3514725"/>
            <a:ext cx="102489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400" b="0">
                <a:solidFill>
                  <a:srgbClr val="122C42"/>
                </a:solidFill>
                <a:latin typeface="Helvetica Neue"/>
                <a:ea typeface="Helvetica Neue"/>
                <a:cs typeface="Helvetica Neue"/>
              </a:defRPr>
            </a:pPr>
            <a:r>
              <a:rPr sz="2400" b="0">
                <a:solidFill>
                  <a:srgbClr val="122C42"/>
                </a:solidFill>
                <a:latin typeface="Helvetica Neue"/>
                <a:ea typeface="Helvetica Neue"/>
                <a:cs typeface="Helvetica Neue"/>
              </a:rPr>
              <a:t>A editor host secret read → hidden.</a:t>
            </a:r>
          </a:p>
        </p:txBody>
      </p:sp>
      <p:sp>
        <p:nvSpPr>
          <p:cNvPr id="8" name="">
            <a:extLst xmlns:a="http://schemas.openxmlformats.org/drawingml/2006/main">
              <a:ext uri="{FF2B5EF4-FFF2-40B4-BE49-F238E27FC236}">
                <a16:creationId xmlns:a16="http://schemas.microsoft.com/office/drawing/2014/main" id="{27B034E9-F2CD-456C-B7F5-35ECECAE5851}"/>
              </a:ext>
            </a:extLst>
          </p:cNvPr>
          <p:cNvSpPr>
            <a:spLocks xmlns:a="http://schemas.openxmlformats.org/drawingml/2006/main" noGrp="1"/>
          </p:cNvSpPr>
          <p:nvPr/>
        </p:nvSpPr>
        <p:spPr>
          <a:xfrm xmlns:a="http://schemas.openxmlformats.org/drawingml/2006/main">
            <a:off x="609600" y="4295775"/>
            <a:ext cx="4381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1">
                <a:solidFill>
                  <a:srgbClr val="087E83"/>
                </a:solidFill>
                <a:latin typeface="Helvetica Neue"/>
                <a:ea typeface="Helvetica Neue"/>
                <a:cs typeface="Helvetica Neue"/>
              </a:defRPr>
            </a:pPr>
            <a:r>
              <a:rPr sz="2100" b="1">
                <a:solidFill>
                  <a:srgbClr val="087E83"/>
                </a:solidFill>
                <a:latin typeface="Helvetica Neue"/>
                <a:ea typeface="Helvetica Neue"/>
                <a:cs typeface="Helvetica Neue"/>
              </a:rPr>
              <a:t>04</a:t>
            </a:r>
          </a:p>
        </p:txBody>
      </p:sp>
      <p:sp>
        <p:nvSpPr>
          <p:cNvPr id="9" name="">
            <a:extLst xmlns:a="http://schemas.openxmlformats.org/drawingml/2006/main">
              <a:ext uri="{FF2B5EF4-FFF2-40B4-BE49-F238E27FC236}">
                <a16:creationId xmlns:a16="http://schemas.microsoft.com/office/drawing/2014/main" id="{E531C2A3-C39B-4049-AAF6-1658BE4646B7}"/>
              </a:ext>
            </a:extLst>
          </p:cNvPr>
          <p:cNvSpPr>
            <a:spLocks xmlns:a="http://schemas.openxmlformats.org/drawingml/2006/main" noGrp="1"/>
          </p:cNvSpPr>
          <p:nvPr/>
        </p:nvSpPr>
        <p:spPr>
          <a:xfrm xmlns:a="http://schemas.openxmlformats.org/drawingml/2006/main">
            <a:off x="1333500" y="4295775"/>
            <a:ext cx="102489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400" b="0">
                <a:solidFill>
                  <a:srgbClr val="122C42"/>
                </a:solidFill>
                <a:latin typeface="Helvetica Neue"/>
                <a:ea typeface="Helvetica Neue"/>
                <a:cs typeface="Helvetica Neue"/>
              </a:defRPr>
            </a:pPr>
            <a:r>
              <a:rPr sz="2400" b="0">
                <a:solidFill>
                  <a:srgbClr val="122C42"/>
                </a:solidFill>
                <a:latin typeface="Helvetica Neue"/>
                <a:ea typeface="Helvetica Neue"/>
                <a:cs typeface="Helvetica Neue"/>
              </a:rPr>
              <a:t>A demand80 quota50 → service50.</a:t>
            </a:r>
          </a:p>
        </p:txBody>
      </p:sp>
      <p:sp>
        <p:nvSpPr>
          <p:cNvPr id="10" name="">
            <a:extLst xmlns:a="http://schemas.openxmlformats.org/drawingml/2006/main">
              <a:ext uri="{FF2B5EF4-FFF2-40B4-BE49-F238E27FC236}">
                <a16:creationId xmlns:a16="http://schemas.microsoft.com/office/drawing/2014/main" id="{64887531-3FA3-4642-8548-FA4CB83C5639}"/>
              </a:ext>
            </a:extLst>
          </p:cNvPr>
          <p:cNvSpPr>
            <a:spLocks xmlns:a="http://schemas.openxmlformats.org/drawingml/2006/main" noGrp="1"/>
          </p:cNvSpPr>
          <p:nvPr/>
        </p:nvSpPr>
        <p:spPr>
          <a:xfrm xmlns:a="http://schemas.openxmlformats.org/drawingml/2006/main">
            <a:off x="609600" y="5238750"/>
            <a:ext cx="109728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75" b="1">
                <a:solidFill>
                  <a:srgbClr val="087E83"/>
                </a:solidFill>
                <a:latin typeface="Helvetica Neue"/>
                <a:ea typeface="Helvetica Neue"/>
                <a:cs typeface="Helvetica Neue"/>
              </a:defRPr>
            </a:pPr>
            <a:r>
              <a:rPr sz="1875" b="1">
                <a:solidFill>
                  <a:srgbClr val="087E83"/>
                </a:solidFill>
                <a:latin typeface="Helvetica Neue"/>
                <a:ea typeface="Helvetica Neue"/>
                <a:cs typeface="Helvetica Neue"/>
              </a:rPr>
              <a:t>Düşün: CPU quota’yı80’e çıkarırsak host secret okunur mu?</a:t>
            </a:r>
          </a:p>
        </p:txBody>
      </p:sp>
      <p:sp>
        <p:nvSpPr>
          <p:cNvPr id="11" name="">
            <a:extLst xmlns:a="http://schemas.openxmlformats.org/drawingml/2006/main">
              <a:ext uri="{FF2B5EF4-FFF2-40B4-BE49-F238E27FC236}">
                <a16:creationId xmlns:a16="http://schemas.microsoft.com/office/drawing/2014/main" id="{4F9254D8-E33E-4832-8F7D-A6095E1E13E4}"/>
              </a:ext>
            </a:extLst>
          </p:cNvPr>
          <p:cNvSpPr>
            <a:spLocks xmlns:a="http://schemas.openxmlformats.org/drawingml/2006/main" noGrp="1"/>
          </p:cNvSpPr>
          <p:nvPr/>
        </p:nvSpPr>
        <p:spPr>
          <a:xfrm xmlns:a="http://schemas.openxmlformats.org/drawingml/2006/main">
            <a:off x="609600" y="6496050"/>
            <a:ext cx="8572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125" b="0">
                <a:solidFill>
                  <a:srgbClr val="4D606A"/>
                </a:solidFill>
                <a:latin typeface="Helvetica Neue"/>
                <a:ea typeface="Helvetica Neue"/>
                <a:cs typeface="Helvetica Neue"/>
              </a:defRPr>
            </a:pPr>
            <a:r>
              <a:rPr sz="1125" b="0">
                <a:solidFill>
                  <a:srgbClr val="4D606A"/>
                </a:solidFill>
                <a:latin typeface="Helvetica Neue"/>
                <a:ea typeface="Helvetica Neue"/>
                <a:cs typeface="Helvetica Neue"/>
              </a:rPr>
              <a:t>CSE513 · Hafta 9</a:t>
            </a:r>
          </a:p>
        </p:txBody>
      </p:sp>
      <p:sp>
        <p:nvSpPr>
          <p:cNvPr id="12" name="">
            <a:extLst xmlns:a="http://schemas.openxmlformats.org/drawingml/2006/main">
              <a:ext uri="{FF2B5EF4-FFF2-40B4-BE49-F238E27FC236}">
                <a16:creationId xmlns:a16="http://schemas.microsoft.com/office/drawing/2014/main" id="{B7C3EEEE-4D53-4548-A421-EE9CBEC28676}"/>
              </a:ext>
            </a:extLst>
          </p:cNvPr>
          <p:cNvSpPr>
            <a:spLocks xmlns:a="http://schemas.openxmlformats.org/drawingml/2006/main" noGrp="1"/>
          </p:cNvSpPr>
          <p:nvPr/>
        </p:nvSpPr>
        <p:spPr>
          <a:xfrm xmlns:a="http://schemas.openxmlformats.org/drawingml/2006/main">
            <a:off x="10477500" y="6457950"/>
            <a:ext cx="10953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350" b="1">
                <a:solidFill>
                  <a:srgbClr val="087E83"/>
                </a:solidFill>
                <a:latin typeface="Helvetica Neue"/>
                <a:ea typeface="Helvetica Neue"/>
                <a:cs typeface="Helvetica Neue"/>
              </a:defRPr>
            </a:pPr>
            <a:r>
              <a:rPr sz="1350" b="1">
                <a:solidFill>
                  <a:srgbClr val="087E83"/>
                </a:solidFill>
                <a:latin typeface="Helvetica Neue"/>
                <a:ea typeface="Helvetica Neue"/>
                <a:cs typeface="Helvetica Neue"/>
              </a:rPr>
              <a:t>24 / 27</a:t>
            </a:r>
          </a:p>
        </p:txBody>
      </p:sp>
    </p:spTree>
    <p:extLst>
      <p:ext uri="{BB962C8B-B14F-4D97-AF65-F5344CB8AC3E}">
        <p14:creationId xmlns:p14="http://schemas.microsoft.com/office/powerpoint/2010/main" val="1473965800"/>
      </p:ext>
    </p:extLst>
  </p:cSld>
</p:sld>
</file>

<file path=ppt/slides/slide25.xml><?xml version="1.0" encoding="utf-8"?>
<p:sld xmlns:p="http://schemas.openxmlformats.org/presentationml/2006/main">
  <p:cSld>
    <p:bg>
      <p:bgPr>
        <a:solidFill xmlns:a="http://schemas.openxmlformats.org/drawingml/2006/main">
          <a:srgbClr val="F5F1E8"/>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744762CA-677D-4279-BE1A-82FFA794EA32}"/>
              </a:ext>
            </a:extLst>
          </p:cNvPr>
          <p:cNvSpPr>
            <a:spLocks xmlns:a="http://schemas.openxmlformats.org/drawingml/2006/main" noGrp="1"/>
          </p:cNvSpPr>
          <p:nvPr/>
        </p:nvSpPr>
        <p:spPr>
          <a:xfrm xmlns:a="http://schemas.openxmlformats.org/drawingml/2006/main">
            <a:off x="609600" y="600075"/>
            <a:ext cx="1097280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300" b="1">
                <a:solidFill>
                  <a:srgbClr val="122C42"/>
                </a:solidFill>
                <a:latin typeface="Helvetica Neue"/>
                <a:ea typeface="Helvetica Neue"/>
                <a:cs typeface="Helvetica Neue"/>
              </a:defRPr>
            </a:pPr>
            <a:r>
              <a:rPr sz="3300" b="1">
                <a:solidFill>
                  <a:srgbClr val="122C42"/>
                </a:solidFill>
                <a:latin typeface="Helvetica Neue"/>
                <a:ea typeface="Helvetica Neue"/>
                <a:cs typeface="Helvetica Neue"/>
              </a:rPr>
              <a:t>Yanlış inference dedektifi</a:t>
            </a:r>
          </a:p>
        </p:txBody>
      </p:sp>
      <p:sp>
        <p:nvSpPr>
          <p:cNvPr id="2" name="">
            <a:extLst xmlns:a="http://schemas.openxmlformats.org/drawingml/2006/main">
              <a:ext uri="{FF2B5EF4-FFF2-40B4-BE49-F238E27FC236}">
                <a16:creationId xmlns:a16="http://schemas.microsoft.com/office/drawing/2014/main" id="{5A635DE9-66C4-49DB-B7E9-C9913FF17058}"/>
              </a:ext>
            </a:extLst>
          </p:cNvPr>
          <p:cNvSpPr>
            <a:spLocks xmlns:a="http://schemas.openxmlformats.org/drawingml/2006/main" noGrp="1"/>
          </p:cNvSpPr>
          <p:nvPr/>
        </p:nvSpPr>
        <p:spPr>
          <a:xfrm xmlns:a="http://schemas.openxmlformats.org/drawingml/2006/main">
            <a:off x="609600" y="1952625"/>
            <a:ext cx="438150" cy="8524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1">
                <a:solidFill>
                  <a:srgbClr val="087E83"/>
                </a:solidFill>
                <a:latin typeface="Helvetica Neue"/>
                <a:ea typeface="Helvetica Neue"/>
                <a:cs typeface="Helvetica Neue"/>
              </a:defRPr>
            </a:pPr>
            <a:r>
              <a:rPr sz="2100" b="1">
                <a:solidFill>
                  <a:srgbClr val="087E83"/>
                </a:solidFill>
                <a:latin typeface="Helvetica Neue"/>
                <a:ea typeface="Helvetica Neue"/>
                <a:cs typeface="Helvetica Neue"/>
              </a:rPr>
              <a:t>01</a:t>
            </a:r>
          </a:p>
        </p:txBody>
      </p:sp>
      <p:sp>
        <p:nvSpPr>
          <p:cNvPr id="3" name="">
            <a:extLst xmlns:a="http://schemas.openxmlformats.org/drawingml/2006/main">
              <a:ext uri="{FF2B5EF4-FFF2-40B4-BE49-F238E27FC236}">
                <a16:creationId xmlns:a16="http://schemas.microsoft.com/office/drawing/2014/main" id="{03353602-B749-44A2-89AE-31D4A3F5937A}"/>
              </a:ext>
            </a:extLst>
          </p:cNvPr>
          <p:cNvSpPr>
            <a:spLocks xmlns:a="http://schemas.openxmlformats.org/drawingml/2006/main" noGrp="1"/>
          </p:cNvSpPr>
          <p:nvPr/>
        </p:nvSpPr>
        <p:spPr>
          <a:xfrm xmlns:a="http://schemas.openxmlformats.org/drawingml/2006/main">
            <a:off x="1333500" y="1952625"/>
            <a:ext cx="10248900" cy="8524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400" b="0">
                <a:solidFill>
                  <a:srgbClr val="122C42"/>
                </a:solidFill>
                <a:latin typeface="Helvetica Neue"/>
                <a:ea typeface="Helvetica Neue"/>
                <a:cs typeface="Helvetica Neue"/>
              </a:defRPr>
            </a:pPr>
            <a:r>
              <a:rPr sz="2400" b="0">
                <a:solidFill>
                  <a:srgbClr val="122C42"/>
                </a:solidFill>
                <a:latin typeface="Helvetica Neue"/>
                <a:ea typeface="Helvetica Neue"/>
                <a:cs typeface="Helvetica Neue"/>
              </a:rPr>
              <a:t>PID aynı → object aynı?</a:t>
            </a:r>
          </a:p>
        </p:txBody>
      </p:sp>
      <p:sp>
        <p:nvSpPr>
          <p:cNvPr id="4" name="">
            <a:extLst xmlns:a="http://schemas.openxmlformats.org/drawingml/2006/main">
              <a:ext uri="{FF2B5EF4-FFF2-40B4-BE49-F238E27FC236}">
                <a16:creationId xmlns:a16="http://schemas.microsoft.com/office/drawing/2014/main" id="{E2D6F841-B0BC-4B60-9227-AB6F9CBCC02E}"/>
              </a:ext>
            </a:extLst>
          </p:cNvPr>
          <p:cNvSpPr>
            <a:spLocks xmlns:a="http://schemas.openxmlformats.org/drawingml/2006/main" noGrp="1"/>
          </p:cNvSpPr>
          <p:nvPr/>
        </p:nvSpPr>
        <p:spPr>
          <a:xfrm xmlns:a="http://schemas.openxmlformats.org/drawingml/2006/main">
            <a:off x="609600" y="2900363"/>
            <a:ext cx="438150" cy="8524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1">
                <a:solidFill>
                  <a:srgbClr val="087E83"/>
                </a:solidFill>
                <a:latin typeface="Helvetica Neue"/>
                <a:ea typeface="Helvetica Neue"/>
                <a:cs typeface="Helvetica Neue"/>
              </a:defRPr>
            </a:pPr>
            <a:r>
              <a:rPr sz="2100" b="1">
                <a:solidFill>
                  <a:srgbClr val="087E83"/>
                </a:solidFill>
                <a:latin typeface="Helvetica Neue"/>
                <a:ea typeface="Helvetica Neue"/>
                <a:cs typeface="Helvetica Neue"/>
              </a:rPr>
              <a:t>02</a:t>
            </a:r>
          </a:p>
        </p:txBody>
      </p:sp>
      <p:sp>
        <p:nvSpPr>
          <p:cNvPr id="5" name="">
            <a:extLst xmlns:a="http://schemas.openxmlformats.org/drawingml/2006/main">
              <a:ext uri="{FF2B5EF4-FFF2-40B4-BE49-F238E27FC236}">
                <a16:creationId xmlns:a16="http://schemas.microsoft.com/office/drawing/2014/main" id="{2111DE08-059B-4DE8-BB44-8BE647934717}"/>
              </a:ext>
            </a:extLst>
          </p:cNvPr>
          <p:cNvSpPr>
            <a:spLocks xmlns:a="http://schemas.openxmlformats.org/drawingml/2006/main" noGrp="1"/>
          </p:cNvSpPr>
          <p:nvPr/>
        </p:nvSpPr>
        <p:spPr>
          <a:xfrm xmlns:a="http://schemas.openxmlformats.org/drawingml/2006/main">
            <a:off x="1333500" y="2900363"/>
            <a:ext cx="10248900" cy="8524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400" b="0">
                <a:solidFill>
                  <a:srgbClr val="122C42"/>
                </a:solidFill>
                <a:latin typeface="Helvetica Neue"/>
                <a:ea typeface="Helvetica Neue"/>
                <a:cs typeface="Helvetica Neue"/>
              </a:defRPr>
            </a:pPr>
            <a:r>
              <a:rPr sz="2400" b="0">
                <a:solidFill>
                  <a:srgbClr val="122C42"/>
                </a:solidFill>
                <a:latin typeface="Helvetica Neue"/>
                <a:ea typeface="Helvetica Neue"/>
                <a:cs typeface="Helvetica Neue"/>
              </a:rPr>
              <a:t>Memory limit → data gizli?</a:t>
            </a:r>
          </a:p>
        </p:txBody>
      </p:sp>
      <p:sp>
        <p:nvSpPr>
          <p:cNvPr id="6" name="">
            <a:extLst xmlns:a="http://schemas.openxmlformats.org/drawingml/2006/main">
              <a:ext uri="{FF2B5EF4-FFF2-40B4-BE49-F238E27FC236}">
                <a16:creationId xmlns:a16="http://schemas.microsoft.com/office/drawing/2014/main" id="{6EC504AE-E07A-463F-AEF8-E7475AC022B9}"/>
              </a:ext>
            </a:extLst>
          </p:cNvPr>
          <p:cNvSpPr>
            <a:spLocks xmlns:a="http://schemas.openxmlformats.org/drawingml/2006/main" noGrp="1"/>
          </p:cNvSpPr>
          <p:nvPr/>
        </p:nvSpPr>
        <p:spPr>
          <a:xfrm xmlns:a="http://schemas.openxmlformats.org/drawingml/2006/main">
            <a:off x="609600" y="3848100"/>
            <a:ext cx="438150" cy="8524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1">
                <a:solidFill>
                  <a:srgbClr val="087E83"/>
                </a:solidFill>
                <a:latin typeface="Helvetica Neue"/>
                <a:ea typeface="Helvetica Neue"/>
                <a:cs typeface="Helvetica Neue"/>
              </a:defRPr>
            </a:pPr>
            <a:r>
              <a:rPr sz="2100" b="1">
                <a:solidFill>
                  <a:srgbClr val="087E83"/>
                </a:solidFill>
                <a:latin typeface="Helvetica Neue"/>
                <a:ea typeface="Helvetica Neue"/>
                <a:cs typeface="Helvetica Neue"/>
              </a:rPr>
              <a:t>03</a:t>
            </a:r>
          </a:p>
        </p:txBody>
      </p:sp>
      <p:sp>
        <p:nvSpPr>
          <p:cNvPr id="7" name="">
            <a:extLst xmlns:a="http://schemas.openxmlformats.org/drawingml/2006/main">
              <a:ext uri="{FF2B5EF4-FFF2-40B4-BE49-F238E27FC236}">
                <a16:creationId xmlns:a16="http://schemas.microsoft.com/office/drawing/2014/main" id="{4EE6494D-432D-4E42-8B27-4E7FF7A88DDF}"/>
              </a:ext>
            </a:extLst>
          </p:cNvPr>
          <p:cNvSpPr>
            <a:spLocks xmlns:a="http://schemas.openxmlformats.org/drawingml/2006/main" noGrp="1"/>
          </p:cNvSpPr>
          <p:nvPr/>
        </p:nvSpPr>
        <p:spPr>
          <a:xfrm xmlns:a="http://schemas.openxmlformats.org/drawingml/2006/main">
            <a:off x="1333500" y="3848100"/>
            <a:ext cx="10248900" cy="8524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400" b="0">
                <a:solidFill>
                  <a:srgbClr val="122C42"/>
                </a:solidFill>
                <a:latin typeface="Helvetica Neue"/>
                <a:ea typeface="Helvetica Neue"/>
                <a:cs typeface="Helvetica Neue"/>
              </a:defRPr>
            </a:pPr>
            <a:r>
              <a:rPr sz="2400" b="0">
                <a:solidFill>
                  <a:srgbClr val="122C42"/>
                </a:solidFill>
                <a:latin typeface="Helvetica Neue"/>
                <a:ea typeface="Helvetica Neue"/>
                <a:cs typeface="Helvetica Neue"/>
              </a:rPr>
              <a:t>Rootless → hiç attack surface yok?</a:t>
            </a:r>
          </a:p>
        </p:txBody>
      </p:sp>
      <p:sp>
        <p:nvSpPr>
          <p:cNvPr id="8" name="">
            <a:extLst xmlns:a="http://schemas.openxmlformats.org/drawingml/2006/main">
              <a:ext uri="{FF2B5EF4-FFF2-40B4-BE49-F238E27FC236}">
                <a16:creationId xmlns:a16="http://schemas.microsoft.com/office/drawing/2014/main" id="{DF27F34E-EA5B-4BEF-A560-9F5A45C391A7}"/>
              </a:ext>
            </a:extLst>
          </p:cNvPr>
          <p:cNvSpPr>
            <a:spLocks xmlns:a="http://schemas.openxmlformats.org/drawingml/2006/main" noGrp="1"/>
          </p:cNvSpPr>
          <p:nvPr/>
        </p:nvSpPr>
        <p:spPr>
          <a:xfrm xmlns:a="http://schemas.openxmlformats.org/drawingml/2006/main">
            <a:off x="609600" y="4795838"/>
            <a:ext cx="438150" cy="8524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1">
                <a:solidFill>
                  <a:srgbClr val="087E83"/>
                </a:solidFill>
                <a:latin typeface="Helvetica Neue"/>
                <a:ea typeface="Helvetica Neue"/>
                <a:cs typeface="Helvetica Neue"/>
              </a:defRPr>
            </a:pPr>
            <a:r>
              <a:rPr sz="2100" b="1">
                <a:solidFill>
                  <a:srgbClr val="087E83"/>
                </a:solidFill>
                <a:latin typeface="Helvetica Neue"/>
                <a:ea typeface="Helvetica Neue"/>
                <a:cs typeface="Helvetica Neue"/>
              </a:rPr>
              <a:t>04</a:t>
            </a:r>
          </a:p>
        </p:txBody>
      </p:sp>
      <p:sp>
        <p:nvSpPr>
          <p:cNvPr id="9" name="">
            <a:extLst xmlns:a="http://schemas.openxmlformats.org/drawingml/2006/main">
              <a:ext uri="{FF2B5EF4-FFF2-40B4-BE49-F238E27FC236}">
                <a16:creationId xmlns:a16="http://schemas.microsoft.com/office/drawing/2014/main" id="{5287D65A-FA6D-4237-B696-0EB2E4026AD4}"/>
              </a:ext>
            </a:extLst>
          </p:cNvPr>
          <p:cNvSpPr>
            <a:spLocks xmlns:a="http://schemas.openxmlformats.org/drawingml/2006/main" noGrp="1"/>
          </p:cNvSpPr>
          <p:nvPr/>
        </p:nvSpPr>
        <p:spPr>
          <a:xfrm xmlns:a="http://schemas.openxmlformats.org/drawingml/2006/main">
            <a:off x="1333500" y="4795838"/>
            <a:ext cx="10248900" cy="8524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400" b="0">
                <a:solidFill>
                  <a:srgbClr val="122C42"/>
                </a:solidFill>
                <a:latin typeface="Helvetica Neue"/>
                <a:ea typeface="Helvetica Neue"/>
                <a:cs typeface="Helvetica Neue"/>
              </a:defRPr>
            </a:pPr>
            <a:r>
              <a:rPr sz="2400" b="0">
                <a:solidFill>
                  <a:srgbClr val="122C42"/>
                </a:solidFill>
                <a:latin typeface="Helvetica Neue"/>
                <a:ea typeface="Helvetica Neue"/>
                <a:cs typeface="Helvetica Neue"/>
              </a:rPr>
              <a:t>VM → shared folder etkisiz?</a:t>
            </a:r>
          </a:p>
        </p:txBody>
      </p:sp>
      <p:sp>
        <p:nvSpPr>
          <p:cNvPr id="10" name="">
            <a:extLst xmlns:a="http://schemas.openxmlformats.org/drawingml/2006/main">
              <a:ext uri="{FF2B5EF4-FFF2-40B4-BE49-F238E27FC236}">
                <a16:creationId xmlns:a16="http://schemas.microsoft.com/office/drawing/2014/main" id="{D103704E-D063-4521-B109-2FE0C016F131}"/>
              </a:ext>
            </a:extLst>
          </p:cNvPr>
          <p:cNvSpPr>
            <a:spLocks xmlns:a="http://schemas.openxmlformats.org/drawingml/2006/main" noGrp="1"/>
          </p:cNvSpPr>
          <p:nvPr/>
        </p:nvSpPr>
        <p:spPr>
          <a:xfrm xmlns:a="http://schemas.openxmlformats.org/drawingml/2006/main">
            <a:off x="609600" y="6496050"/>
            <a:ext cx="8572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125" b="0">
                <a:solidFill>
                  <a:srgbClr val="4D606A"/>
                </a:solidFill>
                <a:latin typeface="Helvetica Neue"/>
                <a:ea typeface="Helvetica Neue"/>
                <a:cs typeface="Helvetica Neue"/>
              </a:defRPr>
            </a:pPr>
            <a:r>
              <a:rPr sz="1125" b="0">
                <a:solidFill>
                  <a:srgbClr val="4D606A"/>
                </a:solidFill>
                <a:latin typeface="Helvetica Neue"/>
                <a:ea typeface="Helvetica Neue"/>
                <a:cs typeface="Helvetica Neue"/>
              </a:rPr>
              <a:t>CSE513 · Hafta 9</a:t>
            </a:r>
          </a:p>
        </p:txBody>
      </p:sp>
      <p:sp>
        <p:nvSpPr>
          <p:cNvPr id="11" name="">
            <a:extLst xmlns:a="http://schemas.openxmlformats.org/drawingml/2006/main">
              <a:ext uri="{FF2B5EF4-FFF2-40B4-BE49-F238E27FC236}">
                <a16:creationId xmlns:a16="http://schemas.microsoft.com/office/drawing/2014/main" id="{523EE2CD-E18D-486D-8E8C-9536D727ED51}"/>
              </a:ext>
            </a:extLst>
          </p:cNvPr>
          <p:cNvSpPr>
            <a:spLocks xmlns:a="http://schemas.openxmlformats.org/drawingml/2006/main" noGrp="1"/>
          </p:cNvSpPr>
          <p:nvPr/>
        </p:nvSpPr>
        <p:spPr>
          <a:xfrm xmlns:a="http://schemas.openxmlformats.org/drawingml/2006/main">
            <a:off x="10477500" y="6457950"/>
            <a:ext cx="10953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350" b="1">
                <a:solidFill>
                  <a:srgbClr val="087E83"/>
                </a:solidFill>
                <a:latin typeface="Helvetica Neue"/>
                <a:ea typeface="Helvetica Neue"/>
                <a:cs typeface="Helvetica Neue"/>
              </a:defRPr>
            </a:pPr>
            <a:r>
              <a:rPr sz="1350" b="1">
                <a:solidFill>
                  <a:srgbClr val="087E83"/>
                </a:solidFill>
                <a:latin typeface="Helvetica Neue"/>
                <a:ea typeface="Helvetica Neue"/>
                <a:cs typeface="Helvetica Neue"/>
              </a:rPr>
              <a:t>25 / 27</a:t>
            </a:r>
          </a:p>
        </p:txBody>
      </p:sp>
    </p:spTree>
    <p:extLst>
      <p:ext uri="{BB962C8B-B14F-4D97-AF65-F5344CB8AC3E}">
        <p14:creationId xmlns:p14="http://schemas.microsoft.com/office/powerpoint/2010/main" val="33439329"/>
      </p:ext>
    </p:extLst>
  </p:cSld>
</p:sld>
</file>

<file path=ppt/slides/slide26.xml><?xml version="1.0" encoding="utf-8"?>
<p:sld xmlns:p="http://schemas.openxmlformats.org/presentationml/2006/main">
  <p:cSld>
    <p:bg>
      <p:bgPr>
        <a:solidFill xmlns:a="http://schemas.openxmlformats.org/drawingml/2006/main">
          <a:srgbClr val="F5F1E8"/>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B004AF31-87A7-41B7-875C-EFBBBC1A18E6}"/>
              </a:ext>
            </a:extLst>
          </p:cNvPr>
          <p:cNvSpPr>
            <a:spLocks xmlns:a="http://schemas.openxmlformats.org/drawingml/2006/main" noGrp="1"/>
          </p:cNvSpPr>
          <p:nvPr/>
        </p:nvSpPr>
        <p:spPr>
          <a:xfrm xmlns:a="http://schemas.openxmlformats.org/drawingml/2006/main">
            <a:off x="609600" y="600075"/>
            <a:ext cx="1097280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300" b="1">
                <a:solidFill>
                  <a:srgbClr val="122C42"/>
                </a:solidFill>
                <a:latin typeface="Helvetica Neue"/>
                <a:ea typeface="Helvetica Neue"/>
                <a:cs typeface="Helvetica Neue"/>
              </a:defRPr>
            </a:pPr>
            <a:r>
              <a:rPr sz="3300" b="1">
                <a:solidFill>
                  <a:srgbClr val="122C42"/>
                </a:solidFill>
                <a:latin typeface="Helvetica Neue"/>
                <a:ea typeface="Helvetica Neue"/>
                <a:cs typeface="Helvetica Neue"/>
              </a:rPr>
              <a:t>Offline lab: yetki ve bütçe</a:t>
            </a:r>
          </a:p>
        </p:txBody>
      </p:sp>
      <p:sp>
        <p:nvSpPr>
          <p:cNvPr id="2" name="">
            <a:extLst xmlns:a="http://schemas.openxmlformats.org/drawingml/2006/main">
              <a:ext uri="{FF2B5EF4-FFF2-40B4-BE49-F238E27FC236}">
                <a16:creationId xmlns:a16="http://schemas.microsoft.com/office/drawing/2014/main" id="{D9538B27-8284-4ABB-89E7-1ED7A70E399C}"/>
              </a:ext>
            </a:extLst>
          </p:cNvPr>
          <p:cNvSpPr>
            <a:spLocks xmlns:a="http://schemas.openxmlformats.org/drawingml/2006/main" noGrp="1"/>
          </p:cNvSpPr>
          <p:nvPr/>
        </p:nvSpPr>
        <p:spPr>
          <a:xfrm xmlns:a="http://schemas.openxmlformats.org/drawingml/2006/main">
            <a:off x="609600" y="1762125"/>
            <a:ext cx="109728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00" b="0">
                <a:solidFill>
                  <a:srgbClr val="4D606A"/>
                </a:solidFill>
                <a:latin typeface="Helvetica Neue"/>
                <a:ea typeface="Helvetica Neue"/>
                <a:cs typeface="Helvetica Neue"/>
              </a:defRPr>
            </a:pPr>
            <a:r>
              <a:rPr sz="1800" b="0">
                <a:solidFill>
                  <a:srgbClr val="4D606A"/>
                </a:solidFill>
                <a:latin typeface="Helvetica Neue"/>
                <a:ea typeface="Helvetica Neue"/>
                <a:cs typeface="Helvetica Neue"/>
              </a:rPr>
              <a:t>isolation_budget.py --self-test</a:t>
            </a:r>
          </a:p>
          <a:p xmlns:a="http://schemas.openxmlformats.org/drawingml/2006/main">
            <a:pPr>
              <a:defRPr sz="1800" b="0">
                <a:solidFill>
                  <a:srgbClr val="4D606A"/>
                </a:solidFill>
                <a:latin typeface="Helvetica Neue"/>
                <a:ea typeface="Helvetica Neue"/>
                <a:cs typeface="Helvetica Neue"/>
              </a:defRPr>
            </a:pPr>
            <a:r>
              <a:rPr sz="1800" b="0">
                <a:solidFill>
                  <a:srgbClr val="4D606A"/>
                </a:solidFill>
                <a:latin typeface="Helvetica Neue"/>
                <a:ea typeface="Helvetica Neue"/>
                <a:cs typeface="Helvetica Neue"/>
              </a:rPr>
              <a:t>--quota 50 --demand 80</a:t>
            </a:r>
          </a:p>
          <a:p xmlns:a="http://schemas.openxmlformats.org/drawingml/2006/main">
            <a:pPr>
              <a:defRPr sz="1800" b="0">
                <a:solidFill>
                  <a:srgbClr val="4D606A"/>
                </a:solidFill>
                <a:latin typeface="Helvetica Neue"/>
                <a:ea typeface="Helvetica Neue"/>
                <a:cs typeface="Helvetica Neue"/>
              </a:defRPr>
            </a:pPr>
            <a:r>
              <a:rPr sz="1800" b="0">
                <a:solidFill>
                  <a:srgbClr val="4D606A"/>
                </a:solidFill>
                <a:latin typeface="Helvetica Neue"/>
                <a:ea typeface="Helvetica Neue"/>
                <a:cs typeface="Helvetica Neue"/>
              </a:rPr>
              <a:t>--memory-used 192 --memory-request 80</a:t>
            </a:r>
          </a:p>
        </p:txBody>
      </p:sp>
      <p:sp>
        <p:nvSpPr>
          <p:cNvPr id="3" name="">
            <a:extLst xmlns:a="http://schemas.openxmlformats.org/drawingml/2006/main">
              <a:ext uri="{FF2B5EF4-FFF2-40B4-BE49-F238E27FC236}">
                <a16:creationId xmlns:a16="http://schemas.microsoft.com/office/drawing/2014/main" id="{1A0DC76E-02AC-4974-A18F-AB2924E3FA37}"/>
              </a:ext>
            </a:extLst>
          </p:cNvPr>
          <p:cNvSpPr>
            <a:spLocks xmlns:a="http://schemas.openxmlformats.org/drawingml/2006/main" noGrp="1"/>
          </p:cNvSpPr>
          <p:nvPr/>
        </p:nvSpPr>
        <p:spPr>
          <a:xfrm xmlns:a="http://schemas.openxmlformats.org/drawingml/2006/main">
            <a:off x="742950" y="2809875"/>
            <a:ext cx="10715625" cy="2933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0">
                <a:solidFill>
                  <a:srgbClr val="122C42"/>
                </a:solidFill>
                <a:latin typeface="Helvetica Neue"/>
                <a:ea typeface="Helvetica Neue"/>
                <a:cs typeface="Helvetica Neue"/>
              </a:defRPr>
            </a:pPr>
            <a:r>
              <a:rPr sz="2100" b="0">
                <a:solidFill>
                  <a:srgbClr val="122C42"/>
                </a:solidFill>
                <a:latin typeface="Helvetica Neue"/>
                <a:ea typeface="Helvetica Neue"/>
                <a:cs typeface="Helvetica Neue"/>
              </a:rPr>
              <a:t>python3 lab/isolation_budget.py --self-test</a:t>
            </a:r>
          </a:p>
          <a:p xmlns:a="http://schemas.openxmlformats.org/drawingml/2006/main">
            <a:pPr>
              <a:defRPr sz="2100" b="0">
                <a:solidFill>
                  <a:srgbClr val="122C42"/>
                </a:solidFill>
                <a:latin typeface="Helvetica Neue"/>
                <a:ea typeface="Helvetica Neue"/>
                <a:cs typeface="Helvetica Neue"/>
              </a:defRPr>
            </a:pPr>
            <a:r>
              <a:rPr sz="2100" b="0">
                <a:solidFill>
                  <a:srgbClr val="122C42"/>
                </a:solidFill>
                <a:latin typeface="Helvetica Neue"/>
                <a:ea typeface="Helvetica Neue"/>
                <a:cs typeface="Helvetica Neue"/>
              </a:rPr>
              <a:t>python3 lab/isolation_budget.py --quota 50 --demand 80</a:t>
            </a:r>
          </a:p>
          <a:p xmlns:a="http://schemas.openxmlformats.org/drawingml/2006/main">
            <a:pPr>
              <a:defRPr sz="2100" b="0">
                <a:solidFill>
                  <a:srgbClr val="122C42"/>
                </a:solidFill>
                <a:latin typeface="Helvetica Neue"/>
                <a:ea typeface="Helvetica Neue"/>
                <a:cs typeface="Helvetica Neue"/>
              </a:defRPr>
            </a:pPr>
            <a:r>
              <a:rPr sz="2100" b="0">
                <a:solidFill>
                  <a:srgbClr val="122C42"/>
                </a:solidFill>
                <a:latin typeface="Helvetica Neue"/>
                <a:ea typeface="Helvetica Neue"/>
                <a:cs typeface="Helvetica Neue"/>
              </a:rPr>
              <a:t>python3 lab/isolation_budget.py --memory-used 192 \</a:t>
            </a:r>
          </a:p>
          <a:p xmlns:a="http://schemas.openxmlformats.org/drawingml/2006/main">
            <a:pPr>
              <a:defRPr sz="2100" b="0">
                <a:solidFill>
                  <a:srgbClr val="122C42"/>
                </a:solidFill>
                <a:latin typeface="Helvetica Neue"/>
                <a:ea typeface="Helvetica Neue"/>
                <a:cs typeface="Helvetica Neue"/>
              </a:defRPr>
            </a:pPr>
            <a:r>
              <a:rPr sz="2100" b="0">
                <a:solidFill>
                  <a:srgbClr val="122C42"/>
                </a:solidFill>
                <a:latin typeface="Helvetica Neue"/>
                <a:ea typeface="Helvetica Neue"/>
                <a:cs typeface="Helvetica Neue"/>
              </a:rPr>
              <a:t>  --memory-request 80</a:t>
            </a:r>
          </a:p>
        </p:txBody>
      </p:sp>
      <p:sp>
        <p:nvSpPr>
          <p:cNvPr id="4" name="">
            <a:extLst xmlns:a="http://schemas.openxmlformats.org/drawingml/2006/main">
              <a:ext uri="{FF2B5EF4-FFF2-40B4-BE49-F238E27FC236}">
                <a16:creationId xmlns:a16="http://schemas.microsoft.com/office/drawing/2014/main" id="{E26E277B-8E21-4A80-BAD2-0AC5FEC028E4}"/>
              </a:ext>
            </a:extLst>
          </p:cNvPr>
          <p:cNvSpPr>
            <a:spLocks xmlns:a="http://schemas.openxmlformats.org/drawingml/2006/main" noGrp="1"/>
          </p:cNvSpPr>
          <p:nvPr/>
        </p:nvSpPr>
        <p:spPr>
          <a:xfrm xmlns:a="http://schemas.openxmlformats.org/drawingml/2006/main">
            <a:off x="609600" y="6496050"/>
            <a:ext cx="8572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125" b="0">
                <a:solidFill>
                  <a:srgbClr val="4D606A"/>
                </a:solidFill>
                <a:latin typeface="Helvetica Neue"/>
                <a:ea typeface="Helvetica Neue"/>
                <a:cs typeface="Helvetica Neue"/>
              </a:defRPr>
            </a:pPr>
            <a:r>
              <a:rPr sz="1125" b="0">
                <a:solidFill>
                  <a:srgbClr val="4D606A"/>
                </a:solidFill>
                <a:latin typeface="Helvetica Neue"/>
                <a:ea typeface="Helvetica Neue"/>
                <a:cs typeface="Helvetica Neue"/>
              </a:rPr>
              <a:t>CSE513 · Hafta 9</a:t>
            </a:r>
          </a:p>
        </p:txBody>
      </p:sp>
      <p:sp>
        <p:nvSpPr>
          <p:cNvPr id="5" name="">
            <a:extLst xmlns:a="http://schemas.openxmlformats.org/drawingml/2006/main">
              <a:ext uri="{FF2B5EF4-FFF2-40B4-BE49-F238E27FC236}">
                <a16:creationId xmlns:a16="http://schemas.microsoft.com/office/drawing/2014/main" id="{074149A7-C50E-46A3-9544-2990FD84A5AA}"/>
              </a:ext>
            </a:extLst>
          </p:cNvPr>
          <p:cNvSpPr>
            <a:spLocks xmlns:a="http://schemas.openxmlformats.org/drawingml/2006/main" noGrp="1"/>
          </p:cNvSpPr>
          <p:nvPr/>
        </p:nvSpPr>
        <p:spPr>
          <a:xfrm xmlns:a="http://schemas.openxmlformats.org/drawingml/2006/main">
            <a:off x="10477500" y="6457950"/>
            <a:ext cx="10953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350" b="1">
                <a:solidFill>
                  <a:srgbClr val="087E83"/>
                </a:solidFill>
                <a:latin typeface="Helvetica Neue"/>
                <a:ea typeface="Helvetica Neue"/>
                <a:cs typeface="Helvetica Neue"/>
              </a:defRPr>
            </a:pPr>
            <a:r>
              <a:rPr sz="1350" b="1">
                <a:solidFill>
                  <a:srgbClr val="087E83"/>
                </a:solidFill>
                <a:latin typeface="Helvetica Neue"/>
                <a:ea typeface="Helvetica Neue"/>
                <a:cs typeface="Helvetica Neue"/>
              </a:rPr>
              <a:t>26 / 27</a:t>
            </a:r>
          </a:p>
        </p:txBody>
      </p:sp>
    </p:spTree>
    <p:extLst>
      <p:ext uri="{BB962C8B-B14F-4D97-AF65-F5344CB8AC3E}">
        <p14:creationId xmlns:p14="http://schemas.microsoft.com/office/powerpoint/2010/main" val="2017051227"/>
      </p:ext>
    </p:extLst>
  </p:cSld>
</p:sld>
</file>

<file path=ppt/slides/slide27.xml><?xml version="1.0" encoding="utf-8"?>
<p:sld xmlns:p="http://schemas.openxmlformats.org/presentationml/2006/main">
  <p:cSld>
    <p:bg>
      <p:bgPr>
        <a:solidFill xmlns:a="http://schemas.openxmlformats.org/drawingml/2006/main">
          <a:srgbClr val="F5F1E8"/>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AF6F872E-7F6F-4E95-B313-8D86B0291735}"/>
              </a:ext>
            </a:extLst>
          </p:cNvPr>
          <p:cNvSpPr>
            <a:spLocks xmlns:a="http://schemas.openxmlformats.org/drawingml/2006/main" noGrp="1"/>
          </p:cNvSpPr>
          <p:nvPr/>
        </p:nvSpPr>
        <p:spPr>
          <a:xfrm xmlns:a="http://schemas.openxmlformats.org/drawingml/2006/main">
            <a:off x="609600" y="600075"/>
            <a:ext cx="1097280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300" b="1">
                <a:solidFill>
                  <a:srgbClr val="122C42"/>
                </a:solidFill>
                <a:latin typeface="Helvetica Neue"/>
                <a:ea typeface="Helvetica Neue"/>
                <a:cs typeface="Helvetica Neue"/>
              </a:defRPr>
            </a:pPr>
            <a:r>
              <a:rPr sz="3300" b="1">
                <a:solidFill>
                  <a:srgbClr val="122C42"/>
                </a:solidFill>
                <a:latin typeface="Helvetica Neue"/>
                <a:ea typeface="Helvetica Neue"/>
                <a:cs typeface="Helvetica Neue"/>
              </a:rPr>
              <a:t>Çıkış bileti: sınırı mekanizmayla anlat</a:t>
            </a:r>
          </a:p>
        </p:txBody>
      </p:sp>
      <p:sp>
        <p:nvSpPr>
          <p:cNvPr id="2" name="">
            <a:extLst xmlns:a="http://schemas.openxmlformats.org/drawingml/2006/main">
              <a:ext uri="{FF2B5EF4-FFF2-40B4-BE49-F238E27FC236}">
                <a16:creationId xmlns:a16="http://schemas.microsoft.com/office/drawing/2014/main" id="{A6EF5648-ED4B-4673-AFDC-799D93766988}"/>
              </a:ext>
            </a:extLst>
          </p:cNvPr>
          <p:cNvSpPr>
            <a:spLocks xmlns:a="http://schemas.openxmlformats.org/drawingml/2006/main" noGrp="1"/>
          </p:cNvSpPr>
          <p:nvPr/>
        </p:nvSpPr>
        <p:spPr>
          <a:xfrm xmlns:a="http://schemas.openxmlformats.org/drawingml/2006/main">
            <a:off x="609600" y="1952625"/>
            <a:ext cx="438150" cy="536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1">
                <a:solidFill>
                  <a:srgbClr val="087E83"/>
                </a:solidFill>
                <a:latin typeface="Helvetica Neue"/>
                <a:ea typeface="Helvetica Neue"/>
                <a:cs typeface="Helvetica Neue"/>
              </a:defRPr>
            </a:pPr>
            <a:r>
              <a:rPr sz="2100" b="1">
                <a:solidFill>
                  <a:srgbClr val="087E83"/>
                </a:solidFill>
                <a:latin typeface="Helvetica Neue"/>
                <a:ea typeface="Helvetica Neue"/>
                <a:cs typeface="Helvetica Neue"/>
              </a:rPr>
              <a:t>01</a:t>
            </a:r>
          </a:p>
        </p:txBody>
      </p:sp>
      <p:sp>
        <p:nvSpPr>
          <p:cNvPr id="3" name="">
            <a:extLst xmlns:a="http://schemas.openxmlformats.org/drawingml/2006/main">
              <a:ext uri="{FF2B5EF4-FFF2-40B4-BE49-F238E27FC236}">
                <a16:creationId xmlns:a16="http://schemas.microsoft.com/office/drawing/2014/main" id="{436966B4-BC89-4A54-A9CC-D70E17388E6D}"/>
              </a:ext>
            </a:extLst>
          </p:cNvPr>
          <p:cNvSpPr>
            <a:spLocks xmlns:a="http://schemas.openxmlformats.org/drawingml/2006/main" noGrp="1"/>
          </p:cNvSpPr>
          <p:nvPr/>
        </p:nvSpPr>
        <p:spPr>
          <a:xfrm xmlns:a="http://schemas.openxmlformats.org/drawingml/2006/main">
            <a:off x="1333500" y="1952625"/>
            <a:ext cx="10248900" cy="536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400" b="0">
                <a:solidFill>
                  <a:srgbClr val="122C42"/>
                </a:solidFill>
                <a:latin typeface="Helvetica Neue"/>
                <a:ea typeface="Helvetica Neue"/>
                <a:cs typeface="Helvetica Neue"/>
              </a:defRPr>
            </a:pPr>
            <a:r>
              <a:rPr sz="2400" b="0">
                <a:solidFill>
                  <a:srgbClr val="122C42"/>
                </a:solidFill>
                <a:latin typeface="Helvetica Neue"/>
                <a:ea typeface="Helvetica Neue"/>
                <a:cs typeface="Helvetica Neue"/>
              </a:rPr>
              <a:t>Guest kernel ve container kernel?</a:t>
            </a:r>
          </a:p>
        </p:txBody>
      </p:sp>
      <p:sp>
        <p:nvSpPr>
          <p:cNvPr id="4" name="">
            <a:extLst xmlns:a="http://schemas.openxmlformats.org/drawingml/2006/main">
              <a:ext uri="{FF2B5EF4-FFF2-40B4-BE49-F238E27FC236}">
                <a16:creationId xmlns:a16="http://schemas.microsoft.com/office/drawing/2014/main" id="{A45F2DD3-2D97-47EE-9281-8443845AF2B8}"/>
              </a:ext>
            </a:extLst>
          </p:cNvPr>
          <p:cNvSpPr>
            <a:spLocks xmlns:a="http://schemas.openxmlformats.org/drawingml/2006/main" noGrp="1"/>
          </p:cNvSpPr>
          <p:nvPr/>
        </p:nvSpPr>
        <p:spPr>
          <a:xfrm xmlns:a="http://schemas.openxmlformats.org/drawingml/2006/main">
            <a:off x="609600" y="2584450"/>
            <a:ext cx="438150" cy="536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1">
                <a:solidFill>
                  <a:srgbClr val="087E83"/>
                </a:solidFill>
                <a:latin typeface="Helvetica Neue"/>
                <a:ea typeface="Helvetica Neue"/>
                <a:cs typeface="Helvetica Neue"/>
              </a:defRPr>
            </a:pPr>
            <a:r>
              <a:rPr sz="2100" b="1">
                <a:solidFill>
                  <a:srgbClr val="087E83"/>
                </a:solidFill>
                <a:latin typeface="Helvetica Neue"/>
                <a:ea typeface="Helvetica Neue"/>
                <a:cs typeface="Helvetica Neue"/>
              </a:rPr>
              <a:t>02</a:t>
            </a:r>
          </a:p>
        </p:txBody>
      </p:sp>
      <p:sp>
        <p:nvSpPr>
          <p:cNvPr id="5" name="">
            <a:extLst xmlns:a="http://schemas.openxmlformats.org/drawingml/2006/main">
              <a:ext uri="{FF2B5EF4-FFF2-40B4-BE49-F238E27FC236}">
                <a16:creationId xmlns:a16="http://schemas.microsoft.com/office/drawing/2014/main" id="{61A2A528-E05B-40C1-A8FD-C75D46B01FE9}"/>
              </a:ext>
            </a:extLst>
          </p:cNvPr>
          <p:cNvSpPr>
            <a:spLocks xmlns:a="http://schemas.openxmlformats.org/drawingml/2006/main" noGrp="1"/>
          </p:cNvSpPr>
          <p:nvPr/>
        </p:nvSpPr>
        <p:spPr>
          <a:xfrm xmlns:a="http://schemas.openxmlformats.org/drawingml/2006/main">
            <a:off x="1333500" y="2584450"/>
            <a:ext cx="10248900" cy="536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400" b="0">
                <a:solidFill>
                  <a:srgbClr val="122C42"/>
                </a:solidFill>
                <a:latin typeface="Helvetica Neue"/>
                <a:ea typeface="Helvetica Neue"/>
                <a:cs typeface="Helvetica Neue"/>
              </a:defRPr>
            </a:pPr>
            <a:r>
              <a:rPr sz="2400" b="0">
                <a:solidFill>
                  <a:srgbClr val="122C42"/>
                </a:solidFill>
                <a:latin typeface="Helvetica Neue"/>
                <a:ea typeface="Helvetica Neue"/>
                <a:cs typeface="Helvetica Neue"/>
              </a:rPr>
              <a:t>Namespace ile cgroup farkı?</a:t>
            </a:r>
          </a:p>
        </p:txBody>
      </p:sp>
      <p:sp>
        <p:nvSpPr>
          <p:cNvPr id="6" name="">
            <a:extLst xmlns:a="http://schemas.openxmlformats.org/drawingml/2006/main">
              <a:ext uri="{FF2B5EF4-FFF2-40B4-BE49-F238E27FC236}">
                <a16:creationId xmlns:a16="http://schemas.microsoft.com/office/drawing/2014/main" id="{0A790AEA-66FC-423D-9BBD-817CB23B3A33}"/>
              </a:ext>
            </a:extLst>
          </p:cNvPr>
          <p:cNvSpPr>
            <a:spLocks xmlns:a="http://schemas.openxmlformats.org/drawingml/2006/main" noGrp="1"/>
          </p:cNvSpPr>
          <p:nvPr/>
        </p:nvSpPr>
        <p:spPr>
          <a:xfrm xmlns:a="http://schemas.openxmlformats.org/drawingml/2006/main">
            <a:off x="609600" y="3216275"/>
            <a:ext cx="438150" cy="536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1">
                <a:solidFill>
                  <a:srgbClr val="087E83"/>
                </a:solidFill>
                <a:latin typeface="Helvetica Neue"/>
                <a:ea typeface="Helvetica Neue"/>
                <a:cs typeface="Helvetica Neue"/>
              </a:defRPr>
            </a:pPr>
            <a:r>
              <a:rPr sz="2100" b="1">
                <a:solidFill>
                  <a:srgbClr val="087E83"/>
                </a:solidFill>
                <a:latin typeface="Helvetica Neue"/>
                <a:ea typeface="Helvetica Neue"/>
                <a:cs typeface="Helvetica Neue"/>
              </a:rPr>
              <a:t>03</a:t>
            </a:r>
          </a:p>
        </p:txBody>
      </p:sp>
      <p:sp>
        <p:nvSpPr>
          <p:cNvPr id="7" name="">
            <a:extLst xmlns:a="http://schemas.openxmlformats.org/drawingml/2006/main">
              <a:ext uri="{FF2B5EF4-FFF2-40B4-BE49-F238E27FC236}">
                <a16:creationId xmlns:a16="http://schemas.microsoft.com/office/drawing/2014/main" id="{2B3E57E3-29D0-43B2-8CF3-213FACEECDD7}"/>
              </a:ext>
            </a:extLst>
          </p:cNvPr>
          <p:cNvSpPr>
            <a:spLocks xmlns:a="http://schemas.openxmlformats.org/drawingml/2006/main" noGrp="1"/>
          </p:cNvSpPr>
          <p:nvPr/>
        </p:nvSpPr>
        <p:spPr>
          <a:xfrm xmlns:a="http://schemas.openxmlformats.org/drawingml/2006/main">
            <a:off x="1333500" y="3216275"/>
            <a:ext cx="10248900" cy="536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400" b="0">
                <a:solidFill>
                  <a:srgbClr val="122C42"/>
                </a:solidFill>
                <a:latin typeface="Helvetica Neue"/>
                <a:ea typeface="Helvetica Neue"/>
                <a:cs typeface="Helvetica Neue"/>
              </a:defRPr>
            </a:pPr>
            <a:r>
              <a:rPr sz="2400" b="0">
                <a:solidFill>
                  <a:srgbClr val="122C42"/>
                </a:solidFill>
                <a:latin typeface="Helvetica Neue"/>
                <a:ea typeface="Helvetica Neue"/>
                <a:cs typeface="Helvetica Neue"/>
              </a:rPr>
              <a:t>Quota deadline garantisi mi?</a:t>
            </a:r>
          </a:p>
        </p:txBody>
      </p:sp>
      <p:sp>
        <p:nvSpPr>
          <p:cNvPr id="8" name="">
            <a:extLst xmlns:a="http://schemas.openxmlformats.org/drawingml/2006/main">
              <a:ext uri="{FF2B5EF4-FFF2-40B4-BE49-F238E27FC236}">
                <a16:creationId xmlns:a16="http://schemas.microsoft.com/office/drawing/2014/main" id="{445D6426-B3F3-4287-8480-0EE5BCD02A6B}"/>
              </a:ext>
            </a:extLst>
          </p:cNvPr>
          <p:cNvSpPr>
            <a:spLocks xmlns:a="http://schemas.openxmlformats.org/drawingml/2006/main" noGrp="1"/>
          </p:cNvSpPr>
          <p:nvPr/>
        </p:nvSpPr>
        <p:spPr>
          <a:xfrm xmlns:a="http://schemas.openxmlformats.org/drawingml/2006/main">
            <a:off x="609600" y="3848100"/>
            <a:ext cx="438150" cy="536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1">
                <a:solidFill>
                  <a:srgbClr val="087E83"/>
                </a:solidFill>
                <a:latin typeface="Helvetica Neue"/>
                <a:ea typeface="Helvetica Neue"/>
                <a:cs typeface="Helvetica Neue"/>
              </a:defRPr>
            </a:pPr>
            <a:r>
              <a:rPr sz="2100" b="1">
                <a:solidFill>
                  <a:srgbClr val="087E83"/>
                </a:solidFill>
                <a:latin typeface="Helvetica Neue"/>
                <a:ea typeface="Helvetica Neue"/>
                <a:cs typeface="Helvetica Neue"/>
              </a:rPr>
              <a:t>04</a:t>
            </a:r>
          </a:p>
        </p:txBody>
      </p:sp>
      <p:sp>
        <p:nvSpPr>
          <p:cNvPr id="9" name="">
            <a:extLst xmlns:a="http://schemas.openxmlformats.org/drawingml/2006/main">
              <a:ext uri="{FF2B5EF4-FFF2-40B4-BE49-F238E27FC236}">
                <a16:creationId xmlns:a16="http://schemas.microsoft.com/office/drawing/2014/main" id="{2A892ABA-CE25-4E66-A68C-B8A97826BC25}"/>
              </a:ext>
            </a:extLst>
          </p:cNvPr>
          <p:cNvSpPr>
            <a:spLocks xmlns:a="http://schemas.openxmlformats.org/drawingml/2006/main" noGrp="1"/>
          </p:cNvSpPr>
          <p:nvPr/>
        </p:nvSpPr>
        <p:spPr>
          <a:xfrm xmlns:a="http://schemas.openxmlformats.org/drawingml/2006/main">
            <a:off x="1333500" y="3848100"/>
            <a:ext cx="10248900" cy="536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400" b="0">
                <a:solidFill>
                  <a:srgbClr val="122C42"/>
                </a:solidFill>
                <a:latin typeface="Helvetica Neue"/>
                <a:ea typeface="Helvetica Neue"/>
                <a:cs typeface="Helvetica Neue"/>
              </a:defRPr>
            </a:pPr>
            <a:r>
              <a:rPr sz="2400" b="0">
                <a:solidFill>
                  <a:srgbClr val="122C42"/>
                </a:solidFill>
                <a:latin typeface="Helvetica Neue"/>
                <a:ea typeface="Helvetica Neue"/>
                <a:cs typeface="Helvetica Neue"/>
              </a:rPr>
              <a:t>Visible dosya writable mı?</a:t>
            </a:r>
          </a:p>
        </p:txBody>
      </p:sp>
      <p:sp>
        <p:nvSpPr>
          <p:cNvPr id="10" name="">
            <a:extLst xmlns:a="http://schemas.openxmlformats.org/drawingml/2006/main">
              <a:ext uri="{FF2B5EF4-FFF2-40B4-BE49-F238E27FC236}">
                <a16:creationId xmlns:a16="http://schemas.microsoft.com/office/drawing/2014/main" id="{CA54F642-AAE2-45FB-A265-90D44093C3BF}"/>
              </a:ext>
            </a:extLst>
          </p:cNvPr>
          <p:cNvSpPr>
            <a:spLocks xmlns:a="http://schemas.openxmlformats.org/drawingml/2006/main" noGrp="1"/>
          </p:cNvSpPr>
          <p:nvPr/>
        </p:nvSpPr>
        <p:spPr>
          <a:xfrm xmlns:a="http://schemas.openxmlformats.org/drawingml/2006/main">
            <a:off x="609600" y="4479925"/>
            <a:ext cx="438150" cy="536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1">
                <a:solidFill>
                  <a:srgbClr val="087E83"/>
                </a:solidFill>
                <a:latin typeface="Helvetica Neue"/>
                <a:ea typeface="Helvetica Neue"/>
                <a:cs typeface="Helvetica Neue"/>
              </a:defRPr>
            </a:pPr>
            <a:r>
              <a:rPr sz="2100" b="1">
                <a:solidFill>
                  <a:srgbClr val="087E83"/>
                </a:solidFill>
                <a:latin typeface="Helvetica Neue"/>
                <a:ea typeface="Helvetica Neue"/>
                <a:cs typeface="Helvetica Neue"/>
              </a:rPr>
              <a:t>05</a:t>
            </a:r>
          </a:p>
        </p:txBody>
      </p:sp>
      <p:sp>
        <p:nvSpPr>
          <p:cNvPr id="11" name="">
            <a:extLst xmlns:a="http://schemas.openxmlformats.org/drawingml/2006/main">
              <a:ext uri="{FF2B5EF4-FFF2-40B4-BE49-F238E27FC236}">
                <a16:creationId xmlns:a16="http://schemas.microsoft.com/office/drawing/2014/main" id="{687FA604-6134-4135-875B-158A0696A1B3}"/>
              </a:ext>
            </a:extLst>
          </p:cNvPr>
          <p:cNvSpPr>
            <a:spLocks xmlns:a="http://schemas.openxmlformats.org/drawingml/2006/main" noGrp="1"/>
          </p:cNvSpPr>
          <p:nvPr/>
        </p:nvSpPr>
        <p:spPr>
          <a:xfrm xmlns:a="http://schemas.openxmlformats.org/drawingml/2006/main">
            <a:off x="1333500" y="4479925"/>
            <a:ext cx="10248900" cy="536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400" b="0">
                <a:solidFill>
                  <a:srgbClr val="122C42"/>
                </a:solidFill>
                <a:latin typeface="Helvetica Neue"/>
                <a:ea typeface="Helvetica Neue"/>
                <a:cs typeface="Helvetica Neue"/>
              </a:defRPr>
            </a:pPr>
            <a:r>
              <a:rPr sz="2400" b="0">
                <a:solidFill>
                  <a:srgbClr val="122C42"/>
                </a:solidFill>
                <a:latin typeface="Helvetica Neue"/>
                <a:ea typeface="Helvetica Neue"/>
                <a:cs typeface="Helvetica Neue"/>
              </a:rPr>
              <a:t>Root mapping neden önemli?</a:t>
            </a:r>
          </a:p>
        </p:txBody>
      </p:sp>
      <p:sp>
        <p:nvSpPr>
          <p:cNvPr id="12" name="">
            <a:extLst xmlns:a="http://schemas.openxmlformats.org/drawingml/2006/main">
              <a:ext uri="{FF2B5EF4-FFF2-40B4-BE49-F238E27FC236}">
                <a16:creationId xmlns:a16="http://schemas.microsoft.com/office/drawing/2014/main" id="{138ED501-960C-46B1-8402-99560D4D4604}"/>
              </a:ext>
            </a:extLst>
          </p:cNvPr>
          <p:cNvSpPr>
            <a:spLocks xmlns:a="http://schemas.openxmlformats.org/drawingml/2006/main" noGrp="1"/>
          </p:cNvSpPr>
          <p:nvPr/>
        </p:nvSpPr>
        <p:spPr>
          <a:xfrm xmlns:a="http://schemas.openxmlformats.org/drawingml/2006/main">
            <a:off x="609600" y="5111750"/>
            <a:ext cx="438150" cy="536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1">
                <a:solidFill>
                  <a:srgbClr val="087E83"/>
                </a:solidFill>
                <a:latin typeface="Helvetica Neue"/>
                <a:ea typeface="Helvetica Neue"/>
                <a:cs typeface="Helvetica Neue"/>
              </a:defRPr>
            </a:pPr>
            <a:r>
              <a:rPr sz="2100" b="1">
                <a:solidFill>
                  <a:srgbClr val="087E83"/>
                </a:solidFill>
                <a:latin typeface="Helvetica Neue"/>
                <a:ea typeface="Helvetica Neue"/>
                <a:cs typeface="Helvetica Neue"/>
              </a:rPr>
              <a:t>06</a:t>
            </a:r>
          </a:p>
        </p:txBody>
      </p:sp>
      <p:sp>
        <p:nvSpPr>
          <p:cNvPr id="13" name="">
            <a:extLst xmlns:a="http://schemas.openxmlformats.org/drawingml/2006/main">
              <a:ext uri="{FF2B5EF4-FFF2-40B4-BE49-F238E27FC236}">
                <a16:creationId xmlns:a16="http://schemas.microsoft.com/office/drawing/2014/main" id="{A351C8E3-7512-41F6-B9E7-A39D8642D82C}"/>
              </a:ext>
            </a:extLst>
          </p:cNvPr>
          <p:cNvSpPr>
            <a:spLocks xmlns:a="http://schemas.openxmlformats.org/drawingml/2006/main" noGrp="1"/>
          </p:cNvSpPr>
          <p:nvPr/>
        </p:nvSpPr>
        <p:spPr>
          <a:xfrm xmlns:a="http://schemas.openxmlformats.org/drawingml/2006/main">
            <a:off x="1333500" y="5111750"/>
            <a:ext cx="10248900" cy="536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400" b="0">
                <a:solidFill>
                  <a:srgbClr val="122C42"/>
                </a:solidFill>
                <a:latin typeface="Helvetica Neue"/>
                <a:ea typeface="Helvetica Neue"/>
                <a:cs typeface="Helvetica Neue"/>
              </a:defRPr>
            </a:pPr>
            <a:r>
              <a:rPr sz="2400" b="0">
                <a:solidFill>
                  <a:srgbClr val="122C42"/>
                </a:solidFill>
                <a:latin typeface="Helvetica Neue"/>
                <a:ea typeface="Helvetica Neue"/>
                <a:cs typeface="Helvetica Neue"/>
              </a:rPr>
              <a:t>Model neyi kanıtlamaz?</a:t>
            </a:r>
          </a:p>
        </p:txBody>
      </p:sp>
      <p:sp>
        <p:nvSpPr>
          <p:cNvPr id="14" name="">
            <a:extLst xmlns:a="http://schemas.openxmlformats.org/drawingml/2006/main">
              <a:ext uri="{FF2B5EF4-FFF2-40B4-BE49-F238E27FC236}">
                <a16:creationId xmlns:a16="http://schemas.microsoft.com/office/drawing/2014/main" id="{7F417E31-4F91-4E9E-9A2F-A071369F08F4}"/>
              </a:ext>
            </a:extLst>
          </p:cNvPr>
          <p:cNvSpPr>
            <a:spLocks xmlns:a="http://schemas.openxmlformats.org/drawingml/2006/main" noGrp="1"/>
          </p:cNvSpPr>
          <p:nvPr/>
        </p:nvSpPr>
        <p:spPr>
          <a:xfrm xmlns:a="http://schemas.openxmlformats.org/drawingml/2006/main">
            <a:off x="609600" y="6496050"/>
            <a:ext cx="8572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125" b="0">
                <a:solidFill>
                  <a:srgbClr val="4D606A"/>
                </a:solidFill>
                <a:latin typeface="Helvetica Neue"/>
                <a:ea typeface="Helvetica Neue"/>
                <a:cs typeface="Helvetica Neue"/>
              </a:defRPr>
            </a:pPr>
            <a:r>
              <a:rPr sz="1125" b="0">
                <a:solidFill>
                  <a:srgbClr val="4D606A"/>
                </a:solidFill>
                <a:latin typeface="Helvetica Neue"/>
                <a:ea typeface="Helvetica Neue"/>
                <a:cs typeface="Helvetica Neue"/>
              </a:rPr>
              <a:t>CSE513 · Hafta 9</a:t>
            </a:r>
          </a:p>
        </p:txBody>
      </p:sp>
      <p:sp>
        <p:nvSpPr>
          <p:cNvPr id="15" name="">
            <a:extLst xmlns:a="http://schemas.openxmlformats.org/drawingml/2006/main">
              <a:ext uri="{FF2B5EF4-FFF2-40B4-BE49-F238E27FC236}">
                <a16:creationId xmlns:a16="http://schemas.microsoft.com/office/drawing/2014/main" id="{A8AB4D78-778E-489E-8CF6-83E506B43798}"/>
              </a:ext>
            </a:extLst>
          </p:cNvPr>
          <p:cNvSpPr>
            <a:spLocks xmlns:a="http://schemas.openxmlformats.org/drawingml/2006/main" noGrp="1"/>
          </p:cNvSpPr>
          <p:nvPr/>
        </p:nvSpPr>
        <p:spPr>
          <a:xfrm xmlns:a="http://schemas.openxmlformats.org/drawingml/2006/main">
            <a:off x="10477500" y="6457950"/>
            <a:ext cx="10953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350" b="1">
                <a:solidFill>
                  <a:srgbClr val="087E83"/>
                </a:solidFill>
                <a:latin typeface="Helvetica Neue"/>
                <a:ea typeface="Helvetica Neue"/>
                <a:cs typeface="Helvetica Neue"/>
              </a:defRPr>
            </a:pPr>
            <a:r>
              <a:rPr sz="1350" b="1">
                <a:solidFill>
                  <a:srgbClr val="087E83"/>
                </a:solidFill>
                <a:latin typeface="Helvetica Neue"/>
                <a:ea typeface="Helvetica Neue"/>
                <a:cs typeface="Helvetica Neue"/>
              </a:rPr>
              <a:t>27 / 27</a:t>
            </a:r>
          </a:p>
        </p:txBody>
      </p:sp>
    </p:spTree>
    <p:extLst>
      <p:ext uri="{BB962C8B-B14F-4D97-AF65-F5344CB8AC3E}">
        <p14:creationId xmlns:p14="http://schemas.microsoft.com/office/powerpoint/2010/main" val="2000932380"/>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2026-10-07T20:10:04.0950000Z</dcterms:created>
  <dcterms:modified xsi:type="dcterms:W3CDTF">2026-10-07T20:10:04.0950000Z</dcterms:modified>
</coreProperties>
</file>