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a964f14e254d80" /><Relationship Type="http://schemas.openxmlformats.org/officeDocument/2006/relationships/extended-properties" Target="/docProps/app.xml" Id="R298fe772ca7e44bb" /><Relationship Type="http://schemas.openxmlformats.org/officeDocument/2006/relationships/officeDocument" Target="/ppt/presentation.xml" Id="R270ce76439b14cb8" /></Relationships>
</file>

<file path=ppt/presentation.xml><?xml version="1.0" encoding="utf-8"?>
<p:presentation xmlns:p="http://schemas.openxmlformats.org/presentationml/2006/main">
  <p:sldMasterIdLst>
    <p:sldMasterId xmlns:r="http://schemas.openxmlformats.org/officeDocument/2006/relationships" id="2147483648" r:id="Rb2489499c97e45db"/>
  </p:sldMasterIdLst>
  <p:notesMasterIdLst>
    <p:notesMasterId xmlns:r="http://schemas.openxmlformats.org/officeDocument/2006/relationships" r:id="R6e5df2ee30514b69"/>
  </p:notesMasterIdLst>
  <p:sldIdLst>
    <p:sldId xmlns:r="http://schemas.openxmlformats.org/officeDocument/2006/relationships" id="256" r:id="R4f98a27b9e5f45eb"/>
    <p:sldId xmlns:r="http://schemas.openxmlformats.org/officeDocument/2006/relationships" id="257" r:id="Reeaa011ce1744211"/>
    <p:sldId xmlns:r="http://schemas.openxmlformats.org/officeDocument/2006/relationships" id="258" r:id="Rffff7c0e7f844262"/>
    <p:sldId xmlns:r="http://schemas.openxmlformats.org/officeDocument/2006/relationships" id="259" r:id="R10e21459dbd5477b"/>
    <p:sldId xmlns:r="http://schemas.openxmlformats.org/officeDocument/2006/relationships" id="260" r:id="R5f67600ee7884f7f"/>
    <p:sldId xmlns:r="http://schemas.openxmlformats.org/officeDocument/2006/relationships" id="261" r:id="R1a32560e188342d1"/>
    <p:sldId xmlns:r="http://schemas.openxmlformats.org/officeDocument/2006/relationships" id="262" r:id="R5e0c796979954c5b"/>
    <p:sldId xmlns:r="http://schemas.openxmlformats.org/officeDocument/2006/relationships" id="263" r:id="R64f112b6c30f4cf0"/>
    <p:sldId xmlns:r="http://schemas.openxmlformats.org/officeDocument/2006/relationships" id="264" r:id="R68c84361383f46a0"/>
    <p:sldId xmlns:r="http://schemas.openxmlformats.org/officeDocument/2006/relationships" id="265" r:id="R6ec6b55c116a4e77"/>
    <p:sldId xmlns:r="http://schemas.openxmlformats.org/officeDocument/2006/relationships" id="266" r:id="R9a2ee4384b364193"/>
    <p:sldId xmlns:r="http://schemas.openxmlformats.org/officeDocument/2006/relationships" id="267" r:id="Rc9c1bd88f00845db"/>
    <p:sldId xmlns:r="http://schemas.openxmlformats.org/officeDocument/2006/relationships" id="268" r:id="R92a5690b3fb74e19"/>
    <p:sldId xmlns:r="http://schemas.openxmlformats.org/officeDocument/2006/relationships" id="269" r:id="R85b0c89111cb4d2b"/>
    <p:sldId xmlns:r="http://schemas.openxmlformats.org/officeDocument/2006/relationships" id="270" r:id="R0cf9c48afca44d74"/>
    <p:sldId xmlns:r="http://schemas.openxmlformats.org/officeDocument/2006/relationships" id="271" r:id="R68bc6759dfed4f78"/>
    <p:sldId xmlns:r="http://schemas.openxmlformats.org/officeDocument/2006/relationships" id="272" r:id="R71b4ffd4ef274a55"/>
    <p:sldId xmlns:r="http://schemas.openxmlformats.org/officeDocument/2006/relationships" id="273" r:id="Rfcc4027bf5d342a4"/>
    <p:sldId xmlns:r="http://schemas.openxmlformats.org/officeDocument/2006/relationships" id="274" r:id="Rad5c704cd0c24844"/>
    <p:sldId xmlns:r="http://schemas.openxmlformats.org/officeDocument/2006/relationships" id="275" r:id="R4cd91d71a597406c"/>
    <p:sldId xmlns:r="http://schemas.openxmlformats.org/officeDocument/2006/relationships" id="276" r:id="R70a121e1db544a62"/>
    <p:sldId xmlns:r="http://schemas.openxmlformats.org/officeDocument/2006/relationships" id="277" r:id="R31f7c70e0f29445f"/>
    <p:sldId xmlns:r="http://schemas.openxmlformats.org/officeDocument/2006/relationships" id="278" r:id="Rf5f270826dea4b8e"/>
    <p:sldId xmlns:r="http://schemas.openxmlformats.org/officeDocument/2006/relationships" id="279" r:id="R767854c4e6b34d8c"/>
    <p:sldId xmlns:r="http://schemas.openxmlformats.org/officeDocument/2006/relationships" id="280" r:id="R0e873583b8bd4399"/>
    <p:sldId xmlns:r="http://schemas.openxmlformats.org/officeDocument/2006/relationships" id="281" r:id="R9b6f2b0a78a64752"/>
    <p:sldId xmlns:r="http://schemas.openxmlformats.org/officeDocument/2006/relationships" id="282" r:id="Reccdd12efecd4bc9"/>
    <p:sldId xmlns:r="http://schemas.openxmlformats.org/officeDocument/2006/relationships" id="283" r:id="R095557457d5d42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3e3220899d4a7e" /><Relationship Type="http://schemas.openxmlformats.org/officeDocument/2006/relationships/slideMaster" Target="/ppt/slideMasters/slideMaster1.xml" Id="Rb2489499c97e45db" /><Relationship Type="http://schemas.openxmlformats.org/officeDocument/2006/relationships/notesMaster" Target="/ppt/notesMasters/notesMaster1.xml" Id="R6e5df2ee30514b69" /><Relationship Type="http://schemas.openxmlformats.org/officeDocument/2006/relationships/presProps" Target="/ppt/presProps.xml" Id="R06d421c52e0840dd" /><Relationship Type="http://schemas.openxmlformats.org/officeDocument/2006/relationships/tableStyles" Target="/ppt/tableStyles.xml" Id="R58d1819a5431453e" /><Relationship Type="http://schemas.openxmlformats.org/officeDocument/2006/relationships/slide" Target="/ppt/slides/slide1.xml" Id="R4f98a27b9e5f45eb" /><Relationship Type="http://schemas.openxmlformats.org/officeDocument/2006/relationships/slide" Target="/ppt/slides/slide2.xml" Id="Reeaa011ce1744211" /><Relationship Type="http://schemas.openxmlformats.org/officeDocument/2006/relationships/slide" Target="/ppt/slides/slide3.xml" Id="Rffff7c0e7f844262" /><Relationship Type="http://schemas.openxmlformats.org/officeDocument/2006/relationships/slide" Target="/ppt/slides/slide4.xml" Id="R10e21459dbd5477b" /><Relationship Type="http://schemas.openxmlformats.org/officeDocument/2006/relationships/slide" Target="/ppt/slides/slide5.xml" Id="R5f67600ee7884f7f" /><Relationship Type="http://schemas.openxmlformats.org/officeDocument/2006/relationships/slide" Target="/ppt/slides/slide6.xml" Id="R1a32560e188342d1" /><Relationship Type="http://schemas.openxmlformats.org/officeDocument/2006/relationships/slide" Target="/ppt/slides/slide7.xml" Id="R5e0c796979954c5b" /><Relationship Type="http://schemas.openxmlformats.org/officeDocument/2006/relationships/slide" Target="/ppt/slides/slide8.xml" Id="R64f112b6c30f4cf0" /><Relationship Type="http://schemas.openxmlformats.org/officeDocument/2006/relationships/slide" Target="/ppt/slides/slide9.xml" Id="R68c84361383f46a0" /><Relationship Type="http://schemas.openxmlformats.org/officeDocument/2006/relationships/slide" Target="/ppt/slides/slide10.xml" Id="R6ec6b55c116a4e77" /><Relationship Type="http://schemas.openxmlformats.org/officeDocument/2006/relationships/slide" Target="/ppt/slides/slide11.xml" Id="R9a2ee4384b364193" /><Relationship Type="http://schemas.openxmlformats.org/officeDocument/2006/relationships/slide" Target="/ppt/slides/slide12.xml" Id="Rc9c1bd88f00845db" /><Relationship Type="http://schemas.openxmlformats.org/officeDocument/2006/relationships/slide" Target="/ppt/slides/slide13.xml" Id="R92a5690b3fb74e19" /><Relationship Type="http://schemas.openxmlformats.org/officeDocument/2006/relationships/slide" Target="/ppt/slides/slide14.xml" Id="R85b0c89111cb4d2b" /><Relationship Type="http://schemas.openxmlformats.org/officeDocument/2006/relationships/slide" Target="/ppt/slides/slide15.xml" Id="R0cf9c48afca44d74" /><Relationship Type="http://schemas.openxmlformats.org/officeDocument/2006/relationships/slide" Target="/ppt/slides/slide16.xml" Id="R68bc6759dfed4f78" /><Relationship Type="http://schemas.openxmlformats.org/officeDocument/2006/relationships/slide" Target="/ppt/slides/slide17.xml" Id="R71b4ffd4ef274a55" /><Relationship Type="http://schemas.openxmlformats.org/officeDocument/2006/relationships/slide" Target="/ppt/slides/slide18.xml" Id="Rfcc4027bf5d342a4" /><Relationship Type="http://schemas.openxmlformats.org/officeDocument/2006/relationships/slide" Target="/ppt/slides/slide19.xml" Id="Rad5c704cd0c24844" /><Relationship Type="http://schemas.openxmlformats.org/officeDocument/2006/relationships/slide" Target="/ppt/slides/slide20.xml" Id="R4cd91d71a597406c" /><Relationship Type="http://schemas.openxmlformats.org/officeDocument/2006/relationships/slide" Target="/ppt/slides/slide21.xml" Id="R70a121e1db544a62" /><Relationship Type="http://schemas.openxmlformats.org/officeDocument/2006/relationships/slide" Target="/ppt/slides/slide22.xml" Id="R31f7c70e0f29445f" /><Relationship Type="http://schemas.openxmlformats.org/officeDocument/2006/relationships/slide" Target="/ppt/slides/slide23.xml" Id="Rf5f270826dea4b8e" /><Relationship Type="http://schemas.openxmlformats.org/officeDocument/2006/relationships/slide" Target="/ppt/slides/slide24.xml" Id="R767854c4e6b34d8c" /><Relationship Type="http://schemas.openxmlformats.org/officeDocument/2006/relationships/slide" Target="/ppt/slides/slide25.xml" Id="R0e873583b8bd4399" /><Relationship Type="http://schemas.openxmlformats.org/officeDocument/2006/relationships/slide" Target="/ppt/slides/slide26.xml" Id="R9b6f2b0a78a64752" /><Relationship Type="http://schemas.openxmlformats.org/officeDocument/2006/relationships/slide" Target="/ppt/slides/slide27.xml" Id="Reccdd12efecd4bc9" /><Relationship Type="http://schemas.openxmlformats.org/officeDocument/2006/relationships/slide" Target="/ppt/slides/slide28.xml" Id="R095557457d5d42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48de816ca044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4c85a7c311424d" /><Relationship Type="http://schemas.openxmlformats.org/officeDocument/2006/relationships/notesMaster" Target="/ppt/notesMasters/notesMaster1.xml" Id="Rb2d9a3c6cd694a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779db471df41c0" /><Relationship Type="http://schemas.openxmlformats.org/officeDocument/2006/relationships/notesMaster" Target="/ppt/notesMasters/notesMaster1.xml" Id="R1ee591310cb94c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22218f8e3e447e" /><Relationship Type="http://schemas.openxmlformats.org/officeDocument/2006/relationships/notesMaster" Target="/ppt/notesMasters/notesMaster1.xml" Id="R1a8e8cb440354d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aedbfe254b4ff1" /><Relationship Type="http://schemas.openxmlformats.org/officeDocument/2006/relationships/notesMaster" Target="/ppt/notesMasters/notesMaster1.xml" Id="Rb620664b8e5149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f7a986f6a248d7" /><Relationship Type="http://schemas.openxmlformats.org/officeDocument/2006/relationships/notesMaster" Target="/ppt/notesMasters/notesMaster1.xml" Id="Rcd268e1e8a8f4a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b568d3b5644d77" /><Relationship Type="http://schemas.openxmlformats.org/officeDocument/2006/relationships/notesMaster" Target="/ppt/notesMasters/notesMaster1.xml" Id="Re39a8a66163d45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dc5ef9daf54730" /><Relationship Type="http://schemas.openxmlformats.org/officeDocument/2006/relationships/notesMaster" Target="/ppt/notesMasters/notesMaster1.xml" Id="R408aa233512b40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5da7afb94942be" /><Relationship Type="http://schemas.openxmlformats.org/officeDocument/2006/relationships/notesMaster" Target="/ppt/notesMasters/notesMaster1.xml" Id="Rf273eed9ce2549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1802cb0d334a71" /><Relationship Type="http://schemas.openxmlformats.org/officeDocument/2006/relationships/notesMaster" Target="/ppt/notesMasters/notesMaster1.xml" Id="Red3fa1003c2041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c0f0c75a9f44efd" /><Relationship Type="http://schemas.openxmlformats.org/officeDocument/2006/relationships/notesMaster" Target="/ppt/notesMasters/notesMaster1.xml" Id="R86d7b21d8fff4a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0c408327fd4361" /><Relationship Type="http://schemas.openxmlformats.org/officeDocument/2006/relationships/notesMaster" Target="/ppt/notesMasters/notesMaster1.xml" Id="R83aa4f261eba4b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f2d8d39ba04950" /><Relationship Type="http://schemas.openxmlformats.org/officeDocument/2006/relationships/notesMaster" Target="/ppt/notesMasters/notesMaster1.xml" Id="R40be729807d248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8c0d20eabd84494" /><Relationship Type="http://schemas.openxmlformats.org/officeDocument/2006/relationships/notesMaster" Target="/ppt/notesMasters/notesMaster1.xml" Id="R527789ebf77c4a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001729dce74721" /><Relationship Type="http://schemas.openxmlformats.org/officeDocument/2006/relationships/notesMaster" Target="/ppt/notesMasters/notesMaster1.xml" Id="Rdc81f8fd9f1f4fe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147fe8d5e646b9" /><Relationship Type="http://schemas.openxmlformats.org/officeDocument/2006/relationships/notesMaster" Target="/ppt/notesMasters/notesMaster1.xml" Id="R9a50fe59a4a7465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642842aa2e4b22" /><Relationship Type="http://schemas.openxmlformats.org/officeDocument/2006/relationships/notesMaster" Target="/ppt/notesMasters/notesMaster1.xml" Id="R756874de5e5e4fb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15c99f5bda3493a" /><Relationship Type="http://schemas.openxmlformats.org/officeDocument/2006/relationships/notesMaster" Target="/ppt/notesMasters/notesMaster1.xml" Id="R9f04605d0310418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3d0d1b7bf4341bc" /><Relationship Type="http://schemas.openxmlformats.org/officeDocument/2006/relationships/notesMaster" Target="/ppt/notesMasters/notesMaster1.xml" Id="Ra3844cf010e3432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46ce9c325ec44e0" /><Relationship Type="http://schemas.openxmlformats.org/officeDocument/2006/relationships/notesMaster" Target="/ppt/notesMasters/notesMaster1.xml" Id="R2ce94629c9c04dd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3eef0a2fd284622" /><Relationship Type="http://schemas.openxmlformats.org/officeDocument/2006/relationships/notesMaster" Target="/ppt/notesMasters/notesMaster1.xml" Id="Refc9d2d5daf34a4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4618e4ee087478d" /><Relationship Type="http://schemas.openxmlformats.org/officeDocument/2006/relationships/notesMaster" Target="/ppt/notesMasters/notesMaster1.xml" Id="R448e909739ce4d0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b0b3ef50480482a" /><Relationship Type="http://schemas.openxmlformats.org/officeDocument/2006/relationships/notesMaster" Target="/ppt/notesMasters/notesMaster1.xml" Id="R6f63773e874f442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a03923ea67540de" /><Relationship Type="http://schemas.openxmlformats.org/officeDocument/2006/relationships/notesMaster" Target="/ppt/notesMasters/notesMaster1.xml" Id="Rcc1080b4d3f249b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74a4ef0aeb5411d" /><Relationship Type="http://schemas.openxmlformats.org/officeDocument/2006/relationships/notesMaster" Target="/ppt/notesMasters/notesMaster1.xml" Id="R8fc7d648a85a4d4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780b6eeaf0c46ea" /><Relationship Type="http://schemas.openxmlformats.org/officeDocument/2006/relationships/notesMaster" Target="/ppt/notesMasters/notesMaster1.xml" Id="Rfc868c3f7aa24e4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a17eafd21e141a4" /><Relationship Type="http://schemas.openxmlformats.org/officeDocument/2006/relationships/notesMaster" Target="/ppt/notesMasters/notesMaster1.xml" Id="Ra668f8ff8a934d9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205ba871dd34840" /><Relationship Type="http://schemas.openxmlformats.org/officeDocument/2006/relationships/notesMaster" Target="/ppt/notesMasters/notesMaster1.xml" Id="R0df89bae998b4d5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ec734ac267a4664" /><Relationship Type="http://schemas.openxmlformats.org/officeDocument/2006/relationships/notesMaster" Target="/ppt/notesMasters/notesMaster1.xml" Id="R4984979d333348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CSE513 · Hafta 3</a:t>
            </a:r>
          </a:p>
          <a:p xmlns:a="http://schemas.openxmlformats.org/drawingml/2006/main">
            <a:r>
              <a:t>Concurrency ve synchronization</a:t>
            </a:r>
          </a:p>
          <a:p xmlns:a="http://schemas.openxmlformats.org/drawingml/2006/main">
            <a:r>
              <a:t/>
            </a:r>
          </a:p>
          <a:p xmlns:a="http://schemas.openxmlformats.org/drawingml/2006/main">
            <a:r>
              <a:t>Bu hafta kimin koştuğundan, paylaşılan verinin hangi sırayla güvenle değiştiğine geçiyoruz. Önce kötü bir iz bul, sonra değişmezi yaz, ardından koruma ve bekleme protokolünü seç. Örnekler tasarım senaryolarıdır; gerçek ürünlerin iç mimarisini iddia etmez.</a:t>
            </a:r>
          </a:p>
          <a:p xmlns:a="http://schemas.openxmlformats.org/drawingml/2006/main">
            <a:r>
              <a:t/>
            </a:r>
          </a:p>
          <a:p xmlns:a="http://schemas.openxmlformats.org/drawingml/2006/main">
            <a:r>
              <a:t>Özgün Lecture03 PDF sayfaları: 1, 2</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a:p xmlns:a="http://schemas.openxmlformats.org/drawingml/2006/main">
            <a:r>
              <a:t/>
            </a:r>
          </a:p>
          <a:p xmlns:a="http://schemas.openxmlformats.org/drawingml/2006/main">
            <a:r>
              <a:t>Kapak: AI üretimi kavramsal mutfak analojisi. Köken ve istem: assets/provenance.json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Preemption adımları bölebilir.</a:t>
            </a:r>
          </a:p>
          <a:p xmlns:a="http://schemas.openxmlformats.org/drawingml/2006/main">
            <a:r>
              <a:t>Pointer’ın yerel olması hedefini özel yapmaz.</a:t>
            </a:r>
          </a:p>
          <a:p xmlns:a="http://schemas.openxmlformats.org/drawingml/2006/main">
            <a:r>
              <a:t>Scheduler uygulamanın değişmezini bilmez.</a:t>
            </a:r>
          </a:p>
          <a:p xmlns:a="http://schemas.openxmlformats.org/drawingml/2006/main">
            <a:r>
              <a:t/>
            </a:r>
          </a:p>
          <a:p xmlns:a="http://schemas.openxmlformats.org/drawingml/2006/main">
            <a:r>
              <a:t>Bir thread’in kendi stack’i vardır; pointer’ının gösterdiği heap nesnesi ortak olabilir. Tek CPU’da iki işlem fiziksel olarak aynı anda çalışmasa bile read ve write arasına başka thread girebilir. Hafta 2’nin zamanlama politikası, bu haftanın veri koruma protokolünün yerine geçmez.</a:t>
            </a:r>
          </a:p>
          <a:p xmlns:a="http://schemas.openxmlformats.org/drawingml/2006/main">
            <a:r>
              <a:t/>
            </a:r>
          </a:p>
          <a:p xmlns:a="http://schemas.openxmlformats.org/drawingml/2006/main">
            <a:r>
              <a:t>SORUNUN YANITI: Hayır; işlemin adımları interleave olabilir.</a:t>
            </a:r>
          </a:p>
          <a:p xmlns:a="http://schemas.openxmlformats.org/drawingml/2006/main">
            <a:r>
              <a:t/>
            </a:r>
          </a:p>
          <a:p xmlns:a="http://schemas.openxmlformats.org/drawingml/2006/main">
            <a:r>
              <a:t>GERÇEK HAYAT: İki sekme, son bilet</a:t>
            </a:r>
          </a:p>
          <a:p xmlns:a="http://schemas.openxmlformats.org/drawingml/2006/main">
            <a:r>
              <a:t>İki istek aynı son bileti görür.</a:t>
            </a:r>
          </a:p>
          <a:p xmlns:a="http://schemas.openxmlformats.org/drawingml/2006/main">
            <a:r>
              <a:t>Mekanizma: Uygunluğu kontrol etmek ve rezervasyon tek protokol olmalı.</a:t>
            </a:r>
          </a:p>
          <a:p xmlns:a="http://schemas.openxmlformats.org/drawingml/2006/main">
            <a:r>
              <a:t>Ne zaman işe yarar: Atomik okuma ile atomik kararın farkını gör.</a:t>
            </a:r>
          </a:p>
          <a:p xmlns:a="http://schemas.openxmlformats.org/drawingml/2006/main">
            <a:r>
              <a:t/>
            </a:r>
          </a:p>
          <a:p xmlns:a="http://schemas.openxmlformats.org/drawingml/2006/main">
            <a:r>
              <a:t>Özgün Lecture03 PDF sayfaları: 3, 4</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read ve write ayrı atomik adımlar.</a:t>
            </a:r>
          </a:p>
          <a:p xmlns:a="http://schemas.openxmlformats.org/drawingml/2006/main">
            <a:r>
              <a:t>A ve B kendi read’inden sonra write yapar.</a:t>
            </a:r>
          </a:p>
          <a:p xmlns:a="http://schemas.openxmlformats.org/drawingml/2006/main">
            <a:r>
              <a:t>Olası sıralar eşit olasılıklı değildir.</a:t>
            </a:r>
          </a:p>
          <a:p xmlns:a="http://schemas.openxmlformats.org/drawingml/2006/main">
            <a:r>
              <a:t>AABB, ABAB, ABBA, BAAB, BABA, BBAA</a:t>
            </a:r>
          </a:p>
          <a:p xmlns:a="http://schemas.openxmlformats.org/drawingml/2006/main">
            <a:r>
              <a:t/>
            </a:r>
          </a:p>
          <a:p xmlns:a="http://schemas.openxmlformats.org/drawingml/2006/main">
            <a:r>
              <a:t>Başlangıç 0; read özel register’a alır, write register+1 yazar. AABB, ABAB, ABBA, BAAB, BABA, BBAA altı izinli izdir. Sequential consistency ve atomik tekil erişimler varsayılır. Bu model racy C davranışını simüle etmez; lab/interleavings.py bütün izinli sıraları deterministik üretir.</a:t>
            </a:r>
          </a:p>
          <a:p xmlns:a="http://schemas.openxmlformats.org/drawingml/2006/main">
            <a:r>
              <a:t/>
            </a:r>
          </a:p>
          <a:p xmlns:a="http://schemas.openxmlformats.org/drawingml/2006/main">
            <a:r>
              <a:t>SORUNUN YANITI: AABB ve BBAA → 2. Diğer dördü → 1. Bu 4/6 hata olasılığı değildir.</a:t>
            </a:r>
          </a:p>
          <a:p xmlns:a="http://schemas.openxmlformats.org/drawingml/2006/main">
            <a:r>
              <a:t/>
            </a:r>
          </a:p>
          <a:p xmlns:a="http://schemas.openxmlformats.org/drawingml/2006/main">
            <a:r>
              <a:t>Özgün Lecture03 PDF sayfaları: 5, 6, 8, 9</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Doğru bir koşu bütün izleri doğrulamaz.</a:t>
            </a:r>
          </a:p>
          <a:p xmlns:a="http://schemas.openxmlformats.org/drawingml/2006/main">
            <a:r>
              <a:t>C data race: undefined behavior.</a:t>
            </a:r>
          </a:p>
          <a:p xmlns:a="http://schemas.openxmlformats.org/drawingml/2006/main">
            <a:r>
              <a:t>volatile senkronizasyon sağlamaz.</a:t>
            </a:r>
          </a:p>
          <a:p xmlns:a="http://schemas.openxmlformats.org/drawingml/2006/main">
            <a:r>
              <a:t/>
            </a:r>
          </a:p>
          <a:p xmlns:a="http://schemas.openxmlformats.org/drawingml/2006/main">
            <a:r>
              <a:t>Race condition sıralamaya bağlı bir doğruluk kusurudur; atomik erişimlerden oluşabilir. C’de farklı thread’lerin çakışan, en az biri atomik olmayan ve gerekli sıralamadan yoksun erişimleri data race oluşturur. Naif C sayaç deneyi için kesin 1 veya belli bir çıktı söylenemez. PID yarış çizimi kavramsaldır, Linux’un yinelenen canlı PID ürettiği kanıtı değildir.</a:t>
            </a:r>
          </a:p>
          <a:p xmlns:a="http://schemas.openxmlformats.org/drawingml/2006/main">
            <a:r>
              <a:t/>
            </a:r>
          </a:p>
          <a:p xmlns:a="http://schemas.openxmlformats.org/drawingml/2006/main">
            <a:r>
              <a:t>Özgün Lecture03 PDF sayfaları: 7, 10, 11</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https://www.open-std.org/jtc1/sc22/wg14/www/docs/n1570.pdf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Ortak nesne nedir?</a:t>
            </a:r>
          </a:p>
          <a:p xmlns:a="http://schemas.openxmlformats.org/drawingml/2006/main">
            <a:r>
              <a:t>Geçerli durum hangi kuralı korur?</a:t>
            </a:r>
          </a:p>
          <a:p xmlns:a="http://schemas.openxmlformats.org/drawingml/2006/main">
            <a:r>
              <a:t>Kontrol + bağlı güncelleme birlikte korunur.</a:t>
            </a:r>
          </a:p>
          <a:p xmlns:a="http://schemas.openxmlformats.org/drawingml/2006/main">
            <a:r>
              <a:t/>
            </a:r>
          </a:p>
          <a:p xmlns:a="http://schemas.openxmlformats.org/drawingml/2006/main">
            <a:r>
              <a:t>100 ve 50 bakiyeleri arasında 10 aktarımı toplam 150’yi korumalı. Okuyucu tutarlı toplam istiyorsa debit ve credit aynı korunan işlem içindedir; okuyucu da aynı protokolü izler. Yalnız son yazmayı kilitlemek eski değerden yapılan kararı korumaz.</a:t>
            </a:r>
          </a:p>
          <a:p xmlns:a="http://schemas.openxmlformats.org/drawingml/2006/main">
            <a:r>
              <a:t/>
            </a:r>
          </a:p>
          <a:p xmlns:a="http://schemas.openxmlformats.org/drawingml/2006/main">
            <a:r>
              <a:t>GERÇEK HAYAT: Cüzdanlar arası aktarım</a:t>
            </a:r>
          </a:p>
          <a:p xmlns:a="http://schemas.openxmlformats.org/drawingml/2006/main">
            <a:r>
              <a:t>Ara anda toplam 140 görünebilir.</a:t>
            </a:r>
          </a:p>
          <a:p xmlns:a="http://schemas.openxmlformats.org/drawingml/2006/main">
            <a:r>
              <a:t>Mekanizma: İki alanlı değişmez ve tutarlı snapshot protokolü gerekir.</a:t>
            </a:r>
          </a:p>
          <a:p xmlns:a="http://schemas.openxmlformats.org/drawingml/2006/main">
            <a:r>
              <a:t>Ne zaman işe yarar: Lock kapsamını veri kuralından çıkar.</a:t>
            </a:r>
          </a:p>
          <a:p xmlns:a="http://schemas.openxmlformats.org/drawingml/2006/main">
            <a:r>
              <a:t/>
            </a:r>
          </a:p>
          <a:p xmlns:a="http://schemas.openxmlformats.org/drawingml/2006/main">
            <a:r>
              <a:t>Özgün Lecture03 PDF sayfaları: 12, 13, 28</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Mutual exclusion: birlikte çakışan erişim yok.</a:t>
            </a:r>
          </a:p>
          <a:p xmlns:a="http://schemas.openxmlformats.org/drawingml/2006/main">
            <a:r>
              <a:t>Progress: boş bölgeye seçim süresiz ötelenmez.</a:t>
            </a:r>
          </a:p>
          <a:p xmlns:a="http://schemas.openxmlformats.org/drawingml/2006/main">
            <a:r>
              <a:t>Bounded waiting: başkalarının giriş sayısı sınırlı.</a:t>
            </a:r>
          </a:p>
          <a:p xmlns:a="http://schemas.openxmlformats.org/drawingml/2006/main">
            <a:r>
              <a:t/>
            </a:r>
          </a:p>
          <a:p xmlns:a="http://schemas.openxmlformats.org/drawingml/2006/main">
            <a:r>
              <a:t>Her thread’i sonsuza dek durdurmak veri bozulmasını önler ama yararlı sistem değildir. Exclusion fairness sağlamaz. Liveness gerekçesi, kritik bölümlerin bitmesi ve scheduler’ın ilgili thread’lere ilerleme vermesi gibi varsayımlarını açıkça söylemelidir.</a:t>
            </a:r>
          </a:p>
          <a:p xmlns:a="http://schemas.openxmlformats.org/drawingml/2006/main">
            <a:r>
              <a:t/>
            </a:r>
          </a:p>
          <a:p xmlns:a="http://schemas.openxmlformats.org/drawingml/2006/main">
            <a:r>
              <a:t>GERÇEK HAYAT: Tek kasalı kuyruk</a:t>
            </a:r>
          </a:p>
          <a:p xmlns:a="http://schemas.openxmlformats.org/drawingml/2006/main">
            <a:r>
              <a:t>Aynı anda bir müşteri işlem yapar; biri hep geride kalabilir.</a:t>
            </a:r>
          </a:p>
          <a:p xmlns:a="http://schemas.openxmlformats.org/drawingml/2006/main">
            <a:r>
              <a:t>Mekanizma: Tek sahip olmak kabul sırasını belirlemez.</a:t>
            </a:r>
          </a:p>
          <a:p xmlns:a="http://schemas.openxmlformats.org/drawingml/2006/main">
            <a:r>
              <a:t>Ne zaman işe yarar: Exclusion ile adil hizmeti ayır.</a:t>
            </a:r>
          </a:p>
          <a:p xmlns:a="http://schemas.openxmlformats.org/drawingml/2006/main">
            <a:r>
              <a:t/>
            </a:r>
          </a:p>
          <a:p xmlns:a="http://schemas.openxmlformats.org/drawingml/2006/main">
            <a:r>
              <a:t>Özgün Lecture03 PDF sayfaları: 14, 15</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Strict alternation progress’i bozabilir.</a:t>
            </a:r>
          </a:p>
          <a:p xmlns:a="http://schemas.openxmlformats.org/drawingml/2006/main">
            <a:r>
              <a:t>İki thread, atomik erişim, sequential consistency.</a:t>
            </a:r>
          </a:p>
          <a:p xmlns:a="http://schemas.openxmlformats.org/drawingml/2006/main">
            <a:r>
              <a:t>Düz C’ye kopyalanacak kod değildir.</a:t>
            </a:r>
          </a:p>
          <a:p xmlns:a="http://schemas.openxmlformats.org/drawingml/2006/main">
            <a:r>
              <a:t/>
            </a:r>
          </a:p>
          <a:p xmlns:a="http://schemas.openxmlformats.org/drawingml/2006/main">
            <a:r>
              <a:t>Strict alternation ilgisiz iş yapan peer’i bekletebilir. Peterson’da flag ilgi bildirir; turn beraber talepte bağlayıcı tercih sağlar. İki flag true ise turn’ün son yazarı bekler. Orijinal soyut kanıt compiler/CPU yeniden sıralaması altında naif değişkenlerle uygulanmış sayılmaz. volatile çözüm değildir; üretim kodunda doğrulanmış API kullan.</a:t>
            </a:r>
          </a:p>
          <a:p xmlns:a="http://schemas.openxmlformats.org/drawingml/2006/main">
            <a:r>
              <a:t/>
            </a:r>
          </a:p>
          <a:p xmlns:a="http://schemas.openxmlformats.org/drawingml/2006/main">
            <a:r>
              <a:t>Özgün Lecture03 PDF sayfaları: 16, 17, 18, 19</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 beklenen değer uygunsa değiştir.</a:t>
            </a:r>
          </a:p>
          <a:p xmlns:a="http://schemas.openxmlformats.org/drawingml/2006/main">
            <a:r>
              <a:t>fetch_add: tek read–modify–write.</a:t>
            </a:r>
          </a:p>
          <a:p xmlns:a="http://schemas.openxmlformats.org/drawingml/2006/main">
            <a:r>
              <a:t>load + store: hâlâ iki işlem.</a:t>
            </a:r>
          </a:p>
          <a:p xmlns:a="http://schemas.openxmlformats.org/drawingml/2006/main">
            <a:r>
              <a:t/>
            </a:r>
          </a:p>
          <a:p xmlns:a="http://schemas.openxmlformats.org/drawingml/2006/main">
            <a:r>
              <a:t>CAS(lock,0,1) önce A’ya başarılı olursa B sahipliği alamaz; library dönüş biçimleri değişir. Basit retry döngüsü bounded waiting kanıtı değildir. Lock diğer veriyi koruyacaksa memory ordering de gerekir. İzole sayaç için atomic fetch_add yeterli olabilir; birden çok alana yayılan kapasite kararını tek başına atomik alan türü çözmez.</a:t>
            </a:r>
          </a:p>
          <a:p xmlns:a="http://schemas.openxmlformats.org/drawingml/2006/main">
            <a:r>
              <a:t/>
            </a:r>
          </a:p>
          <a:p xmlns:a="http://schemas.openxmlformats.org/drawingml/2006/main">
            <a:r>
              <a:t>SORUNUN YANITI: Data race olmadan mantıksal lost update: son değer 1.</a:t>
            </a:r>
          </a:p>
          <a:p xmlns:a="http://schemas.openxmlformats.org/drawingml/2006/main">
            <a:r>
              <a:t/>
            </a:r>
          </a:p>
          <a:p xmlns:a="http://schemas.openxmlformats.org/drawingml/2006/main">
            <a:r>
              <a:t>GERÇEK HAYAT: İstek metriği</a:t>
            </a:r>
          </a:p>
          <a:p xmlns:a="http://schemas.openxmlformats.org/drawingml/2006/main">
            <a:r>
              <a:t>Worker’lar yalnız bağımsız bir toplamı artırır.</a:t>
            </a:r>
          </a:p>
          <a:p xmlns:a="http://schemas.openxmlformats.org/drawingml/2006/main">
            <a:r>
              <a:t>Mekanizma: Tek fetch_add uygun olabilir; kararları birlikte atomikleştirmez.</a:t>
            </a:r>
          </a:p>
          <a:p xmlns:a="http://schemas.openxmlformats.org/drawingml/2006/main">
            <a:r>
              <a:t>Ne zaman işe yarar: Metrik sayacı ile iş kuralını ayır.</a:t>
            </a:r>
          </a:p>
          <a:p xmlns:a="http://schemas.openxmlformats.org/drawingml/2006/main">
            <a:r>
              <a:t/>
            </a:r>
          </a:p>
          <a:p xmlns:a="http://schemas.openxmlformats.org/drawingml/2006/main">
            <a:r>
              <a:t>Özgün Lecture03 PDF sayfaları: 20, 21, 22</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https://www.open-std.org/jtc1/sc22/wg14/www/docs/n1570.pdf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Acquire → bütün korunan işlem → release.</a:t>
            </a:r>
          </a:p>
          <a:p xmlns:a="http://schemas.openxmlformats.org/drawingml/2006/main">
            <a:r>
              <a:t>Sahip thread unlock yapar.</a:t>
            </a:r>
          </a:p>
          <a:p xmlns:a="http://schemas.openxmlformats.org/drawingml/2006/main">
            <a:r>
              <a:t>Başlat; herkes bitince destroy et.</a:t>
            </a:r>
          </a:p>
          <a:p xmlns:a="http://schemas.openxmlformats.org/drawingml/2006/main">
            <a:r>
              <a:t/>
            </a:r>
          </a:p>
          <a:p xmlns:a="http://schemas.openxmlformats.org/drawingml/2006/main">
            <a:r>
              <a:t>Mutfakta tek dolap anahtarı exclusion için sezgidir: anahtarı almak bölünmez olmalı, işlem bitmeden geri verilmemeli. Anahtar fairness sağlamaz. Gerçek pthread mutex’i sıradan veri gibi kopyalama; return code’ları denetle. Bütün okuyucu/yazıcı yolları hangi state’i hangi mutex’in koruduğunu bilmeli. Join işin bitişini, mutex eşzamanlı erişimi düzenler.</a:t>
            </a:r>
          </a:p>
          <a:p xmlns:a="http://schemas.openxmlformats.org/drawingml/2006/main">
            <a:r>
              <a:t/>
            </a:r>
          </a:p>
          <a:p xmlns:a="http://schemas.openxmlformats.org/drawingml/2006/main">
            <a:r>
              <a:t>GERÇEK HAYAT: Paylaşılan sepet</a:t>
            </a:r>
          </a:p>
          <a:p xmlns:a="http://schemas.openxmlformats.org/drawingml/2006/main">
            <a:r>
              <a:t>İki worker sepetin ürünlerini ve toplamını değiştirir.</a:t>
            </a:r>
          </a:p>
          <a:p xmlns:a="http://schemas.openxmlformats.org/drawingml/2006/main">
            <a:r>
              <a:t>Mekanizma: Aynı değişmezi aynı mutex korur.</a:t>
            </a:r>
          </a:p>
          <a:p xmlns:a="http://schemas.openxmlformats.org/drawingml/2006/main">
            <a:r>
              <a:t>Ne zaman işe yarar: Anahtar analojisini ownership ve kapsam için kullan.</a:t>
            </a:r>
          </a:p>
          <a:p xmlns:a="http://schemas.openxmlformats.org/drawingml/2006/main">
            <a:r>
              <a:t/>
            </a:r>
          </a:p>
          <a:p xmlns:a="http://schemas.openxmlformats.org/drawingml/2006/main">
            <a:r>
              <a:t>Özgün Lecture03 PDF sayfaları: 23, 24, 25, 26, 27</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Bağımsız hesaplamayı dışarı taşı.</a:t>
            </a:r>
          </a:p>
          <a:p xmlns:a="http://schemas.openxmlformats.org/drawingml/2006/main">
            <a:r>
              <a:t>Kontrol ve bağlı değişiklik içeride kalır.</a:t>
            </a:r>
          </a:p>
          <a:p xmlns:a="http://schemas.openxmlformats.org/drawingml/2006/main">
            <a:r>
              <a:t>Spin CPU tüketir; blocking bekleyeni durdurabilir.</a:t>
            </a:r>
          </a:p>
          <a:p xmlns:a="http://schemas.openxmlformats.org/drawingml/2006/main">
            <a:r>
              <a:t/>
            </a:r>
          </a:p>
          <a:p xmlns:a="http://schemas.openxmlformats.org/drawingml/2006/main">
            <a:r>
              <a:t>Coarse lock açıklaması kolaydır ama paralel işi daraltır. Fine-grained yaklaşım daha çok coordination gerektirir. Uzun I/O veya başka kaynak bekleyişi lock altında gerekiyorsa bağımlılığını analiz et. POSIX mutex daima spin etmez; implementation hibrit olabilir. Bir CPU’da interrupt kapatmak diğer CPU’yu durdurmaz ve uygulamalar için genel kilit değildir.</a:t>
            </a:r>
          </a:p>
          <a:p xmlns:a="http://schemas.openxmlformats.org/drawingml/2006/main">
            <a:r>
              <a:t/>
            </a:r>
          </a:p>
          <a:p xmlns:a="http://schemas.openxmlformats.org/drawingml/2006/main">
            <a:r>
              <a:t>GERÇEK HAYAT: Küçük resim servisi</a:t>
            </a:r>
          </a:p>
          <a:p xmlns:a="http://schemas.openxmlformats.org/drawingml/2006/main">
            <a:r>
              <a:t>Dosya okuma sırasında global kilit tutulursa diğer işler bekler.</a:t>
            </a:r>
          </a:p>
          <a:p xmlns:a="http://schemas.openxmlformats.org/drawingml/2006/main">
            <a:r>
              <a:t>Mekanizma: Bağımsız I/O dışarıda; ortak cache yayını kısa korunan bölümde olabilir.</a:t>
            </a:r>
          </a:p>
          <a:p xmlns:a="http://schemas.openxmlformats.org/drawingml/2006/main">
            <a:r>
              <a:t>Ne zaman işe yarar: Performans kararını invariant ile sınırla.</a:t>
            </a:r>
          </a:p>
          <a:p xmlns:a="http://schemas.openxmlformats.org/drawingml/2006/main">
            <a:r>
              <a:t/>
            </a:r>
          </a:p>
          <a:p xmlns:a="http://schemas.openxmlformats.org/drawingml/2006/main">
            <a:r>
              <a:t>Özgün Lecture03 PDF sayfaları: 29, 30, 31</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Tek CPU neden yeterli koruma değil?</a:t>
            </a:r>
          </a:p>
          <a:p xmlns:a="http://schemas.openxmlformats.org/drawingml/2006/main">
            <a:r>
              <a:t>volatile neden mutex değil?</a:t>
            </a:r>
          </a:p>
          <a:p xmlns:a="http://schemas.openxmlformats.org/drawingml/2006/main">
            <a:r>
              <a:t>Atomic load/store neden increment değil?</a:t>
            </a:r>
          </a:p>
          <a:p xmlns:a="http://schemas.openxmlformats.org/drawingml/2006/main">
            <a:r>
              <a:t/>
            </a:r>
          </a:p>
          <a:p xmlns:a="http://schemas.openxmlformats.org/drawingml/2006/main">
            <a:r>
              <a:t>Python lab bütün altı küçük izi listeler. Altı izden ikisi başarılı olsa da algoritma kalan dört izi izinli kılıyorsa doğru değildir. Deney raporuna model varsayımlarını ve gözlemin kanıtlamadığı şeyi ekle. Bu noktada 8–10 dakika ara önerilir.</a:t>
            </a:r>
          </a:p>
          <a:p xmlns:a="http://schemas.openxmlformats.org/drawingml/2006/main">
            <a:r>
              <a:t/>
            </a:r>
          </a:p>
          <a:p xmlns:a="http://schemas.openxmlformats.org/drawingml/2006/main">
            <a:r>
              <a:t>SORUNUN YANITI: Preemption adımları böler; volatile gerekli thread ordering sağlamaz; load+store tek RMW değildir.</a:t>
            </a:r>
          </a:p>
          <a:p xmlns:a="http://schemas.openxmlformats.org/drawingml/2006/main">
            <a:r>
              <a:t/>
            </a:r>
          </a:p>
          <a:p xmlns:a="http://schemas.openxmlformats.org/drawingml/2006/main">
            <a:r>
              <a:t>Özgün Lecture03 PDF sayfaları: 32, 33, 34</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Başarılı wait bir permit tüketir.</a:t>
            </a:r>
          </a:p>
          <a:p xmlns:a="http://schemas.openxmlformats.org/drawingml/2006/main">
            <a:r>
              <a:t>post bir permit ekler.</a:t>
            </a:r>
          </a:p>
          <a:p xmlns:a="http://schemas.openxmlformats.org/drawingml/2006/main">
            <a:r>
              <a:t>Sıra ve ownership ayrı konudur.</a:t>
            </a:r>
          </a:p>
          <a:p xmlns:a="http://schemas.openxmlformats.org/drawingml/2006/main">
            <a:r>
              <a:t/>
            </a:r>
          </a:p>
          <a:p xmlns:a="http://schemas.openxmlformats.org/drawingml/2006/main">
            <a:r>
              <a:t>S=2: A wait→1, B wait→0, C bekler. A post ettiğinde uygun contender permit alabilir; A kimin alacağını seçmez. Başarısız wait sonrası post yapmak sahte permit üretir; sem_wait EINTR politikası açık olmalı. pshared=0 process içi thread’ler içindir; process-shared unnamed semaphore paylaşılan storage ister. Mutex’e eş sahiplik davranışı genellenmez.</a:t>
            </a:r>
          </a:p>
          <a:p xmlns:a="http://schemas.openxmlformats.org/drawingml/2006/main">
            <a:r>
              <a:t/>
            </a:r>
          </a:p>
          <a:p xmlns:a="http://schemas.openxmlformats.org/drawingml/2006/main">
            <a:r>
              <a:t>GERÇEK HAYAT: Üç bağlantılı havuz</a:t>
            </a:r>
          </a:p>
          <a:p xmlns:a="http://schemas.openxmlformats.org/drawingml/2006/main">
            <a:r>
              <a:t>Dördüncü istek bağlantı iadesini bekler.</a:t>
            </a:r>
          </a:p>
          <a:p xmlns:a="http://schemas.openxmlformats.org/drawingml/2006/main">
            <a:r>
              <a:t>Mekanizma: Üç permit eşzamanlı kullanımı sınırlar; hangi connection’ın seçimi ek state ister.</a:t>
            </a:r>
          </a:p>
          <a:p xmlns:a="http://schemas.openxmlformats.org/drawingml/2006/main">
            <a:r>
              <a:t>Ne zaman işe yarar: Kapasite sayacı ile kaynak kimliğini ayır.</a:t>
            </a:r>
          </a:p>
          <a:p xmlns:a="http://schemas.openxmlformats.org/drawingml/2006/main">
            <a:r>
              <a:t/>
            </a:r>
          </a:p>
          <a:p xmlns:a="http://schemas.openxmlformats.org/drawingml/2006/main">
            <a:r>
              <a:t>Özgün Lecture03 PDF sayfaları: 35, 36, 38, 39, 40, 41</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https://man7.org/linux/man-pages/man3/sem_wait.3.html</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Semaphore post: bekleyen yokken de permit saklanır.</a:t>
            </a:r>
          </a:p>
          <a:p xmlns:a="http://schemas.openxmlformats.org/drawingml/2006/main">
            <a:r>
              <a:t>Condition signal: permit saklamaz.</a:t>
            </a:r>
          </a:p>
          <a:p xmlns:a="http://schemas.openxmlformats.org/drawingml/2006/main">
            <a:r>
              <a:t>Gerçek karar: kilit altında predicate.</a:t>
            </a:r>
          </a:p>
          <a:p xmlns:a="http://schemas.openxmlformats.org/drawingml/2006/main">
            <a:r>
              <a:t/>
            </a:r>
          </a:p>
          <a:p xmlns:a="http://schemas.openxmlformats.org/drawingml/2006/main">
            <a:r>
              <a:t>Condition variable state’in kendisi değildir. count&gt;0 ortak queue state’inin predicate’idir. Monitor, korunan state ve operasyonları ortak exclusion disiplini altında birleştirir; client state’i bypass edemez. Condition wait associated mutex’i bırakır, dönüşte yeniden alır. Bir semaphore wait aynı biçimde queue mutex’ini otomatik bırakmaz.</a:t>
            </a:r>
          </a:p>
          <a:p xmlns:a="http://schemas.openxmlformats.org/drawingml/2006/main">
            <a:r>
              <a:t/>
            </a:r>
          </a:p>
          <a:p xmlns:a="http://schemas.openxmlformats.org/drawingml/2006/main">
            <a:r>
              <a:t>Özgün Lecture03 PDF sayfaları: 39, 42, 43, 44</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https://man7.org/linux/man-pages/man3/pthread_cond_wait.3p.html</a:t>
            </a:r>
          </a:p>
          <a:p xmlns:a="http://schemas.openxmlformats.org/drawingml/2006/main">
            <a:r>
              <a:t/>
            </a:r>
          </a:p>
          <a:p xmlns:a="http://schemas.openxmlformats.org/drawingml/2006/main">
            <a:r>
              <a:t>https://man7.org/linux/man-pages/man3/sem_wait.3.html</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Semaphore ready=0; post → permit=1.</a:t>
            </a:r>
          </a:p>
          <a:p xmlns:a="http://schemas.openxmlformats.org/drawingml/2006/main">
            <a:r>
              <a:t>Condition signal tek başına kayıt bırakmaz.</a:t>
            </a:r>
          </a:p>
          <a:p xmlns:a="http://schemas.openxmlformats.org/drawingml/2006/main">
            <a:r>
              <a:t>done=true kalıcı state olarak saklanır.</a:t>
            </a:r>
          </a:p>
          <a:p xmlns:a="http://schemas.openxmlformats.org/drawingml/2006/main">
            <a:r>
              <a:t/>
            </a:r>
          </a:p>
          <a:p xmlns:a="http://schemas.openxmlformats.org/drawingml/2006/main">
            <a:r>
              <a:t>Initializer işi bitirip semaphore post ederse daha sonra gelen user permit tüketebilir. Condition kullanan tasarımda done lock altında true yapılır; sonra gelen user lock altında done görüp beklememelidir. Böylece iki araç da doğru tasarlanabilir; fark saklanan bilginin yeridir.</a:t>
            </a:r>
          </a:p>
          <a:p xmlns:a="http://schemas.openxmlformats.org/drawingml/2006/main">
            <a:r>
              <a:t/>
            </a:r>
          </a:p>
          <a:p xmlns:a="http://schemas.openxmlformats.org/drawingml/2006/main">
            <a:r>
              <a:t>SORUNUN YANITI: Condition notification permit değildir; predicate state’i kontrol edilmelidir.</a:t>
            </a:r>
          </a:p>
          <a:p xmlns:a="http://schemas.openxmlformats.org/drawingml/2006/main">
            <a:r>
              <a:t/>
            </a:r>
          </a:p>
          <a:p xmlns:a="http://schemas.openxmlformats.org/drawingml/2006/main">
            <a:r>
              <a:t>Özgün Lecture03 PDF sayfaları: 39, 43, 47</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Lock → while yanlışsa wait → işlem → unlock.</a:t>
            </a:r>
          </a:p>
          <a:p xmlns:a="http://schemas.openxmlformats.org/drawingml/2006/main">
            <a:r>
              <a:t>Wait mutex’i bırakır ve dönüşte geri alır.</a:t>
            </a:r>
          </a:p>
          <a:p xmlns:a="http://schemas.openxmlformats.org/drawingml/2006/main">
            <a:r>
              <a:t>State değişikliği aynı mutex ile korunur.</a:t>
            </a:r>
          </a:p>
          <a:p xmlns:a="http://schemas.openxmlformats.org/drawingml/2006/main">
            <a:r>
              <a:t/>
            </a:r>
          </a:p>
          <a:p xmlns:a="http://schemas.openxmlformats.org/drawingml/2006/main">
            <a:r>
              <a:t>pthread_cond_wait’in release-and-wait işlemi gerekli protokole göre atomiktir; producer check ile wait arasına korunmamış bir boşluk bulamaz. Uyanan thread lock için tekrar yarışır. POSIX/Mesa tarzı notification lock’u anında teslim etmez. Kod parçaları tam program değildir; lab return code’ları denetler.</a:t>
            </a:r>
          </a:p>
          <a:p xmlns:a="http://schemas.openxmlformats.org/drawingml/2006/main">
            <a:r>
              <a:t/>
            </a:r>
          </a:p>
          <a:p xmlns:a="http://schemas.openxmlformats.org/drawingml/2006/main">
            <a:r>
              <a:t>GERÇEK HAYAT: Arka plan görev kuyruğu</a:t>
            </a:r>
          </a:p>
          <a:p xmlns:a="http://schemas.openxmlformats.org/drawingml/2006/main">
            <a:r>
              <a:t>Worker boş kuyrukta CPU harcamadan bekler.</a:t>
            </a:r>
          </a:p>
          <a:p xmlns:a="http://schemas.openxmlformats.org/drawingml/2006/main">
            <a:r>
              <a:t>Mekanizma: Producer count’u lock altında değiştirir ve notification verir.</a:t>
            </a:r>
          </a:p>
          <a:p xmlns:a="http://schemas.openxmlformats.org/drawingml/2006/main">
            <a:r>
              <a:t>Ne zaman işe yarar: Busy polling yerine predicate protokolünü çiz.</a:t>
            </a:r>
          </a:p>
          <a:p xmlns:a="http://schemas.openxmlformats.org/drawingml/2006/main">
            <a:r>
              <a:t/>
            </a:r>
          </a:p>
          <a:p xmlns:a="http://schemas.openxmlformats.org/drawingml/2006/main">
            <a:r>
              <a:t>Özgün Lecture03 PDF sayfaları: 43, 44, 45</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https://man7.org/linux/man-pages/man3/pthread_cond_wait.3p.html</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C1 bekler; producer tek ürün ekler ve signal verir.</a:t>
            </a:r>
          </a:p>
          <a:p xmlns:a="http://schemas.openxmlformats.org/drawingml/2006/main">
            <a:r>
              <a:t>C1 lock almadan C2 ürünü alır.</a:t>
            </a:r>
          </a:p>
          <a:p xmlns:a="http://schemas.openxmlformats.org/drawingml/2006/main">
            <a:r>
              <a:t>C1 tekrar empty görür.</a:t>
            </a:r>
          </a:p>
          <a:p xmlns:a="http://schemas.openxmlformats.org/drawingml/2006/main">
            <a:r>
              <a:t/>
            </a:r>
          </a:p>
          <a:p xmlns:a="http://schemas.openxmlformats.org/drawingml/2006/main">
            <a:r>
              <a:t>Bu sıra Mesa-style scheduling altında mümkündür; C2 yeni gelen consumer olabilir. Signal bir öğeyi C1 için ayırmaz. while aynı predicate’i mutex yeniden alındıktan sonra kontrol eder. Spurious wakeup da bağımsız bir loop gerekçesidir. if’li hatayı racy C olarak çalıştırmak yerine bu modelde izliyoruz.</a:t>
            </a:r>
          </a:p>
          <a:p xmlns:a="http://schemas.openxmlformats.org/drawingml/2006/main">
            <a:r>
              <a:t/>
            </a:r>
          </a:p>
          <a:p xmlns:a="http://schemas.openxmlformats.org/drawingml/2006/main">
            <a:r>
              <a:t>SORUNUN YANITI: Olmayan öğeyi kaldırmaya çalışabilir; while yeniden bekler.</a:t>
            </a:r>
          </a:p>
          <a:p xmlns:a="http://schemas.openxmlformats.org/drawingml/2006/main">
            <a:r>
              <a:t/>
            </a:r>
          </a:p>
          <a:p xmlns:a="http://schemas.openxmlformats.org/drawingml/2006/main">
            <a:r>
              <a:t>Özgün Lecture03 PDF sayfaları: 46</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https://man7.org/linux/man-pages/man3/pthread_cond_wait.3p.html</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Hatalı: lock’suz empty testi → signal → wait.</a:t>
            </a:r>
          </a:p>
          <a:p xmlns:a="http://schemas.openxmlformats.org/drawingml/2006/main">
            <a:r>
              <a:t>Signal geçmişi saklamaz.</a:t>
            </a:r>
          </a:p>
          <a:p xmlns:a="http://schemas.openxmlformats.org/drawingml/2006/main">
            <a:r>
              <a:t>Doğru: aynı lock + release-and-wait.</a:t>
            </a:r>
          </a:p>
          <a:p xmlns:a="http://schemas.openxmlformats.org/drawingml/2006/main">
            <a:r>
              <a:t/>
            </a:r>
          </a:p>
          <a:p xmlns:a="http://schemas.openxmlformats.org/drawingml/2006/main">
            <a:r>
              <a:t>Consumer lock’suz empty görür; producer insert ve signal yapar; consumer sonra beklemeye girer. Kuyrukta iş olduğu halde uyuyabilir. Aynı mutex altında predicate kontrolü ve condition wait bu boşluğu kapatır. Entry queue lock bekleyenleri; condition wait queue lock’u bırakmış predicate bekleyenlerini gösterir. FIFO sırası bu çizimden çıkarılmaz.</a:t>
            </a:r>
          </a:p>
          <a:p xmlns:a="http://schemas.openxmlformats.org/drawingml/2006/main">
            <a:r>
              <a:t/>
            </a:r>
          </a:p>
          <a:p xmlns:a="http://schemas.openxmlformats.org/drawingml/2006/main">
            <a:r>
              <a:t>GERÇEK HAYAT: Hazır rapor bildirimi</a:t>
            </a:r>
          </a:p>
          <a:p xmlns:a="http://schemas.openxmlformats.org/drawingml/2006/main">
            <a:r>
              <a:t>Rapor consumer beklemeden tamamlanabilir.</a:t>
            </a:r>
          </a:p>
          <a:p xmlns:a="http://schemas.openxmlformats.org/drawingml/2006/main">
            <a:r>
              <a:t>Mekanizma: done state’i kalıcıdır; signal tek başına geçmişi kaydetmez.</a:t>
            </a:r>
          </a:p>
          <a:p xmlns:a="http://schemas.openxmlformats.org/drawingml/2006/main">
            <a:r>
              <a:t>Ne zaman işe yarar: Bekleyip beklememeyi state’ten belirle.</a:t>
            </a:r>
          </a:p>
          <a:p xmlns:a="http://schemas.openxmlformats.org/drawingml/2006/main">
            <a:r>
              <a:t/>
            </a:r>
          </a:p>
          <a:p xmlns:a="http://schemas.openxmlformats.org/drawingml/2006/main">
            <a:r>
              <a:t>Özgün Lecture03 PDF sayfaları: 47, 48</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Üretici ekler, tüketici alır; kapasite N.</a:t>
            </a:r>
          </a:p>
          <a:p xmlns:a="http://schemas.openxmlformats.org/drawingml/2006/main">
            <a:r>
              <a:t>0 ≤ count ≤ N.</a:t>
            </a:r>
          </a:p>
          <a:p xmlns:a="http://schemas.openxmlformats.org/drawingml/2006/main">
            <a:r>
              <a:t>FIFO: öğe bir kez, eklenme sırasında çıkar.</a:t>
            </a:r>
          </a:p>
          <a:p xmlns:a="http://schemas.openxmlformats.org/drawingml/2006/main">
            <a:r>
              <a:t/>
            </a:r>
          </a:p>
          <a:p xmlns:a="http://schemas.openxmlformats.org/drawingml/2006/main">
            <a:r>
              <a:t>Mutfakta sınırlı servis tezgâhı buffer sezgisidir. Ancak gerçek indeksler, lock ve publication ordering fiziksel tezgâhtan çıkmaz. in/out modulo N döner; in==out hem boş hem full olabilir, count ayırır. Analojiyi bitir ve array/count/in/out teknik state’i üzerinde ilerle.</a:t>
            </a:r>
          </a:p>
          <a:p xmlns:a="http://schemas.openxmlformats.org/drawingml/2006/main">
            <a:r>
              <a:t/>
            </a:r>
          </a:p>
          <a:p xmlns:a="http://schemas.openxmlformats.org/drawingml/2006/main">
            <a:r>
              <a:t>GERÇEK HAYAT: Video kare kuyruğu</a:t>
            </a:r>
          </a:p>
          <a:p xmlns:a="http://schemas.openxmlformats.org/drawingml/2006/main">
            <a:r>
              <a:t>Decoder hızlıysa render kuyruğu dolar.</a:t>
            </a:r>
          </a:p>
          <a:p xmlns:a="http://schemas.openxmlformats.org/drawingml/2006/main">
            <a:r>
              <a:t>Mekanizma: Kapasite sınırlı; backpressure producer’ı bekletir.</a:t>
            </a:r>
          </a:p>
          <a:p xmlns:a="http://schemas.openxmlformats.org/drawingml/2006/main">
            <a:r>
              <a:t>Ne zaman işe yarar: Sonsuz buffer yerine doluluk politikasını tasarla.</a:t>
            </a:r>
          </a:p>
          <a:p xmlns:a="http://schemas.openxmlformats.org/drawingml/2006/main">
            <a:r>
              <a:t/>
            </a:r>
          </a:p>
          <a:p xmlns:a="http://schemas.openxmlformats.org/drawingml/2006/main">
            <a:r>
              <a:t>Özgün Lecture03 PDF sayfaları: 49, 50</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empty=N, full=0, mutex=1.</a:t>
            </a:r>
          </a:p>
          <a:p xmlns:a="http://schemas.openxmlformats.org/drawingml/2006/main">
            <a:r>
              <a:t>Producer empty; consumer full bekler.</a:t>
            </a:r>
          </a:p>
          <a:p xmlns:a="http://schemas.openxmlformats.org/drawingml/2006/main">
            <a:r>
              <a:t>Permit’i buffer kilidinden önce al.</a:t>
            </a:r>
          </a:p>
          <a:p xmlns:a="http://schemas.openxmlformats.org/drawingml/2006/main">
            <a:r>
              <a:t/>
            </a:r>
          </a:p>
          <a:p xmlns:a="http://schemas.openxmlformats.org/drawingml/2006/main">
            <a:r>
              <a:t>Consumer mutex’i alıp full beklerse producer insert yapmak için gereken mutex’i alamaz. Doğru sıra önce gerekli permit, sonra kısa kritik bölüm. empty/full sayıları outstanding reservation varsa fiziksel occupancy ile geçici farklılaşabilir; yalnız tamamlanmış adımlarda doğrudan count gibi yorumla. Buradaki mutex=1 binary semaphore modelidir; pthread ownership varsayma.</a:t>
            </a:r>
          </a:p>
          <a:p xmlns:a="http://schemas.openxmlformats.org/drawingml/2006/main">
            <a:r>
              <a:t/>
            </a:r>
          </a:p>
          <a:p xmlns:a="http://schemas.openxmlformats.org/drawingml/2006/main">
            <a:r>
              <a:t>Özgün Lecture03 PDF sayfaları: 51, 52, 53</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 [A] → [A,B]</a:t>
            </a:r>
          </a:p>
          <a:p xmlns:a="http://schemas.openxmlformats.org/drawingml/2006/main">
            <a:r>
              <a:t>C eklemek için boş yer gerekir.</a:t>
            </a:r>
          </a:p>
          <a:p xmlns:a="http://schemas.openxmlformats.org/drawingml/2006/main">
            <a:r>
              <a:t>A çıkınca [B,C] mümkün olur.</a:t>
            </a:r>
          </a:p>
          <a:p xmlns:a="http://schemas.openxmlformats.org/drawingml/2006/main">
            <a:r>
              <a:t/>
            </a:r>
          </a:p>
          <a:p xmlns:a="http://schemas.openxmlformats.org/drawingml/2006/main">
            <a:r>
              <a:t>Tamamlanmış operasyon sınırlarında [] için empty=2/full=0; [A] için 1/1; [A,B] için 0/2. Üçüncü üretici boş permit bekler. A çıkar ve empty yayınlanınca C ilerleyebilir. Bu worked trace measured timing değildir.</a:t>
            </a:r>
          </a:p>
          <a:p xmlns:a="http://schemas.openxmlformats.org/drawingml/2006/main">
            <a:r>
              <a:t/>
            </a:r>
          </a:p>
          <a:p xmlns:a="http://schemas.openxmlformats.org/drawingml/2006/main">
            <a:r>
              <a:t>SORUNUN YANITI: Hayır; önce consumer boş yer yaratmalı.</a:t>
            </a:r>
          </a:p>
          <a:p xmlns:a="http://schemas.openxmlformats.org/drawingml/2006/main">
            <a:r>
              <a:t/>
            </a:r>
          </a:p>
          <a:p xmlns:a="http://schemas.openxmlformats.org/drawingml/2006/main">
            <a:r>
              <a:t>Özgün Lecture03 PDF sayfaları: 53</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Producer: count &lt; capacity.</a:t>
            </a:r>
          </a:p>
          <a:p xmlns:a="http://schemas.openxmlformats.org/drawingml/2006/main">
            <a:r>
              <a:t>Consumer: count &gt; 0.</a:t>
            </a:r>
          </a:p>
          <a:p xmlns:a="http://schemas.openxmlformats.org/drawingml/2006/main">
            <a:r>
              <a:t>Bütün queue alanları tek mutex altında.</a:t>
            </a:r>
          </a:p>
          <a:p xmlns:a="http://schemas.openxmlformats.org/drawingml/2006/main">
            <a:r>
              <a:t/>
            </a:r>
          </a:p>
          <a:p xmlns:a="http://schemas.openxmlformats.org/drawingml/2006/main">
            <a:r>
              <a:t>Producer full iken not_full üzerinde while ile bekler; insert sonrası not_empty signal. Consumer empty iken not_empty üzerinde bekler; remove sonrası not_full signal. Wait lock’u bıraktığı için peer predicate’i değiştirebilir. Kontrol ve state değişimi aynı lock altında tutulur. Lab producer’ın tüm girdileri yayınladığını ve consumer’ın FIFO dizisini denetler.</a:t>
            </a:r>
          </a:p>
          <a:p xmlns:a="http://schemas.openxmlformats.org/drawingml/2006/main">
            <a:r>
              <a:t/>
            </a:r>
          </a:p>
          <a:p xmlns:a="http://schemas.openxmlformats.org/drawingml/2006/main">
            <a:r>
              <a:t>Özgün Lecture03 PDF sayfaları: 54</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https://man7.org/linux/man-pages/man3/pthread_cond_wait.3p.html</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Producer bütün öğelerden sonra closed=true yapar.</a:t>
            </a:r>
          </a:p>
          <a:p xmlns:a="http://schemas.openxmlformats.org/drawingml/2006/main">
            <a:r>
              <a:t>Consumer empty &amp;&amp; !closed iken bekler.</a:t>
            </a:r>
          </a:p>
          <a:p xmlns:a="http://schemas.openxmlformats.org/drawingml/2006/main">
            <a:r>
              <a:t>closed &amp;&amp; empty: bitir; ürün varsa boşalt.</a:t>
            </a:r>
          </a:p>
          <a:p xmlns:a="http://schemas.openxmlformats.org/drawingml/2006/main">
            <a:r>
              <a:t/>
            </a:r>
          </a:p>
          <a:p xmlns:a="http://schemas.openxmlformats.org/drawingml/2006/main">
            <a:r>
              <a:t>closed aynı mutex ile korunur ve closure not_empty üzerinde broadcast ile duyurulur. Closure kalıcı predicate değişimidir, her bekleyen yeniden değerlendirmeli. Bir producer/consumer lab’ında tek producer kapanışı sahiplenir. Çok producer eklemek son producer accounting ister; thread sayısını değiştirmek yalnız bir parametre değildir.</a:t>
            </a:r>
          </a:p>
          <a:p xmlns:a="http://schemas.openxmlformats.org/drawingml/2006/main">
            <a:r>
              <a:t/>
            </a:r>
          </a:p>
          <a:p xmlns:a="http://schemas.openxmlformats.org/drawingml/2006/main">
            <a:r>
              <a:t>SORUNUN YANITI: Hayır, kalan üç öğeyi boşaltıp closed &amp;&amp; empty durumunda çıkar.</a:t>
            </a:r>
          </a:p>
          <a:p xmlns:a="http://schemas.openxmlformats.org/drawingml/2006/main">
            <a:r>
              <a:t/>
            </a:r>
          </a:p>
          <a:p xmlns:a="http://schemas.openxmlformats.org/drawingml/2006/main">
            <a:r>
              <a:t>GERÇEK HAYAT: Dosya dışa aktarımı</a:t>
            </a:r>
          </a:p>
          <a:p xmlns:a="http://schemas.openxmlformats.org/drawingml/2006/main">
            <a:r>
              <a:t>Girdi bittiğinde sırada son kayıtlar kalabilir.</a:t>
            </a:r>
          </a:p>
          <a:p xmlns:a="http://schemas.openxmlformats.org/drawingml/2006/main">
            <a:r>
              <a:t>Mekanizma: Close yeni işin bitişidir; queued work’ün yokluğu değildir.</a:t>
            </a:r>
          </a:p>
          <a:p xmlns:a="http://schemas.openxmlformats.org/drawingml/2006/main">
            <a:r>
              <a:t>Ne zaman işe yarar: Kaybolan son kayıtları drain protokolüyle önle.</a:t>
            </a:r>
          </a:p>
          <a:p xmlns:a="http://schemas.openxmlformats.org/drawingml/2006/main">
            <a:r>
              <a:t/>
            </a:r>
          </a:p>
          <a:p xmlns:a="http://schemas.openxmlformats.org/drawingml/2006/main">
            <a:r>
              <a:t>Özgün Lecture03 PDF sayfaları: 55, 68</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Reader preference writer’ı aç bırakabilir.</a:t>
            </a:r>
          </a:p>
          <a:p xmlns:a="http://schemas.openxmlformats.org/drawingml/2006/main">
            <a:r>
              <a:t>Deadlock, starvation, livelock farklıdır.</a:t>
            </a:r>
          </a:p>
          <a:p xmlns:a="http://schemas.openxmlformats.org/drawingml/2006/main">
            <a:r>
              <a:t>Priority inheritance otomatik değildir.</a:t>
            </a:r>
          </a:p>
          <a:p xmlns:a="http://schemas.openxmlformats.org/drawingml/2006/main">
            <a:r>
              <a:t/>
            </a:r>
          </a:p>
          <a:p xmlns:a="http://schemas.openxmlformats.org/drawingml/2006/main">
            <a:r>
              <a:t>Reader’lar salt okuma için birlikte kabul edilebilir, writer exclusive ister. Sonsuz reader akışı writer’ı bekletebilir. Deadlock: blocked katılımcılar birbirinin sağlayacağı olayları bekler; starvation: diğerleri ilerlerken biri ilerleyemez; livelock: etkin retry yararlı iş üretmez. High-priority thread low-priority owner’ı beklerken medium işler owner’ı geciktirebilir. Desteklenen inheritance protokolü owner’ın priority’sini geçici yükseltir; circular wait’i çözmez.</a:t>
            </a:r>
          </a:p>
          <a:p xmlns:a="http://schemas.openxmlformats.org/drawingml/2006/main">
            <a:r>
              <a:t/>
            </a:r>
          </a:p>
          <a:p xmlns:a="http://schemas.openxmlformats.org/drawingml/2006/main">
            <a:r>
              <a:t>GERÇEK HAYAT: Konfigürasyon cache’i</a:t>
            </a:r>
          </a:p>
          <a:p xmlns:a="http://schemas.openxmlformats.org/drawingml/2006/main">
            <a:r>
              <a:t>Okumalar sürerken güncelleme hiç sıra alamaz.</a:t>
            </a:r>
          </a:p>
          <a:p xmlns:a="http://schemas.openxmlformats.org/drawingml/2006/main">
            <a:r>
              <a:t>Mekanizma: Admission policy, veri lock’undan ayrı fairness kararıdır.</a:t>
            </a:r>
          </a:p>
          <a:p xmlns:a="http://schemas.openxmlformats.org/drawingml/2006/main">
            <a:r>
              <a:t>Ne zaman işe yarar: Read-heavy etiketini fairness kanıtı sanma.</a:t>
            </a:r>
          </a:p>
          <a:p xmlns:a="http://schemas.openxmlformats.org/drawingml/2006/main">
            <a:r>
              <a:t/>
            </a:r>
          </a:p>
          <a:p xmlns:a="http://schemas.openxmlformats.org/drawingml/2006/main">
            <a:r>
              <a:t>Özgün Lecture03 PDF sayfaları: 56, 62, 63</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Herkes sol çatalı alır.</a:t>
            </a:r>
          </a:p>
          <a:p xmlns:a="http://schemas.openxmlformats.org/drawingml/2006/main">
            <a:r>
              <a:t>Herkes sağ komşunun çatalını bekler.</a:t>
            </a:r>
          </a:p>
          <a:p xmlns:a="http://schemas.openxmlformats.org/drawingml/2006/main">
            <a:r>
              <a:t>Hiç kimse release aşamasına ulaşmaz.</a:t>
            </a:r>
          </a:p>
          <a:p xmlns:a="http://schemas.openxmlformats.org/drawingml/2006/main">
            <a:r>
              <a:t/>
            </a:r>
          </a:p>
          <a:p xmlns:a="http://schemas.openxmlformats.org/drawingml/2006/main">
            <a:r>
              <a:t>Her çatalın tek sahibi vardır: mutual exclusion ihlal edilmez. Hata global dependency cycle’dır. Yemek analojisi birden çok resource acquisition ilişkisini gösterir; fairness ve gerçek mutex scheduling kurallarını göstermez. İki hesap kilidi, iki cache shard veya cihaz kaynakları aynı dependency problemi doğurabilir. Hafta 4 bunu resource graphs ile sistematik inceleyecek.</a:t>
            </a:r>
          </a:p>
          <a:p xmlns:a="http://schemas.openxmlformats.org/drawingml/2006/main">
            <a:r>
              <a:t/>
            </a:r>
          </a:p>
          <a:p xmlns:a="http://schemas.openxmlformats.org/drawingml/2006/main">
            <a:r>
              <a:t>SORUNUN YANITI: Hayır, yerel sahiplik ile global ilerleme farklıdır.</a:t>
            </a:r>
          </a:p>
          <a:p xmlns:a="http://schemas.openxmlformats.org/drawingml/2006/main">
            <a:r>
              <a:t/>
            </a:r>
          </a:p>
          <a:p xmlns:a="http://schemas.openxmlformats.org/drawingml/2006/main">
            <a:r>
              <a:t>GERÇEK HAYAT: İki hesap lock’u</a:t>
            </a:r>
          </a:p>
          <a:p xmlns:a="http://schemas.openxmlformats.org/drawingml/2006/main">
            <a:r>
              <a:t>A önce hesap1, B önce hesap2 alır ve diğerini bekler.</a:t>
            </a:r>
          </a:p>
          <a:p xmlns:a="http://schemas.openxmlformats.org/drawingml/2006/main">
            <a:r>
              <a:t>Mekanizma: Her lock doğruyken ters acquisition cycle oluşturur.</a:t>
            </a:r>
          </a:p>
          <a:p xmlns:a="http://schemas.openxmlformats.org/drawingml/2006/main">
            <a:r>
              <a:t>Ne zaman işe yarar: Bütün operasyonlar için ortak lock sırası belirle.</a:t>
            </a:r>
          </a:p>
          <a:p xmlns:a="http://schemas.openxmlformats.org/drawingml/2006/main">
            <a:r>
              <a:t/>
            </a:r>
          </a:p>
          <a:p xmlns:a="http://schemas.openxmlformats.org/drawingml/2006/main">
            <a:r>
              <a:t>Özgün Lecture03 PDF sayfaları: 57, 58, 59</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Çatalları 0–4 numarala.</a:t>
            </a:r>
          </a:p>
          <a:p xmlns:a="http://schemas.openxmlformats.org/drawingml/2006/main">
            <a:r>
              <a:t>Her zaman küçük numarayı önce al.</a:t>
            </a:r>
          </a:p>
          <a:p xmlns:a="http://schemas.openxmlformats.org/drawingml/2006/main">
            <a:r>
              <a:t>Deadlock engeli fairness kanıtı değildir.</a:t>
            </a:r>
          </a:p>
          <a:p xmlns:a="http://schemas.openxmlformats.org/drawingml/2006/main">
            <a:r>
              <a:t/>
            </a:r>
          </a:p>
          <a:p xmlns:a="http://schemas.openxmlformats.org/drawingml/2006/main">
            <a:r>
              <a:t>Bekleme zinciri artan numaralar izler; cycle başa dönmek için daha küçük numaraya ihtiyaç duyar. Her katılımcı aynı sıraya uyarsa bu acquisition deadlock’u dışlanır. Monitor alternatifinde THINKING/HUNGRY/EATING state’i tek lock altında; komşular eating değilse permission verilir. Eating monitor lock’unu tutarak yapılmaz; bekleyen lock’u bırakır. Admission fairness yine ayrı analizdir.</a:t>
            </a:r>
          </a:p>
          <a:p xmlns:a="http://schemas.openxmlformats.org/drawingml/2006/main">
            <a:r>
              <a:t/>
            </a:r>
          </a:p>
          <a:p xmlns:a="http://schemas.openxmlformats.org/drawingml/2006/main">
            <a:r>
              <a:t>SORUNUN YANITI: Evet; lock ordering tek başına bounded waiting sağlamaz.</a:t>
            </a:r>
          </a:p>
          <a:p xmlns:a="http://schemas.openxmlformats.org/drawingml/2006/main">
            <a:r>
              <a:t/>
            </a:r>
          </a:p>
          <a:p xmlns:a="http://schemas.openxmlformats.org/drawingml/2006/main">
            <a:r>
              <a:t>Özgün Lecture03 PDF sayfaları: 60, 61</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Shared state ve invariant.</a:t>
            </a:r>
          </a:p>
          <a:p xmlns:a="http://schemas.openxmlformats.org/drawingml/2006/main">
            <a:r>
              <a:t>İzinli atomik/locked geçişler.</a:t>
            </a:r>
          </a:p>
          <a:p xmlns:a="http://schemas.openxmlformats.org/drawingml/2006/main">
            <a:r>
              <a:t>Bekleme predicate’i ve onu değiştiren olay.</a:t>
            </a:r>
          </a:p>
          <a:p xmlns:a="http://schemas.openxmlformats.org/drawingml/2006/main">
            <a:r>
              <a:t>Completion ve fairness varsayımları.</a:t>
            </a:r>
          </a:p>
          <a:p xmlns:a="http://schemas.openxmlformats.org/drawingml/2006/main">
            <a:r>
              <a:t/>
            </a:r>
          </a:p>
          <a:p xmlns:a="http://schemas.openxmlformats.org/drawingml/2006/main">
            <a:r>
              <a:t>İzole sayısal RMW için atomic; birkaç işlemin invariant’ı için mutex; sınırlı permit için semaphore; predicate beklemek için condition + mutex başlangıç seçimleridir. Bunlar otomatik doğruluk garantisi değildir. Monitor state’i arayüzün içinde tutar. Mümkünse mutable paylaşımı azalt, kalan protokolü açık yaz.</a:t>
            </a:r>
          </a:p>
          <a:p xmlns:a="http://schemas.openxmlformats.org/drawingml/2006/main">
            <a:r>
              <a:t/>
            </a:r>
          </a:p>
          <a:p xmlns:a="http://schemas.openxmlformats.org/drawingml/2006/main">
            <a:r>
              <a:t>Özgün Lecture03 PDF sayfaları: 64</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Python: altı izinli izi üret.</a:t>
            </a:r>
          </a:p>
          <a:p xmlns:a="http://schemas.openxmlformats.org/drawingml/2006/main">
            <a:r>
              <a:t>C: FIFO, count ve toplamı denetle.</a:t>
            </a:r>
          </a:p>
          <a:p xmlns:a="http://schemas.openxmlformats.org/drawingml/2006/main">
            <a:r>
              <a:t>Capacity=1 ile protokolü yeniden sorgula.</a:t>
            </a:r>
          </a:p>
          <a:p xmlns:a="http://schemas.openxmlformats.org/drawingml/2006/main">
            <a:r>
              <a:t/>
            </a:r>
          </a:p>
          <a:p xmlns:a="http://schemas.openxmlformats.org/drawingml/2006/main">
            <a:r>
              <a:t>lab/interleavings.py standart Python modelidir; lab/bounded_buffer.c pthread condition/mutex kullanır ve undefined behavior içeren yarış deneyi içermez. Beklenen 10,000 öğe ve 50,005,000 toplamdır. Aggregate toplamın yanında her öğenin sıra numarası da denetlenir. Producer close ettikten sonra consumer drain eder. Main join’den sonra consumer sonuçlarını okur. Test örnek execution’ları doğrular; invariant ve closure argümanı genel gerekçeyi verir.</a:t>
            </a:r>
          </a:p>
          <a:p xmlns:a="http://schemas.openxmlformats.org/drawingml/2006/main">
            <a:r>
              <a:t/>
            </a:r>
          </a:p>
          <a:p xmlns:a="http://schemas.openxmlformats.org/drawingml/2006/main">
            <a:r>
              <a:t>Özgün Lecture03 PDF sayfaları: 65, 66, 68</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Atomic load + store tek increment mi?</a:t>
            </a:r>
          </a:p>
          <a:p xmlns:a="http://schemas.openxmlformats.org/drawingml/2006/main">
            <a:r>
              <a:t>2 Condition wait lock’u ne yapar?</a:t>
            </a:r>
          </a:p>
          <a:p xmlns:a="http://schemas.openxmlformats.org/drawingml/2006/main">
            <a:r>
              <a:t>3 Signal bir ürün rezervasyonu mu?</a:t>
            </a:r>
          </a:p>
          <a:p xmlns:a="http://schemas.openxmlformats.org/drawingml/2006/main">
            <a:r>
              <a:t>4 Closed ve nonempty ise ne yapmalı?</a:t>
            </a:r>
          </a:p>
          <a:p xmlns:a="http://schemas.openxmlformats.org/drawingml/2006/main">
            <a:r>
              <a:t>5 Lock sırası starvation’ı da çözer mi?</a:t>
            </a:r>
          </a:p>
          <a:p xmlns:a="http://schemas.openxmlformats.org/drawingml/2006/main">
            <a:r>
              <a:t>6 Doğru çıktılı tek koşu kanıt mı?</a:t>
            </a:r>
          </a:p>
          <a:p xmlns:a="http://schemas.openxmlformats.org/drawingml/2006/main">
            <a:r>
              <a:t/>
            </a:r>
          </a:p>
          <a:p xmlns:a="http://schemas.openxmlformats.org/drawingml/2006/main">
            <a:r>
              <a:t>Her soru için sonuç ve teknik gerekçeyi yaz. Bu pratik resmî notlandırma değildir. İlk bölüm 45–55 dakika, ikinci bölüm 50–60 dakika, lab 20–30 dakika; ara ile yaklaşık 2–2.5 saat planla. Hafta 4 köprüsü: hangi kaynakları kim tutuyor, kim kimi bekliyor?</a:t>
            </a:r>
          </a:p>
          <a:p xmlns:a="http://schemas.openxmlformats.org/drawingml/2006/main">
            <a:r>
              <a:t/>
            </a:r>
          </a:p>
          <a:p xmlns:a="http://schemas.openxmlformats.org/drawingml/2006/main">
            <a:r>
              <a:t>SORUNUN YANITI: 1 Hayır, ayrı atomik adımlar. 2 Beklerken bırakır, dönüşte yeniden alır. 3 Hayır, predicate yeniden test edilir. 4 Drain edip empty olunca çık. 5 Hayır, fairness ayrı. 6 Hayır, izinli bütün izler ve invariant gerekçesi gerekir.</a:t>
            </a:r>
          </a:p>
          <a:p xmlns:a="http://schemas.openxmlformats.org/drawingml/2006/main">
            <a:r>
              <a:t/>
            </a:r>
          </a:p>
          <a:p xmlns:a="http://schemas.openxmlformats.org/drawingml/2006/main">
            <a:r>
              <a:t>Özgün Lecture03 PDF sayfaları: 67, 68, 69</a:t>
            </a:r>
          </a:p>
          <a:p xmlns:a="http://schemas.openxmlformats.org/drawingml/2006/main">
            <a:r>
              <a:t/>
            </a:r>
          </a:p>
          <a:p xmlns:a="http://schemas.openxmlformats.org/drawingml/2006/main">
            <a:r>
              <a:t>https://mehmetgokturk.com/cse513/materials/lecture03/CSE513-Lecture03.pdf</a:t>
            </a:r>
          </a:p>
          <a:p xmlns:a="http://schemas.openxmlformats.org/drawingml/2006/main">
            <a:r>
              <a:t/>
            </a:r>
          </a:p>
          <a:p xmlns:a="http://schemas.openxmlformats.org/drawingml/2006/main">
            <a:r>
              <a:t>https://mehmetgokturk.com/cse513/materials/lecture03/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61f2d16d7445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558fcaec8b4fe6" /><Relationship Type="http://schemas.openxmlformats.org/officeDocument/2006/relationships/slideLayout" Target="/ppt/slideLayouts/slideLayout1.xml" Id="R29ddc1df16644b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ddc1df16644b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c9ef81d03e4f19" /><Relationship Type="http://schemas.openxmlformats.org/officeDocument/2006/relationships/image" Target="/ppt/media/image.png" Id="R46705917ef2a4b50" /><Relationship Type="http://schemas.openxmlformats.org/officeDocument/2006/relationships/notesSlide" Target="/ppt/notesSlides/notesSlide1.xml" Id="R39c3edecaed34b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833fe906704388" /><Relationship Type="http://schemas.openxmlformats.org/officeDocument/2006/relationships/notesSlide" Target="/ppt/notesSlides/notesSlide2.xml" Id="R1b5e3df1499e49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1d7bc8ae0c48d8" /><Relationship Type="http://schemas.openxmlformats.org/officeDocument/2006/relationships/notesSlide" Target="/ppt/notesSlides/notesSlide3.xml" Id="Rdf44758bc38141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a24275001947aa" /><Relationship Type="http://schemas.openxmlformats.org/officeDocument/2006/relationships/notesSlide" Target="/ppt/notesSlides/notesSlide4.xml" Id="R12185d6c946946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f4fc42234a4c1d" /><Relationship Type="http://schemas.openxmlformats.org/officeDocument/2006/relationships/notesSlide" Target="/ppt/notesSlides/notesSlide5.xml" Id="R596d258314c34a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0413cc06bb41c7" /><Relationship Type="http://schemas.openxmlformats.org/officeDocument/2006/relationships/notesSlide" Target="/ppt/notesSlides/notesSlide6.xml" Id="R66b6775fd30d4f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21c8d6bb544830" /><Relationship Type="http://schemas.openxmlformats.org/officeDocument/2006/relationships/notesSlide" Target="/ppt/notesSlides/notesSlide7.xml" Id="Rf3240f7d393c4a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0b3350d31ab4ae9" /><Relationship Type="http://schemas.openxmlformats.org/officeDocument/2006/relationships/notesSlide" Target="/ppt/notesSlides/notesSlide8.xml" Id="R14d5634e64b148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7a1e57fcbf44ff3" /><Relationship Type="http://schemas.openxmlformats.org/officeDocument/2006/relationships/notesSlide" Target="/ppt/notesSlides/notesSlide9.xml" Id="R2380584271d943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deb8dfc5a3c4fd7" /><Relationship Type="http://schemas.openxmlformats.org/officeDocument/2006/relationships/notesSlide" Target="/ppt/notesSlides/notesSlide10.xml" Id="R540d52f3453d49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e1f6951cd2462d" /><Relationship Type="http://schemas.openxmlformats.org/officeDocument/2006/relationships/notesSlide" Target="/ppt/notesSlides/notesSlide11.xml" Id="R2ba709b324ee48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ff2b1e578264f96" /><Relationship Type="http://schemas.openxmlformats.org/officeDocument/2006/relationships/notesSlide" Target="/ppt/notesSlides/notesSlide12.xml" Id="R1271133b563242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a8b106fcf83422d" /><Relationship Type="http://schemas.openxmlformats.org/officeDocument/2006/relationships/notesSlide" Target="/ppt/notesSlides/notesSlide13.xml" Id="R388ec18056a041c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fbe8685cae74a00" /><Relationship Type="http://schemas.openxmlformats.org/officeDocument/2006/relationships/notesSlide" Target="/ppt/notesSlides/notesSlide14.xml" Id="Re3f139ad1ddd4a9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12eeb4be98d4755" /><Relationship Type="http://schemas.openxmlformats.org/officeDocument/2006/relationships/notesSlide" Target="/ppt/notesSlides/notesSlide15.xml" Id="R5d41da74cac245f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a32af37a9ca4038" /><Relationship Type="http://schemas.openxmlformats.org/officeDocument/2006/relationships/notesSlide" Target="/ppt/notesSlides/notesSlide16.xml" Id="R544f5e7f7c50461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3a9eb60eb454166" /><Relationship Type="http://schemas.openxmlformats.org/officeDocument/2006/relationships/notesSlide" Target="/ppt/notesSlides/notesSlide17.xml" Id="R53405a0ee8914a9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72664613c4e4c70" /><Relationship Type="http://schemas.openxmlformats.org/officeDocument/2006/relationships/notesSlide" Target="/ppt/notesSlides/notesSlide18.xml" Id="Rd1a580ca010d4fe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40e3dc800f647b4" /><Relationship Type="http://schemas.openxmlformats.org/officeDocument/2006/relationships/notesSlide" Target="/ppt/notesSlides/notesSlide19.xml" Id="R84182ec61966447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426f27d8ddc4599" /><Relationship Type="http://schemas.openxmlformats.org/officeDocument/2006/relationships/notesSlide" Target="/ppt/notesSlides/notesSlide20.xml" Id="Rdb7c83e256a9498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01f004645bf4d91" /><Relationship Type="http://schemas.openxmlformats.org/officeDocument/2006/relationships/notesSlide" Target="/ppt/notesSlides/notesSlide21.xml" Id="R8c48a91c3c9d4ca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9f3264ebab246cf" /><Relationship Type="http://schemas.openxmlformats.org/officeDocument/2006/relationships/notesSlide" Target="/ppt/notesSlides/notesSlide22.xml" Id="R5cbdae550887491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879a7b092334c86" /><Relationship Type="http://schemas.openxmlformats.org/officeDocument/2006/relationships/notesSlide" Target="/ppt/notesSlides/notesSlide23.xml" Id="R7b1ab6a1d8ea4a0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59e01c853bc4b19" /><Relationship Type="http://schemas.openxmlformats.org/officeDocument/2006/relationships/notesSlide" Target="/ppt/notesSlides/notesSlide24.xml" Id="R75bbf445910c4a2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b148af9dd3641bf" /><Relationship Type="http://schemas.openxmlformats.org/officeDocument/2006/relationships/notesSlide" Target="/ppt/notesSlides/notesSlide25.xml" Id="R60e423c06b5442d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c51cbc1eed5452d" /><Relationship Type="http://schemas.openxmlformats.org/officeDocument/2006/relationships/notesSlide" Target="/ppt/notesSlides/notesSlide26.xml" Id="Ra41b3fc32223409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cfbf1d4dd4c4b4e" /><Relationship Type="http://schemas.openxmlformats.org/officeDocument/2006/relationships/notesSlide" Target="/ppt/notesSlides/notesSlide27.xml" Id="R27866272974d4d1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fd5e66a874e4c31" /><Relationship Type="http://schemas.openxmlformats.org/officeDocument/2006/relationships/notesSlide" Target="/ppt/notesSlides/notesSlide28.xml" Id="R49af252bdd9a47ee" /></Relationships>
</file>

<file path=ppt/slides/slide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6705917ef2a4b50"/>
          <a:stretch xmlns:a="http://schemas.openxmlformats.org/drawingml/2006/main"/>
        </p:blipFill>
        <p:spPr>
          <a:xfrm xmlns:a="http://schemas.openxmlformats.org/drawingml/2006/main">
            <a:off x="6667500" y="0"/>
            <a:ext cx="5143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D907AD9-CB80-4DDD-B964-01800CF8F548}"/>
              </a:ext>
            </a:extLst>
          </p:cNvPr>
          <p:cNvSpPr>
            <a:spLocks xmlns:a="http://schemas.openxmlformats.org/drawingml/2006/main" noGrp="1"/>
          </p:cNvSpPr>
          <p:nvPr/>
        </p:nvSpPr>
        <p:spPr>
          <a:xfrm xmlns:a="http://schemas.openxmlformats.org/drawingml/2006/main">
            <a:off x="571500" y="619125"/>
            <a:ext cx="542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087E83"/>
                </a:solidFill>
                <a:latin typeface="Helvetica Neue"/>
                <a:ea typeface="Helvetica Neue"/>
                <a:cs typeface="Helvetica Neue"/>
              </a:defRPr>
            </a:pPr>
            <a:r>
              <a:rPr sz="1725" b="1">
                <a:solidFill>
                  <a:srgbClr val="087E83"/>
                </a:solidFill>
                <a:latin typeface="Helvetica Neue"/>
                <a:ea typeface="Helvetica Neue"/>
                <a:cs typeface="Helvetica Neue"/>
              </a:rPr>
              <a:t>CSE513 · HAFTA 3</a:t>
            </a:r>
          </a:p>
        </p:txBody>
      </p:sp>
      <p:sp>
        <p:nvSpPr>
          <p:cNvPr id="3" name="">
            <a:extLst xmlns:a="http://schemas.openxmlformats.org/drawingml/2006/main">
              <a:ext uri="{FF2B5EF4-FFF2-40B4-BE49-F238E27FC236}">
                <a16:creationId xmlns:a16="http://schemas.microsoft.com/office/drawing/2014/main" id="{2F10B6CB-80F9-40EA-AA3B-54F657604A79}"/>
              </a:ext>
            </a:extLst>
          </p:cNvPr>
          <p:cNvSpPr>
            <a:spLocks xmlns:a="http://schemas.openxmlformats.org/drawingml/2006/main" noGrp="1"/>
          </p:cNvSpPr>
          <p:nvPr/>
        </p:nvSpPr>
        <p:spPr>
          <a:xfrm xmlns:a="http://schemas.openxmlformats.org/drawingml/2006/main">
            <a:off x="571500" y="1476375"/>
            <a:ext cx="54768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050" b="1">
                <a:solidFill>
                  <a:srgbClr val="122C42"/>
                </a:solidFill>
                <a:latin typeface="Helvetica Neue"/>
                <a:ea typeface="Helvetica Neue"/>
                <a:cs typeface="Helvetica Neue"/>
              </a:defRPr>
            </a:pPr>
            <a:r>
              <a:rPr sz="4050" b="1">
                <a:solidFill>
                  <a:srgbClr val="122C42"/>
                </a:solidFill>
                <a:latin typeface="Helvetica Neue"/>
                <a:ea typeface="Helvetica Neue"/>
                <a:cs typeface="Helvetica Neue"/>
              </a:rPr>
              <a:t>Aynı mutfak, güvenli paylaşım</a:t>
            </a:r>
          </a:p>
        </p:txBody>
      </p:sp>
      <p:sp>
        <p:nvSpPr>
          <p:cNvPr id="4" name="">
            <a:extLst xmlns:a="http://schemas.openxmlformats.org/drawingml/2006/main">
              <a:ext uri="{FF2B5EF4-FFF2-40B4-BE49-F238E27FC236}">
                <a16:creationId xmlns:a16="http://schemas.microsoft.com/office/drawing/2014/main" id="{0087FE26-2368-4EBF-A7A8-32EB9BB6B9B3}"/>
              </a:ext>
            </a:extLst>
          </p:cNvPr>
          <p:cNvSpPr>
            <a:spLocks xmlns:a="http://schemas.openxmlformats.org/drawingml/2006/main" noGrp="1"/>
          </p:cNvSpPr>
          <p:nvPr/>
        </p:nvSpPr>
        <p:spPr>
          <a:xfrm xmlns:a="http://schemas.openxmlformats.org/drawingml/2006/main">
            <a:off x="571500" y="3619500"/>
            <a:ext cx="5286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22C42"/>
                </a:solidFill>
                <a:latin typeface="Helvetica Neue"/>
                <a:ea typeface="Helvetica Neue"/>
                <a:cs typeface="Helvetica Neue"/>
              </a:defRPr>
            </a:pPr>
            <a:r>
              <a:rPr sz="2175" b="0">
                <a:solidFill>
                  <a:srgbClr val="122C42"/>
                </a:solidFill>
                <a:latin typeface="Helvetica Neue"/>
                <a:ea typeface="Helvetica Neue"/>
                <a:cs typeface="Helvetica Neue"/>
              </a:rPr>
              <a:t>İzden değişmeze, kilitten güvenli beklemeye</a:t>
            </a:r>
          </a:p>
        </p:txBody>
      </p:sp>
      <p:sp>
        <p:nvSpPr>
          <p:cNvPr id="5" name="">
            <a:extLst xmlns:a="http://schemas.openxmlformats.org/drawingml/2006/main">
              <a:ext uri="{FF2B5EF4-FFF2-40B4-BE49-F238E27FC236}">
                <a16:creationId xmlns:a16="http://schemas.microsoft.com/office/drawing/2014/main" id="{B868AB27-1086-45C7-A6C8-94078C2A9D71}"/>
              </a:ext>
            </a:extLst>
          </p:cNvPr>
          <p:cNvSpPr>
            <a:spLocks xmlns:a="http://schemas.openxmlformats.org/drawingml/2006/main" noGrp="1"/>
          </p:cNvSpPr>
          <p:nvPr/>
        </p:nvSpPr>
        <p:spPr>
          <a:xfrm xmlns:a="http://schemas.openxmlformats.org/drawingml/2006/main">
            <a:off x="571500" y="5619750"/>
            <a:ext cx="547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C46225"/>
                </a:solidFill>
                <a:latin typeface="Helvetica Neue"/>
                <a:ea typeface="Helvetica Neue"/>
                <a:cs typeface="Helvetica Neue"/>
              </a:defRPr>
            </a:pPr>
            <a:r>
              <a:rPr sz="1800" b="1">
                <a:solidFill>
                  <a:srgbClr val="C46225"/>
                </a:solidFill>
                <a:latin typeface="Helvetica Neue"/>
                <a:ea typeface="Helvetica Neue"/>
                <a:cs typeface="Helvetica Neue"/>
              </a:rPr>
              <a:t>Tahmin et · dene · gerekçelendir</a:t>
            </a:r>
          </a:p>
        </p:txBody>
      </p:sp>
    </p:spTree>
    <p:extLst>
      <p:ext uri="{BB962C8B-B14F-4D97-AF65-F5344CB8AC3E}">
        <p14:creationId xmlns:p14="http://schemas.microsoft.com/office/powerpoint/2010/main" val="944981082"/>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5F44AF3-00D3-49E0-8E5E-B1882BC35C7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Tek CPU yarışı engeller mi?</a:t>
            </a:r>
          </a:p>
        </p:txBody>
      </p:sp>
      <p:sp>
        <p:nvSpPr>
          <p:cNvPr id="2" name="">
            <a:extLst xmlns:a="http://schemas.openxmlformats.org/drawingml/2006/main">
              <a:ext uri="{FF2B5EF4-FFF2-40B4-BE49-F238E27FC236}">
                <a16:creationId xmlns:a16="http://schemas.microsoft.com/office/drawing/2014/main" id="{8A4F8A2D-978F-4129-9541-705FA29B5BF4}"/>
              </a:ext>
            </a:extLst>
          </p:cNvPr>
          <p:cNvSpPr>
            <a:spLocks xmlns:a="http://schemas.openxmlformats.org/drawingml/2006/main" noGrp="1"/>
          </p:cNvSpPr>
          <p:nvPr/>
        </p:nvSpPr>
        <p:spPr>
          <a:xfrm xmlns:a="http://schemas.openxmlformats.org/drawingml/2006/main">
            <a:off x="609600" y="195262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CE192156-785E-44E8-B3FE-417FF094030E}"/>
              </a:ext>
            </a:extLst>
          </p:cNvPr>
          <p:cNvSpPr>
            <a:spLocks xmlns:a="http://schemas.openxmlformats.org/drawingml/2006/main" noGrp="1"/>
          </p:cNvSpPr>
          <p:nvPr/>
        </p:nvSpPr>
        <p:spPr>
          <a:xfrm xmlns:a="http://schemas.openxmlformats.org/drawingml/2006/main">
            <a:off x="1333500" y="1952625"/>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Preemption adımları bölebilir.</a:t>
            </a:r>
          </a:p>
        </p:txBody>
      </p:sp>
      <p:sp>
        <p:nvSpPr>
          <p:cNvPr id="4" name="">
            <a:extLst xmlns:a="http://schemas.openxmlformats.org/drawingml/2006/main">
              <a:ext uri="{FF2B5EF4-FFF2-40B4-BE49-F238E27FC236}">
                <a16:creationId xmlns:a16="http://schemas.microsoft.com/office/drawing/2014/main" id="{D2E641F7-C480-4EBE-AAF7-95505246414C}"/>
              </a:ext>
            </a:extLst>
          </p:cNvPr>
          <p:cNvSpPr>
            <a:spLocks xmlns:a="http://schemas.openxmlformats.org/drawingml/2006/main" noGrp="1"/>
          </p:cNvSpPr>
          <p:nvPr/>
        </p:nvSpPr>
        <p:spPr>
          <a:xfrm xmlns:a="http://schemas.openxmlformats.org/drawingml/2006/main">
            <a:off x="609600" y="2819400"/>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8D805FD-5E0F-4DBE-B318-F25E1E5C91BC}"/>
              </a:ext>
            </a:extLst>
          </p:cNvPr>
          <p:cNvSpPr>
            <a:spLocks xmlns:a="http://schemas.openxmlformats.org/drawingml/2006/main" noGrp="1"/>
          </p:cNvSpPr>
          <p:nvPr/>
        </p:nvSpPr>
        <p:spPr>
          <a:xfrm xmlns:a="http://schemas.openxmlformats.org/drawingml/2006/main">
            <a:off x="1333500" y="2819400"/>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Pointer’ın yerel olması hedefini özel yapmaz.</a:t>
            </a:r>
          </a:p>
        </p:txBody>
      </p:sp>
      <p:sp>
        <p:nvSpPr>
          <p:cNvPr id="6" name="">
            <a:extLst xmlns:a="http://schemas.openxmlformats.org/drawingml/2006/main">
              <a:ext uri="{FF2B5EF4-FFF2-40B4-BE49-F238E27FC236}">
                <a16:creationId xmlns:a16="http://schemas.microsoft.com/office/drawing/2014/main" id="{3386933F-4715-459C-93B7-3A6B2B88047E}"/>
              </a:ext>
            </a:extLst>
          </p:cNvPr>
          <p:cNvSpPr>
            <a:spLocks xmlns:a="http://schemas.openxmlformats.org/drawingml/2006/main" noGrp="1"/>
          </p:cNvSpPr>
          <p:nvPr/>
        </p:nvSpPr>
        <p:spPr>
          <a:xfrm xmlns:a="http://schemas.openxmlformats.org/drawingml/2006/main">
            <a:off x="609600" y="368617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29A0859E-BC7D-4C17-AC41-E921373D88C4}"/>
              </a:ext>
            </a:extLst>
          </p:cNvPr>
          <p:cNvSpPr>
            <a:spLocks xmlns:a="http://schemas.openxmlformats.org/drawingml/2006/main" noGrp="1"/>
          </p:cNvSpPr>
          <p:nvPr/>
        </p:nvSpPr>
        <p:spPr>
          <a:xfrm xmlns:a="http://schemas.openxmlformats.org/drawingml/2006/main">
            <a:off x="1333500" y="3686175"/>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Scheduler uygulamanın değişmezini bilmez.</a:t>
            </a:r>
          </a:p>
        </p:txBody>
      </p:sp>
      <p:sp>
        <p:nvSpPr>
          <p:cNvPr id="8" name="">
            <a:extLst xmlns:a="http://schemas.openxmlformats.org/drawingml/2006/main">
              <a:ext uri="{FF2B5EF4-FFF2-40B4-BE49-F238E27FC236}">
                <a16:creationId xmlns:a16="http://schemas.microsoft.com/office/drawing/2014/main" id="{2265B625-5BD0-45A9-A605-CF63FCEC910E}"/>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Tek çekirdekte sayaç güvenli mi?</a:t>
            </a:r>
          </a:p>
        </p:txBody>
      </p:sp>
      <p:sp>
        <p:nvSpPr>
          <p:cNvPr id="9" name="">
            <a:extLst xmlns:a="http://schemas.openxmlformats.org/drawingml/2006/main">
              <a:ext uri="{FF2B5EF4-FFF2-40B4-BE49-F238E27FC236}">
                <a16:creationId xmlns:a16="http://schemas.microsoft.com/office/drawing/2014/main" id="{835D09F3-9B1F-4667-B379-A755E5D60E07}"/>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İki sekme, son bilet</a:t>
            </a:r>
          </a:p>
        </p:txBody>
      </p:sp>
      <p:sp>
        <p:nvSpPr>
          <p:cNvPr id="10" name="">
            <a:extLst xmlns:a="http://schemas.openxmlformats.org/drawingml/2006/main">
              <a:ext uri="{FF2B5EF4-FFF2-40B4-BE49-F238E27FC236}">
                <a16:creationId xmlns:a16="http://schemas.microsoft.com/office/drawing/2014/main" id="{4865D486-1CEE-40E7-89F5-7E07918EB8E2}"/>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İki istek aynı son bileti görür.</a:t>
            </a:r>
          </a:p>
        </p:txBody>
      </p:sp>
      <p:sp>
        <p:nvSpPr>
          <p:cNvPr id="11" name="">
            <a:extLst xmlns:a="http://schemas.openxmlformats.org/drawingml/2006/main">
              <a:ext uri="{FF2B5EF4-FFF2-40B4-BE49-F238E27FC236}">
                <a16:creationId xmlns:a16="http://schemas.microsoft.com/office/drawing/2014/main" id="{C0370F97-EB97-45ED-844F-54ADA5BC99E6}"/>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2" name="">
            <a:extLst xmlns:a="http://schemas.openxmlformats.org/drawingml/2006/main">
              <a:ext uri="{FF2B5EF4-FFF2-40B4-BE49-F238E27FC236}">
                <a16:creationId xmlns:a16="http://schemas.microsoft.com/office/drawing/2014/main" id="{7ACECF52-825A-49CF-A575-F28B999945E2}"/>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02 / 28</a:t>
            </a:r>
          </a:p>
        </p:txBody>
      </p:sp>
    </p:spTree>
    <p:extLst>
      <p:ext uri="{BB962C8B-B14F-4D97-AF65-F5344CB8AC3E}">
        <p14:creationId xmlns:p14="http://schemas.microsoft.com/office/powerpoint/2010/main" val="1551007230"/>
      </p:ext>
    </p:extLst>
  </p:cSld>
</p:sld>
</file>

<file path=ppt/slides/slide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16E174D-1753-4C77-9286-D9D1E130F05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İki artırımın altı olası sırası</a:t>
            </a:r>
          </a:p>
        </p:txBody>
      </p:sp>
      <p:sp>
        <p:nvSpPr>
          <p:cNvPr id="2" name="">
            <a:extLst xmlns:a="http://schemas.openxmlformats.org/drawingml/2006/main">
              <a:ext uri="{FF2B5EF4-FFF2-40B4-BE49-F238E27FC236}">
                <a16:creationId xmlns:a16="http://schemas.microsoft.com/office/drawing/2014/main" id="{11D462CF-4A77-4AA8-A18C-F504B03A7F08}"/>
              </a:ext>
            </a:extLst>
          </p:cNvPr>
          <p:cNvSpPr>
            <a:spLocks xmlns:a="http://schemas.openxmlformats.org/drawingml/2006/main" noGrp="1"/>
          </p:cNvSpPr>
          <p:nvPr/>
        </p:nvSpPr>
        <p:spPr>
          <a:xfrm xmlns:a="http://schemas.openxmlformats.org/drawingml/2006/main">
            <a:off x="609600" y="1952625"/>
            <a:ext cx="438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39268336-C3A7-4EFC-B5B0-AEA6E35DDD80}"/>
              </a:ext>
            </a:extLst>
          </p:cNvPr>
          <p:cNvSpPr>
            <a:spLocks xmlns:a="http://schemas.openxmlformats.org/drawingml/2006/main" noGrp="1"/>
          </p:cNvSpPr>
          <p:nvPr/>
        </p:nvSpPr>
        <p:spPr>
          <a:xfrm xmlns:a="http://schemas.openxmlformats.org/drawingml/2006/main">
            <a:off x="1333500" y="1952625"/>
            <a:ext cx="10248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Model: read ve write ayrı atomik adımlar.</a:t>
            </a:r>
          </a:p>
        </p:txBody>
      </p:sp>
      <p:sp>
        <p:nvSpPr>
          <p:cNvPr id="4" name="">
            <a:extLst xmlns:a="http://schemas.openxmlformats.org/drawingml/2006/main">
              <a:ext uri="{FF2B5EF4-FFF2-40B4-BE49-F238E27FC236}">
                <a16:creationId xmlns:a16="http://schemas.microsoft.com/office/drawing/2014/main" id="{BA23795F-72DE-4ED0-953B-C985EDEFB0E1}"/>
              </a:ext>
            </a:extLst>
          </p:cNvPr>
          <p:cNvSpPr>
            <a:spLocks xmlns:a="http://schemas.openxmlformats.org/drawingml/2006/main" noGrp="1"/>
          </p:cNvSpPr>
          <p:nvPr/>
        </p:nvSpPr>
        <p:spPr>
          <a:xfrm xmlns:a="http://schemas.openxmlformats.org/drawingml/2006/main">
            <a:off x="609600" y="2733675"/>
            <a:ext cx="438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54351914-F4E0-46BB-8BE0-96E2C91226C9}"/>
              </a:ext>
            </a:extLst>
          </p:cNvPr>
          <p:cNvSpPr>
            <a:spLocks xmlns:a="http://schemas.openxmlformats.org/drawingml/2006/main" noGrp="1"/>
          </p:cNvSpPr>
          <p:nvPr/>
        </p:nvSpPr>
        <p:spPr>
          <a:xfrm xmlns:a="http://schemas.openxmlformats.org/drawingml/2006/main">
            <a:off x="1333500" y="2733675"/>
            <a:ext cx="10248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 ve B kendi read’inden sonra write yapar.</a:t>
            </a:r>
          </a:p>
        </p:txBody>
      </p:sp>
      <p:sp>
        <p:nvSpPr>
          <p:cNvPr id="6" name="">
            <a:extLst xmlns:a="http://schemas.openxmlformats.org/drawingml/2006/main">
              <a:ext uri="{FF2B5EF4-FFF2-40B4-BE49-F238E27FC236}">
                <a16:creationId xmlns:a16="http://schemas.microsoft.com/office/drawing/2014/main" id="{B71D2F3F-A36B-4592-9FFF-4506E70E6924}"/>
              </a:ext>
            </a:extLst>
          </p:cNvPr>
          <p:cNvSpPr>
            <a:spLocks xmlns:a="http://schemas.openxmlformats.org/drawingml/2006/main" noGrp="1"/>
          </p:cNvSpPr>
          <p:nvPr/>
        </p:nvSpPr>
        <p:spPr>
          <a:xfrm xmlns:a="http://schemas.openxmlformats.org/drawingml/2006/main">
            <a:off x="609600" y="3514725"/>
            <a:ext cx="438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7A9A9B05-0791-484E-BA07-05245AB303CC}"/>
              </a:ext>
            </a:extLst>
          </p:cNvPr>
          <p:cNvSpPr>
            <a:spLocks xmlns:a="http://schemas.openxmlformats.org/drawingml/2006/main" noGrp="1"/>
          </p:cNvSpPr>
          <p:nvPr/>
        </p:nvSpPr>
        <p:spPr>
          <a:xfrm xmlns:a="http://schemas.openxmlformats.org/drawingml/2006/main">
            <a:off x="1333500" y="3514725"/>
            <a:ext cx="10248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Olası sıralar eşit olasılıklı değildir.</a:t>
            </a:r>
          </a:p>
        </p:txBody>
      </p:sp>
      <p:sp>
        <p:nvSpPr>
          <p:cNvPr id="8" name="">
            <a:extLst xmlns:a="http://schemas.openxmlformats.org/drawingml/2006/main">
              <a:ext uri="{FF2B5EF4-FFF2-40B4-BE49-F238E27FC236}">
                <a16:creationId xmlns:a16="http://schemas.microsoft.com/office/drawing/2014/main" id="{F021E6D1-E6F3-4F82-9A59-BE0959537949}"/>
              </a:ext>
            </a:extLst>
          </p:cNvPr>
          <p:cNvSpPr>
            <a:spLocks xmlns:a="http://schemas.openxmlformats.org/drawingml/2006/main" noGrp="1"/>
          </p:cNvSpPr>
          <p:nvPr/>
        </p:nvSpPr>
        <p:spPr>
          <a:xfrm xmlns:a="http://schemas.openxmlformats.org/drawingml/2006/main">
            <a:off x="609600" y="4295775"/>
            <a:ext cx="438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19EA65A3-0EDB-48C8-8320-85B3B1A61F9A}"/>
              </a:ext>
            </a:extLst>
          </p:cNvPr>
          <p:cNvSpPr>
            <a:spLocks xmlns:a="http://schemas.openxmlformats.org/drawingml/2006/main" noGrp="1"/>
          </p:cNvSpPr>
          <p:nvPr/>
        </p:nvSpPr>
        <p:spPr>
          <a:xfrm xmlns:a="http://schemas.openxmlformats.org/drawingml/2006/main">
            <a:off x="1333500" y="4295775"/>
            <a:ext cx="10248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AABB, ABAB, ABBA, BAAB, BABA, BBAA</a:t>
            </a:r>
          </a:p>
        </p:txBody>
      </p:sp>
      <p:sp>
        <p:nvSpPr>
          <p:cNvPr id="10" name="">
            <a:extLst xmlns:a="http://schemas.openxmlformats.org/drawingml/2006/main">
              <a:ext uri="{FF2B5EF4-FFF2-40B4-BE49-F238E27FC236}">
                <a16:creationId xmlns:a16="http://schemas.microsoft.com/office/drawing/2014/main" id="{F4F2F450-7A55-40CF-A0E3-7AE98CA96B62}"/>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Hangileri 1, hangileri 2 bırakır?</a:t>
            </a:r>
          </a:p>
        </p:txBody>
      </p:sp>
      <p:sp>
        <p:nvSpPr>
          <p:cNvPr id="11" name="">
            <a:extLst xmlns:a="http://schemas.openxmlformats.org/drawingml/2006/main">
              <a:ext uri="{FF2B5EF4-FFF2-40B4-BE49-F238E27FC236}">
                <a16:creationId xmlns:a16="http://schemas.microsoft.com/office/drawing/2014/main" id="{64835607-B343-4CA2-8E62-BD93329E46B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2" name="">
            <a:extLst xmlns:a="http://schemas.openxmlformats.org/drawingml/2006/main">
              <a:ext uri="{FF2B5EF4-FFF2-40B4-BE49-F238E27FC236}">
                <a16:creationId xmlns:a16="http://schemas.microsoft.com/office/drawing/2014/main" id="{F6E48A57-24B6-45D8-8EF0-7D6DFA2ED0F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03 / 28</a:t>
            </a:r>
          </a:p>
        </p:txBody>
      </p:sp>
    </p:spTree>
    <p:extLst>
      <p:ext uri="{BB962C8B-B14F-4D97-AF65-F5344CB8AC3E}">
        <p14:creationId xmlns:p14="http://schemas.microsoft.com/office/powerpoint/2010/main" val="432194555"/>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0DBAE61-2613-4A6F-A0D9-D8772BE8E92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Race condition ≠ C data race</a:t>
            </a:r>
          </a:p>
        </p:txBody>
      </p:sp>
      <p:sp>
        <p:nvSpPr>
          <p:cNvPr id="2" name="">
            <a:extLst xmlns:a="http://schemas.openxmlformats.org/drawingml/2006/main">
              <a:ext uri="{FF2B5EF4-FFF2-40B4-BE49-F238E27FC236}">
                <a16:creationId xmlns:a16="http://schemas.microsoft.com/office/drawing/2014/main" id="{9829D11F-ED4A-4806-9173-6788DF96C34E}"/>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55A64189-9859-4D93-A43C-502798A3757A}"/>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Doğru bir koşu bütün izleri doğrulamaz.</a:t>
            </a:r>
          </a:p>
        </p:txBody>
      </p:sp>
      <p:sp>
        <p:nvSpPr>
          <p:cNvPr id="4" name="">
            <a:extLst xmlns:a="http://schemas.openxmlformats.org/drawingml/2006/main">
              <a:ext uri="{FF2B5EF4-FFF2-40B4-BE49-F238E27FC236}">
                <a16:creationId xmlns:a16="http://schemas.microsoft.com/office/drawing/2014/main" id="{3BAADC1D-28E8-4B05-839A-520EDFCDB891}"/>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7D1A9735-7FC1-410D-8DD8-4A3F98AB77E9}"/>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 data race: undefined behavior.</a:t>
            </a:r>
          </a:p>
        </p:txBody>
      </p:sp>
      <p:sp>
        <p:nvSpPr>
          <p:cNvPr id="6" name="">
            <a:extLst xmlns:a="http://schemas.openxmlformats.org/drawingml/2006/main">
              <a:ext uri="{FF2B5EF4-FFF2-40B4-BE49-F238E27FC236}">
                <a16:creationId xmlns:a16="http://schemas.microsoft.com/office/drawing/2014/main" id="{4E8873FE-4639-40BB-8E14-C5FB6ACFE116}"/>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4DD5267F-3280-4A54-844D-615E3DEDA371}"/>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volatile senkronizasyon sağlamaz.</a:t>
            </a:r>
          </a:p>
        </p:txBody>
      </p:sp>
      <p:sp>
        <p:nvSpPr>
          <p:cNvPr id="8" name="">
            <a:extLst xmlns:a="http://schemas.openxmlformats.org/drawingml/2006/main">
              <a:ext uri="{FF2B5EF4-FFF2-40B4-BE49-F238E27FC236}">
                <a16:creationId xmlns:a16="http://schemas.microsoft.com/office/drawing/2014/main" id="{EE5F3D30-984C-470C-945D-E454F4858AB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9" name="">
            <a:extLst xmlns:a="http://schemas.openxmlformats.org/drawingml/2006/main">
              <a:ext uri="{FF2B5EF4-FFF2-40B4-BE49-F238E27FC236}">
                <a16:creationId xmlns:a16="http://schemas.microsoft.com/office/drawing/2014/main" id="{280BA024-4567-4B96-8AE6-020D08D31CC5}"/>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04 / 28</a:t>
            </a:r>
          </a:p>
        </p:txBody>
      </p:sp>
    </p:spTree>
    <p:extLst>
      <p:ext uri="{BB962C8B-B14F-4D97-AF65-F5344CB8AC3E}">
        <p14:creationId xmlns:p14="http://schemas.microsoft.com/office/powerpoint/2010/main" val="1649019471"/>
      </p:ext>
    </p:extLst>
  </p:cSld>
</p:sld>
</file>

<file path=ppt/slides/slide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D969DE6-3CD1-42EB-94B5-54094854CE7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Önce değişmez, sonra kilit</a:t>
            </a:r>
          </a:p>
        </p:txBody>
      </p:sp>
      <p:sp>
        <p:nvSpPr>
          <p:cNvPr id="2" name="">
            <a:extLst xmlns:a="http://schemas.openxmlformats.org/drawingml/2006/main">
              <a:ext uri="{FF2B5EF4-FFF2-40B4-BE49-F238E27FC236}">
                <a16:creationId xmlns:a16="http://schemas.microsoft.com/office/drawing/2014/main" id="{D29BB7D2-2765-473D-B4ED-5C08A301DED4}"/>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291E9992-E56B-49AC-8973-0DC86729842D}"/>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Ortak nesne nedir?</a:t>
            </a:r>
          </a:p>
        </p:txBody>
      </p:sp>
      <p:sp>
        <p:nvSpPr>
          <p:cNvPr id="4" name="">
            <a:extLst xmlns:a="http://schemas.openxmlformats.org/drawingml/2006/main">
              <a:ext uri="{FF2B5EF4-FFF2-40B4-BE49-F238E27FC236}">
                <a16:creationId xmlns:a16="http://schemas.microsoft.com/office/drawing/2014/main" id="{1CCD18B0-B4F3-4535-9DB6-95F2107F04CD}"/>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BFAEE4E-DC9C-42F3-9628-3D29B0222D52}"/>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Geçerli durum hangi kuralı korur?</a:t>
            </a:r>
          </a:p>
        </p:txBody>
      </p:sp>
      <p:sp>
        <p:nvSpPr>
          <p:cNvPr id="6" name="">
            <a:extLst xmlns:a="http://schemas.openxmlformats.org/drawingml/2006/main">
              <a:ext uri="{FF2B5EF4-FFF2-40B4-BE49-F238E27FC236}">
                <a16:creationId xmlns:a16="http://schemas.microsoft.com/office/drawing/2014/main" id="{CA335F4A-A8A7-463E-9314-B35ACB850792}"/>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1666EF7C-5089-4A31-BF47-6953FAEEAF4B}"/>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Kontrol + bağlı güncelleme birlikte korunur.</a:t>
            </a:r>
          </a:p>
        </p:txBody>
      </p:sp>
      <p:sp>
        <p:nvSpPr>
          <p:cNvPr id="8" name="">
            <a:extLst xmlns:a="http://schemas.openxmlformats.org/drawingml/2006/main">
              <a:ext uri="{FF2B5EF4-FFF2-40B4-BE49-F238E27FC236}">
                <a16:creationId xmlns:a16="http://schemas.microsoft.com/office/drawing/2014/main" id="{A8ACAB77-C389-41AB-B7D7-94E2D0C3415B}"/>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Cüzdanlar arası aktarım</a:t>
            </a:r>
          </a:p>
        </p:txBody>
      </p:sp>
      <p:sp>
        <p:nvSpPr>
          <p:cNvPr id="9" name="">
            <a:extLst xmlns:a="http://schemas.openxmlformats.org/drawingml/2006/main">
              <a:ext uri="{FF2B5EF4-FFF2-40B4-BE49-F238E27FC236}">
                <a16:creationId xmlns:a16="http://schemas.microsoft.com/office/drawing/2014/main" id="{0D06148A-1B73-4A7E-B4B0-28BA096632F3}"/>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Ara anda toplam 140 görünebilir.</a:t>
            </a:r>
          </a:p>
        </p:txBody>
      </p:sp>
      <p:sp>
        <p:nvSpPr>
          <p:cNvPr id="10" name="">
            <a:extLst xmlns:a="http://schemas.openxmlformats.org/drawingml/2006/main">
              <a:ext uri="{FF2B5EF4-FFF2-40B4-BE49-F238E27FC236}">
                <a16:creationId xmlns:a16="http://schemas.microsoft.com/office/drawing/2014/main" id="{DCDB0EBA-4683-4C7B-B47B-6F88BA7B42E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1" name="">
            <a:extLst xmlns:a="http://schemas.openxmlformats.org/drawingml/2006/main">
              <a:ext uri="{FF2B5EF4-FFF2-40B4-BE49-F238E27FC236}">
                <a16:creationId xmlns:a16="http://schemas.microsoft.com/office/drawing/2014/main" id="{F9B467A6-4ABA-4DE9-81AA-8F3FF8F014AD}"/>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05 / 28</a:t>
            </a:r>
          </a:p>
        </p:txBody>
      </p:sp>
    </p:spTree>
    <p:extLst>
      <p:ext uri="{BB962C8B-B14F-4D97-AF65-F5344CB8AC3E}">
        <p14:creationId xmlns:p14="http://schemas.microsoft.com/office/powerpoint/2010/main" val="373977563"/>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45A4C0A-25C4-4263-A131-C6E802C79CC8}"/>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Güvenlik ve ilerleme ayrı kanıttır</a:t>
            </a:r>
          </a:p>
        </p:txBody>
      </p:sp>
      <p:sp>
        <p:nvSpPr>
          <p:cNvPr id="2" name="">
            <a:extLst xmlns:a="http://schemas.openxmlformats.org/drawingml/2006/main">
              <a:ext uri="{FF2B5EF4-FFF2-40B4-BE49-F238E27FC236}">
                <a16:creationId xmlns:a16="http://schemas.microsoft.com/office/drawing/2014/main" id="{66658F4A-272C-4C91-A66B-E91ECA0D4E85}"/>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1BAEE610-1A58-4778-8981-2857BC45F123}"/>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Mutual exclusion: birlikte çakışan erişim yok.</a:t>
            </a:r>
          </a:p>
        </p:txBody>
      </p:sp>
      <p:sp>
        <p:nvSpPr>
          <p:cNvPr id="4" name="">
            <a:extLst xmlns:a="http://schemas.openxmlformats.org/drawingml/2006/main">
              <a:ext uri="{FF2B5EF4-FFF2-40B4-BE49-F238E27FC236}">
                <a16:creationId xmlns:a16="http://schemas.microsoft.com/office/drawing/2014/main" id="{D756D178-6EA1-4C5D-AEFE-B6E685DDE8F6}"/>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E1AE728D-99F9-40E7-B874-6B1E43978AF0}"/>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Progress: boş bölgeye seçim süresiz ötelenmez.</a:t>
            </a:r>
          </a:p>
        </p:txBody>
      </p:sp>
      <p:sp>
        <p:nvSpPr>
          <p:cNvPr id="6" name="">
            <a:extLst xmlns:a="http://schemas.openxmlformats.org/drawingml/2006/main">
              <a:ext uri="{FF2B5EF4-FFF2-40B4-BE49-F238E27FC236}">
                <a16:creationId xmlns:a16="http://schemas.microsoft.com/office/drawing/2014/main" id="{7CDFBC60-6897-437E-B732-BABD5E57378B}"/>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9BA5B650-0F6B-42C5-B708-DC301AAD33E3}"/>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Bounded waiting: başkalarının giriş sayısı sınırlı.</a:t>
            </a:r>
          </a:p>
        </p:txBody>
      </p:sp>
      <p:sp>
        <p:nvSpPr>
          <p:cNvPr id="8" name="">
            <a:extLst xmlns:a="http://schemas.openxmlformats.org/drawingml/2006/main">
              <a:ext uri="{FF2B5EF4-FFF2-40B4-BE49-F238E27FC236}">
                <a16:creationId xmlns:a16="http://schemas.microsoft.com/office/drawing/2014/main" id="{688E1FBF-0929-4DF9-875E-1B3A621D9733}"/>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Tek kasalı kuyruk</a:t>
            </a:r>
          </a:p>
        </p:txBody>
      </p:sp>
      <p:sp>
        <p:nvSpPr>
          <p:cNvPr id="9" name="">
            <a:extLst xmlns:a="http://schemas.openxmlformats.org/drawingml/2006/main">
              <a:ext uri="{FF2B5EF4-FFF2-40B4-BE49-F238E27FC236}">
                <a16:creationId xmlns:a16="http://schemas.microsoft.com/office/drawing/2014/main" id="{9AC7B910-1B81-435B-B52C-5729F875487D}"/>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Aynı anda bir müşteri işlem yapar; biri hep geride kalabilir.</a:t>
            </a:r>
          </a:p>
        </p:txBody>
      </p:sp>
      <p:sp>
        <p:nvSpPr>
          <p:cNvPr id="10" name="">
            <a:extLst xmlns:a="http://schemas.openxmlformats.org/drawingml/2006/main">
              <a:ext uri="{FF2B5EF4-FFF2-40B4-BE49-F238E27FC236}">
                <a16:creationId xmlns:a16="http://schemas.microsoft.com/office/drawing/2014/main" id="{02CA449A-C845-4734-B536-7731F399F42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1" name="">
            <a:extLst xmlns:a="http://schemas.openxmlformats.org/drawingml/2006/main">
              <a:ext uri="{FF2B5EF4-FFF2-40B4-BE49-F238E27FC236}">
                <a16:creationId xmlns:a16="http://schemas.microsoft.com/office/drawing/2014/main" id="{20C9B128-C4F7-4A21-B221-5A42558F455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06 / 28</a:t>
            </a:r>
          </a:p>
        </p:txBody>
      </p:sp>
    </p:spTree>
    <p:extLst>
      <p:ext uri="{BB962C8B-B14F-4D97-AF65-F5344CB8AC3E}">
        <p14:creationId xmlns:p14="http://schemas.microsoft.com/office/powerpoint/2010/main" val="170146044"/>
      </p:ext>
    </p:extLst>
  </p:cSld>
</p:sld>
</file>

<file path=ppt/slides/slide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E2D643-5B6A-45F0-9A27-CBD0116ABFE1}"/>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Peterson: kanıtın varsayımları</a:t>
            </a:r>
          </a:p>
        </p:txBody>
      </p:sp>
      <p:sp>
        <p:nvSpPr>
          <p:cNvPr id="2" name="">
            <a:extLst xmlns:a="http://schemas.openxmlformats.org/drawingml/2006/main">
              <a:ext uri="{FF2B5EF4-FFF2-40B4-BE49-F238E27FC236}">
                <a16:creationId xmlns:a16="http://schemas.microsoft.com/office/drawing/2014/main" id="{42BDC2A4-135E-4C94-BD31-93F02B760CFD}"/>
              </a:ext>
            </a:extLst>
          </p:cNvPr>
          <p:cNvSpPr>
            <a:spLocks xmlns:a="http://schemas.openxmlformats.org/drawingml/2006/main" noGrp="1"/>
          </p:cNvSpPr>
          <p:nvPr/>
        </p:nvSpPr>
        <p:spPr>
          <a:xfrm xmlns:a="http://schemas.openxmlformats.org/drawingml/2006/main">
            <a:off x="609600" y="1762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Strict alternation progress’i bozabilir.</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İki thread, atomik erişim, sequential consistency.</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Düz C’ye kopyalanacak kod değildir.</a:t>
            </a:r>
          </a:p>
        </p:txBody>
      </p:sp>
      <p:sp>
        <p:nvSpPr>
          <p:cNvPr id="3" name="">
            <a:extLst xmlns:a="http://schemas.openxmlformats.org/drawingml/2006/main">
              <a:ext uri="{FF2B5EF4-FFF2-40B4-BE49-F238E27FC236}">
                <a16:creationId xmlns:a16="http://schemas.microsoft.com/office/drawing/2014/main" id="{7728555D-D177-42DC-9BFF-21913E509E06}"/>
              </a:ext>
            </a:extLst>
          </p:cNvPr>
          <p:cNvSpPr>
            <a:spLocks xmlns:a="http://schemas.openxmlformats.org/drawingml/2006/main" noGrp="1"/>
          </p:cNvSpPr>
          <p:nvPr/>
        </p:nvSpPr>
        <p:spPr>
          <a:xfrm xmlns:a="http://schemas.openxmlformats.org/drawingml/2006/main">
            <a:off x="742950" y="2809875"/>
            <a:ext cx="10715625"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flag[i] = true;</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turn = j;</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while (flag[j] &amp;&amp; turn == j) { }</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 critical section */</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flag[i] = false;</a:t>
            </a:r>
          </a:p>
        </p:txBody>
      </p:sp>
      <p:sp>
        <p:nvSpPr>
          <p:cNvPr id="4" name="">
            <a:extLst xmlns:a="http://schemas.openxmlformats.org/drawingml/2006/main">
              <a:ext uri="{FF2B5EF4-FFF2-40B4-BE49-F238E27FC236}">
                <a16:creationId xmlns:a16="http://schemas.microsoft.com/office/drawing/2014/main" id="{1FA197F7-4060-48DD-B335-44A7961E80C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5" name="">
            <a:extLst xmlns:a="http://schemas.openxmlformats.org/drawingml/2006/main">
              <a:ext uri="{FF2B5EF4-FFF2-40B4-BE49-F238E27FC236}">
                <a16:creationId xmlns:a16="http://schemas.microsoft.com/office/drawing/2014/main" id="{0A9D159D-9AFA-47E6-ABAE-A95D7E93938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07 / 28</a:t>
            </a:r>
          </a:p>
        </p:txBody>
      </p:sp>
    </p:spTree>
    <p:extLst>
      <p:ext uri="{BB962C8B-B14F-4D97-AF65-F5344CB8AC3E}">
        <p14:creationId xmlns:p14="http://schemas.microsoft.com/office/powerpoint/2010/main" val="958167114"/>
      </p:ext>
    </p:extLst>
  </p:cSld>
</p:sld>
</file>

<file path=ppt/slides/slide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675D181-2F91-487A-8982-4A546E1A7BAC}"/>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Atomik alan, atomik işlem değildir</a:t>
            </a:r>
          </a:p>
        </p:txBody>
      </p:sp>
      <p:sp>
        <p:nvSpPr>
          <p:cNvPr id="2" name="">
            <a:extLst xmlns:a="http://schemas.openxmlformats.org/drawingml/2006/main">
              <a:ext uri="{FF2B5EF4-FFF2-40B4-BE49-F238E27FC236}">
                <a16:creationId xmlns:a16="http://schemas.microsoft.com/office/drawing/2014/main" id="{A1449797-E0FF-48A6-97CF-35C8D1040284}"/>
              </a:ext>
            </a:extLst>
          </p:cNvPr>
          <p:cNvSpPr>
            <a:spLocks xmlns:a="http://schemas.openxmlformats.org/drawingml/2006/main" noGrp="1"/>
          </p:cNvSpPr>
          <p:nvPr/>
        </p:nvSpPr>
        <p:spPr>
          <a:xfrm xmlns:a="http://schemas.openxmlformats.org/drawingml/2006/main">
            <a:off x="609600" y="195262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771F399-1E01-4B55-A1E5-2FBF5AA22A7C}"/>
              </a:ext>
            </a:extLst>
          </p:cNvPr>
          <p:cNvSpPr>
            <a:spLocks xmlns:a="http://schemas.openxmlformats.org/drawingml/2006/main" noGrp="1"/>
          </p:cNvSpPr>
          <p:nvPr/>
        </p:nvSpPr>
        <p:spPr>
          <a:xfrm xmlns:a="http://schemas.openxmlformats.org/drawingml/2006/main">
            <a:off x="1333500" y="1952625"/>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CAS: beklenen değer uygunsa değiştir.</a:t>
            </a:r>
          </a:p>
        </p:txBody>
      </p:sp>
      <p:sp>
        <p:nvSpPr>
          <p:cNvPr id="4" name="">
            <a:extLst xmlns:a="http://schemas.openxmlformats.org/drawingml/2006/main">
              <a:ext uri="{FF2B5EF4-FFF2-40B4-BE49-F238E27FC236}">
                <a16:creationId xmlns:a16="http://schemas.microsoft.com/office/drawing/2014/main" id="{B07D2CB4-E710-41A3-A80E-798886A0C1A7}"/>
              </a:ext>
            </a:extLst>
          </p:cNvPr>
          <p:cNvSpPr>
            <a:spLocks xmlns:a="http://schemas.openxmlformats.org/drawingml/2006/main" noGrp="1"/>
          </p:cNvSpPr>
          <p:nvPr/>
        </p:nvSpPr>
        <p:spPr>
          <a:xfrm xmlns:a="http://schemas.openxmlformats.org/drawingml/2006/main">
            <a:off x="609600" y="2819400"/>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6FBA72A-2CC2-4C2B-8F5D-3CDC08416917}"/>
              </a:ext>
            </a:extLst>
          </p:cNvPr>
          <p:cNvSpPr>
            <a:spLocks xmlns:a="http://schemas.openxmlformats.org/drawingml/2006/main" noGrp="1"/>
          </p:cNvSpPr>
          <p:nvPr/>
        </p:nvSpPr>
        <p:spPr>
          <a:xfrm xmlns:a="http://schemas.openxmlformats.org/drawingml/2006/main">
            <a:off x="1333500" y="2819400"/>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fetch_add: tek read–modify–write.</a:t>
            </a:r>
          </a:p>
        </p:txBody>
      </p:sp>
      <p:sp>
        <p:nvSpPr>
          <p:cNvPr id="6" name="">
            <a:extLst xmlns:a="http://schemas.openxmlformats.org/drawingml/2006/main">
              <a:ext uri="{FF2B5EF4-FFF2-40B4-BE49-F238E27FC236}">
                <a16:creationId xmlns:a16="http://schemas.microsoft.com/office/drawing/2014/main" id="{781C7C75-D80D-4C6B-A1D9-FD41054F5422}"/>
              </a:ext>
            </a:extLst>
          </p:cNvPr>
          <p:cNvSpPr>
            <a:spLocks xmlns:a="http://schemas.openxmlformats.org/drawingml/2006/main" noGrp="1"/>
          </p:cNvSpPr>
          <p:nvPr/>
        </p:nvSpPr>
        <p:spPr>
          <a:xfrm xmlns:a="http://schemas.openxmlformats.org/drawingml/2006/main">
            <a:off x="609600" y="368617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4324DB0A-6568-4287-9D8F-F03A040A5B2A}"/>
              </a:ext>
            </a:extLst>
          </p:cNvPr>
          <p:cNvSpPr>
            <a:spLocks xmlns:a="http://schemas.openxmlformats.org/drawingml/2006/main" noGrp="1"/>
          </p:cNvSpPr>
          <p:nvPr/>
        </p:nvSpPr>
        <p:spPr>
          <a:xfrm xmlns:a="http://schemas.openxmlformats.org/drawingml/2006/main">
            <a:off x="1333500" y="3686175"/>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load + store: hâlâ iki işlem.</a:t>
            </a:r>
          </a:p>
        </p:txBody>
      </p:sp>
      <p:sp>
        <p:nvSpPr>
          <p:cNvPr id="8" name="">
            <a:extLst xmlns:a="http://schemas.openxmlformats.org/drawingml/2006/main">
              <a:ext uri="{FF2B5EF4-FFF2-40B4-BE49-F238E27FC236}">
                <a16:creationId xmlns:a16="http://schemas.microsoft.com/office/drawing/2014/main" id="{8698A3CB-3D93-45D0-9553-3FF8825BE71D}"/>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İki atomic load 0 görüp iki atomic store 1 yazarsa?</a:t>
            </a:r>
          </a:p>
        </p:txBody>
      </p:sp>
      <p:sp>
        <p:nvSpPr>
          <p:cNvPr id="9" name="">
            <a:extLst xmlns:a="http://schemas.openxmlformats.org/drawingml/2006/main">
              <a:ext uri="{FF2B5EF4-FFF2-40B4-BE49-F238E27FC236}">
                <a16:creationId xmlns:a16="http://schemas.microsoft.com/office/drawing/2014/main" id="{8A0B2CB4-A675-4BC5-84D5-8B0C3EB3A458}"/>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İstek metriği</a:t>
            </a:r>
          </a:p>
        </p:txBody>
      </p:sp>
      <p:sp>
        <p:nvSpPr>
          <p:cNvPr id="10" name="">
            <a:extLst xmlns:a="http://schemas.openxmlformats.org/drawingml/2006/main">
              <a:ext uri="{FF2B5EF4-FFF2-40B4-BE49-F238E27FC236}">
                <a16:creationId xmlns:a16="http://schemas.microsoft.com/office/drawing/2014/main" id="{971A7C9A-B72C-4B06-9CEF-99EDD1966DC0}"/>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Worker’lar yalnız bağımsız bir toplamı artırır.</a:t>
            </a:r>
          </a:p>
        </p:txBody>
      </p:sp>
      <p:sp>
        <p:nvSpPr>
          <p:cNvPr id="11" name="">
            <a:extLst xmlns:a="http://schemas.openxmlformats.org/drawingml/2006/main">
              <a:ext uri="{FF2B5EF4-FFF2-40B4-BE49-F238E27FC236}">
                <a16:creationId xmlns:a16="http://schemas.microsoft.com/office/drawing/2014/main" id="{0C1C084C-B94F-447D-B13D-BD09DDAC6AA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2" name="">
            <a:extLst xmlns:a="http://schemas.openxmlformats.org/drawingml/2006/main">
              <a:ext uri="{FF2B5EF4-FFF2-40B4-BE49-F238E27FC236}">
                <a16:creationId xmlns:a16="http://schemas.microsoft.com/office/drawing/2014/main" id="{BCCB89C6-8F43-451F-A15E-96A4A66F53C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08 / 28</a:t>
            </a:r>
          </a:p>
        </p:txBody>
      </p:sp>
    </p:spTree>
    <p:extLst>
      <p:ext uri="{BB962C8B-B14F-4D97-AF65-F5344CB8AC3E}">
        <p14:creationId xmlns:p14="http://schemas.microsoft.com/office/powerpoint/2010/main" val="663836969"/>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C7AF9F-E004-4D6B-8739-8356B4499D74}"/>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Mutex: tek anahtarın protokolü</a:t>
            </a:r>
          </a:p>
        </p:txBody>
      </p:sp>
      <p:sp>
        <p:nvSpPr>
          <p:cNvPr id="2" name="">
            <a:extLst xmlns:a="http://schemas.openxmlformats.org/drawingml/2006/main">
              <a:ext uri="{FF2B5EF4-FFF2-40B4-BE49-F238E27FC236}">
                <a16:creationId xmlns:a16="http://schemas.microsoft.com/office/drawing/2014/main" id="{2DE8EC12-9CB7-40D8-84DF-97BECBD2DFD7}"/>
              </a:ext>
            </a:extLst>
          </p:cNvPr>
          <p:cNvSpPr>
            <a:spLocks xmlns:a="http://schemas.openxmlformats.org/drawingml/2006/main" noGrp="1"/>
          </p:cNvSpPr>
          <p:nvPr/>
        </p:nvSpPr>
        <p:spPr>
          <a:xfrm xmlns:a="http://schemas.openxmlformats.org/drawingml/2006/main">
            <a:off x="609600" y="1762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Acquire → bütün korunan işlem → release.</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Sahip thread unlock yapar.</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Başlat; herkes bitince destroy et.</a:t>
            </a:r>
          </a:p>
        </p:txBody>
      </p:sp>
      <p:sp>
        <p:nvSpPr>
          <p:cNvPr id="3" name="">
            <a:extLst xmlns:a="http://schemas.openxmlformats.org/drawingml/2006/main">
              <a:ext uri="{FF2B5EF4-FFF2-40B4-BE49-F238E27FC236}">
                <a16:creationId xmlns:a16="http://schemas.microsoft.com/office/drawing/2014/main" id="{D6E9CF99-DCCB-4C97-A47B-E031B6F9D45D}"/>
              </a:ext>
            </a:extLst>
          </p:cNvPr>
          <p:cNvSpPr>
            <a:spLocks xmlns:a="http://schemas.openxmlformats.org/drawingml/2006/main" noGrp="1"/>
          </p:cNvSpPr>
          <p:nvPr/>
        </p:nvSpPr>
        <p:spPr>
          <a:xfrm xmlns:a="http://schemas.openxmlformats.org/drawingml/2006/main">
            <a:off x="742950" y="2809875"/>
            <a:ext cx="10715625"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pthread_mutex_lock(&amp;m);</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counter++;</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pthread_mutex_unlock(&amp;m);</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 join workers before final inspection */</a:t>
            </a:r>
          </a:p>
        </p:txBody>
      </p:sp>
      <p:sp>
        <p:nvSpPr>
          <p:cNvPr id="4" name="">
            <a:extLst xmlns:a="http://schemas.openxmlformats.org/drawingml/2006/main">
              <a:ext uri="{FF2B5EF4-FFF2-40B4-BE49-F238E27FC236}">
                <a16:creationId xmlns:a16="http://schemas.microsoft.com/office/drawing/2014/main" id="{0AE75D3A-F8B2-4A26-B539-5EB0077B82B0}"/>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Paylaşılan sepet</a:t>
            </a:r>
          </a:p>
        </p:txBody>
      </p:sp>
      <p:sp>
        <p:nvSpPr>
          <p:cNvPr id="5" name="">
            <a:extLst xmlns:a="http://schemas.openxmlformats.org/drawingml/2006/main">
              <a:ext uri="{FF2B5EF4-FFF2-40B4-BE49-F238E27FC236}">
                <a16:creationId xmlns:a16="http://schemas.microsoft.com/office/drawing/2014/main" id="{CFE7EEB2-CC41-4285-B778-1D1B9B821018}"/>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İki worker sepetin ürünlerini ve toplamını değiştirir.</a:t>
            </a:r>
          </a:p>
        </p:txBody>
      </p:sp>
      <p:sp>
        <p:nvSpPr>
          <p:cNvPr id="6" name="">
            <a:extLst xmlns:a="http://schemas.openxmlformats.org/drawingml/2006/main">
              <a:ext uri="{FF2B5EF4-FFF2-40B4-BE49-F238E27FC236}">
                <a16:creationId xmlns:a16="http://schemas.microsoft.com/office/drawing/2014/main" id="{58D7B809-AC3C-4A1D-9F1A-358990464B86}"/>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7" name="">
            <a:extLst xmlns:a="http://schemas.openxmlformats.org/drawingml/2006/main">
              <a:ext uri="{FF2B5EF4-FFF2-40B4-BE49-F238E27FC236}">
                <a16:creationId xmlns:a16="http://schemas.microsoft.com/office/drawing/2014/main" id="{7D85248A-5210-42F8-9727-CBC6B70754F3}"/>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09 / 28</a:t>
            </a:r>
          </a:p>
        </p:txBody>
      </p:sp>
    </p:spTree>
    <p:extLst>
      <p:ext uri="{BB962C8B-B14F-4D97-AF65-F5344CB8AC3E}">
        <p14:creationId xmlns:p14="http://schemas.microsoft.com/office/powerpoint/2010/main" val="676745581"/>
      </p:ext>
    </p:extLst>
  </p:cSld>
</p:sld>
</file>

<file path=ppt/slides/slide1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40A0F78-BDA2-4E13-B0CC-44E7A8C18F9C}"/>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Ne kadarını kilitlemeli?</a:t>
            </a:r>
          </a:p>
        </p:txBody>
      </p:sp>
      <p:sp>
        <p:nvSpPr>
          <p:cNvPr id="2" name="">
            <a:extLst xmlns:a="http://schemas.openxmlformats.org/drawingml/2006/main">
              <a:ext uri="{FF2B5EF4-FFF2-40B4-BE49-F238E27FC236}">
                <a16:creationId xmlns:a16="http://schemas.microsoft.com/office/drawing/2014/main" id="{FC5D7BE4-B0EF-47D0-B717-83B8CF213EF5}"/>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CA27592F-8B25-4254-A4F6-86D6C84DCFA5}"/>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Bağımsız hesaplamayı dışarı taşı.</a:t>
            </a:r>
          </a:p>
        </p:txBody>
      </p:sp>
      <p:sp>
        <p:nvSpPr>
          <p:cNvPr id="4" name="">
            <a:extLst xmlns:a="http://schemas.openxmlformats.org/drawingml/2006/main">
              <a:ext uri="{FF2B5EF4-FFF2-40B4-BE49-F238E27FC236}">
                <a16:creationId xmlns:a16="http://schemas.microsoft.com/office/drawing/2014/main" id="{84945A24-4A17-4E9F-BD1C-55B06FD66AF6}"/>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73030651-0635-45FA-9B41-1A57DF1DE4E6}"/>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Kontrol ve bağlı değişiklik içeride kalır.</a:t>
            </a:r>
          </a:p>
        </p:txBody>
      </p:sp>
      <p:sp>
        <p:nvSpPr>
          <p:cNvPr id="6" name="">
            <a:extLst xmlns:a="http://schemas.openxmlformats.org/drawingml/2006/main">
              <a:ext uri="{FF2B5EF4-FFF2-40B4-BE49-F238E27FC236}">
                <a16:creationId xmlns:a16="http://schemas.microsoft.com/office/drawing/2014/main" id="{2CC9B576-7DCE-4FC9-B9C6-0D3CE1971A84}"/>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359F8C61-16D8-45EF-9E2F-252E86322314}"/>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Spin CPU tüketir; blocking bekleyeni durdurabilir.</a:t>
            </a:r>
          </a:p>
        </p:txBody>
      </p:sp>
      <p:sp>
        <p:nvSpPr>
          <p:cNvPr id="8" name="">
            <a:extLst xmlns:a="http://schemas.openxmlformats.org/drawingml/2006/main">
              <a:ext uri="{FF2B5EF4-FFF2-40B4-BE49-F238E27FC236}">
                <a16:creationId xmlns:a16="http://schemas.microsoft.com/office/drawing/2014/main" id="{BAF54B96-03DC-4CF0-85E2-08383F3E7B92}"/>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Küçük resim servisi</a:t>
            </a:r>
          </a:p>
        </p:txBody>
      </p:sp>
      <p:sp>
        <p:nvSpPr>
          <p:cNvPr id="9" name="">
            <a:extLst xmlns:a="http://schemas.openxmlformats.org/drawingml/2006/main">
              <a:ext uri="{FF2B5EF4-FFF2-40B4-BE49-F238E27FC236}">
                <a16:creationId xmlns:a16="http://schemas.microsoft.com/office/drawing/2014/main" id="{2ABC9361-8AEA-4714-B038-E77EAC802600}"/>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Dosya okuma sırasında global kilit tutulursa diğer işler bekler.</a:t>
            </a:r>
          </a:p>
        </p:txBody>
      </p:sp>
      <p:sp>
        <p:nvSpPr>
          <p:cNvPr id="10" name="">
            <a:extLst xmlns:a="http://schemas.openxmlformats.org/drawingml/2006/main">
              <a:ext uri="{FF2B5EF4-FFF2-40B4-BE49-F238E27FC236}">
                <a16:creationId xmlns:a16="http://schemas.microsoft.com/office/drawing/2014/main" id="{7ED85EEC-37B0-48F0-9DCC-FD182D492FFB}"/>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1" name="">
            <a:extLst xmlns:a="http://schemas.openxmlformats.org/drawingml/2006/main">
              <a:ext uri="{FF2B5EF4-FFF2-40B4-BE49-F238E27FC236}">
                <a16:creationId xmlns:a16="http://schemas.microsoft.com/office/drawing/2014/main" id="{B789319C-6503-4089-886D-ED3ABF42C2DA}"/>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10 / 28</a:t>
            </a:r>
          </a:p>
        </p:txBody>
      </p:sp>
    </p:spTree>
    <p:extLst>
      <p:ext uri="{BB962C8B-B14F-4D97-AF65-F5344CB8AC3E}">
        <p14:creationId xmlns:p14="http://schemas.microsoft.com/office/powerpoint/2010/main" val="1191432592"/>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80CE042-59D1-4A3B-A8C7-9997A164FB3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İlk kontrol: koşuyu değil protokolü açıkla</a:t>
            </a:r>
          </a:p>
        </p:txBody>
      </p:sp>
      <p:sp>
        <p:nvSpPr>
          <p:cNvPr id="2" name="">
            <a:extLst xmlns:a="http://schemas.openxmlformats.org/drawingml/2006/main">
              <a:ext uri="{FF2B5EF4-FFF2-40B4-BE49-F238E27FC236}">
                <a16:creationId xmlns:a16="http://schemas.microsoft.com/office/drawing/2014/main" id="{0447B013-F225-4BE6-BA4C-9B63864FCDCB}"/>
              </a:ext>
            </a:extLst>
          </p:cNvPr>
          <p:cNvSpPr>
            <a:spLocks xmlns:a="http://schemas.openxmlformats.org/drawingml/2006/main" noGrp="1"/>
          </p:cNvSpPr>
          <p:nvPr/>
        </p:nvSpPr>
        <p:spPr>
          <a:xfrm xmlns:a="http://schemas.openxmlformats.org/drawingml/2006/main">
            <a:off x="609600" y="19526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018618CC-E46C-4B10-B6AA-04C02C5FB432}"/>
              </a:ext>
            </a:extLst>
          </p:cNvPr>
          <p:cNvSpPr>
            <a:spLocks xmlns:a="http://schemas.openxmlformats.org/drawingml/2006/main" noGrp="1"/>
          </p:cNvSpPr>
          <p:nvPr/>
        </p:nvSpPr>
        <p:spPr>
          <a:xfrm xmlns:a="http://schemas.openxmlformats.org/drawingml/2006/main">
            <a:off x="1333500" y="19526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Tek CPU neden yeterli koruma değil?</a:t>
            </a:r>
          </a:p>
        </p:txBody>
      </p:sp>
      <p:sp>
        <p:nvSpPr>
          <p:cNvPr id="4" name="">
            <a:extLst xmlns:a="http://schemas.openxmlformats.org/drawingml/2006/main">
              <a:ext uri="{FF2B5EF4-FFF2-40B4-BE49-F238E27FC236}">
                <a16:creationId xmlns:a16="http://schemas.microsoft.com/office/drawing/2014/main" id="{CA04400C-9068-455B-8CD4-5EF7769CE59E}"/>
              </a:ext>
            </a:extLst>
          </p:cNvPr>
          <p:cNvSpPr>
            <a:spLocks xmlns:a="http://schemas.openxmlformats.org/drawingml/2006/main" noGrp="1"/>
          </p:cNvSpPr>
          <p:nvPr/>
        </p:nvSpPr>
        <p:spPr>
          <a:xfrm xmlns:a="http://schemas.openxmlformats.org/drawingml/2006/main">
            <a:off x="609600" y="321627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F2D5C3D9-C463-4B55-BDEA-D36C39EB323E}"/>
              </a:ext>
            </a:extLst>
          </p:cNvPr>
          <p:cNvSpPr>
            <a:spLocks xmlns:a="http://schemas.openxmlformats.org/drawingml/2006/main" noGrp="1"/>
          </p:cNvSpPr>
          <p:nvPr/>
        </p:nvSpPr>
        <p:spPr>
          <a:xfrm xmlns:a="http://schemas.openxmlformats.org/drawingml/2006/main">
            <a:off x="1333500" y="321627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volatile neden mutex değil?</a:t>
            </a:r>
          </a:p>
        </p:txBody>
      </p:sp>
      <p:sp>
        <p:nvSpPr>
          <p:cNvPr id="6" name="">
            <a:extLst xmlns:a="http://schemas.openxmlformats.org/drawingml/2006/main">
              <a:ext uri="{FF2B5EF4-FFF2-40B4-BE49-F238E27FC236}">
                <a16:creationId xmlns:a16="http://schemas.microsoft.com/office/drawing/2014/main" id="{584F6E27-FA2E-4694-9C02-CAA733EBF978}"/>
              </a:ext>
            </a:extLst>
          </p:cNvPr>
          <p:cNvSpPr>
            <a:spLocks xmlns:a="http://schemas.openxmlformats.org/drawingml/2006/main" noGrp="1"/>
          </p:cNvSpPr>
          <p:nvPr/>
        </p:nvSpPr>
        <p:spPr>
          <a:xfrm xmlns:a="http://schemas.openxmlformats.org/drawingml/2006/main">
            <a:off x="609600" y="4479925"/>
            <a:ext cx="43815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7BCE4E0C-0051-41A0-A80F-F32B7D23520B}"/>
              </a:ext>
            </a:extLst>
          </p:cNvPr>
          <p:cNvSpPr>
            <a:spLocks xmlns:a="http://schemas.openxmlformats.org/drawingml/2006/main" noGrp="1"/>
          </p:cNvSpPr>
          <p:nvPr/>
        </p:nvSpPr>
        <p:spPr>
          <a:xfrm xmlns:a="http://schemas.openxmlformats.org/drawingml/2006/main">
            <a:off x="1333500" y="4479925"/>
            <a:ext cx="10248900" cy="1168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Atomic load/store neden increment değil?</a:t>
            </a:r>
          </a:p>
        </p:txBody>
      </p:sp>
      <p:sp>
        <p:nvSpPr>
          <p:cNvPr id="8" name="">
            <a:extLst xmlns:a="http://schemas.openxmlformats.org/drawingml/2006/main">
              <a:ext uri="{FF2B5EF4-FFF2-40B4-BE49-F238E27FC236}">
                <a16:creationId xmlns:a16="http://schemas.microsoft.com/office/drawing/2014/main" id="{F5671744-036C-4837-BBDB-F726506320E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9" name="">
            <a:extLst xmlns:a="http://schemas.openxmlformats.org/drawingml/2006/main">
              <a:ext uri="{FF2B5EF4-FFF2-40B4-BE49-F238E27FC236}">
                <a16:creationId xmlns:a16="http://schemas.microsoft.com/office/drawing/2014/main" id="{67DA04CD-310D-47C4-B492-D352C4FFDF30}"/>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11 / 28</a:t>
            </a:r>
          </a:p>
        </p:txBody>
      </p:sp>
    </p:spTree>
    <p:extLst>
      <p:ext uri="{BB962C8B-B14F-4D97-AF65-F5344CB8AC3E}">
        <p14:creationId xmlns:p14="http://schemas.microsoft.com/office/powerpoint/2010/main" val="261881281"/>
      </p:ext>
    </p:extLst>
  </p:cSld>
</p:sld>
</file>

<file path=ppt/slides/slide1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F3F81A2-C0B4-4120-A966-D012DC6D4B22}"/>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Semaphore: kaç izin var?</a:t>
            </a:r>
          </a:p>
        </p:txBody>
      </p:sp>
      <p:sp>
        <p:nvSpPr>
          <p:cNvPr id="2" name="">
            <a:extLst xmlns:a="http://schemas.openxmlformats.org/drawingml/2006/main">
              <a:ext uri="{FF2B5EF4-FFF2-40B4-BE49-F238E27FC236}">
                <a16:creationId xmlns:a16="http://schemas.microsoft.com/office/drawing/2014/main" id="{04A42EB0-F1B5-4F0D-A436-6322D6F76D53}"/>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E05E568D-846B-4624-AAFE-9781A0E67551}"/>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Başarılı wait bir permit tüketir.</a:t>
            </a:r>
          </a:p>
        </p:txBody>
      </p:sp>
      <p:sp>
        <p:nvSpPr>
          <p:cNvPr id="4" name="">
            <a:extLst xmlns:a="http://schemas.openxmlformats.org/drawingml/2006/main">
              <a:ext uri="{FF2B5EF4-FFF2-40B4-BE49-F238E27FC236}">
                <a16:creationId xmlns:a16="http://schemas.microsoft.com/office/drawing/2014/main" id="{F97052DB-2CC9-48B3-9F69-892B72CDB2AF}"/>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2715162B-E838-4B24-BDC1-B2EEF2AA2752}"/>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post bir permit ekler.</a:t>
            </a:r>
          </a:p>
        </p:txBody>
      </p:sp>
      <p:sp>
        <p:nvSpPr>
          <p:cNvPr id="6" name="">
            <a:extLst xmlns:a="http://schemas.openxmlformats.org/drawingml/2006/main">
              <a:ext uri="{FF2B5EF4-FFF2-40B4-BE49-F238E27FC236}">
                <a16:creationId xmlns:a16="http://schemas.microsoft.com/office/drawing/2014/main" id="{CD9F41CF-1CE0-4E4A-8364-5C00218782CE}"/>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FF43DC29-123C-4BD0-86BD-8703FA9C6D69}"/>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Sıra ve ownership ayrı konudur.</a:t>
            </a:r>
          </a:p>
        </p:txBody>
      </p:sp>
      <p:sp>
        <p:nvSpPr>
          <p:cNvPr id="8" name="">
            <a:extLst xmlns:a="http://schemas.openxmlformats.org/drawingml/2006/main">
              <a:ext uri="{FF2B5EF4-FFF2-40B4-BE49-F238E27FC236}">
                <a16:creationId xmlns:a16="http://schemas.microsoft.com/office/drawing/2014/main" id="{7F1879BB-5A48-4779-8758-5204FBD40FC7}"/>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Üç bağlantılı havuz</a:t>
            </a:r>
          </a:p>
        </p:txBody>
      </p:sp>
      <p:sp>
        <p:nvSpPr>
          <p:cNvPr id="9" name="">
            <a:extLst xmlns:a="http://schemas.openxmlformats.org/drawingml/2006/main">
              <a:ext uri="{FF2B5EF4-FFF2-40B4-BE49-F238E27FC236}">
                <a16:creationId xmlns:a16="http://schemas.microsoft.com/office/drawing/2014/main" id="{F86E954D-56CC-43AE-93E5-2A456A61E0F3}"/>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Dördüncü istek bağlantı iadesini bekler.</a:t>
            </a:r>
          </a:p>
        </p:txBody>
      </p:sp>
      <p:sp>
        <p:nvSpPr>
          <p:cNvPr id="10" name="">
            <a:extLst xmlns:a="http://schemas.openxmlformats.org/drawingml/2006/main">
              <a:ext uri="{FF2B5EF4-FFF2-40B4-BE49-F238E27FC236}">
                <a16:creationId xmlns:a16="http://schemas.microsoft.com/office/drawing/2014/main" id="{AFE7059F-CCB9-4CCF-9BCC-D7E1E4697FC1}"/>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1" name="">
            <a:extLst xmlns:a="http://schemas.openxmlformats.org/drawingml/2006/main">
              <a:ext uri="{FF2B5EF4-FFF2-40B4-BE49-F238E27FC236}">
                <a16:creationId xmlns:a16="http://schemas.microsoft.com/office/drawing/2014/main" id="{044032BC-C2B0-42E9-87A1-80981BBE6F3D}"/>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12 / 28</a:t>
            </a:r>
          </a:p>
        </p:txBody>
      </p:sp>
    </p:spTree>
    <p:extLst>
      <p:ext uri="{BB962C8B-B14F-4D97-AF65-F5344CB8AC3E}">
        <p14:creationId xmlns:p14="http://schemas.microsoft.com/office/powerpoint/2010/main" val="950191328"/>
      </p:ext>
    </p:extLst>
  </p:cSld>
</p:sld>
</file>

<file path=ppt/slides/slide1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59B06C-D63A-439E-A258-29B6752F585B}"/>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Permit mi, bildirim mi?</a:t>
            </a:r>
          </a:p>
        </p:txBody>
      </p:sp>
      <p:sp>
        <p:nvSpPr>
          <p:cNvPr id="2" name="">
            <a:extLst xmlns:a="http://schemas.openxmlformats.org/drawingml/2006/main">
              <a:ext uri="{FF2B5EF4-FFF2-40B4-BE49-F238E27FC236}">
                <a16:creationId xmlns:a16="http://schemas.microsoft.com/office/drawing/2014/main" id="{CDF95476-C0C8-4F49-8F85-3F5ACFA5A209}"/>
              </a:ext>
            </a:extLst>
          </p:cNvPr>
          <p:cNvSpPr>
            <a:spLocks xmlns:a="http://schemas.openxmlformats.org/drawingml/2006/main" noGrp="1"/>
          </p:cNvSpPr>
          <p:nvPr/>
        </p:nvSpPr>
        <p:spPr>
          <a:xfrm xmlns:a="http://schemas.openxmlformats.org/drawingml/2006/main">
            <a:off x="609600" y="17145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Semaphore post: bekleyen yokken de permit saklanır.</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Condition signal: permit saklamaz.</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Gerçek karar: kilit altında predicate.</a:t>
            </a:r>
          </a:p>
        </p:txBody>
      </p:sp>
      <p:graphicFrame>
        <p:nvGraphicFramePr>
          <p:cNvPr id="8" name=""/>
          <p:cNvGraphicFramePr/>
          <p:nvPr/>
        </p:nvGraphicFramePr>
        <p:xfrm>
          <a:off xmlns:a="http://schemas.openxmlformats.org/drawingml/2006/main" x="609600" y="2762250"/>
          <a:ext xmlns:a="http://schemas.openxmlformats.org/drawingml/2006/main" cx="10972800" cy="2981325"/>
        </p:xfrm>
        <a:graphic xmlns:a="http://schemas.openxmlformats.org/drawingml/2006/main">
          <a:graphicData uri="http://schemas.openxmlformats.org/drawingml/2006/table">
            <a:tbl>
              <a:tblPr/>
              <a:tblGrid>
                <a:gridCol w="3657600"/>
                <a:gridCol w="3657600"/>
                <a:gridCol w="3657600"/>
              </a:tblGrid>
              <a:tr h="993775">
                <a:tc>
                  <a:txBody>
                    <a:bodyPr/>
                    <a:lstStyle/>
                    <a:p>
                      <a:r>
                        <a:rPr sz="1800" b="1">
                          <a:solidFill>
                            <a:srgbClr val="FFFFFF"/>
                          </a:solidFill>
                          <a:latin typeface="Helvetica Neue"/>
                          <a:ea typeface="Helvetica Neue"/>
                          <a:cs typeface="Helvetica Neue"/>
                        </a:rPr>
                        <a:t>Araç</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Ne saklanır?</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İlerleme kararı</a:t>
                      </a:r>
                    </a:p>
                  </a:txBody>
                  <a:tcPr marL="114300" marR="114300" marT="47625" marB="47625" anchor="ctr">
                    <a:solidFill>
                      <a:srgbClr val="122C42"/>
                    </a:solidFill>
                  </a:tcPr>
                </a:tc>
              </a:tr>
              <a:tr h="993775">
                <a:tc>
                  <a:txBody>
                    <a:bodyPr/>
                    <a:lstStyle/>
                    <a:p>
                      <a:r>
                        <a:rPr sz="1800" b="0">
                          <a:solidFill>
                            <a:srgbClr val="122C42"/>
                          </a:solidFill>
                          <a:latin typeface="Helvetica Neue"/>
                          <a:ea typeface="Helvetica Neue"/>
                          <a:cs typeface="Helvetica Neue"/>
                        </a:rPr>
                        <a:t>Semaphore</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Permit sayısı</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Başarılı wait</a:t>
                      </a:r>
                    </a:p>
                  </a:txBody>
                  <a:tcPr marL="114300" marR="114300" marT="47625" marB="47625" anchor="ctr">
                    <a:solidFill>
                      <a:srgbClr val="FFFFFF"/>
                    </a:solidFill>
                  </a:tcPr>
                </a:tc>
              </a:tr>
              <a:tr h="993775">
                <a:tc>
                  <a:txBody>
                    <a:bodyPr/>
                    <a:lstStyle/>
                    <a:p>
                      <a:r>
                        <a:rPr sz="1800" b="0">
                          <a:solidFill>
                            <a:srgbClr val="122C42"/>
                          </a:solidFill>
                          <a:latin typeface="Helvetica Neue"/>
                          <a:ea typeface="Helvetica Neue"/>
                          <a:cs typeface="Helvetica Neue"/>
                        </a:rPr>
                        <a:t>Condition + mutex</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Predicate uygulama state’inde</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Lock altında yeniden test</a:t>
                      </a:r>
                    </a:p>
                  </a:txBody>
                  <a:tcPr marL="114300" marR="114300" marT="47625" marB="47625" anchor="ctr">
                    <a:solidFill>
                      <a:srgbClr val="ECF0EC"/>
                    </a:solidFill>
                  </a:tcPr>
                </a:tc>
              </a:tr>
            </a:tbl>
          </a:graphicData>
        </a:graphic>
      </p:graphicFrame>
      <p:sp>
        <p:nvSpPr>
          <p:cNvPr id="4" name="">
            <a:extLst xmlns:a="http://schemas.openxmlformats.org/drawingml/2006/main">
              <a:ext uri="{FF2B5EF4-FFF2-40B4-BE49-F238E27FC236}">
                <a16:creationId xmlns:a16="http://schemas.microsoft.com/office/drawing/2014/main" id="{00B84288-4B8D-4201-AC1B-7D9A1F3F039A}"/>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5" name="">
            <a:extLst xmlns:a="http://schemas.openxmlformats.org/drawingml/2006/main">
              <a:ext uri="{FF2B5EF4-FFF2-40B4-BE49-F238E27FC236}">
                <a16:creationId xmlns:a16="http://schemas.microsoft.com/office/drawing/2014/main" id="{BA8AF508-8FE5-495F-83A5-68523E501B83}"/>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13 / 28</a:t>
            </a:r>
          </a:p>
        </p:txBody>
      </p:sp>
    </p:spTree>
    <p:extLst>
      <p:ext uri="{BB962C8B-B14F-4D97-AF65-F5344CB8AC3E}">
        <p14:creationId xmlns:p14="http://schemas.microsoft.com/office/powerpoint/2010/main" val="1981280385"/>
      </p:ext>
    </p:extLst>
  </p:cSld>
</p:sld>
</file>

<file path=ppt/slides/slide1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1FBE0DD-F41F-4724-98D4-34B5626CEF6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Kimse beklemiyorken haber verirsen?</a:t>
            </a:r>
          </a:p>
        </p:txBody>
      </p:sp>
      <p:sp>
        <p:nvSpPr>
          <p:cNvPr id="2" name="">
            <a:extLst xmlns:a="http://schemas.openxmlformats.org/drawingml/2006/main">
              <a:ext uri="{FF2B5EF4-FFF2-40B4-BE49-F238E27FC236}">
                <a16:creationId xmlns:a16="http://schemas.microsoft.com/office/drawing/2014/main" id="{73FC841D-4221-4CA5-AA99-D0B9881C13E7}"/>
              </a:ext>
            </a:extLst>
          </p:cNvPr>
          <p:cNvSpPr>
            <a:spLocks xmlns:a="http://schemas.openxmlformats.org/drawingml/2006/main" noGrp="1"/>
          </p:cNvSpPr>
          <p:nvPr/>
        </p:nvSpPr>
        <p:spPr>
          <a:xfrm xmlns:a="http://schemas.openxmlformats.org/drawingml/2006/main">
            <a:off x="609600" y="19526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BE6ED5CE-F25C-4A62-8E3D-92D301F17817}"/>
              </a:ext>
            </a:extLst>
          </p:cNvPr>
          <p:cNvSpPr>
            <a:spLocks xmlns:a="http://schemas.openxmlformats.org/drawingml/2006/main" noGrp="1"/>
          </p:cNvSpPr>
          <p:nvPr/>
        </p:nvSpPr>
        <p:spPr>
          <a:xfrm xmlns:a="http://schemas.openxmlformats.org/drawingml/2006/main">
            <a:off x="1333500" y="19526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Semaphore ready=0; post → permit=1.</a:t>
            </a:r>
          </a:p>
        </p:txBody>
      </p:sp>
      <p:sp>
        <p:nvSpPr>
          <p:cNvPr id="4" name="">
            <a:extLst xmlns:a="http://schemas.openxmlformats.org/drawingml/2006/main">
              <a:ext uri="{FF2B5EF4-FFF2-40B4-BE49-F238E27FC236}">
                <a16:creationId xmlns:a16="http://schemas.microsoft.com/office/drawing/2014/main" id="{F85C45B2-3869-49E3-8381-D4DFF663C0D0}"/>
              </a:ext>
            </a:extLst>
          </p:cNvPr>
          <p:cNvSpPr>
            <a:spLocks xmlns:a="http://schemas.openxmlformats.org/drawingml/2006/main" noGrp="1"/>
          </p:cNvSpPr>
          <p:nvPr/>
        </p:nvSpPr>
        <p:spPr>
          <a:xfrm xmlns:a="http://schemas.openxmlformats.org/drawingml/2006/main">
            <a:off x="609600" y="29940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20DFAE56-1CB0-440A-BFFB-BB84C7723D9D}"/>
              </a:ext>
            </a:extLst>
          </p:cNvPr>
          <p:cNvSpPr>
            <a:spLocks xmlns:a="http://schemas.openxmlformats.org/drawingml/2006/main" noGrp="1"/>
          </p:cNvSpPr>
          <p:nvPr/>
        </p:nvSpPr>
        <p:spPr>
          <a:xfrm xmlns:a="http://schemas.openxmlformats.org/drawingml/2006/main">
            <a:off x="1333500" y="29940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Condition signal tek başına kayıt bırakmaz.</a:t>
            </a:r>
          </a:p>
        </p:txBody>
      </p:sp>
      <p:sp>
        <p:nvSpPr>
          <p:cNvPr id="6" name="">
            <a:extLst xmlns:a="http://schemas.openxmlformats.org/drawingml/2006/main">
              <a:ext uri="{FF2B5EF4-FFF2-40B4-BE49-F238E27FC236}">
                <a16:creationId xmlns:a16="http://schemas.microsoft.com/office/drawing/2014/main" id="{63C5850D-AD7D-4EF8-84BF-8AD567602B7E}"/>
              </a:ext>
            </a:extLst>
          </p:cNvPr>
          <p:cNvSpPr>
            <a:spLocks xmlns:a="http://schemas.openxmlformats.org/drawingml/2006/main" noGrp="1"/>
          </p:cNvSpPr>
          <p:nvPr/>
        </p:nvSpPr>
        <p:spPr>
          <a:xfrm xmlns:a="http://schemas.openxmlformats.org/drawingml/2006/main">
            <a:off x="609600" y="40354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EBC651CD-773E-46E6-B0E8-DF78B9FCCD07}"/>
              </a:ext>
            </a:extLst>
          </p:cNvPr>
          <p:cNvSpPr>
            <a:spLocks xmlns:a="http://schemas.openxmlformats.org/drawingml/2006/main" noGrp="1"/>
          </p:cNvSpPr>
          <p:nvPr/>
        </p:nvSpPr>
        <p:spPr>
          <a:xfrm xmlns:a="http://schemas.openxmlformats.org/drawingml/2006/main">
            <a:off x="1333500" y="40354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done=true kalıcı state olarak saklanır.</a:t>
            </a:r>
          </a:p>
        </p:txBody>
      </p:sp>
      <p:sp>
        <p:nvSpPr>
          <p:cNvPr id="8" name="">
            <a:extLst xmlns:a="http://schemas.openxmlformats.org/drawingml/2006/main">
              <a:ext uri="{FF2B5EF4-FFF2-40B4-BE49-F238E27FC236}">
                <a16:creationId xmlns:a16="http://schemas.microsoft.com/office/drawing/2014/main" id="{C251BB3D-DA47-4AB6-A92A-7B3DA9856355}"/>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Sadece geçmiş signal bekleyen consumer neden takılır?</a:t>
            </a:r>
          </a:p>
        </p:txBody>
      </p:sp>
      <p:sp>
        <p:nvSpPr>
          <p:cNvPr id="9" name="">
            <a:extLst xmlns:a="http://schemas.openxmlformats.org/drawingml/2006/main">
              <a:ext uri="{FF2B5EF4-FFF2-40B4-BE49-F238E27FC236}">
                <a16:creationId xmlns:a16="http://schemas.microsoft.com/office/drawing/2014/main" id="{3A066738-D48A-423E-8BEF-530642EC0C49}"/>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0" name="">
            <a:extLst xmlns:a="http://schemas.openxmlformats.org/drawingml/2006/main">
              <a:ext uri="{FF2B5EF4-FFF2-40B4-BE49-F238E27FC236}">
                <a16:creationId xmlns:a16="http://schemas.microsoft.com/office/drawing/2014/main" id="{E6E79118-626F-442A-BD0B-048686616AB9}"/>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14 / 28</a:t>
            </a:r>
          </a:p>
        </p:txBody>
      </p:sp>
    </p:spTree>
    <p:extLst>
      <p:ext uri="{BB962C8B-B14F-4D97-AF65-F5344CB8AC3E}">
        <p14:creationId xmlns:p14="http://schemas.microsoft.com/office/powerpoint/2010/main" val="399448754"/>
      </p:ext>
    </p:extLst>
  </p:cSld>
</p:sld>
</file>

<file path=ppt/slides/slide1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C332B0-281E-458F-A705-9D3680A41033}"/>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Condition wait’in sözleşmesi</a:t>
            </a:r>
          </a:p>
        </p:txBody>
      </p:sp>
      <p:sp>
        <p:nvSpPr>
          <p:cNvPr id="2" name="">
            <a:extLst xmlns:a="http://schemas.openxmlformats.org/drawingml/2006/main">
              <a:ext uri="{FF2B5EF4-FFF2-40B4-BE49-F238E27FC236}">
                <a16:creationId xmlns:a16="http://schemas.microsoft.com/office/drawing/2014/main" id="{5EBC0194-E270-4D18-825D-8CE48746F4E2}"/>
              </a:ext>
            </a:extLst>
          </p:cNvPr>
          <p:cNvSpPr>
            <a:spLocks xmlns:a="http://schemas.openxmlformats.org/drawingml/2006/main" noGrp="1"/>
          </p:cNvSpPr>
          <p:nvPr/>
        </p:nvSpPr>
        <p:spPr>
          <a:xfrm xmlns:a="http://schemas.openxmlformats.org/drawingml/2006/main">
            <a:off x="609600" y="1762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Lock → while yanlışsa wait → işlem → unlock.</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Wait mutex’i bırakır ve dönüşte geri alır.</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State değişikliği aynı mutex ile korunur.</a:t>
            </a:r>
          </a:p>
        </p:txBody>
      </p:sp>
      <p:sp>
        <p:nvSpPr>
          <p:cNvPr id="3" name="">
            <a:extLst xmlns:a="http://schemas.openxmlformats.org/drawingml/2006/main">
              <a:ext uri="{FF2B5EF4-FFF2-40B4-BE49-F238E27FC236}">
                <a16:creationId xmlns:a16="http://schemas.microsoft.com/office/drawing/2014/main" id="{D2E3F375-EF80-462A-8CF6-B24592D2680C}"/>
              </a:ext>
            </a:extLst>
          </p:cNvPr>
          <p:cNvSpPr>
            <a:spLocks xmlns:a="http://schemas.openxmlformats.org/drawingml/2006/main" noGrp="1"/>
          </p:cNvSpPr>
          <p:nvPr/>
        </p:nvSpPr>
        <p:spPr>
          <a:xfrm xmlns:a="http://schemas.openxmlformats.org/drawingml/2006/main">
            <a:off x="742950" y="2809875"/>
            <a:ext cx="10715625" cy="2409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pthread_mutex_lock(&amp;m);</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while (count == 0 &amp;&amp; !closed)</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    pthread_cond_wait(&amp;not_empty, &amp;m);</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 inspect count/closed and remove if available */</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pthread_mutex_unlock(&amp;m);</a:t>
            </a:r>
          </a:p>
        </p:txBody>
      </p:sp>
      <p:sp>
        <p:nvSpPr>
          <p:cNvPr id="4" name="">
            <a:extLst xmlns:a="http://schemas.openxmlformats.org/drawingml/2006/main">
              <a:ext uri="{FF2B5EF4-FFF2-40B4-BE49-F238E27FC236}">
                <a16:creationId xmlns:a16="http://schemas.microsoft.com/office/drawing/2014/main" id="{C05D1B9A-B26C-4A8D-90B3-2305A6AAF55A}"/>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Arka plan görev kuyruğu</a:t>
            </a:r>
          </a:p>
        </p:txBody>
      </p:sp>
      <p:sp>
        <p:nvSpPr>
          <p:cNvPr id="5" name="">
            <a:extLst xmlns:a="http://schemas.openxmlformats.org/drawingml/2006/main">
              <a:ext uri="{FF2B5EF4-FFF2-40B4-BE49-F238E27FC236}">
                <a16:creationId xmlns:a16="http://schemas.microsoft.com/office/drawing/2014/main" id="{B3FDEA55-11D8-4335-B9BD-C34F786ADF84}"/>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Worker boş kuyrukta CPU harcamadan bekler.</a:t>
            </a:r>
          </a:p>
        </p:txBody>
      </p:sp>
      <p:sp>
        <p:nvSpPr>
          <p:cNvPr id="6" name="">
            <a:extLst xmlns:a="http://schemas.openxmlformats.org/drawingml/2006/main">
              <a:ext uri="{FF2B5EF4-FFF2-40B4-BE49-F238E27FC236}">
                <a16:creationId xmlns:a16="http://schemas.microsoft.com/office/drawing/2014/main" id="{50CB10B1-EE88-4496-BA10-C6B952F1AA7D}"/>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7" name="">
            <a:extLst xmlns:a="http://schemas.openxmlformats.org/drawingml/2006/main">
              <a:ext uri="{FF2B5EF4-FFF2-40B4-BE49-F238E27FC236}">
                <a16:creationId xmlns:a16="http://schemas.microsoft.com/office/drawing/2014/main" id="{3D847112-CA11-4415-9EB8-0C6A4CC804DC}"/>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15 / 28</a:t>
            </a:r>
          </a:p>
        </p:txBody>
      </p:sp>
    </p:spTree>
    <p:extLst>
      <p:ext uri="{BB962C8B-B14F-4D97-AF65-F5344CB8AC3E}">
        <p14:creationId xmlns:p14="http://schemas.microsoft.com/office/powerpoint/2010/main" val="1407267939"/>
      </p:ext>
    </p:extLst>
  </p:cSld>
</p:sld>
</file>

<file path=ppt/slides/slide1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B91D752-83F0-453F-B3DF-757DDF73BFEA}"/>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Uyandın: ürün sana ayrıldı mı?</a:t>
            </a:r>
          </a:p>
        </p:txBody>
      </p:sp>
      <p:sp>
        <p:nvSpPr>
          <p:cNvPr id="2" name="">
            <a:extLst xmlns:a="http://schemas.openxmlformats.org/drawingml/2006/main">
              <a:ext uri="{FF2B5EF4-FFF2-40B4-BE49-F238E27FC236}">
                <a16:creationId xmlns:a16="http://schemas.microsoft.com/office/drawing/2014/main" id="{057FE291-49D4-4180-98B3-D070A1A33F7B}"/>
              </a:ext>
            </a:extLst>
          </p:cNvPr>
          <p:cNvSpPr>
            <a:spLocks xmlns:a="http://schemas.openxmlformats.org/drawingml/2006/main" noGrp="1"/>
          </p:cNvSpPr>
          <p:nvPr/>
        </p:nvSpPr>
        <p:spPr>
          <a:xfrm xmlns:a="http://schemas.openxmlformats.org/drawingml/2006/main">
            <a:off x="609600" y="19526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A059E201-0662-4111-A203-2ABA82885733}"/>
              </a:ext>
            </a:extLst>
          </p:cNvPr>
          <p:cNvSpPr>
            <a:spLocks xmlns:a="http://schemas.openxmlformats.org/drawingml/2006/main" noGrp="1"/>
          </p:cNvSpPr>
          <p:nvPr/>
        </p:nvSpPr>
        <p:spPr>
          <a:xfrm xmlns:a="http://schemas.openxmlformats.org/drawingml/2006/main">
            <a:off x="1333500" y="19526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C1 bekler; producer tek ürün ekler ve signal verir.</a:t>
            </a:r>
          </a:p>
        </p:txBody>
      </p:sp>
      <p:sp>
        <p:nvSpPr>
          <p:cNvPr id="4" name="">
            <a:extLst xmlns:a="http://schemas.openxmlformats.org/drawingml/2006/main">
              <a:ext uri="{FF2B5EF4-FFF2-40B4-BE49-F238E27FC236}">
                <a16:creationId xmlns:a16="http://schemas.microsoft.com/office/drawing/2014/main" id="{70F42A24-B401-44B6-9151-53DA96B6BEAF}"/>
              </a:ext>
            </a:extLst>
          </p:cNvPr>
          <p:cNvSpPr>
            <a:spLocks xmlns:a="http://schemas.openxmlformats.org/drawingml/2006/main" noGrp="1"/>
          </p:cNvSpPr>
          <p:nvPr/>
        </p:nvSpPr>
        <p:spPr>
          <a:xfrm xmlns:a="http://schemas.openxmlformats.org/drawingml/2006/main">
            <a:off x="609600" y="29940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E67CC60-A668-472E-A1F0-58C4240B46A3}"/>
              </a:ext>
            </a:extLst>
          </p:cNvPr>
          <p:cNvSpPr>
            <a:spLocks xmlns:a="http://schemas.openxmlformats.org/drawingml/2006/main" noGrp="1"/>
          </p:cNvSpPr>
          <p:nvPr/>
        </p:nvSpPr>
        <p:spPr>
          <a:xfrm xmlns:a="http://schemas.openxmlformats.org/drawingml/2006/main">
            <a:off x="1333500" y="29940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C1 lock almadan C2 ürünü alır.</a:t>
            </a:r>
          </a:p>
        </p:txBody>
      </p:sp>
      <p:sp>
        <p:nvSpPr>
          <p:cNvPr id="6" name="">
            <a:extLst xmlns:a="http://schemas.openxmlformats.org/drawingml/2006/main">
              <a:ext uri="{FF2B5EF4-FFF2-40B4-BE49-F238E27FC236}">
                <a16:creationId xmlns:a16="http://schemas.microsoft.com/office/drawing/2014/main" id="{4A1C541A-2DBD-46E4-B510-22BB4E3A3407}"/>
              </a:ext>
            </a:extLst>
          </p:cNvPr>
          <p:cNvSpPr>
            <a:spLocks xmlns:a="http://schemas.openxmlformats.org/drawingml/2006/main" noGrp="1"/>
          </p:cNvSpPr>
          <p:nvPr/>
        </p:nvSpPr>
        <p:spPr>
          <a:xfrm xmlns:a="http://schemas.openxmlformats.org/drawingml/2006/main">
            <a:off x="609600" y="40354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8106513-D1EA-4C07-BCDD-E5E0BC5C0DD2}"/>
              </a:ext>
            </a:extLst>
          </p:cNvPr>
          <p:cNvSpPr>
            <a:spLocks xmlns:a="http://schemas.openxmlformats.org/drawingml/2006/main" noGrp="1"/>
          </p:cNvSpPr>
          <p:nvPr/>
        </p:nvSpPr>
        <p:spPr>
          <a:xfrm xmlns:a="http://schemas.openxmlformats.org/drawingml/2006/main">
            <a:off x="1333500" y="40354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C1 tekrar empty görür.</a:t>
            </a:r>
          </a:p>
        </p:txBody>
      </p:sp>
      <p:sp>
        <p:nvSpPr>
          <p:cNvPr id="8" name="">
            <a:extLst xmlns:a="http://schemas.openxmlformats.org/drawingml/2006/main">
              <a:ext uri="{FF2B5EF4-FFF2-40B4-BE49-F238E27FC236}">
                <a16:creationId xmlns:a16="http://schemas.microsoft.com/office/drawing/2014/main" id="{4BB710F2-7E7B-4E0A-8494-EC3E89099E81}"/>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C1 if kullanırsa ne olur?</a:t>
            </a:r>
          </a:p>
        </p:txBody>
      </p:sp>
      <p:sp>
        <p:nvSpPr>
          <p:cNvPr id="9" name="">
            <a:extLst xmlns:a="http://schemas.openxmlformats.org/drawingml/2006/main">
              <a:ext uri="{FF2B5EF4-FFF2-40B4-BE49-F238E27FC236}">
                <a16:creationId xmlns:a16="http://schemas.microsoft.com/office/drawing/2014/main" id="{C9D192F6-55CB-499F-8621-7A65C279242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0" name="">
            <a:extLst xmlns:a="http://schemas.openxmlformats.org/drawingml/2006/main">
              <a:ext uri="{FF2B5EF4-FFF2-40B4-BE49-F238E27FC236}">
                <a16:creationId xmlns:a16="http://schemas.microsoft.com/office/drawing/2014/main" id="{BC0B49C2-AF1F-4F29-9FA9-F31436BCCC94}"/>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16 / 28</a:t>
            </a:r>
          </a:p>
        </p:txBody>
      </p:sp>
    </p:spTree>
    <p:extLst>
      <p:ext uri="{BB962C8B-B14F-4D97-AF65-F5344CB8AC3E}">
        <p14:creationId xmlns:p14="http://schemas.microsoft.com/office/powerpoint/2010/main" val="1927265120"/>
      </p:ext>
    </p:extLst>
  </p:cSld>
</p:sld>
</file>

<file path=ppt/slides/slide1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C8D8070-D2FC-4DAC-81D0-10CA2B2CA236}"/>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Kaybolan bildirim: zaman çizgisini onar</a:t>
            </a:r>
          </a:p>
        </p:txBody>
      </p:sp>
      <p:sp>
        <p:nvSpPr>
          <p:cNvPr id="2" name="">
            <a:extLst xmlns:a="http://schemas.openxmlformats.org/drawingml/2006/main">
              <a:ext uri="{FF2B5EF4-FFF2-40B4-BE49-F238E27FC236}">
                <a16:creationId xmlns:a16="http://schemas.microsoft.com/office/drawing/2014/main" id="{3A673E07-A1F0-4C6D-9E6D-EFF9166EC6A8}"/>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122F4EED-49C0-4AD7-823F-8BBECCC43C91}"/>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Hatalı: lock’suz empty testi → signal → wait.</a:t>
            </a:r>
          </a:p>
        </p:txBody>
      </p:sp>
      <p:sp>
        <p:nvSpPr>
          <p:cNvPr id="4" name="">
            <a:extLst xmlns:a="http://schemas.openxmlformats.org/drawingml/2006/main">
              <a:ext uri="{FF2B5EF4-FFF2-40B4-BE49-F238E27FC236}">
                <a16:creationId xmlns:a16="http://schemas.microsoft.com/office/drawing/2014/main" id="{C55CFEC1-1A9C-41AF-B594-D35945759F8F}"/>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458D3A81-14C9-4B3A-BDBA-ED76D660573D}"/>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Signal geçmişi saklamaz.</a:t>
            </a:r>
          </a:p>
        </p:txBody>
      </p:sp>
      <p:sp>
        <p:nvSpPr>
          <p:cNvPr id="6" name="">
            <a:extLst xmlns:a="http://schemas.openxmlformats.org/drawingml/2006/main">
              <a:ext uri="{FF2B5EF4-FFF2-40B4-BE49-F238E27FC236}">
                <a16:creationId xmlns:a16="http://schemas.microsoft.com/office/drawing/2014/main" id="{3E00196A-4F31-4C9A-A602-CFC3709DD095}"/>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8ABC04AC-10D9-48DF-912F-4F875F783AC9}"/>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Doğru: aynı lock + release-and-wait.</a:t>
            </a:r>
          </a:p>
        </p:txBody>
      </p:sp>
      <p:sp>
        <p:nvSpPr>
          <p:cNvPr id="8" name="">
            <a:extLst xmlns:a="http://schemas.openxmlformats.org/drawingml/2006/main">
              <a:ext uri="{FF2B5EF4-FFF2-40B4-BE49-F238E27FC236}">
                <a16:creationId xmlns:a16="http://schemas.microsoft.com/office/drawing/2014/main" id="{9F829A90-B2F6-42A6-B120-EE2876A5D1B2}"/>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Hazır rapor bildirimi</a:t>
            </a:r>
          </a:p>
        </p:txBody>
      </p:sp>
      <p:sp>
        <p:nvSpPr>
          <p:cNvPr id="9" name="">
            <a:extLst xmlns:a="http://schemas.openxmlformats.org/drawingml/2006/main">
              <a:ext uri="{FF2B5EF4-FFF2-40B4-BE49-F238E27FC236}">
                <a16:creationId xmlns:a16="http://schemas.microsoft.com/office/drawing/2014/main" id="{C054CE6A-D2AE-4C04-9A76-2DB806B41084}"/>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Rapor consumer beklemeden tamamlanabilir.</a:t>
            </a:r>
          </a:p>
        </p:txBody>
      </p:sp>
      <p:sp>
        <p:nvSpPr>
          <p:cNvPr id="10" name="">
            <a:extLst xmlns:a="http://schemas.openxmlformats.org/drawingml/2006/main">
              <a:ext uri="{FF2B5EF4-FFF2-40B4-BE49-F238E27FC236}">
                <a16:creationId xmlns:a16="http://schemas.microsoft.com/office/drawing/2014/main" id="{6AFFAC7E-E323-49C7-AC6E-3917E59C84FF}"/>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1" name="">
            <a:extLst xmlns:a="http://schemas.openxmlformats.org/drawingml/2006/main">
              <a:ext uri="{FF2B5EF4-FFF2-40B4-BE49-F238E27FC236}">
                <a16:creationId xmlns:a16="http://schemas.microsoft.com/office/drawing/2014/main" id="{849087B1-D0E6-41A8-8E8A-2A223DE70AF6}"/>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17 / 28</a:t>
            </a:r>
          </a:p>
        </p:txBody>
      </p:sp>
    </p:spTree>
    <p:extLst>
      <p:ext uri="{BB962C8B-B14F-4D97-AF65-F5344CB8AC3E}">
        <p14:creationId xmlns:p14="http://schemas.microsoft.com/office/powerpoint/2010/main" val="494689678"/>
      </p:ext>
    </p:extLst>
  </p:cSld>
</p:sld>
</file>

<file path=ppt/slides/slide1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C4AE996-8D82-48AC-9DDB-F36EA67F3AF3}"/>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Sonlu tezgâh: producer–consumer</a:t>
            </a:r>
          </a:p>
        </p:txBody>
      </p:sp>
      <p:sp>
        <p:nvSpPr>
          <p:cNvPr id="2" name="">
            <a:extLst xmlns:a="http://schemas.openxmlformats.org/drawingml/2006/main">
              <a:ext uri="{FF2B5EF4-FFF2-40B4-BE49-F238E27FC236}">
                <a16:creationId xmlns:a16="http://schemas.microsoft.com/office/drawing/2014/main" id="{7902166D-94A4-4B72-9027-494B3EAD2845}"/>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B18CBB2F-2A45-4459-85AA-F395C4BB4510}"/>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Üretici ekler, tüketici alır; kapasite N.</a:t>
            </a:r>
          </a:p>
        </p:txBody>
      </p:sp>
      <p:sp>
        <p:nvSpPr>
          <p:cNvPr id="4" name="">
            <a:extLst xmlns:a="http://schemas.openxmlformats.org/drawingml/2006/main">
              <a:ext uri="{FF2B5EF4-FFF2-40B4-BE49-F238E27FC236}">
                <a16:creationId xmlns:a16="http://schemas.microsoft.com/office/drawing/2014/main" id="{19748079-F723-4581-B4BD-4DDDA4F09B10}"/>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26BE577A-D72E-4BAC-9F84-917E9380B859}"/>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0 ≤ count ≤ N.</a:t>
            </a:r>
          </a:p>
        </p:txBody>
      </p:sp>
      <p:sp>
        <p:nvSpPr>
          <p:cNvPr id="6" name="">
            <a:extLst xmlns:a="http://schemas.openxmlformats.org/drawingml/2006/main">
              <a:ext uri="{FF2B5EF4-FFF2-40B4-BE49-F238E27FC236}">
                <a16:creationId xmlns:a16="http://schemas.microsoft.com/office/drawing/2014/main" id="{4AB2B576-4758-4A16-9B9C-64A297E03112}"/>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455F3CF6-2AC3-41C7-BBCC-8785D82F3DF3}"/>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FIFO: öğe bir kez, eklenme sırasında çıkar.</a:t>
            </a:r>
          </a:p>
        </p:txBody>
      </p:sp>
      <p:sp>
        <p:nvSpPr>
          <p:cNvPr id="8" name="">
            <a:extLst xmlns:a="http://schemas.openxmlformats.org/drawingml/2006/main">
              <a:ext uri="{FF2B5EF4-FFF2-40B4-BE49-F238E27FC236}">
                <a16:creationId xmlns:a16="http://schemas.microsoft.com/office/drawing/2014/main" id="{390CE448-1E67-43AF-A7E2-29941245F5D1}"/>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Video kare kuyruğu</a:t>
            </a:r>
          </a:p>
        </p:txBody>
      </p:sp>
      <p:sp>
        <p:nvSpPr>
          <p:cNvPr id="9" name="">
            <a:extLst xmlns:a="http://schemas.openxmlformats.org/drawingml/2006/main">
              <a:ext uri="{FF2B5EF4-FFF2-40B4-BE49-F238E27FC236}">
                <a16:creationId xmlns:a16="http://schemas.microsoft.com/office/drawing/2014/main" id="{4C883BA8-B265-4A66-B46B-B6AADE674812}"/>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Decoder hızlıysa render kuyruğu dolar.</a:t>
            </a:r>
          </a:p>
        </p:txBody>
      </p:sp>
      <p:sp>
        <p:nvSpPr>
          <p:cNvPr id="10" name="">
            <a:extLst xmlns:a="http://schemas.openxmlformats.org/drawingml/2006/main">
              <a:ext uri="{FF2B5EF4-FFF2-40B4-BE49-F238E27FC236}">
                <a16:creationId xmlns:a16="http://schemas.microsoft.com/office/drawing/2014/main" id="{1825D665-5595-4B9A-887E-4B00A8BD4A34}"/>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1" name="">
            <a:extLst xmlns:a="http://schemas.openxmlformats.org/drawingml/2006/main">
              <a:ext uri="{FF2B5EF4-FFF2-40B4-BE49-F238E27FC236}">
                <a16:creationId xmlns:a16="http://schemas.microsoft.com/office/drawing/2014/main" id="{65F463BF-56B2-4021-9AA9-3921A6F48EEE}"/>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18 / 28</a:t>
            </a:r>
          </a:p>
        </p:txBody>
      </p:sp>
    </p:spTree>
    <p:extLst>
      <p:ext uri="{BB962C8B-B14F-4D97-AF65-F5344CB8AC3E}">
        <p14:creationId xmlns:p14="http://schemas.microsoft.com/office/powerpoint/2010/main" val="1020502438"/>
      </p:ext>
    </p:extLst>
  </p:cSld>
</p:sld>
</file>

<file path=ppt/slides/slide1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52C1EBC-5AE8-425C-9893-E5399DB521B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Semaphore ile buffer: önce rezervasyon</a:t>
            </a:r>
          </a:p>
        </p:txBody>
      </p:sp>
      <p:sp>
        <p:nvSpPr>
          <p:cNvPr id="2" name="">
            <a:extLst xmlns:a="http://schemas.openxmlformats.org/drawingml/2006/main">
              <a:ext uri="{FF2B5EF4-FFF2-40B4-BE49-F238E27FC236}">
                <a16:creationId xmlns:a16="http://schemas.microsoft.com/office/drawing/2014/main" id="{57C90C61-4431-49EE-B8F8-8ABDCE70FE8E}"/>
              </a:ext>
            </a:extLst>
          </p:cNvPr>
          <p:cNvSpPr>
            <a:spLocks xmlns:a="http://schemas.openxmlformats.org/drawingml/2006/main" noGrp="1"/>
          </p:cNvSpPr>
          <p:nvPr/>
        </p:nvSpPr>
        <p:spPr>
          <a:xfrm xmlns:a="http://schemas.openxmlformats.org/drawingml/2006/main">
            <a:off x="609600" y="1762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empty=N, full=0, mutex=1.</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Producer empty; consumer full bekler.</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Permit’i buffer kilidinden önce al.</a:t>
            </a:r>
          </a:p>
        </p:txBody>
      </p:sp>
      <p:sp>
        <p:nvSpPr>
          <p:cNvPr id="3" name="">
            <a:extLst xmlns:a="http://schemas.openxmlformats.org/drawingml/2006/main">
              <a:ext uri="{FF2B5EF4-FFF2-40B4-BE49-F238E27FC236}">
                <a16:creationId xmlns:a16="http://schemas.microsoft.com/office/drawing/2014/main" id="{BF9ABF57-D0D7-40C9-BFC2-3202F6C6C38E}"/>
              </a:ext>
            </a:extLst>
          </p:cNvPr>
          <p:cNvSpPr>
            <a:spLocks xmlns:a="http://schemas.openxmlformats.org/drawingml/2006/main" noGrp="1"/>
          </p:cNvSpPr>
          <p:nvPr/>
        </p:nvSpPr>
        <p:spPr>
          <a:xfrm xmlns:a="http://schemas.openxmlformats.org/drawingml/2006/main">
            <a:off x="742950" y="2809875"/>
            <a:ext cx="10715625"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producer: wait(empty); wait(mutex);</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          insert(); post(mutex); post(full);</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consumer: wait(full); wait(mutex);</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          remove(); post(mutex); post(empty);</a:t>
            </a:r>
          </a:p>
        </p:txBody>
      </p:sp>
      <p:sp>
        <p:nvSpPr>
          <p:cNvPr id="4" name="">
            <a:extLst xmlns:a="http://schemas.openxmlformats.org/drawingml/2006/main">
              <a:ext uri="{FF2B5EF4-FFF2-40B4-BE49-F238E27FC236}">
                <a16:creationId xmlns:a16="http://schemas.microsoft.com/office/drawing/2014/main" id="{F7B58E04-C1B5-49F1-A5FD-A789203D1E07}"/>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5" name="">
            <a:extLst xmlns:a="http://schemas.openxmlformats.org/drawingml/2006/main">
              <a:ext uri="{FF2B5EF4-FFF2-40B4-BE49-F238E27FC236}">
                <a16:creationId xmlns:a16="http://schemas.microsoft.com/office/drawing/2014/main" id="{7C5DC00A-8203-4B98-B2F3-9E1B2B9C03F6}"/>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19 / 28</a:t>
            </a:r>
          </a:p>
        </p:txBody>
      </p:sp>
    </p:spTree>
    <p:extLst>
      <p:ext uri="{BB962C8B-B14F-4D97-AF65-F5344CB8AC3E}">
        <p14:creationId xmlns:p14="http://schemas.microsoft.com/office/powerpoint/2010/main" val="2061039797"/>
      </p:ext>
    </p:extLst>
  </p:cSld>
</p:sld>
</file>

<file path=ppt/slides/slide20.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43D665-B1BE-4E20-B43F-816BBAE98D0F}"/>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Kapasite iki: üçüncü tabak bekler</a:t>
            </a:r>
          </a:p>
        </p:txBody>
      </p:sp>
      <p:sp>
        <p:nvSpPr>
          <p:cNvPr id="2" name="">
            <a:extLst xmlns:a="http://schemas.openxmlformats.org/drawingml/2006/main">
              <a:ext uri="{FF2B5EF4-FFF2-40B4-BE49-F238E27FC236}">
                <a16:creationId xmlns:a16="http://schemas.microsoft.com/office/drawing/2014/main" id="{41D53A7C-FA6C-45E1-90CA-4C946A32FD53}"/>
              </a:ext>
            </a:extLst>
          </p:cNvPr>
          <p:cNvSpPr>
            <a:spLocks xmlns:a="http://schemas.openxmlformats.org/drawingml/2006/main" noGrp="1"/>
          </p:cNvSpPr>
          <p:nvPr/>
        </p:nvSpPr>
        <p:spPr>
          <a:xfrm xmlns:a="http://schemas.openxmlformats.org/drawingml/2006/main">
            <a:off x="609600" y="19526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897C112-990C-465A-8855-AA6403D3340C}"/>
              </a:ext>
            </a:extLst>
          </p:cNvPr>
          <p:cNvSpPr>
            <a:spLocks xmlns:a="http://schemas.openxmlformats.org/drawingml/2006/main" noGrp="1"/>
          </p:cNvSpPr>
          <p:nvPr/>
        </p:nvSpPr>
        <p:spPr>
          <a:xfrm xmlns:a="http://schemas.openxmlformats.org/drawingml/2006/main">
            <a:off x="1333500" y="19526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 → [A] → [A,B]</a:t>
            </a:r>
          </a:p>
        </p:txBody>
      </p:sp>
      <p:sp>
        <p:nvSpPr>
          <p:cNvPr id="4" name="">
            <a:extLst xmlns:a="http://schemas.openxmlformats.org/drawingml/2006/main">
              <a:ext uri="{FF2B5EF4-FFF2-40B4-BE49-F238E27FC236}">
                <a16:creationId xmlns:a16="http://schemas.microsoft.com/office/drawing/2014/main" id="{241EACDD-0F1A-49B6-B885-414C6388B95F}"/>
              </a:ext>
            </a:extLst>
          </p:cNvPr>
          <p:cNvSpPr>
            <a:spLocks xmlns:a="http://schemas.openxmlformats.org/drawingml/2006/main" noGrp="1"/>
          </p:cNvSpPr>
          <p:nvPr/>
        </p:nvSpPr>
        <p:spPr>
          <a:xfrm xmlns:a="http://schemas.openxmlformats.org/drawingml/2006/main">
            <a:off x="609600" y="29940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E14577C-DB71-46EC-9B66-891854E8C0EC}"/>
              </a:ext>
            </a:extLst>
          </p:cNvPr>
          <p:cNvSpPr>
            <a:spLocks xmlns:a="http://schemas.openxmlformats.org/drawingml/2006/main" noGrp="1"/>
          </p:cNvSpPr>
          <p:nvPr/>
        </p:nvSpPr>
        <p:spPr>
          <a:xfrm xmlns:a="http://schemas.openxmlformats.org/drawingml/2006/main">
            <a:off x="1333500" y="29940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 eklemek için boş yer gerekir.</a:t>
            </a:r>
          </a:p>
        </p:txBody>
      </p:sp>
      <p:sp>
        <p:nvSpPr>
          <p:cNvPr id="6" name="">
            <a:extLst xmlns:a="http://schemas.openxmlformats.org/drawingml/2006/main">
              <a:ext uri="{FF2B5EF4-FFF2-40B4-BE49-F238E27FC236}">
                <a16:creationId xmlns:a16="http://schemas.microsoft.com/office/drawing/2014/main" id="{ED0B1D70-8A70-44CA-B106-2F5B7A67D834}"/>
              </a:ext>
            </a:extLst>
          </p:cNvPr>
          <p:cNvSpPr>
            <a:spLocks xmlns:a="http://schemas.openxmlformats.org/drawingml/2006/main" noGrp="1"/>
          </p:cNvSpPr>
          <p:nvPr/>
        </p:nvSpPr>
        <p:spPr>
          <a:xfrm xmlns:a="http://schemas.openxmlformats.org/drawingml/2006/main">
            <a:off x="609600" y="40354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E2E9261C-AC03-4677-A932-6DED4A4EF468}"/>
              </a:ext>
            </a:extLst>
          </p:cNvPr>
          <p:cNvSpPr>
            <a:spLocks xmlns:a="http://schemas.openxmlformats.org/drawingml/2006/main" noGrp="1"/>
          </p:cNvSpPr>
          <p:nvPr/>
        </p:nvSpPr>
        <p:spPr>
          <a:xfrm xmlns:a="http://schemas.openxmlformats.org/drawingml/2006/main">
            <a:off x="1333500" y="40354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 çıkınca [B,C] mümkün olur.</a:t>
            </a:r>
          </a:p>
        </p:txBody>
      </p:sp>
      <p:sp>
        <p:nvSpPr>
          <p:cNvPr id="8" name="">
            <a:extLst xmlns:a="http://schemas.openxmlformats.org/drawingml/2006/main">
              <a:ext uri="{FF2B5EF4-FFF2-40B4-BE49-F238E27FC236}">
                <a16:creationId xmlns:a16="http://schemas.microsoft.com/office/drawing/2014/main" id="{07C9DDAE-DEE5-4FFF-94AE-E54FDD15DDAB}"/>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C beklerken daha çok CPU vermek yeter mi?</a:t>
            </a:r>
          </a:p>
        </p:txBody>
      </p:sp>
      <p:sp>
        <p:nvSpPr>
          <p:cNvPr id="9" name="">
            <a:extLst xmlns:a="http://schemas.openxmlformats.org/drawingml/2006/main">
              <a:ext uri="{FF2B5EF4-FFF2-40B4-BE49-F238E27FC236}">
                <a16:creationId xmlns:a16="http://schemas.microsoft.com/office/drawing/2014/main" id="{17EFD88B-FE01-4B17-BFB6-3480D62104F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0" name="">
            <a:extLst xmlns:a="http://schemas.openxmlformats.org/drawingml/2006/main">
              <a:ext uri="{FF2B5EF4-FFF2-40B4-BE49-F238E27FC236}">
                <a16:creationId xmlns:a16="http://schemas.microsoft.com/office/drawing/2014/main" id="{977FE378-F036-433F-B0BC-A7BE7B0F0E9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20 / 28</a:t>
            </a:r>
          </a:p>
        </p:txBody>
      </p:sp>
    </p:spTree>
    <p:extLst>
      <p:ext uri="{BB962C8B-B14F-4D97-AF65-F5344CB8AC3E}">
        <p14:creationId xmlns:p14="http://schemas.microsoft.com/office/powerpoint/2010/main" val="1152082692"/>
      </p:ext>
    </p:extLst>
  </p:cSld>
</p:sld>
</file>

<file path=ppt/slides/slide2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74E48E-FEAB-472C-9AD0-FDB81331D59F}"/>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Condition ile buffer: iki predicate</a:t>
            </a:r>
          </a:p>
        </p:txBody>
      </p:sp>
      <p:sp>
        <p:nvSpPr>
          <p:cNvPr id="2" name="">
            <a:extLst xmlns:a="http://schemas.openxmlformats.org/drawingml/2006/main">
              <a:ext uri="{FF2B5EF4-FFF2-40B4-BE49-F238E27FC236}">
                <a16:creationId xmlns:a16="http://schemas.microsoft.com/office/drawing/2014/main" id="{650D7E45-5459-464D-84CE-72CF0E36A6D6}"/>
              </a:ext>
            </a:extLst>
          </p:cNvPr>
          <p:cNvSpPr>
            <a:spLocks xmlns:a="http://schemas.openxmlformats.org/drawingml/2006/main" noGrp="1"/>
          </p:cNvSpPr>
          <p:nvPr/>
        </p:nvSpPr>
        <p:spPr>
          <a:xfrm xmlns:a="http://schemas.openxmlformats.org/drawingml/2006/main">
            <a:off x="609600" y="1714500"/>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Producer: count &lt; capacity.</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Consumer: count &gt; 0.</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Bütün queue alanları tek mutex altında.</a:t>
            </a:r>
          </a:p>
        </p:txBody>
      </p:sp>
      <p:graphicFrame>
        <p:nvGraphicFramePr>
          <p:cNvPr id="8" name=""/>
          <p:cNvGraphicFramePr/>
          <p:nvPr/>
        </p:nvGraphicFramePr>
        <p:xfrm>
          <a:off xmlns:a="http://schemas.openxmlformats.org/drawingml/2006/main" x="609600" y="2762250"/>
          <a:ext xmlns:a="http://schemas.openxmlformats.org/drawingml/2006/main" cx="10972800" cy="2981325"/>
        </p:xfrm>
        <a:graphic xmlns:a="http://schemas.openxmlformats.org/drawingml/2006/main">
          <a:graphicData uri="http://schemas.openxmlformats.org/drawingml/2006/table">
            <a:tbl>
              <a:tblPr/>
              <a:tblGrid>
                <a:gridCol w="3657600"/>
                <a:gridCol w="3657600"/>
                <a:gridCol w="3657600"/>
              </a:tblGrid>
              <a:tr h="993775">
                <a:tc>
                  <a:txBody>
                    <a:bodyPr/>
                    <a:lstStyle/>
                    <a:p>
                      <a:r>
                        <a:rPr sz="1800" b="1">
                          <a:solidFill>
                            <a:srgbClr val="FFFFFF"/>
                          </a:solidFill>
                          <a:latin typeface="Helvetica Neue"/>
                          <a:ea typeface="Helvetica Neue"/>
                          <a:cs typeface="Helvetica Neue"/>
                        </a:rPr>
                        <a:t>Rol</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Bekleme</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İlerletici değişim</a:t>
                      </a:r>
                    </a:p>
                  </a:txBody>
                  <a:tcPr marL="114300" marR="114300" marT="47625" marB="47625" anchor="ctr">
                    <a:solidFill>
                      <a:srgbClr val="122C42"/>
                    </a:solidFill>
                  </a:tcPr>
                </a:tc>
              </a:tr>
              <a:tr h="993775">
                <a:tc>
                  <a:txBody>
                    <a:bodyPr/>
                    <a:lstStyle/>
                    <a:p>
                      <a:r>
                        <a:rPr sz="1800" b="0">
                          <a:solidFill>
                            <a:srgbClr val="122C42"/>
                          </a:solidFill>
                          <a:latin typeface="Helvetica Neue"/>
                          <a:ea typeface="Helvetica Neue"/>
                          <a:cs typeface="Helvetica Neue"/>
                        </a:rPr>
                        <a:t>Producer</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count == capacity</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Consumer remove</a:t>
                      </a:r>
                    </a:p>
                  </a:txBody>
                  <a:tcPr marL="114300" marR="114300" marT="47625" marB="47625" anchor="ctr">
                    <a:solidFill>
                      <a:srgbClr val="FFFFFF"/>
                    </a:solidFill>
                  </a:tcPr>
                </a:tc>
              </a:tr>
              <a:tr h="993775">
                <a:tc>
                  <a:txBody>
                    <a:bodyPr/>
                    <a:lstStyle/>
                    <a:p>
                      <a:r>
                        <a:rPr sz="1800" b="0">
                          <a:solidFill>
                            <a:srgbClr val="122C42"/>
                          </a:solidFill>
                          <a:latin typeface="Helvetica Neue"/>
                          <a:ea typeface="Helvetica Neue"/>
                          <a:cs typeface="Helvetica Neue"/>
                        </a:rPr>
                        <a:t>Consumer</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count == 0 ve !closed</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Producer insert veya close</a:t>
                      </a:r>
                    </a:p>
                  </a:txBody>
                  <a:tcPr marL="114300" marR="114300" marT="47625" marB="47625" anchor="ctr">
                    <a:solidFill>
                      <a:srgbClr val="ECF0EC"/>
                    </a:solidFill>
                  </a:tcPr>
                </a:tc>
              </a:tr>
            </a:tbl>
          </a:graphicData>
        </a:graphic>
      </p:graphicFrame>
      <p:sp>
        <p:nvSpPr>
          <p:cNvPr id="4" name="">
            <a:extLst xmlns:a="http://schemas.openxmlformats.org/drawingml/2006/main">
              <a:ext uri="{FF2B5EF4-FFF2-40B4-BE49-F238E27FC236}">
                <a16:creationId xmlns:a16="http://schemas.microsoft.com/office/drawing/2014/main" id="{1FFAE4FB-8033-4653-9552-7BAADD98755D}"/>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5" name="">
            <a:extLst xmlns:a="http://schemas.openxmlformats.org/drawingml/2006/main">
              <a:ext uri="{FF2B5EF4-FFF2-40B4-BE49-F238E27FC236}">
                <a16:creationId xmlns:a16="http://schemas.microsoft.com/office/drawing/2014/main" id="{97E4CE7A-97A0-470C-B7B0-845C38C5FF3F}"/>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21 / 28</a:t>
            </a:r>
          </a:p>
        </p:txBody>
      </p:sp>
    </p:spTree>
    <p:extLst>
      <p:ext uri="{BB962C8B-B14F-4D97-AF65-F5344CB8AC3E}">
        <p14:creationId xmlns:p14="http://schemas.microsoft.com/office/powerpoint/2010/main" val="255345506"/>
      </p:ext>
    </p:extLst>
  </p:cSld>
</p:sld>
</file>

<file path=ppt/slides/slide2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860E10F-1D9A-4323-BBA0-3AA96474614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Kapanış: önce boşalt, sonra çık</a:t>
            </a:r>
          </a:p>
        </p:txBody>
      </p:sp>
      <p:sp>
        <p:nvSpPr>
          <p:cNvPr id="2" name="">
            <a:extLst xmlns:a="http://schemas.openxmlformats.org/drawingml/2006/main">
              <a:ext uri="{FF2B5EF4-FFF2-40B4-BE49-F238E27FC236}">
                <a16:creationId xmlns:a16="http://schemas.microsoft.com/office/drawing/2014/main" id="{E2BFA6AF-FBA7-470D-8A92-39EA22595846}"/>
              </a:ext>
            </a:extLst>
          </p:cNvPr>
          <p:cNvSpPr>
            <a:spLocks xmlns:a="http://schemas.openxmlformats.org/drawingml/2006/main" noGrp="1"/>
          </p:cNvSpPr>
          <p:nvPr/>
        </p:nvSpPr>
        <p:spPr>
          <a:xfrm xmlns:a="http://schemas.openxmlformats.org/drawingml/2006/main">
            <a:off x="609600" y="195262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18655213-11B2-4547-B56B-903D83C313B8}"/>
              </a:ext>
            </a:extLst>
          </p:cNvPr>
          <p:cNvSpPr>
            <a:spLocks xmlns:a="http://schemas.openxmlformats.org/drawingml/2006/main" noGrp="1"/>
          </p:cNvSpPr>
          <p:nvPr/>
        </p:nvSpPr>
        <p:spPr>
          <a:xfrm xmlns:a="http://schemas.openxmlformats.org/drawingml/2006/main">
            <a:off x="1333500" y="1952625"/>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Producer bütün öğelerden sonra closed=true yapar.</a:t>
            </a:r>
          </a:p>
        </p:txBody>
      </p:sp>
      <p:sp>
        <p:nvSpPr>
          <p:cNvPr id="4" name="">
            <a:extLst xmlns:a="http://schemas.openxmlformats.org/drawingml/2006/main">
              <a:ext uri="{FF2B5EF4-FFF2-40B4-BE49-F238E27FC236}">
                <a16:creationId xmlns:a16="http://schemas.microsoft.com/office/drawing/2014/main" id="{1035D64E-203B-4DD8-8ACE-F7E4622F2BD2}"/>
              </a:ext>
            </a:extLst>
          </p:cNvPr>
          <p:cNvSpPr>
            <a:spLocks xmlns:a="http://schemas.openxmlformats.org/drawingml/2006/main" noGrp="1"/>
          </p:cNvSpPr>
          <p:nvPr/>
        </p:nvSpPr>
        <p:spPr>
          <a:xfrm xmlns:a="http://schemas.openxmlformats.org/drawingml/2006/main">
            <a:off x="609600" y="2819400"/>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9FA85737-667E-47E5-BEB1-CCE66676BC49}"/>
              </a:ext>
            </a:extLst>
          </p:cNvPr>
          <p:cNvSpPr>
            <a:spLocks xmlns:a="http://schemas.openxmlformats.org/drawingml/2006/main" noGrp="1"/>
          </p:cNvSpPr>
          <p:nvPr/>
        </p:nvSpPr>
        <p:spPr>
          <a:xfrm xmlns:a="http://schemas.openxmlformats.org/drawingml/2006/main">
            <a:off x="1333500" y="2819400"/>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Consumer empty &amp;&amp; !closed iken bekler.</a:t>
            </a:r>
          </a:p>
        </p:txBody>
      </p:sp>
      <p:sp>
        <p:nvSpPr>
          <p:cNvPr id="6" name="">
            <a:extLst xmlns:a="http://schemas.openxmlformats.org/drawingml/2006/main">
              <a:ext uri="{FF2B5EF4-FFF2-40B4-BE49-F238E27FC236}">
                <a16:creationId xmlns:a16="http://schemas.microsoft.com/office/drawing/2014/main" id="{291D5410-A30A-4B25-9A51-C4458CFEBE4E}"/>
              </a:ext>
            </a:extLst>
          </p:cNvPr>
          <p:cNvSpPr>
            <a:spLocks xmlns:a="http://schemas.openxmlformats.org/drawingml/2006/main" noGrp="1"/>
          </p:cNvSpPr>
          <p:nvPr/>
        </p:nvSpPr>
        <p:spPr>
          <a:xfrm xmlns:a="http://schemas.openxmlformats.org/drawingml/2006/main">
            <a:off x="609600" y="368617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51447139-69F1-4F1B-81F6-1421A358C447}"/>
              </a:ext>
            </a:extLst>
          </p:cNvPr>
          <p:cNvSpPr>
            <a:spLocks xmlns:a="http://schemas.openxmlformats.org/drawingml/2006/main" noGrp="1"/>
          </p:cNvSpPr>
          <p:nvPr/>
        </p:nvSpPr>
        <p:spPr>
          <a:xfrm xmlns:a="http://schemas.openxmlformats.org/drawingml/2006/main">
            <a:off x="1333500" y="3686175"/>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closed &amp;&amp; empty: bitir; ürün varsa boşalt.</a:t>
            </a:r>
          </a:p>
        </p:txBody>
      </p:sp>
      <p:sp>
        <p:nvSpPr>
          <p:cNvPr id="8" name="">
            <a:extLst xmlns:a="http://schemas.openxmlformats.org/drawingml/2006/main">
              <a:ext uri="{FF2B5EF4-FFF2-40B4-BE49-F238E27FC236}">
                <a16:creationId xmlns:a16="http://schemas.microsoft.com/office/drawing/2014/main" id="{D4B3F6CB-1076-49EE-831E-8662BE255326}"/>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closed=true ama count=3: consumer çıkmalı mı?</a:t>
            </a:r>
          </a:p>
        </p:txBody>
      </p:sp>
      <p:sp>
        <p:nvSpPr>
          <p:cNvPr id="9" name="">
            <a:extLst xmlns:a="http://schemas.openxmlformats.org/drawingml/2006/main">
              <a:ext uri="{FF2B5EF4-FFF2-40B4-BE49-F238E27FC236}">
                <a16:creationId xmlns:a16="http://schemas.microsoft.com/office/drawing/2014/main" id="{56ED7B7B-E37F-476F-BB7B-23A8AA5D024D}"/>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Dosya dışa aktarımı</a:t>
            </a:r>
          </a:p>
        </p:txBody>
      </p:sp>
      <p:sp>
        <p:nvSpPr>
          <p:cNvPr id="10" name="">
            <a:extLst xmlns:a="http://schemas.openxmlformats.org/drawingml/2006/main">
              <a:ext uri="{FF2B5EF4-FFF2-40B4-BE49-F238E27FC236}">
                <a16:creationId xmlns:a16="http://schemas.microsoft.com/office/drawing/2014/main" id="{E2DFB848-5AFD-40EF-A54F-6A9B4F3DB430}"/>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Girdi bittiğinde sırada son kayıtlar kalabilir.</a:t>
            </a:r>
          </a:p>
        </p:txBody>
      </p:sp>
      <p:sp>
        <p:nvSpPr>
          <p:cNvPr id="11" name="">
            <a:extLst xmlns:a="http://schemas.openxmlformats.org/drawingml/2006/main">
              <a:ext uri="{FF2B5EF4-FFF2-40B4-BE49-F238E27FC236}">
                <a16:creationId xmlns:a16="http://schemas.microsoft.com/office/drawing/2014/main" id="{7B7CFC8E-A99B-4683-B2D8-98E34B5275A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2" name="">
            <a:extLst xmlns:a="http://schemas.openxmlformats.org/drawingml/2006/main">
              <a:ext uri="{FF2B5EF4-FFF2-40B4-BE49-F238E27FC236}">
                <a16:creationId xmlns:a16="http://schemas.microsoft.com/office/drawing/2014/main" id="{34310B62-694C-486C-ABA8-39EEFDCEF999}"/>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22 / 28</a:t>
            </a:r>
          </a:p>
        </p:txBody>
      </p:sp>
    </p:spTree>
    <p:extLst>
      <p:ext uri="{BB962C8B-B14F-4D97-AF65-F5344CB8AC3E}">
        <p14:creationId xmlns:p14="http://schemas.microsoft.com/office/powerpoint/2010/main" val="1674762319"/>
      </p:ext>
    </p:extLst>
  </p:cSld>
</p:sld>
</file>

<file path=ppt/slides/slide23.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378D52D-6BA2-465F-8E28-82168A047EBB}"/>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Adalet, bekleme ve öncelik</a:t>
            </a:r>
          </a:p>
        </p:txBody>
      </p:sp>
      <p:sp>
        <p:nvSpPr>
          <p:cNvPr id="2" name="">
            <a:extLst xmlns:a="http://schemas.openxmlformats.org/drawingml/2006/main">
              <a:ext uri="{FF2B5EF4-FFF2-40B4-BE49-F238E27FC236}">
                <a16:creationId xmlns:a16="http://schemas.microsoft.com/office/drawing/2014/main" id="{0930BF02-45D1-4274-ABE9-F40248D937C4}"/>
              </a:ext>
            </a:extLst>
          </p:cNvPr>
          <p:cNvSpPr>
            <a:spLocks xmlns:a="http://schemas.openxmlformats.org/drawingml/2006/main" noGrp="1"/>
          </p:cNvSpPr>
          <p:nvPr/>
        </p:nvSpPr>
        <p:spPr>
          <a:xfrm xmlns:a="http://schemas.openxmlformats.org/drawingml/2006/main">
            <a:off x="609600" y="195262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49CFCC9B-18B7-4124-9B36-E299C898B822}"/>
              </a:ext>
            </a:extLst>
          </p:cNvPr>
          <p:cNvSpPr>
            <a:spLocks xmlns:a="http://schemas.openxmlformats.org/drawingml/2006/main" noGrp="1"/>
          </p:cNvSpPr>
          <p:nvPr/>
        </p:nvSpPr>
        <p:spPr>
          <a:xfrm xmlns:a="http://schemas.openxmlformats.org/drawingml/2006/main">
            <a:off x="1333500" y="195262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Reader preference writer’ı aç bırakabilir.</a:t>
            </a:r>
          </a:p>
        </p:txBody>
      </p:sp>
      <p:sp>
        <p:nvSpPr>
          <p:cNvPr id="4" name="">
            <a:extLst xmlns:a="http://schemas.openxmlformats.org/drawingml/2006/main">
              <a:ext uri="{FF2B5EF4-FFF2-40B4-BE49-F238E27FC236}">
                <a16:creationId xmlns:a16="http://schemas.microsoft.com/office/drawing/2014/main" id="{5EB91DE9-E799-4323-85A9-E118DF4E5A8C}"/>
              </a:ext>
            </a:extLst>
          </p:cNvPr>
          <p:cNvSpPr>
            <a:spLocks xmlns:a="http://schemas.openxmlformats.org/drawingml/2006/main" noGrp="1"/>
          </p:cNvSpPr>
          <p:nvPr/>
        </p:nvSpPr>
        <p:spPr>
          <a:xfrm xmlns:a="http://schemas.openxmlformats.org/drawingml/2006/main">
            <a:off x="609600" y="3041650"/>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A8439225-B880-4EC9-9D1C-8034B0724FDE}"/>
              </a:ext>
            </a:extLst>
          </p:cNvPr>
          <p:cNvSpPr>
            <a:spLocks xmlns:a="http://schemas.openxmlformats.org/drawingml/2006/main" noGrp="1"/>
          </p:cNvSpPr>
          <p:nvPr/>
        </p:nvSpPr>
        <p:spPr>
          <a:xfrm xmlns:a="http://schemas.openxmlformats.org/drawingml/2006/main">
            <a:off x="1333500" y="3041650"/>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Deadlock, starvation, livelock farklıdır.</a:t>
            </a:r>
          </a:p>
        </p:txBody>
      </p:sp>
      <p:sp>
        <p:nvSpPr>
          <p:cNvPr id="6" name="">
            <a:extLst xmlns:a="http://schemas.openxmlformats.org/drawingml/2006/main">
              <a:ext uri="{FF2B5EF4-FFF2-40B4-BE49-F238E27FC236}">
                <a16:creationId xmlns:a16="http://schemas.microsoft.com/office/drawing/2014/main" id="{C0B2B887-2B50-48FC-A3CD-C4F0AA7AFF20}"/>
              </a:ext>
            </a:extLst>
          </p:cNvPr>
          <p:cNvSpPr>
            <a:spLocks xmlns:a="http://schemas.openxmlformats.org/drawingml/2006/main" noGrp="1"/>
          </p:cNvSpPr>
          <p:nvPr/>
        </p:nvSpPr>
        <p:spPr>
          <a:xfrm xmlns:a="http://schemas.openxmlformats.org/drawingml/2006/main">
            <a:off x="609600" y="4130675"/>
            <a:ext cx="43815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1E90CCC0-84B6-4176-9ED4-39385A4B8273}"/>
              </a:ext>
            </a:extLst>
          </p:cNvPr>
          <p:cNvSpPr>
            <a:spLocks xmlns:a="http://schemas.openxmlformats.org/drawingml/2006/main" noGrp="1"/>
          </p:cNvSpPr>
          <p:nvPr/>
        </p:nvSpPr>
        <p:spPr>
          <a:xfrm xmlns:a="http://schemas.openxmlformats.org/drawingml/2006/main">
            <a:off x="1333500" y="4130675"/>
            <a:ext cx="10248900" cy="993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Priority inheritance otomatik değildir.</a:t>
            </a:r>
          </a:p>
        </p:txBody>
      </p:sp>
      <p:sp>
        <p:nvSpPr>
          <p:cNvPr id="8" name="">
            <a:extLst xmlns:a="http://schemas.openxmlformats.org/drawingml/2006/main">
              <a:ext uri="{FF2B5EF4-FFF2-40B4-BE49-F238E27FC236}">
                <a16:creationId xmlns:a16="http://schemas.microsoft.com/office/drawing/2014/main" id="{1FCFEEBF-5D7D-41DF-8A89-6488358458CA}"/>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Konfigürasyon cache’i</a:t>
            </a:r>
          </a:p>
        </p:txBody>
      </p:sp>
      <p:sp>
        <p:nvSpPr>
          <p:cNvPr id="9" name="">
            <a:extLst xmlns:a="http://schemas.openxmlformats.org/drawingml/2006/main">
              <a:ext uri="{FF2B5EF4-FFF2-40B4-BE49-F238E27FC236}">
                <a16:creationId xmlns:a16="http://schemas.microsoft.com/office/drawing/2014/main" id="{7A47616D-231C-4D59-914C-8F58299E03CE}"/>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Okumalar sürerken güncelleme hiç sıra alamaz.</a:t>
            </a:r>
          </a:p>
        </p:txBody>
      </p:sp>
      <p:sp>
        <p:nvSpPr>
          <p:cNvPr id="10" name="">
            <a:extLst xmlns:a="http://schemas.openxmlformats.org/drawingml/2006/main">
              <a:ext uri="{FF2B5EF4-FFF2-40B4-BE49-F238E27FC236}">
                <a16:creationId xmlns:a16="http://schemas.microsoft.com/office/drawing/2014/main" id="{E42083C2-DBA7-4FBF-8141-747712780720}"/>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1" name="">
            <a:extLst xmlns:a="http://schemas.openxmlformats.org/drawingml/2006/main">
              <a:ext uri="{FF2B5EF4-FFF2-40B4-BE49-F238E27FC236}">
                <a16:creationId xmlns:a16="http://schemas.microsoft.com/office/drawing/2014/main" id="{5836DDD1-BAEA-4D6F-8297-A2FEA117BC97}"/>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23 / 28</a:t>
            </a:r>
          </a:p>
        </p:txBody>
      </p:sp>
    </p:spTree>
    <p:extLst>
      <p:ext uri="{BB962C8B-B14F-4D97-AF65-F5344CB8AC3E}">
        <p14:creationId xmlns:p14="http://schemas.microsoft.com/office/powerpoint/2010/main" val="848878524"/>
      </p:ext>
    </p:extLst>
  </p:cSld>
</p:sld>
</file>

<file path=ppt/slides/slide2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1EED0CA-0FDB-4085-8DB0-F2F46A01B135}"/>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Beş filozof: kilitler doğru, sistem durmuş</a:t>
            </a:r>
          </a:p>
        </p:txBody>
      </p:sp>
      <p:sp>
        <p:nvSpPr>
          <p:cNvPr id="2" name="">
            <a:extLst xmlns:a="http://schemas.openxmlformats.org/drawingml/2006/main">
              <a:ext uri="{FF2B5EF4-FFF2-40B4-BE49-F238E27FC236}">
                <a16:creationId xmlns:a16="http://schemas.microsoft.com/office/drawing/2014/main" id="{7A0617B7-E294-453D-9BAE-D272658E7629}"/>
              </a:ext>
            </a:extLst>
          </p:cNvPr>
          <p:cNvSpPr>
            <a:spLocks xmlns:a="http://schemas.openxmlformats.org/drawingml/2006/main" noGrp="1"/>
          </p:cNvSpPr>
          <p:nvPr/>
        </p:nvSpPr>
        <p:spPr>
          <a:xfrm xmlns:a="http://schemas.openxmlformats.org/drawingml/2006/main">
            <a:off x="609600" y="195262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4909E016-F97C-41B7-946A-AB51E1E81B9B}"/>
              </a:ext>
            </a:extLst>
          </p:cNvPr>
          <p:cNvSpPr>
            <a:spLocks xmlns:a="http://schemas.openxmlformats.org/drawingml/2006/main" noGrp="1"/>
          </p:cNvSpPr>
          <p:nvPr/>
        </p:nvSpPr>
        <p:spPr>
          <a:xfrm xmlns:a="http://schemas.openxmlformats.org/drawingml/2006/main">
            <a:off x="1333500" y="1952625"/>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Herkes sol çatalı alır.</a:t>
            </a:r>
          </a:p>
        </p:txBody>
      </p:sp>
      <p:sp>
        <p:nvSpPr>
          <p:cNvPr id="4" name="">
            <a:extLst xmlns:a="http://schemas.openxmlformats.org/drawingml/2006/main">
              <a:ext uri="{FF2B5EF4-FFF2-40B4-BE49-F238E27FC236}">
                <a16:creationId xmlns:a16="http://schemas.microsoft.com/office/drawing/2014/main" id="{C3DD1143-C12A-4B71-B3FB-3322DE93BA49}"/>
              </a:ext>
            </a:extLst>
          </p:cNvPr>
          <p:cNvSpPr>
            <a:spLocks xmlns:a="http://schemas.openxmlformats.org/drawingml/2006/main" noGrp="1"/>
          </p:cNvSpPr>
          <p:nvPr/>
        </p:nvSpPr>
        <p:spPr>
          <a:xfrm xmlns:a="http://schemas.openxmlformats.org/drawingml/2006/main">
            <a:off x="609600" y="2819400"/>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9748046-833B-4FF4-A1A7-358DB0854683}"/>
              </a:ext>
            </a:extLst>
          </p:cNvPr>
          <p:cNvSpPr>
            <a:spLocks xmlns:a="http://schemas.openxmlformats.org/drawingml/2006/main" noGrp="1"/>
          </p:cNvSpPr>
          <p:nvPr/>
        </p:nvSpPr>
        <p:spPr>
          <a:xfrm xmlns:a="http://schemas.openxmlformats.org/drawingml/2006/main">
            <a:off x="1333500" y="2819400"/>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Herkes sağ komşunun çatalını bekler.</a:t>
            </a:r>
          </a:p>
        </p:txBody>
      </p:sp>
      <p:sp>
        <p:nvSpPr>
          <p:cNvPr id="6" name="">
            <a:extLst xmlns:a="http://schemas.openxmlformats.org/drawingml/2006/main">
              <a:ext uri="{FF2B5EF4-FFF2-40B4-BE49-F238E27FC236}">
                <a16:creationId xmlns:a16="http://schemas.microsoft.com/office/drawing/2014/main" id="{AA5CA9E9-4932-4496-8B37-D9571AEA702E}"/>
              </a:ext>
            </a:extLst>
          </p:cNvPr>
          <p:cNvSpPr>
            <a:spLocks xmlns:a="http://schemas.openxmlformats.org/drawingml/2006/main" noGrp="1"/>
          </p:cNvSpPr>
          <p:nvPr/>
        </p:nvSpPr>
        <p:spPr>
          <a:xfrm xmlns:a="http://schemas.openxmlformats.org/drawingml/2006/main">
            <a:off x="609600" y="3686175"/>
            <a:ext cx="438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B31AC8AC-6DDB-42B3-AB28-16CF60644942}"/>
              </a:ext>
            </a:extLst>
          </p:cNvPr>
          <p:cNvSpPr>
            <a:spLocks xmlns:a="http://schemas.openxmlformats.org/drawingml/2006/main" noGrp="1"/>
          </p:cNvSpPr>
          <p:nvPr/>
        </p:nvSpPr>
        <p:spPr>
          <a:xfrm xmlns:a="http://schemas.openxmlformats.org/drawingml/2006/main">
            <a:off x="1333500" y="3686175"/>
            <a:ext cx="102489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Hiç kimse release aşamasına ulaşmaz.</a:t>
            </a:r>
          </a:p>
        </p:txBody>
      </p:sp>
      <p:sp>
        <p:nvSpPr>
          <p:cNvPr id="8" name="">
            <a:extLst xmlns:a="http://schemas.openxmlformats.org/drawingml/2006/main">
              <a:ext uri="{FF2B5EF4-FFF2-40B4-BE49-F238E27FC236}">
                <a16:creationId xmlns:a16="http://schemas.microsoft.com/office/drawing/2014/main" id="{4FBD9C09-2849-4FA0-8C4A-CBEF0F354132}"/>
              </a:ext>
            </a:extLst>
          </p:cNvPr>
          <p:cNvSpPr>
            <a:spLocks xmlns:a="http://schemas.openxmlformats.org/drawingml/2006/main" noGrp="1"/>
          </p:cNvSpPr>
          <p:nvPr/>
        </p:nvSpPr>
        <p:spPr>
          <a:xfrm xmlns:a="http://schemas.openxmlformats.org/drawingml/2006/main">
            <a:off x="609600" y="4714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Exclusion testi geçerse deadlock yok diyebilir miyiz?</a:t>
            </a:r>
          </a:p>
        </p:txBody>
      </p:sp>
      <p:sp>
        <p:nvSpPr>
          <p:cNvPr id="9" name="">
            <a:extLst xmlns:a="http://schemas.openxmlformats.org/drawingml/2006/main">
              <a:ext uri="{FF2B5EF4-FFF2-40B4-BE49-F238E27FC236}">
                <a16:creationId xmlns:a16="http://schemas.microsoft.com/office/drawing/2014/main" id="{5E26445D-F942-4931-91F0-8B7EAE508471}"/>
              </a:ext>
            </a:extLst>
          </p:cNvPr>
          <p:cNvSpPr>
            <a:spLocks xmlns:a="http://schemas.openxmlformats.org/drawingml/2006/main" noGrp="1"/>
          </p:cNvSpPr>
          <p:nvPr/>
        </p:nvSpPr>
        <p:spPr>
          <a:xfrm xmlns:a="http://schemas.openxmlformats.org/drawingml/2006/main">
            <a:off x="609600" y="54387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1">
                <a:solidFill>
                  <a:srgbClr val="C46225"/>
                </a:solidFill>
                <a:latin typeface="Helvetica Neue"/>
                <a:ea typeface="Helvetica Neue"/>
                <a:cs typeface="Helvetica Neue"/>
              </a:defRPr>
            </a:pPr>
            <a:r>
              <a:rPr sz="1500" b="1">
                <a:solidFill>
                  <a:srgbClr val="C46225"/>
                </a:solidFill>
                <a:latin typeface="Helvetica Neue"/>
                <a:ea typeface="Helvetica Neue"/>
                <a:cs typeface="Helvetica Neue"/>
              </a:rPr>
              <a:t>GERÇEK HAYAT · İki hesap lock’u</a:t>
            </a:r>
          </a:p>
        </p:txBody>
      </p:sp>
      <p:sp>
        <p:nvSpPr>
          <p:cNvPr id="10" name="">
            <a:extLst xmlns:a="http://schemas.openxmlformats.org/drawingml/2006/main">
              <a:ext uri="{FF2B5EF4-FFF2-40B4-BE49-F238E27FC236}">
                <a16:creationId xmlns:a16="http://schemas.microsoft.com/office/drawing/2014/main" id="{98896FCD-0332-4ABC-817A-0296BDA99799}"/>
              </a:ext>
            </a:extLst>
          </p:cNvPr>
          <p:cNvSpPr>
            <a:spLocks xmlns:a="http://schemas.openxmlformats.org/drawingml/2006/main" noGrp="1"/>
          </p:cNvSpPr>
          <p:nvPr/>
        </p:nvSpPr>
        <p:spPr>
          <a:xfrm xmlns:a="http://schemas.openxmlformats.org/drawingml/2006/main">
            <a:off x="609600" y="57816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D606A"/>
                </a:solidFill>
                <a:latin typeface="Helvetica Neue"/>
                <a:ea typeface="Helvetica Neue"/>
                <a:cs typeface="Helvetica Neue"/>
              </a:defRPr>
            </a:pPr>
            <a:r>
              <a:rPr sz="1650" b="0">
                <a:solidFill>
                  <a:srgbClr val="4D606A"/>
                </a:solidFill>
                <a:latin typeface="Helvetica Neue"/>
                <a:ea typeface="Helvetica Neue"/>
                <a:cs typeface="Helvetica Neue"/>
              </a:rPr>
              <a:t>A önce hesap1, B önce hesap2 alır ve diğerini bekler.</a:t>
            </a:r>
          </a:p>
        </p:txBody>
      </p:sp>
      <p:sp>
        <p:nvSpPr>
          <p:cNvPr id="11" name="">
            <a:extLst xmlns:a="http://schemas.openxmlformats.org/drawingml/2006/main">
              <a:ext uri="{FF2B5EF4-FFF2-40B4-BE49-F238E27FC236}">
                <a16:creationId xmlns:a16="http://schemas.microsoft.com/office/drawing/2014/main" id="{E463E0A2-6883-4908-92ED-6350EB9F6E73}"/>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2" name="">
            <a:extLst xmlns:a="http://schemas.openxmlformats.org/drawingml/2006/main">
              <a:ext uri="{FF2B5EF4-FFF2-40B4-BE49-F238E27FC236}">
                <a16:creationId xmlns:a16="http://schemas.microsoft.com/office/drawing/2014/main" id="{422DB4E9-0380-4D54-AE7D-2E5914FB244D}"/>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24 / 28</a:t>
            </a:r>
          </a:p>
        </p:txBody>
      </p:sp>
    </p:spTree>
    <p:extLst>
      <p:ext uri="{BB962C8B-B14F-4D97-AF65-F5344CB8AC3E}">
        <p14:creationId xmlns:p14="http://schemas.microsoft.com/office/powerpoint/2010/main" val="2110999128"/>
      </p:ext>
    </p:extLst>
  </p:cSld>
</p:sld>
</file>

<file path=ppt/slides/slide25.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9B96549-A9D0-44BB-BB82-7323B2C86ACA}"/>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Döngüyü kır: ortak kaynak sırası</a:t>
            </a:r>
          </a:p>
        </p:txBody>
      </p:sp>
      <p:sp>
        <p:nvSpPr>
          <p:cNvPr id="2" name="">
            <a:extLst xmlns:a="http://schemas.openxmlformats.org/drawingml/2006/main">
              <a:ext uri="{FF2B5EF4-FFF2-40B4-BE49-F238E27FC236}">
                <a16:creationId xmlns:a16="http://schemas.microsoft.com/office/drawing/2014/main" id="{A2950180-6E67-419D-A454-A8BCB18B732C}"/>
              </a:ext>
            </a:extLst>
          </p:cNvPr>
          <p:cNvSpPr>
            <a:spLocks xmlns:a="http://schemas.openxmlformats.org/drawingml/2006/main" noGrp="1"/>
          </p:cNvSpPr>
          <p:nvPr/>
        </p:nvSpPr>
        <p:spPr>
          <a:xfrm xmlns:a="http://schemas.openxmlformats.org/drawingml/2006/main">
            <a:off x="609600" y="19526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C0FD1CC7-9292-41B8-B2BE-1007F25FD535}"/>
              </a:ext>
            </a:extLst>
          </p:cNvPr>
          <p:cNvSpPr>
            <a:spLocks xmlns:a="http://schemas.openxmlformats.org/drawingml/2006/main" noGrp="1"/>
          </p:cNvSpPr>
          <p:nvPr/>
        </p:nvSpPr>
        <p:spPr>
          <a:xfrm xmlns:a="http://schemas.openxmlformats.org/drawingml/2006/main">
            <a:off x="1333500" y="19526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Çatalları 0–4 numarala.</a:t>
            </a:r>
          </a:p>
        </p:txBody>
      </p:sp>
      <p:sp>
        <p:nvSpPr>
          <p:cNvPr id="4" name="">
            <a:extLst xmlns:a="http://schemas.openxmlformats.org/drawingml/2006/main">
              <a:ext uri="{FF2B5EF4-FFF2-40B4-BE49-F238E27FC236}">
                <a16:creationId xmlns:a16="http://schemas.microsoft.com/office/drawing/2014/main" id="{A0E5FCC3-9A11-4061-A48C-65F907F625CB}"/>
              </a:ext>
            </a:extLst>
          </p:cNvPr>
          <p:cNvSpPr>
            <a:spLocks xmlns:a="http://schemas.openxmlformats.org/drawingml/2006/main" noGrp="1"/>
          </p:cNvSpPr>
          <p:nvPr/>
        </p:nvSpPr>
        <p:spPr>
          <a:xfrm xmlns:a="http://schemas.openxmlformats.org/drawingml/2006/main">
            <a:off x="609600" y="29940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F7A74AD9-A8F2-46CE-A3ED-CF21A7181C2C}"/>
              </a:ext>
            </a:extLst>
          </p:cNvPr>
          <p:cNvSpPr>
            <a:spLocks xmlns:a="http://schemas.openxmlformats.org/drawingml/2006/main" noGrp="1"/>
          </p:cNvSpPr>
          <p:nvPr/>
        </p:nvSpPr>
        <p:spPr>
          <a:xfrm xmlns:a="http://schemas.openxmlformats.org/drawingml/2006/main">
            <a:off x="1333500" y="29940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Her zaman küçük numarayı önce al.</a:t>
            </a:r>
          </a:p>
        </p:txBody>
      </p:sp>
      <p:sp>
        <p:nvSpPr>
          <p:cNvPr id="6" name="">
            <a:extLst xmlns:a="http://schemas.openxmlformats.org/drawingml/2006/main">
              <a:ext uri="{FF2B5EF4-FFF2-40B4-BE49-F238E27FC236}">
                <a16:creationId xmlns:a16="http://schemas.microsoft.com/office/drawing/2014/main" id="{424C6F39-9EDA-40B0-9472-2FDFF3E7EE11}"/>
              </a:ext>
            </a:extLst>
          </p:cNvPr>
          <p:cNvSpPr>
            <a:spLocks xmlns:a="http://schemas.openxmlformats.org/drawingml/2006/main" noGrp="1"/>
          </p:cNvSpPr>
          <p:nvPr/>
        </p:nvSpPr>
        <p:spPr>
          <a:xfrm xmlns:a="http://schemas.openxmlformats.org/drawingml/2006/main">
            <a:off x="609600" y="4035425"/>
            <a:ext cx="43815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ECE95CE1-9349-407D-BA5E-54E8F516B6C2}"/>
              </a:ext>
            </a:extLst>
          </p:cNvPr>
          <p:cNvSpPr>
            <a:spLocks xmlns:a="http://schemas.openxmlformats.org/drawingml/2006/main" noGrp="1"/>
          </p:cNvSpPr>
          <p:nvPr/>
        </p:nvSpPr>
        <p:spPr>
          <a:xfrm xmlns:a="http://schemas.openxmlformats.org/drawingml/2006/main">
            <a:off x="1333500" y="4035425"/>
            <a:ext cx="10248900" cy="94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Deadlock engeli fairness kanıtı değildir.</a:t>
            </a:r>
          </a:p>
        </p:txBody>
      </p:sp>
      <p:sp>
        <p:nvSpPr>
          <p:cNvPr id="8" name="">
            <a:extLst xmlns:a="http://schemas.openxmlformats.org/drawingml/2006/main">
              <a:ext uri="{FF2B5EF4-FFF2-40B4-BE49-F238E27FC236}">
                <a16:creationId xmlns:a16="http://schemas.microsoft.com/office/drawing/2014/main" id="{02250C25-433E-4151-969D-E33ACA032063}"/>
              </a:ext>
            </a:extLst>
          </p:cNvPr>
          <p:cNvSpPr>
            <a:spLocks xmlns:a="http://schemas.openxmlformats.org/drawingml/2006/main" noGrp="1"/>
          </p:cNvSpPr>
          <p:nvPr/>
        </p:nvSpPr>
        <p:spPr>
          <a:xfrm xmlns:a="http://schemas.openxmlformats.org/drawingml/2006/main">
            <a:off x="609600" y="523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Düşün: Bir filozof hâlâ sürekli bekletilebilir mi?</a:t>
            </a:r>
          </a:p>
        </p:txBody>
      </p:sp>
      <p:sp>
        <p:nvSpPr>
          <p:cNvPr id="9" name="">
            <a:extLst xmlns:a="http://schemas.openxmlformats.org/drawingml/2006/main">
              <a:ext uri="{FF2B5EF4-FFF2-40B4-BE49-F238E27FC236}">
                <a16:creationId xmlns:a16="http://schemas.microsoft.com/office/drawing/2014/main" id="{FCBEF1CB-18C5-4A3D-BDBE-67491CE38B1C}"/>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0" name="">
            <a:extLst xmlns:a="http://schemas.openxmlformats.org/drawingml/2006/main">
              <a:ext uri="{FF2B5EF4-FFF2-40B4-BE49-F238E27FC236}">
                <a16:creationId xmlns:a16="http://schemas.microsoft.com/office/drawing/2014/main" id="{3BB201A5-BF9A-4753-9117-06D09375B332}"/>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25 / 28</a:t>
            </a:r>
          </a:p>
        </p:txBody>
      </p:sp>
    </p:spTree>
    <p:extLst>
      <p:ext uri="{BB962C8B-B14F-4D97-AF65-F5344CB8AC3E}">
        <p14:creationId xmlns:p14="http://schemas.microsoft.com/office/powerpoint/2010/main" val="1434738484"/>
      </p:ext>
    </p:extLst>
  </p:cSld>
</p:sld>
</file>

<file path=ppt/slides/slide2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7EC96C-34BA-4A91-B37A-E8AD566A55CF}"/>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Araç seçmeden dört satır yaz</a:t>
            </a:r>
          </a:p>
        </p:txBody>
      </p:sp>
      <p:sp>
        <p:nvSpPr>
          <p:cNvPr id="2" name="">
            <a:extLst xmlns:a="http://schemas.openxmlformats.org/drawingml/2006/main">
              <a:ext uri="{FF2B5EF4-FFF2-40B4-BE49-F238E27FC236}">
                <a16:creationId xmlns:a16="http://schemas.microsoft.com/office/drawing/2014/main" id="{39A96B99-76D3-463A-B297-69E58107D6BD}"/>
              </a:ext>
            </a:extLst>
          </p:cNvPr>
          <p:cNvSpPr>
            <a:spLocks xmlns:a="http://schemas.openxmlformats.org/drawingml/2006/main" noGrp="1"/>
          </p:cNvSpPr>
          <p:nvPr/>
        </p:nvSpPr>
        <p:spPr>
          <a:xfrm xmlns:a="http://schemas.openxmlformats.org/drawingml/2006/main">
            <a:off x="609600" y="1714500"/>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Shared state ve invariant.</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İzinli atomik/locked geçişler.</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Bekleme predicate’i ve onu değiştiren olay.</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Completion ve fairness varsayımları.</a:t>
            </a:r>
          </a:p>
        </p:txBody>
      </p:sp>
      <p:graphicFrame>
        <p:nvGraphicFramePr>
          <p:cNvPr id="8" name=""/>
          <p:cNvGraphicFramePr/>
          <p:nvPr/>
        </p:nvGraphicFramePr>
        <p:xfrm>
          <a:off xmlns:a="http://schemas.openxmlformats.org/drawingml/2006/main" x="609600" y="3038475"/>
          <a:ext xmlns:a="http://schemas.openxmlformats.org/drawingml/2006/main" cx="10972800" cy="2705100"/>
        </p:xfrm>
        <a:graphic xmlns:a="http://schemas.openxmlformats.org/drawingml/2006/main">
          <a:graphicData uri="http://schemas.openxmlformats.org/drawingml/2006/table">
            <a:tbl>
              <a:tblPr/>
              <a:tblGrid>
                <a:gridCol w="5486400"/>
                <a:gridCol w="5486400"/>
              </a:tblGrid>
              <a:tr h="541020">
                <a:tc>
                  <a:txBody>
                    <a:bodyPr/>
                    <a:lstStyle/>
                    <a:p>
                      <a:r>
                        <a:rPr sz="1800" b="1">
                          <a:solidFill>
                            <a:srgbClr val="FFFFFF"/>
                          </a:solidFill>
                          <a:latin typeface="Helvetica Neue"/>
                          <a:ea typeface="Helvetica Neue"/>
                          <a:cs typeface="Helvetica Neue"/>
                        </a:rPr>
                        <a:t>İhtiyaç</a:t>
                      </a:r>
                    </a:p>
                  </a:txBody>
                  <a:tcPr marL="114300" marR="114300" marT="47625" marB="47625" anchor="ctr">
                    <a:solidFill>
                      <a:srgbClr val="122C42"/>
                    </a:solidFill>
                  </a:tcPr>
                </a:tc>
                <a:tc>
                  <a:txBody>
                    <a:bodyPr/>
                    <a:lstStyle/>
                    <a:p>
                      <a:r>
                        <a:rPr sz="1800" b="1">
                          <a:solidFill>
                            <a:srgbClr val="FFFFFF"/>
                          </a:solidFill>
                          <a:latin typeface="Helvetica Neue"/>
                          <a:ea typeface="Helvetica Neue"/>
                          <a:cs typeface="Helvetica Neue"/>
                        </a:rPr>
                        <a:t>Başlangıç aracı</a:t>
                      </a:r>
                    </a:p>
                  </a:txBody>
                  <a:tcPr marL="114300" marR="114300" marT="47625" marB="47625" anchor="ctr">
                    <a:solidFill>
                      <a:srgbClr val="122C42"/>
                    </a:solidFill>
                  </a:tcPr>
                </a:tc>
              </a:tr>
              <a:tr h="541020">
                <a:tc>
                  <a:txBody>
                    <a:bodyPr/>
                    <a:lstStyle/>
                    <a:p>
                      <a:r>
                        <a:rPr sz="1800" b="0">
                          <a:solidFill>
                            <a:srgbClr val="122C42"/>
                          </a:solidFill>
                          <a:latin typeface="Helvetica Neue"/>
                          <a:ea typeface="Helvetica Neue"/>
                          <a:cs typeface="Helvetica Neue"/>
                        </a:rPr>
                        <a:t>Tek RMW</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Atomic</a:t>
                      </a:r>
                    </a:p>
                  </a:txBody>
                  <a:tcPr marL="114300" marR="114300" marT="47625" marB="47625" anchor="ctr">
                    <a:solidFill>
                      <a:srgbClr val="FFFFFF"/>
                    </a:solidFill>
                  </a:tcPr>
                </a:tc>
              </a:tr>
              <a:tr h="541020">
                <a:tc>
                  <a:txBody>
                    <a:bodyPr/>
                    <a:lstStyle/>
                    <a:p>
                      <a:r>
                        <a:rPr sz="1800" b="0">
                          <a:solidFill>
                            <a:srgbClr val="122C42"/>
                          </a:solidFill>
                          <a:latin typeface="Helvetica Neue"/>
                          <a:ea typeface="Helvetica Neue"/>
                          <a:cs typeface="Helvetica Neue"/>
                        </a:rPr>
                        <a:t>Ortak invariant</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Mutex</a:t>
                      </a:r>
                    </a:p>
                  </a:txBody>
                  <a:tcPr marL="114300" marR="114300" marT="47625" marB="47625" anchor="ctr">
                    <a:solidFill>
                      <a:srgbClr val="ECF0EC"/>
                    </a:solidFill>
                  </a:tcPr>
                </a:tc>
              </a:tr>
              <a:tr h="541020">
                <a:tc>
                  <a:txBody>
                    <a:bodyPr/>
                    <a:lstStyle/>
                    <a:p>
                      <a:r>
                        <a:rPr sz="1800" b="0">
                          <a:solidFill>
                            <a:srgbClr val="122C42"/>
                          </a:solidFill>
                          <a:latin typeface="Helvetica Neue"/>
                          <a:ea typeface="Helvetica Neue"/>
                          <a:cs typeface="Helvetica Neue"/>
                        </a:rPr>
                        <a:t>Permit</a:t>
                      </a:r>
                    </a:p>
                  </a:txBody>
                  <a:tcPr marL="114300" marR="114300" marT="47625" marB="47625" anchor="ctr">
                    <a:solidFill>
                      <a:srgbClr val="FFFFFF"/>
                    </a:solidFill>
                  </a:tcPr>
                </a:tc>
                <a:tc>
                  <a:txBody>
                    <a:bodyPr/>
                    <a:lstStyle/>
                    <a:p>
                      <a:r>
                        <a:rPr sz="1800" b="0">
                          <a:solidFill>
                            <a:srgbClr val="122C42"/>
                          </a:solidFill>
                          <a:latin typeface="Helvetica Neue"/>
                          <a:ea typeface="Helvetica Neue"/>
                          <a:cs typeface="Helvetica Neue"/>
                        </a:rPr>
                        <a:t>Semaphore</a:t>
                      </a:r>
                    </a:p>
                  </a:txBody>
                  <a:tcPr marL="114300" marR="114300" marT="47625" marB="47625" anchor="ctr">
                    <a:solidFill>
                      <a:srgbClr val="FFFFFF"/>
                    </a:solidFill>
                  </a:tcPr>
                </a:tc>
              </a:tr>
              <a:tr h="541020">
                <a:tc>
                  <a:txBody>
                    <a:bodyPr/>
                    <a:lstStyle/>
                    <a:p>
                      <a:r>
                        <a:rPr sz="1800" b="0">
                          <a:solidFill>
                            <a:srgbClr val="122C42"/>
                          </a:solidFill>
                          <a:latin typeface="Helvetica Neue"/>
                          <a:ea typeface="Helvetica Neue"/>
                          <a:cs typeface="Helvetica Neue"/>
                        </a:rPr>
                        <a:t>Predicate bekleme</a:t>
                      </a:r>
                    </a:p>
                  </a:txBody>
                  <a:tcPr marL="114300" marR="114300" marT="47625" marB="47625" anchor="ctr">
                    <a:solidFill>
                      <a:srgbClr val="ECF0EC"/>
                    </a:solidFill>
                  </a:tcPr>
                </a:tc>
                <a:tc>
                  <a:txBody>
                    <a:bodyPr/>
                    <a:lstStyle/>
                    <a:p>
                      <a:r>
                        <a:rPr sz="1800" b="0">
                          <a:solidFill>
                            <a:srgbClr val="122C42"/>
                          </a:solidFill>
                          <a:latin typeface="Helvetica Neue"/>
                          <a:ea typeface="Helvetica Neue"/>
                          <a:cs typeface="Helvetica Neue"/>
                        </a:rPr>
                        <a:t>Condition + mutex</a:t>
                      </a:r>
                    </a:p>
                  </a:txBody>
                  <a:tcPr marL="114300" marR="114300" marT="47625" marB="47625" anchor="ctr">
                    <a:solidFill>
                      <a:srgbClr val="ECF0EC"/>
                    </a:solidFill>
                  </a:tcPr>
                </a:tc>
              </a:tr>
            </a:tbl>
          </a:graphicData>
        </a:graphic>
      </p:graphicFrame>
      <p:sp>
        <p:nvSpPr>
          <p:cNvPr id="4" name="">
            <a:extLst xmlns:a="http://schemas.openxmlformats.org/drawingml/2006/main">
              <a:ext uri="{FF2B5EF4-FFF2-40B4-BE49-F238E27FC236}">
                <a16:creationId xmlns:a16="http://schemas.microsoft.com/office/drawing/2014/main" id="{40B4BC72-9D5D-4538-BA98-F13D2B5F3120}"/>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5" name="">
            <a:extLst xmlns:a="http://schemas.openxmlformats.org/drawingml/2006/main">
              <a:ext uri="{FF2B5EF4-FFF2-40B4-BE49-F238E27FC236}">
                <a16:creationId xmlns:a16="http://schemas.microsoft.com/office/drawing/2014/main" id="{901EB9CB-14E8-4EE6-BB5E-2E0823B3FDC1}"/>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26 / 28</a:t>
            </a:r>
          </a:p>
        </p:txBody>
      </p:sp>
    </p:spTree>
    <p:extLst>
      <p:ext uri="{BB962C8B-B14F-4D97-AF65-F5344CB8AC3E}">
        <p14:creationId xmlns:p14="http://schemas.microsoft.com/office/powerpoint/2010/main" val="12416593"/>
      </p:ext>
    </p:extLst>
  </p:cSld>
</p:sld>
</file>

<file path=ppt/slides/slide27.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55C07D-2CF5-48B9-8FF6-466B593DBBC7}"/>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Lab: tahmin et, çalıştır, gerekçelendir</a:t>
            </a:r>
          </a:p>
        </p:txBody>
      </p:sp>
      <p:sp>
        <p:nvSpPr>
          <p:cNvPr id="2" name="">
            <a:extLst xmlns:a="http://schemas.openxmlformats.org/drawingml/2006/main">
              <a:ext uri="{FF2B5EF4-FFF2-40B4-BE49-F238E27FC236}">
                <a16:creationId xmlns:a16="http://schemas.microsoft.com/office/drawing/2014/main" id="{37CA6DCB-FFEA-44DE-8915-3F9E7E9FD5D5}"/>
              </a:ext>
            </a:extLst>
          </p:cNvPr>
          <p:cNvSpPr>
            <a:spLocks xmlns:a="http://schemas.openxmlformats.org/drawingml/2006/main" noGrp="1"/>
          </p:cNvSpPr>
          <p:nvPr/>
        </p:nvSpPr>
        <p:spPr>
          <a:xfrm xmlns:a="http://schemas.openxmlformats.org/drawingml/2006/main">
            <a:off x="609600" y="17621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Python: altı izinli izi üret.</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C: FIFO, count ve toplamı denetle.</a:t>
            </a:r>
          </a:p>
          <a:p xmlns:a="http://schemas.openxmlformats.org/drawingml/2006/main">
            <a:pPr>
              <a:defRPr sz="1800" b="0">
                <a:solidFill>
                  <a:srgbClr val="4D606A"/>
                </a:solidFill>
                <a:latin typeface="Helvetica Neue"/>
                <a:ea typeface="Helvetica Neue"/>
                <a:cs typeface="Helvetica Neue"/>
              </a:defRPr>
            </a:pPr>
            <a:r>
              <a:rPr sz="1800" b="0">
                <a:solidFill>
                  <a:srgbClr val="4D606A"/>
                </a:solidFill>
                <a:latin typeface="Helvetica Neue"/>
                <a:ea typeface="Helvetica Neue"/>
                <a:cs typeface="Helvetica Neue"/>
              </a:rPr>
              <a:t>Capacity=1 ile protokolü yeniden sorgula.</a:t>
            </a:r>
          </a:p>
        </p:txBody>
      </p:sp>
      <p:sp>
        <p:nvSpPr>
          <p:cNvPr id="3" name="">
            <a:extLst xmlns:a="http://schemas.openxmlformats.org/drawingml/2006/main">
              <a:ext uri="{FF2B5EF4-FFF2-40B4-BE49-F238E27FC236}">
                <a16:creationId xmlns:a16="http://schemas.microsoft.com/office/drawing/2014/main" id="{92B2A92B-F2AB-4A2E-8D28-7CC6F915CF80}"/>
              </a:ext>
            </a:extLst>
          </p:cNvPr>
          <p:cNvSpPr>
            <a:spLocks xmlns:a="http://schemas.openxmlformats.org/drawingml/2006/main" noGrp="1"/>
          </p:cNvSpPr>
          <p:nvPr/>
        </p:nvSpPr>
        <p:spPr>
          <a:xfrm xmlns:a="http://schemas.openxmlformats.org/drawingml/2006/main">
            <a:off x="742950" y="2809875"/>
            <a:ext cx="10715625"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python3 lab/interleavings.py</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cc -std=c11 -O2 -Wall -Wextra -Werror -pthread \</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  lab/bounded_buffer.c -o /tmp/cse513-buffer</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/tmp/cse513-buffer</a:t>
            </a:r>
          </a:p>
          <a:p xmlns:a="http://schemas.openxmlformats.org/drawingml/2006/main">
            <a:pPr>
              <a:defRPr sz="2100" b="0">
                <a:solidFill>
                  <a:srgbClr val="122C42"/>
                </a:solidFill>
                <a:latin typeface="Helvetica Neue"/>
                <a:ea typeface="Helvetica Neue"/>
                <a:cs typeface="Helvetica Neue"/>
              </a:defRPr>
            </a:pPr>
            <a:r>
              <a:rPr sz="2100" b="0">
                <a:solidFill>
                  <a:srgbClr val="122C42"/>
                </a:solidFill>
                <a:latin typeface="Helvetica Neue"/>
                <a:ea typeface="Helvetica Neue"/>
                <a:cs typeface="Helvetica Neue"/>
              </a:rPr>
              <a:t># repeat build with -DCAPACITY=1</a:t>
            </a:r>
          </a:p>
        </p:txBody>
      </p:sp>
      <p:sp>
        <p:nvSpPr>
          <p:cNvPr id="4" name="">
            <a:extLst xmlns:a="http://schemas.openxmlformats.org/drawingml/2006/main">
              <a:ext uri="{FF2B5EF4-FFF2-40B4-BE49-F238E27FC236}">
                <a16:creationId xmlns:a16="http://schemas.microsoft.com/office/drawing/2014/main" id="{37F80346-E8C0-4DE4-B2EA-72F219C33758}"/>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5" name="">
            <a:extLst xmlns:a="http://schemas.openxmlformats.org/drawingml/2006/main">
              <a:ext uri="{FF2B5EF4-FFF2-40B4-BE49-F238E27FC236}">
                <a16:creationId xmlns:a16="http://schemas.microsoft.com/office/drawing/2014/main" id="{97D16F1C-A983-4D16-B796-AE6BEB7EE6D8}"/>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27 / 28</a:t>
            </a:r>
          </a:p>
        </p:txBody>
      </p:sp>
    </p:spTree>
    <p:extLst>
      <p:ext uri="{BB962C8B-B14F-4D97-AF65-F5344CB8AC3E}">
        <p14:creationId xmlns:p14="http://schemas.microsoft.com/office/powerpoint/2010/main" val="1683623265"/>
      </p:ext>
    </p:extLst>
  </p:cSld>
</p:sld>
</file>

<file path=ppt/slides/slide28.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4B5A6A2-FB9C-4852-8AA0-7CBA589B1864}"/>
              </a:ext>
            </a:extLst>
          </p:cNvPr>
          <p:cNvSpPr>
            <a:spLocks xmlns:a="http://schemas.openxmlformats.org/drawingml/2006/main" noGrp="1"/>
          </p:cNvSpPr>
          <p:nvPr/>
        </p:nvSpPr>
        <p:spPr>
          <a:xfrm xmlns:a="http://schemas.openxmlformats.org/drawingml/2006/main">
            <a:off x="609600" y="6000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2C42"/>
                </a:solidFill>
                <a:latin typeface="Helvetica Neue"/>
                <a:ea typeface="Helvetica Neue"/>
                <a:cs typeface="Helvetica Neue"/>
              </a:defRPr>
            </a:pPr>
            <a:r>
              <a:rPr sz="3300" b="1">
                <a:solidFill>
                  <a:srgbClr val="122C42"/>
                </a:solidFill>
                <a:latin typeface="Helvetica Neue"/>
                <a:ea typeface="Helvetica Neue"/>
                <a:cs typeface="Helvetica Neue"/>
              </a:rPr>
              <a:t>Çıkış bileti: güvenlik + ilerleme</a:t>
            </a:r>
          </a:p>
        </p:txBody>
      </p:sp>
      <p:sp>
        <p:nvSpPr>
          <p:cNvPr id="2" name="">
            <a:extLst xmlns:a="http://schemas.openxmlformats.org/drawingml/2006/main">
              <a:ext uri="{FF2B5EF4-FFF2-40B4-BE49-F238E27FC236}">
                <a16:creationId xmlns:a16="http://schemas.microsoft.com/office/drawing/2014/main" id="{B0D4E3F6-DF0E-4E1B-8CD3-2648D7CBDC3A}"/>
              </a:ext>
            </a:extLst>
          </p:cNvPr>
          <p:cNvSpPr>
            <a:spLocks xmlns:a="http://schemas.openxmlformats.org/drawingml/2006/main" noGrp="1"/>
          </p:cNvSpPr>
          <p:nvPr/>
        </p:nvSpPr>
        <p:spPr>
          <a:xfrm xmlns:a="http://schemas.openxmlformats.org/drawingml/2006/main">
            <a:off x="609600" y="1952625"/>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91171EBD-9B7D-4D65-ADEF-3D44B18C405B}"/>
              </a:ext>
            </a:extLst>
          </p:cNvPr>
          <p:cNvSpPr>
            <a:spLocks xmlns:a="http://schemas.openxmlformats.org/drawingml/2006/main" noGrp="1"/>
          </p:cNvSpPr>
          <p:nvPr/>
        </p:nvSpPr>
        <p:spPr>
          <a:xfrm xmlns:a="http://schemas.openxmlformats.org/drawingml/2006/main">
            <a:off x="1333500" y="1952625"/>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Atomic load + store tek increment mi?</a:t>
            </a:r>
          </a:p>
        </p:txBody>
      </p:sp>
      <p:sp>
        <p:nvSpPr>
          <p:cNvPr id="4" name="">
            <a:extLst xmlns:a="http://schemas.openxmlformats.org/drawingml/2006/main">
              <a:ext uri="{FF2B5EF4-FFF2-40B4-BE49-F238E27FC236}">
                <a16:creationId xmlns:a16="http://schemas.microsoft.com/office/drawing/2014/main" id="{592D001B-097B-48D2-9063-E5F4AE0A6362}"/>
              </a:ext>
            </a:extLst>
          </p:cNvPr>
          <p:cNvSpPr>
            <a:spLocks xmlns:a="http://schemas.openxmlformats.org/drawingml/2006/main" noGrp="1"/>
          </p:cNvSpPr>
          <p:nvPr/>
        </p:nvSpPr>
        <p:spPr>
          <a:xfrm xmlns:a="http://schemas.openxmlformats.org/drawingml/2006/main">
            <a:off x="609600" y="2584450"/>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76AB6D18-80ED-4F46-A44E-C3F7B93729D5}"/>
              </a:ext>
            </a:extLst>
          </p:cNvPr>
          <p:cNvSpPr>
            <a:spLocks xmlns:a="http://schemas.openxmlformats.org/drawingml/2006/main" noGrp="1"/>
          </p:cNvSpPr>
          <p:nvPr/>
        </p:nvSpPr>
        <p:spPr>
          <a:xfrm xmlns:a="http://schemas.openxmlformats.org/drawingml/2006/main">
            <a:off x="1333500" y="2584450"/>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Condition wait lock’u ne yapar?</a:t>
            </a:r>
          </a:p>
        </p:txBody>
      </p:sp>
      <p:sp>
        <p:nvSpPr>
          <p:cNvPr id="6" name="">
            <a:extLst xmlns:a="http://schemas.openxmlformats.org/drawingml/2006/main">
              <a:ext uri="{FF2B5EF4-FFF2-40B4-BE49-F238E27FC236}">
                <a16:creationId xmlns:a16="http://schemas.microsoft.com/office/drawing/2014/main" id="{56099CCB-93AE-4E67-B8AD-598B4BAC4E40}"/>
              </a:ext>
            </a:extLst>
          </p:cNvPr>
          <p:cNvSpPr>
            <a:spLocks xmlns:a="http://schemas.openxmlformats.org/drawingml/2006/main" noGrp="1"/>
          </p:cNvSpPr>
          <p:nvPr/>
        </p:nvSpPr>
        <p:spPr>
          <a:xfrm xmlns:a="http://schemas.openxmlformats.org/drawingml/2006/main">
            <a:off x="609600" y="3216275"/>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3E1EE338-6957-445D-A975-107F018E9073}"/>
              </a:ext>
            </a:extLst>
          </p:cNvPr>
          <p:cNvSpPr>
            <a:spLocks xmlns:a="http://schemas.openxmlformats.org/drawingml/2006/main" noGrp="1"/>
          </p:cNvSpPr>
          <p:nvPr/>
        </p:nvSpPr>
        <p:spPr>
          <a:xfrm xmlns:a="http://schemas.openxmlformats.org/drawingml/2006/main">
            <a:off x="1333500" y="3216275"/>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Signal bir ürün rezervasyonu mu?</a:t>
            </a:r>
          </a:p>
        </p:txBody>
      </p:sp>
      <p:sp>
        <p:nvSpPr>
          <p:cNvPr id="8" name="">
            <a:extLst xmlns:a="http://schemas.openxmlformats.org/drawingml/2006/main">
              <a:ext uri="{FF2B5EF4-FFF2-40B4-BE49-F238E27FC236}">
                <a16:creationId xmlns:a16="http://schemas.microsoft.com/office/drawing/2014/main" id="{784F4B11-5202-4694-8AD9-B80F6641355F}"/>
              </a:ext>
            </a:extLst>
          </p:cNvPr>
          <p:cNvSpPr>
            <a:spLocks xmlns:a="http://schemas.openxmlformats.org/drawingml/2006/main" noGrp="1"/>
          </p:cNvSpPr>
          <p:nvPr/>
        </p:nvSpPr>
        <p:spPr>
          <a:xfrm xmlns:a="http://schemas.openxmlformats.org/drawingml/2006/main">
            <a:off x="609600" y="3848100"/>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04</a:t>
            </a:r>
          </a:p>
        </p:txBody>
      </p:sp>
      <p:sp>
        <p:nvSpPr>
          <p:cNvPr id="9" name="">
            <a:extLst xmlns:a="http://schemas.openxmlformats.org/drawingml/2006/main">
              <a:ext uri="{FF2B5EF4-FFF2-40B4-BE49-F238E27FC236}">
                <a16:creationId xmlns:a16="http://schemas.microsoft.com/office/drawing/2014/main" id="{45F9FCD7-A9B1-4540-A168-F9C4FEAA6C6C}"/>
              </a:ext>
            </a:extLst>
          </p:cNvPr>
          <p:cNvSpPr>
            <a:spLocks xmlns:a="http://schemas.openxmlformats.org/drawingml/2006/main" noGrp="1"/>
          </p:cNvSpPr>
          <p:nvPr/>
        </p:nvSpPr>
        <p:spPr>
          <a:xfrm xmlns:a="http://schemas.openxmlformats.org/drawingml/2006/main">
            <a:off x="1333500" y="3848100"/>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Closed ve nonempty ise ne yapmalı?</a:t>
            </a:r>
          </a:p>
        </p:txBody>
      </p:sp>
      <p:sp>
        <p:nvSpPr>
          <p:cNvPr id="10" name="">
            <a:extLst xmlns:a="http://schemas.openxmlformats.org/drawingml/2006/main">
              <a:ext uri="{FF2B5EF4-FFF2-40B4-BE49-F238E27FC236}">
                <a16:creationId xmlns:a16="http://schemas.microsoft.com/office/drawing/2014/main" id="{A06164F0-507D-498E-A827-7315D1F03387}"/>
              </a:ext>
            </a:extLst>
          </p:cNvPr>
          <p:cNvSpPr>
            <a:spLocks xmlns:a="http://schemas.openxmlformats.org/drawingml/2006/main" noGrp="1"/>
          </p:cNvSpPr>
          <p:nvPr/>
        </p:nvSpPr>
        <p:spPr>
          <a:xfrm xmlns:a="http://schemas.openxmlformats.org/drawingml/2006/main">
            <a:off x="609600" y="4479925"/>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05</a:t>
            </a:r>
          </a:p>
        </p:txBody>
      </p:sp>
      <p:sp>
        <p:nvSpPr>
          <p:cNvPr id="11" name="">
            <a:extLst xmlns:a="http://schemas.openxmlformats.org/drawingml/2006/main">
              <a:ext uri="{FF2B5EF4-FFF2-40B4-BE49-F238E27FC236}">
                <a16:creationId xmlns:a16="http://schemas.microsoft.com/office/drawing/2014/main" id="{012DA0AB-AF5D-4B9E-867F-023855C06D4B}"/>
              </a:ext>
            </a:extLst>
          </p:cNvPr>
          <p:cNvSpPr>
            <a:spLocks xmlns:a="http://schemas.openxmlformats.org/drawingml/2006/main" noGrp="1"/>
          </p:cNvSpPr>
          <p:nvPr/>
        </p:nvSpPr>
        <p:spPr>
          <a:xfrm xmlns:a="http://schemas.openxmlformats.org/drawingml/2006/main">
            <a:off x="1333500" y="4479925"/>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Lock sırası starvation’ı da çözer mi?</a:t>
            </a:r>
          </a:p>
        </p:txBody>
      </p:sp>
      <p:sp>
        <p:nvSpPr>
          <p:cNvPr id="12" name="">
            <a:extLst xmlns:a="http://schemas.openxmlformats.org/drawingml/2006/main">
              <a:ext uri="{FF2B5EF4-FFF2-40B4-BE49-F238E27FC236}">
                <a16:creationId xmlns:a16="http://schemas.microsoft.com/office/drawing/2014/main" id="{C40EAEE4-AA5E-49F5-92FC-62574DF8F6C9}"/>
              </a:ext>
            </a:extLst>
          </p:cNvPr>
          <p:cNvSpPr>
            <a:spLocks xmlns:a="http://schemas.openxmlformats.org/drawingml/2006/main" noGrp="1"/>
          </p:cNvSpPr>
          <p:nvPr/>
        </p:nvSpPr>
        <p:spPr>
          <a:xfrm xmlns:a="http://schemas.openxmlformats.org/drawingml/2006/main">
            <a:off x="609600" y="5111750"/>
            <a:ext cx="43815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06</a:t>
            </a:r>
          </a:p>
        </p:txBody>
      </p:sp>
      <p:sp>
        <p:nvSpPr>
          <p:cNvPr id="13" name="">
            <a:extLst xmlns:a="http://schemas.openxmlformats.org/drawingml/2006/main">
              <a:ext uri="{FF2B5EF4-FFF2-40B4-BE49-F238E27FC236}">
                <a16:creationId xmlns:a16="http://schemas.microsoft.com/office/drawing/2014/main" id="{DA2B2CFF-CA53-4543-9207-9F53196DC0AE}"/>
              </a:ext>
            </a:extLst>
          </p:cNvPr>
          <p:cNvSpPr>
            <a:spLocks xmlns:a="http://schemas.openxmlformats.org/drawingml/2006/main" noGrp="1"/>
          </p:cNvSpPr>
          <p:nvPr/>
        </p:nvSpPr>
        <p:spPr>
          <a:xfrm xmlns:a="http://schemas.openxmlformats.org/drawingml/2006/main">
            <a:off x="1333500" y="5111750"/>
            <a:ext cx="10248900" cy="536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22C42"/>
                </a:solidFill>
                <a:latin typeface="Helvetica Neue"/>
                <a:ea typeface="Helvetica Neue"/>
                <a:cs typeface="Helvetica Neue"/>
              </a:defRPr>
            </a:pPr>
            <a:r>
              <a:rPr sz="2400" b="0">
                <a:solidFill>
                  <a:srgbClr val="122C42"/>
                </a:solidFill>
                <a:latin typeface="Helvetica Neue"/>
                <a:ea typeface="Helvetica Neue"/>
                <a:cs typeface="Helvetica Neue"/>
              </a:rPr>
              <a:t>Doğru çıktılı tek koşu kanıt mı?</a:t>
            </a:r>
          </a:p>
        </p:txBody>
      </p:sp>
      <p:sp>
        <p:nvSpPr>
          <p:cNvPr id="14" name="">
            <a:extLst xmlns:a="http://schemas.openxmlformats.org/drawingml/2006/main">
              <a:ext uri="{FF2B5EF4-FFF2-40B4-BE49-F238E27FC236}">
                <a16:creationId xmlns:a16="http://schemas.microsoft.com/office/drawing/2014/main" id="{7C8CAC0B-3131-4158-BD72-2583E21F108E}"/>
              </a:ext>
            </a:extLst>
          </p:cNvPr>
          <p:cNvSpPr>
            <a:spLocks xmlns:a="http://schemas.openxmlformats.org/drawingml/2006/main" noGrp="1"/>
          </p:cNvSpPr>
          <p:nvPr/>
        </p:nvSpPr>
        <p:spPr>
          <a:xfrm xmlns:a="http://schemas.openxmlformats.org/drawingml/2006/main">
            <a:off x="609600" y="64960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D606A"/>
                </a:solidFill>
                <a:latin typeface="Helvetica Neue"/>
                <a:ea typeface="Helvetica Neue"/>
                <a:cs typeface="Helvetica Neue"/>
              </a:defRPr>
            </a:pPr>
            <a:r>
              <a:rPr sz="1125" b="0">
                <a:solidFill>
                  <a:srgbClr val="4D606A"/>
                </a:solidFill>
                <a:latin typeface="Helvetica Neue"/>
                <a:ea typeface="Helvetica Neue"/>
                <a:cs typeface="Helvetica Neue"/>
              </a:rPr>
              <a:t>CSE513 · Hafta 3</a:t>
            </a:r>
          </a:p>
        </p:txBody>
      </p:sp>
      <p:sp>
        <p:nvSpPr>
          <p:cNvPr id="15" name="">
            <a:extLst xmlns:a="http://schemas.openxmlformats.org/drawingml/2006/main">
              <a:ext uri="{FF2B5EF4-FFF2-40B4-BE49-F238E27FC236}">
                <a16:creationId xmlns:a16="http://schemas.microsoft.com/office/drawing/2014/main" id="{F45BFDD3-E8E0-4F92-803A-CB62EC12E901}"/>
              </a:ext>
            </a:extLst>
          </p:cNvPr>
          <p:cNvSpPr>
            <a:spLocks xmlns:a="http://schemas.openxmlformats.org/drawingml/2006/main" noGrp="1"/>
          </p:cNvSpPr>
          <p:nvPr/>
        </p:nvSpPr>
        <p:spPr>
          <a:xfrm xmlns:a="http://schemas.openxmlformats.org/drawingml/2006/main">
            <a:off x="10477500" y="6457950"/>
            <a:ext cx="1095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087E83"/>
                </a:solidFill>
                <a:latin typeface="Helvetica Neue"/>
                <a:ea typeface="Helvetica Neue"/>
                <a:cs typeface="Helvetica Neue"/>
              </a:defRPr>
            </a:pPr>
            <a:r>
              <a:rPr sz="1350" b="1">
                <a:solidFill>
                  <a:srgbClr val="087E83"/>
                </a:solidFill>
                <a:latin typeface="Helvetica Neue"/>
                <a:ea typeface="Helvetica Neue"/>
                <a:cs typeface="Helvetica Neue"/>
              </a:rPr>
              <a:t>28 / 28</a:t>
            </a:r>
          </a:p>
        </p:txBody>
      </p:sp>
    </p:spTree>
    <p:extLst>
      <p:ext uri="{BB962C8B-B14F-4D97-AF65-F5344CB8AC3E}">
        <p14:creationId xmlns:p14="http://schemas.microsoft.com/office/powerpoint/2010/main" val="17257694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2026-10-07T19:49:12.3180000Z</dcterms:created>
  <dcterms:modified xsi:type="dcterms:W3CDTF">2026-10-07T19:49:12.3180000Z</dcterms:modified>
</coreProperties>
</file>