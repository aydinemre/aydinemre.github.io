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57ad6074c32482d" /><Relationship Type="http://schemas.openxmlformats.org/officeDocument/2006/relationships/extended-properties" Target="/docProps/app.xml" Id="Rcb57257362de4ea6" /><Relationship Type="http://schemas.openxmlformats.org/officeDocument/2006/relationships/officeDocument" Target="/ppt/presentation.xml" Id="R538e6ee9774a48a7" /></Relationships>
</file>

<file path=ppt/presentation.xml><?xml version="1.0" encoding="utf-8"?>
<p:presentation xmlns:p="http://schemas.openxmlformats.org/presentationml/2006/main">
  <p:sldMasterIdLst>
    <p:sldMasterId xmlns:r="http://schemas.openxmlformats.org/officeDocument/2006/relationships" id="2147483648" r:id="R5bf8d1a6179a4d16"/>
  </p:sldMasterIdLst>
  <p:notesMasterIdLst>
    <p:notesMasterId xmlns:r="http://schemas.openxmlformats.org/officeDocument/2006/relationships" r:id="R811d56fe16304fb8"/>
  </p:notesMasterIdLst>
  <p:sldIdLst>
    <p:sldId xmlns:r="http://schemas.openxmlformats.org/officeDocument/2006/relationships" id="256" r:id="Rd80e3193649b434e"/>
    <p:sldId xmlns:r="http://schemas.openxmlformats.org/officeDocument/2006/relationships" id="257" r:id="R2c2a4a6510114a7e"/>
    <p:sldId xmlns:r="http://schemas.openxmlformats.org/officeDocument/2006/relationships" id="258" r:id="R147f4e0aeaaa44b5"/>
    <p:sldId xmlns:r="http://schemas.openxmlformats.org/officeDocument/2006/relationships" id="259" r:id="R948878d6615a4570"/>
    <p:sldId xmlns:r="http://schemas.openxmlformats.org/officeDocument/2006/relationships" id="260" r:id="Rf567389d455b4953"/>
    <p:sldId xmlns:r="http://schemas.openxmlformats.org/officeDocument/2006/relationships" id="261" r:id="Rde378cee85424270"/>
    <p:sldId xmlns:r="http://schemas.openxmlformats.org/officeDocument/2006/relationships" id="262" r:id="R888b5810bd9249f9"/>
    <p:sldId xmlns:r="http://schemas.openxmlformats.org/officeDocument/2006/relationships" id="263" r:id="Rb1230b3264274d9e"/>
    <p:sldId xmlns:r="http://schemas.openxmlformats.org/officeDocument/2006/relationships" id="264" r:id="Rddded7cb0d764e30"/>
    <p:sldId xmlns:r="http://schemas.openxmlformats.org/officeDocument/2006/relationships" id="265" r:id="Rede40dc0cd2541fd"/>
    <p:sldId xmlns:r="http://schemas.openxmlformats.org/officeDocument/2006/relationships" id="266" r:id="Re533d99d3b76448b"/>
    <p:sldId xmlns:r="http://schemas.openxmlformats.org/officeDocument/2006/relationships" id="267" r:id="R32b119c687534188"/>
    <p:sldId xmlns:r="http://schemas.openxmlformats.org/officeDocument/2006/relationships" id="268" r:id="Raaf903dbb85c4581"/>
    <p:sldId xmlns:r="http://schemas.openxmlformats.org/officeDocument/2006/relationships" id="269" r:id="R36905c648533405c"/>
    <p:sldId xmlns:r="http://schemas.openxmlformats.org/officeDocument/2006/relationships" id="270" r:id="R6d78399d7bc84762"/>
    <p:sldId xmlns:r="http://schemas.openxmlformats.org/officeDocument/2006/relationships" id="271" r:id="Ra8dfdaaf214b4d2c"/>
    <p:sldId xmlns:r="http://schemas.openxmlformats.org/officeDocument/2006/relationships" id="272" r:id="R3badd49d71fd4afe"/>
    <p:sldId xmlns:r="http://schemas.openxmlformats.org/officeDocument/2006/relationships" id="273" r:id="R4cc663d44add4839"/>
    <p:sldId xmlns:r="http://schemas.openxmlformats.org/officeDocument/2006/relationships" id="274" r:id="Red441603cf7e4f1e"/>
    <p:sldId xmlns:r="http://schemas.openxmlformats.org/officeDocument/2006/relationships" id="275" r:id="R128795eecbbf4f94"/>
    <p:sldId xmlns:r="http://schemas.openxmlformats.org/officeDocument/2006/relationships" id="276" r:id="R55a218fd63dc4b37"/>
    <p:sldId xmlns:r="http://schemas.openxmlformats.org/officeDocument/2006/relationships" id="277" r:id="R528d4cc5fcdb427e"/>
    <p:sldId xmlns:r="http://schemas.openxmlformats.org/officeDocument/2006/relationships" id="278" r:id="Ree6b576f8cc6415a"/>
    <p:sldId xmlns:r="http://schemas.openxmlformats.org/officeDocument/2006/relationships" id="279" r:id="R31b155a644cb420c"/>
    <p:sldId xmlns:r="http://schemas.openxmlformats.org/officeDocument/2006/relationships" id="280" r:id="Ref8afb8e2b9c476b"/>
    <p:sldId xmlns:r="http://schemas.openxmlformats.org/officeDocument/2006/relationships" id="281" r:id="Rf11e6b3575db4ca1"/>
    <p:sldId xmlns:r="http://schemas.openxmlformats.org/officeDocument/2006/relationships" id="282" r:id="R92325525bcd9471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db10461a5b0496a" /><Relationship Type="http://schemas.openxmlformats.org/officeDocument/2006/relationships/slideMaster" Target="/ppt/slideMasters/slideMaster1.xml" Id="R5bf8d1a6179a4d16" /><Relationship Type="http://schemas.openxmlformats.org/officeDocument/2006/relationships/notesMaster" Target="/ppt/notesMasters/notesMaster1.xml" Id="R811d56fe16304fb8" /><Relationship Type="http://schemas.openxmlformats.org/officeDocument/2006/relationships/presProps" Target="/ppt/presProps.xml" Id="R78a7e07dbfef4255" /><Relationship Type="http://schemas.openxmlformats.org/officeDocument/2006/relationships/tableStyles" Target="/ppt/tableStyles.xml" Id="Rfe8923d8fd974f0a" /><Relationship Type="http://schemas.openxmlformats.org/officeDocument/2006/relationships/slide" Target="/ppt/slides/slide1.xml" Id="Rd80e3193649b434e" /><Relationship Type="http://schemas.openxmlformats.org/officeDocument/2006/relationships/slide" Target="/ppt/slides/slide2.xml" Id="R2c2a4a6510114a7e" /><Relationship Type="http://schemas.openxmlformats.org/officeDocument/2006/relationships/slide" Target="/ppt/slides/slide3.xml" Id="R147f4e0aeaaa44b5" /><Relationship Type="http://schemas.openxmlformats.org/officeDocument/2006/relationships/slide" Target="/ppt/slides/slide4.xml" Id="R948878d6615a4570" /><Relationship Type="http://schemas.openxmlformats.org/officeDocument/2006/relationships/slide" Target="/ppt/slides/slide5.xml" Id="Rf567389d455b4953" /><Relationship Type="http://schemas.openxmlformats.org/officeDocument/2006/relationships/slide" Target="/ppt/slides/slide6.xml" Id="Rde378cee85424270" /><Relationship Type="http://schemas.openxmlformats.org/officeDocument/2006/relationships/slide" Target="/ppt/slides/slide7.xml" Id="R888b5810bd9249f9" /><Relationship Type="http://schemas.openxmlformats.org/officeDocument/2006/relationships/slide" Target="/ppt/slides/slide8.xml" Id="Rb1230b3264274d9e" /><Relationship Type="http://schemas.openxmlformats.org/officeDocument/2006/relationships/slide" Target="/ppt/slides/slide9.xml" Id="Rddded7cb0d764e30" /><Relationship Type="http://schemas.openxmlformats.org/officeDocument/2006/relationships/slide" Target="/ppt/slides/slide10.xml" Id="Rede40dc0cd2541fd" /><Relationship Type="http://schemas.openxmlformats.org/officeDocument/2006/relationships/slide" Target="/ppt/slides/slide11.xml" Id="Re533d99d3b76448b" /><Relationship Type="http://schemas.openxmlformats.org/officeDocument/2006/relationships/slide" Target="/ppt/slides/slide12.xml" Id="R32b119c687534188" /><Relationship Type="http://schemas.openxmlformats.org/officeDocument/2006/relationships/slide" Target="/ppt/slides/slide13.xml" Id="Raaf903dbb85c4581" /><Relationship Type="http://schemas.openxmlformats.org/officeDocument/2006/relationships/slide" Target="/ppt/slides/slide14.xml" Id="R36905c648533405c" /><Relationship Type="http://schemas.openxmlformats.org/officeDocument/2006/relationships/slide" Target="/ppt/slides/slide15.xml" Id="R6d78399d7bc84762" /><Relationship Type="http://schemas.openxmlformats.org/officeDocument/2006/relationships/slide" Target="/ppt/slides/slide16.xml" Id="Ra8dfdaaf214b4d2c" /><Relationship Type="http://schemas.openxmlformats.org/officeDocument/2006/relationships/slide" Target="/ppt/slides/slide17.xml" Id="R3badd49d71fd4afe" /><Relationship Type="http://schemas.openxmlformats.org/officeDocument/2006/relationships/slide" Target="/ppt/slides/slide18.xml" Id="R4cc663d44add4839" /><Relationship Type="http://schemas.openxmlformats.org/officeDocument/2006/relationships/slide" Target="/ppt/slides/slide19.xml" Id="Red441603cf7e4f1e" /><Relationship Type="http://schemas.openxmlformats.org/officeDocument/2006/relationships/slide" Target="/ppt/slides/slide20.xml" Id="R128795eecbbf4f94" /><Relationship Type="http://schemas.openxmlformats.org/officeDocument/2006/relationships/slide" Target="/ppt/slides/slide21.xml" Id="R55a218fd63dc4b37" /><Relationship Type="http://schemas.openxmlformats.org/officeDocument/2006/relationships/slide" Target="/ppt/slides/slide22.xml" Id="R528d4cc5fcdb427e" /><Relationship Type="http://schemas.openxmlformats.org/officeDocument/2006/relationships/slide" Target="/ppt/slides/slide23.xml" Id="Ree6b576f8cc6415a" /><Relationship Type="http://schemas.openxmlformats.org/officeDocument/2006/relationships/slide" Target="/ppt/slides/slide24.xml" Id="R31b155a644cb420c" /><Relationship Type="http://schemas.openxmlformats.org/officeDocument/2006/relationships/slide" Target="/ppt/slides/slide25.xml" Id="Ref8afb8e2b9c476b" /><Relationship Type="http://schemas.openxmlformats.org/officeDocument/2006/relationships/slide" Target="/ppt/slides/slide26.xml" Id="Rf11e6b3575db4ca1" /><Relationship Type="http://schemas.openxmlformats.org/officeDocument/2006/relationships/slide" Target="/ppt/slides/slide27.xml" Id="R92325525bcd9471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0bd5da4fcc84f2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684a1ccb1fa42ac" /><Relationship Type="http://schemas.openxmlformats.org/officeDocument/2006/relationships/notesMaster" Target="/ppt/notesMasters/notesMaster1.xml" Id="R462f402443d540ed" /></Relationships>
</file>

<file path=ppt/notesSlides/_rels/notesSlide2.xml.rels>&#65279;<?xml version="1.0" encoding="utf-8"?><Relationships xmlns="http://schemas.openxmlformats.org/package/2006/relationships"><Relationship Type="http://schemas.openxmlformats.org/officeDocument/2006/relationships/slide" Target="/ppt/slides/slide2.xml" Id="R6dcf617971434e55" /><Relationship Type="http://schemas.openxmlformats.org/officeDocument/2006/relationships/notesMaster" Target="/ppt/notesMasters/notesMaster1.xml" Id="R2b8bcc2c40d345a3" /></Relationships>
</file>

<file path=ppt/notesSlides/_rels/notesSlide3.xml.rels>&#65279;<?xml version="1.0" encoding="utf-8"?><Relationships xmlns="http://schemas.openxmlformats.org/package/2006/relationships"><Relationship Type="http://schemas.openxmlformats.org/officeDocument/2006/relationships/slide" Target="/ppt/slides/slide3.xml" Id="Ra7560e65b8db4e43" /><Relationship Type="http://schemas.openxmlformats.org/officeDocument/2006/relationships/notesMaster" Target="/ppt/notesMasters/notesMaster1.xml" Id="R3f7addcc38c14f43" /></Relationships>
</file>

<file path=ppt/notesSlides/_rels/notesSlide4.xml.rels>&#65279;<?xml version="1.0" encoding="utf-8"?><Relationships xmlns="http://schemas.openxmlformats.org/package/2006/relationships"><Relationship Type="http://schemas.openxmlformats.org/officeDocument/2006/relationships/slide" Target="/ppt/slides/slide4.xml" Id="Re6cc47d223d748aa" /><Relationship Type="http://schemas.openxmlformats.org/officeDocument/2006/relationships/notesMaster" Target="/ppt/notesMasters/notesMaster1.xml" Id="R7fa9d08f69574e0f" /></Relationships>
</file>

<file path=ppt/notesSlides/_rels/notesSlide5.xml.rels>&#65279;<?xml version="1.0" encoding="utf-8"?><Relationships xmlns="http://schemas.openxmlformats.org/package/2006/relationships"><Relationship Type="http://schemas.openxmlformats.org/officeDocument/2006/relationships/slide" Target="/ppt/slides/slide5.xml" Id="R1ef0924794f84444" /><Relationship Type="http://schemas.openxmlformats.org/officeDocument/2006/relationships/notesMaster" Target="/ppt/notesMasters/notesMaster1.xml" Id="R844eccaa65ce4b33" /></Relationships>
</file>

<file path=ppt/notesSlides/_rels/notesSlide6.xml.rels>&#65279;<?xml version="1.0" encoding="utf-8"?><Relationships xmlns="http://schemas.openxmlformats.org/package/2006/relationships"><Relationship Type="http://schemas.openxmlformats.org/officeDocument/2006/relationships/slide" Target="/ppt/slides/slide6.xml" Id="Rd1e7b0c81ede46ae" /><Relationship Type="http://schemas.openxmlformats.org/officeDocument/2006/relationships/notesMaster" Target="/ppt/notesMasters/notesMaster1.xml" Id="Raacad73654724b9d" /></Relationships>
</file>

<file path=ppt/notesSlides/_rels/notesSlide7.xml.rels>&#65279;<?xml version="1.0" encoding="utf-8"?><Relationships xmlns="http://schemas.openxmlformats.org/package/2006/relationships"><Relationship Type="http://schemas.openxmlformats.org/officeDocument/2006/relationships/slide" Target="/ppt/slides/slide7.xml" Id="R46c299fa2b6641cd" /><Relationship Type="http://schemas.openxmlformats.org/officeDocument/2006/relationships/notesMaster" Target="/ppt/notesMasters/notesMaster1.xml" Id="R46e182a8afa64bf6" /></Relationships>
</file>

<file path=ppt/notesSlides/_rels/notesSlide8.xml.rels>&#65279;<?xml version="1.0" encoding="utf-8"?><Relationships xmlns="http://schemas.openxmlformats.org/package/2006/relationships"><Relationship Type="http://schemas.openxmlformats.org/officeDocument/2006/relationships/slide" Target="/ppt/slides/slide8.xml" Id="Rd523ab3ee25b46ad" /><Relationship Type="http://schemas.openxmlformats.org/officeDocument/2006/relationships/notesMaster" Target="/ppt/notesMasters/notesMaster1.xml" Id="Rc87b87f4ba004014" /></Relationships>
</file>

<file path=ppt/notesSlides/_rels/notesSlide9.xml.rels>&#65279;<?xml version="1.0" encoding="utf-8"?><Relationships xmlns="http://schemas.openxmlformats.org/package/2006/relationships"><Relationship Type="http://schemas.openxmlformats.org/officeDocument/2006/relationships/slide" Target="/ppt/slides/slide9.xml" Id="Rd4894de741554e59" /><Relationship Type="http://schemas.openxmlformats.org/officeDocument/2006/relationships/notesMaster" Target="/ppt/notesMasters/notesMaster1.xml" Id="Ra2142b310cc7463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f00fc946bdb481a" /><Relationship Type="http://schemas.openxmlformats.org/officeDocument/2006/relationships/notesMaster" Target="/ppt/notesMasters/notesMaster1.xml" Id="Ra5077351a001429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66a668ec826434b" /><Relationship Type="http://schemas.openxmlformats.org/officeDocument/2006/relationships/notesMaster" Target="/ppt/notesMasters/notesMaster1.xml" Id="Rc282a7a6b66b467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61f0fb4a01f4db2" /><Relationship Type="http://schemas.openxmlformats.org/officeDocument/2006/relationships/notesMaster" Target="/ppt/notesMasters/notesMaster1.xml" Id="R8e27631fb1664ac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84a2e0b173b4d5e" /><Relationship Type="http://schemas.openxmlformats.org/officeDocument/2006/relationships/notesMaster" Target="/ppt/notesMasters/notesMaster1.xml" Id="Rd5e31ae72a2147a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9bb514179634248" /><Relationship Type="http://schemas.openxmlformats.org/officeDocument/2006/relationships/notesMaster" Target="/ppt/notesMasters/notesMaster1.xml" Id="Rd37057bfc5c241a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32d42d48c774cb7" /><Relationship Type="http://schemas.openxmlformats.org/officeDocument/2006/relationships/notesMaster" Target="/ppt/notesMasters/notesMaster1.xml" Id="R7a7d8a34cec1402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276bf86051c43f4" /><Relationship Type="http://schemas.openxmlformats.org/officeDocument/2006/relationships/notesMaster" Target="/ppt/notesMasters/notesMaster1.xml" Id="Re3bde40f7d79472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73f5c726687451a" /><Relationship Type="http://schemas.openxmlformats.org/officeDocument/2006/relationships/notesMaster" Target="/ppt/notesMasters/notesMaster1.xml" Id="Rf41d9131835d44d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62006d4ff7f4c3c" /><Relationship Type="http://schemas.openxmlformats.org/officeDocument/2006/relationships/notesMaster" Target="/ppt/notesMasters/notesMaster1.xml" Id="Rec75071a0e984d7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a752ab197c143dd" /><Relationship Type="http://schemas.openxmlformats.org/officeDocument/2006/relationships/notesMaster" Target="/ppt/notesMasters/notesMaster1.xml" Id="Ra038fa09df4b43a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de83587ee444527" /><Relationship Type="http://schemas.openxmlformats.org/officeDocument/2006/relationships/notesMaster" Target="/ppt/notesMasters/notesMaster1.xml" Id="Rb355ae5378dd4a9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3436c2d04dd46f8" /><Relationship Type="http://schemas.openxmlformats.org/officeDocument/2006/relationships/notesMaster" Target="/ppt/notesMasters/notesMaster1.xml" Id="R85ee8954704749c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b2ac65a1ad64193" /><Relationship Type="http://schemas.openxmlformats.org/officeDocument/2006/relationships/notesMaster" Target="/ppt/notesMasters/notesMaster1.xml" Id="R88c3a1a4d88c4d2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6d5e0ae612147e0" /><Relationship Type="http://schemas.openxmlformats.org/officeDocument/2006/relationships/notesMaster" Target="/ppt/notesMasters/notesMaster1.xml" Id="R19425d12d1634e5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6797bd994644100" /><Relationship Type="http://schemas.openxmlformats.org/officeDocument/2006/relationships/notesMaster" Target="/ppt/notesMasters/notesMaster1.xml" Id="Ra37a7e0e450947d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443e5cc30db49b2" /><Relationship Type="http://schemas.openxmlformats.org/officeDocument/2006/relationships/notesMaster" Target="/ppt/notesMasters/notesMaster1.xml" Id="Re7899245d3824c5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ddbc9a359104077" /><Relationship Type="http://schemas.openxmlformats.org/officeDocument/2006/relationships/notesMaster" Target="/ppt/notesMasters/notesMaster1.xml" Id="R297e245871dd425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435dd0a5c694223" /><Relationship Type="http://schemas.openxmlformats.org/officeDocument/2006/relationships/notesMaster" Target="/ppt/notesMasters/notesMaster1.xml" Id="R506bbbbf25bb4a5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set 09 · Takvim haftası 10</a:t>
            </a:r>
          </a:p>
          <a:p xmlns:a="http://schemas.openxmlformats.org/drawingml/2006/main">
            <a:r>
              <a:t>Mesajlar, koordinasyon ve kopyalar</a:t>
            </a:r>
          </a:p>
          <a:p xmlns:a="http://schemas.openxmlformats.org/drawingml/2006/main">
            <a:r>
              <a:t/>
            </a:r>
          </a:p>
          <a:p xmlns:a="http://schemas.openxmlformats.org/drawingml/2006/main">
            <a:r>
              <a:t>Bu içerik resmî Lecture09/Hafta10 kapsamının özgün öğrenme uyarlamasıdır. Kaynak sayfa PDF ve illustrated reading’in hazırlandığını belirtiyor; yayımlanmış slayt PDF’sinin yeniden tasarımı değildir. Özgün slayt numarası vermiyoruz. İki makine, geciken cevap ve tekrar deneme ana örnektir. Raft okuması seçmeli bağlantıdır; dersin bütün konsensüs algoritmalarını kapsadığı iddiası yoktur.</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https://mehmetgokturk.com/cse513/lecture-09.html</a:t>
            </a:r>
          </a:p>
          <a:p xmlns:a="http://schemas.openxmlformats.org/drawingml/2006/main">
            <a:r>
              <a:t/>
            </a:r>
          </a:p>
          <a:p xmlns:a="http://schemas.openxmlformats.org/drawingml/2006/main">
            <a:r>
              <a:t>https://mehmetgokturk.com/cse513/lecture-09.html</a:t>
            </a:r>
          </a:p>
          <a:p xmlns:a="http://schemas.openxmlformats.org/drawingml/2006/main">
            <a:r>
              <a:t/>
            </a:r>
          </a:p>
          <a:p xmlns:a="http://schemas.openxmlformats.org/drawingml/2006/main">
            <a:r>
              <a:t>Kapak: AI üretimi kavramsal mutfak analojisi. Köken ve istem: assets/provenance.json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Cevap yokken hangi ihtimaller açık?</a:t>
            </a:r>
          </a:p>
          <a:p xmlns:a="http://schemas.openxmlformats.org/drawingml/2006/main">
            <a:r>
              <a:t>Tekrar deneme neyi iki kez yapabilir?</a:t>
            </a:r>
          </a:p>
          <a:p xmlns:a="http://schemas.openxmlformats.org/drawingml/2006/main">
            <a:r>
              <a:t>Olayları hangi sırayla biliyoruz?</a:t>
            </a:r>
          </a:p>
          <a:p xmlns:a="http://schemas.openxmlformats.org/drawingml/2006/main">
            <a:r>
              <a:t>Kopyalar hangi görünümü vaat ediyor?</a:t>
            </a:r>
          </a:p>
          <a:p xmlns:a="http://schemas.openxmlformats.org/drawingml/2006/main">
            <a:r>
              <a:t/>
            </a:r>
          </a:p>
          <a:p xmlns:a="http://schemas.openxmlformats.org/drawingml/2006/main">
            <a:r>
              <a:t>İlk yarı iletişim, latency, timeout ve partial failure üzerine. İkinci yarı ordering, replication ve consistency girişidir. Her gözlemde bilgi ile varsayımı ayır: client’in cevabı almaması server’ın işlemi yapmadığını kanıtlamaz. Bütün sayılar öğretim modeli; ölçülen network sonucu değildir.</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https://mehmetgokturk.com/cse513/lecture-09.html</a:t>
            </a:r>
          </a:p>
          <a:p xmlns:a="http://schemas.openxmlformats.org/drawingml/2006/main">
            <a:r>
              <a:t/>
            </a:r>
          </a:p>
          <a:p xmlns:a="http://schemas.openxmlformats.org/drawingml/2006/main">
            <a:r>
              <a:t>https://mehmetgokturk.com/cse513/lecture-09.html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ve B farklı makinelerde kendi process adres alanlarına sahiptir. Bir pointer’ı ağdan göndermek ortak bellek veya remote izin oluşturmaz. Serialization veriyi açık biçimde temsil eder; protocol format, ownership ve hataları tanımlar. Aynı makine thread’lerinin paylaşım modeli burada doğrudan taşınamaz.</a:t>
            </a:r>
          </a:p>
          <a:p xmlns:a="http://schemas.openxmlformats.org/drawingml/2006/main">
            <a:r>
              <a:t/>
            </a:r>
          </a:p>
          <a:p xmlns:a="http://schemas.openxmlformats.org/drawingml/2006/main">
            <a:r>
              <a:t>GERÇEK HAYAT: Gerçek hayat: Mobil uygulama ve servis</a:t>
            </a:r>
          </a:p>
          <a:p xmlns:a="http://schemas.openxmlformats.org/drawingml/2006/main">
            <a:r>
              <a:t>Telefon sipariş gönderir.</a:t>
            </a:r>
          </a:p>
          <a:p xmlns:a="http://schemas.openxmlformats.org/drawingml/2006/main">
            <a:r>
              <a:t>Mekanizma: Veri protocol mesajı olarak taşınır, pointer olarak değil.</a:t>
            </a:r>
          </a:p>
          <a:p xmlns:a="http://schemas.openxmlformats.org/drawingml/2006/main">
            <a:r>
              <a:t>Ne zaman işe yarar: Yerel state ile uzak state’i ayır.</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https://mehmetgokturk.com/cse513/lecture-09.html</a:t>
            </a:r>
          </a:p>
          <a:p xmlns:a="http://schemas.openxmlformats.org/drawingml/2006/main">
            <a:r>
              <a:t/>
            </a:r>
          </a:p>
          <a:p xmlns:a="http://schemas.openxmlformats.org/drawingml/2006/main">
            <a:r>
              <a:t>https://mehmetgokturk.com/cse513/lecture-09.html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Uçtan uca gecikme queue, işlem, serialization ve network yolunu içerir. Bir gidiş-dönüş tek yön gecikmenin ölçülmüş iki katı olmak zorunda değildir. Kuyruk ve route asimetrisi olabilir. Ortalama kısa diye tail latency önemsiz olmaz; kullanıcı veya deadline tek bir yavaş istekten etkilenebilir.</a:t>
            </a:r>
          </a:p>
          <a:p xmlns:a="http://schemas.openxmlformats.org/drawingml/2006/main">
            <a:r>
              <a:t/>
            </a:r>
          </a:p>
          <a:p xmlns:a="http://schemas.openxmlformats.org/drawingml/2006/main">
            <a:r>
              <a:t>GERÇEK HAYAT: Gerçek hayat: Yavaş arama</a:t>
            </a:r>
          </a:p>
          <a:p xmlns:a="http://schemas.openxmlformats.org/drawingml/2006/main">
            <a:r>
              <a:t>Bazı aramalar nadiren çok uzun sürer.</a:t>
            </a:r>
          </a:p>
          <a:p xmlns:a="http://schemas.openxmlformats.org/drawingml/2006/main">
            <a:r>
              <a:t>Mekanizma: Ortalama tail davranışını gizleyebilir.</a:t>
            </a:r>
          </a:p>
          <a:p xmlns:a="http://schemas.openxmlformats.org/drawingml/2006/main">
            <a:r>
              <a:t>Ne zaman işe yarar: Latency dağılımını işin deadline’ıyla yorumla.</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https://mehmetgokturk.com/cse513/lecture-09.html</a:t>
            </a:r>
          </a:p>
          <a:p xmlns:a="http://schemas.openxmlformats.org/drawingml/2006/main">
            <a:r>
              <a:t/>
            </a:r>
          </a:p>
          <a:p xmlns:a="http://schemas.openxmlformats.org/drawingml/2006/main">
            <a:r>
              <a:t>https://mehmetgokturk.com/cse513/lecture-09.html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İstek parametreleri encode edilir</a:t>
            </a:r>
          </a:p>
          <a:p xmlns:a="http://schemas.openxmlformats.org/drawingml/2006/main">
            <a:r>
              <a:t>Server işlemi yürütür</a:t>
            </a:r>
          </a:p>
          <a:p xmlns:a="http://schemas.openxmlformats.org/drawingml/2006/main">
            <a:r>
              <a:t>Cevap geri taşınır</a:t>
            </a:r>
          </a:p>
          <a:p xmlns:a="http://schemas.openxmlformats.org/drawingml/2006/main">
            <a:r>
              <a:t>Her sınır ayrı hata noktasıdır</a:t>
            </a:r>
          </a:p>
          <a:p xmlns:a="http://schemas.openxmlformats.org/drawingml/2006/main">
            <a:r>
              <a:t/>
            </a:r>
          </a:p>
          <a:p xmlns:a="http://schemas.openxmlformats.org/drawingml/2006/main">
            <a:r>
              <a:t>Remote procedure call çağrı/cevap arayüzü sunar. Yerel function call’dan farklı olarak mesaj gecikebilir, peer kopabilir ve cevabın kaybolması sonucu belirsiz bırakabilir. Framework ayrıntıları saklasa da uygulama retry ve idempotency kararını tanımlamalıdır. Exception görmek uzaktaki side effect’in geri alındığı anlamına gelmez.</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https://mehmetgokturk.com/cse513/lecture-09.html</a:t>
            </a:r>
          </a:p>
          <a:p xmlns:a="http://schemas.openxmlformats.org/drawingml/2006/main">
            <a:r>
              <a:t/>
            </a:r>
          </a:p>
          <a:p xmlns:a="http://schemas.openxmlformats.org/drawingml/2006/main">
            <a:r>
              <a:t>https://pages.cs.wisc.edu/~remzi/OSTEP/dist-intro.pdf</a:t>
            </a:r>
          </a:p>
          <a:p xmlns:a="http://schemas.openxmlformats.org/drawingml/2006/main">
            <a:r>
              <a:t/>
            </a:r>
          </a:p>
          <a:p xmlns:a="http://schemas.openxmlformats.org/drawingml/2006/main">
            <a:r>
              <a:t>https://mehmetgokturk.com/cse513/lecture-09.html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Client, server, network ve storage ayrı ayrı çalışıyor veya arızalanıyor olabilir. Client bütün bileşenlerin durumunu bir anda gözleyemez. Bir server’ın çalışması belirli isteği aldığını göstermez; storage’a yazması client’in sonucu bildiğini göstermez. Teşhis için request kimliği ve her bileşenin gözlemini ayrı kaydet.</a:t>
            </a:r>
          </a:p>
          <a:p xmlns:a="http://schemas.openxmlformats.org/drawingml/2006/main">
            <a:r>
              <a:t/>
            </a:r>
          </a:p>
          <a:p xmlns:a="http://schemas.openxmlformats.org/drawingml/2006/main">
            <a:r>
              <a:t>GERÇEK HAYAT: Gerçek hayat: Bölgesel kesinti</a:t>
            </a:r>
          </a:p>
          <a:p xmlns:a="http://schemas.openxmlformats.org/drawingml/2006/main">
            <a:r>
              <a:t>Bir bölge erişilemez, diğeri çalışıyor.</a:t>
            </a:r>
          </a:p>
          <a:p xmlns:a="http://schemas.openxmlformats.org/drawingml/2006/main">
            <a:r>
              <a:t>Mekanizma: Bileşen arızası bütün sistemin aynı anda durması değildir.</a:t>
            </a:r>
          </a:p>
          <a:p xmlns:a="http://schemas.openxmlformats.org/drawingml/2006/main">
            <a:r>
              <a:t>Ne zaman işe yarar: Hangi istemcinin neye erişebildiğini belirt.</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https://mehmetgokturk.com/cse513/lecture-09.html</a:t>
            </a:r>
          </a:p>
          <a:p xmlns:a="http://schemas.openxmlformats.org/drawingml/2006/main">
            <a:r>
              <a:t/>
            </a:r>
          </a:p>
          <a:p xmlns:a="http://schemas.openxmlformats.org/drawingml/2006/main">
            <a:r>
              <a:t>https://mehmetgokturk.com/cse513/lecture-09.html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Timeout client’in belirlediği sürede beklenen cevabı göremediği anlamına gelir. İstek hiç ulaşmamış, server sırada bekliyor, işlem tamamlanmış ama cevap kayıp olabilir. Gerçek sonucu sorgulamak için protocol operation ID gibi bir yol sunabilir. Bu yol da geçici olarak ulaşılamaz olabilir. Bilinmeyeni başarısız diye sessizce dönüştürme.</a:t>
            </a:r>
          </a:p>
          <a:p xmlns:a="http://schemas.openxmlformats.org/drawingml/2006/main">
            <a:r>
              <a:t/>
            </a:r>
          </a:p>
          <a:p xmlns:a="http://schemas.openxmlformats.org/drawingml/2006/main">
            <a:r>
              <a:t>GERÇEK HAYAT: Gerçek hayat: Sipariş onay ekranı</a:t>
            </a:r>
          </a:p>
          <a:p xmlns:a="http://schemas.openxmlformats.org/drawingml/2006/main">
            <a:r>
              <a:t>Ekran timeout gösterir.</a:t>
            </a:r>
          </a:p>
          <a:p xmlns:a="http://schemas.openxmlformats.org/drawingml/2006/main">
            <a:r>
              <a:t>Mekanizma: Sipariş server’da kaydolmuş olabilir.</a:t>
            </a:r>
          </a:p>
          <a:p xmlns:a="http://schemas.openxmlformats.org/drawingml/2006/main">
            <a:r>
              <a:t>Ne zaman işe yarar: Yeni sipariş yerine aynı operation ID ile sonucu sorgula.</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https://mehmetgokturk.com/cse513/lecture-09.html</a:t>
            </a:r>
          </a:p>
          <a:p xmlns:a="http://schemas.openxmlformats.org/drawingml/2006/main">
            <a:r>
              <a:t/>
            </a:r>
          </a:p>
          <a:p xmlns:a="http://schemas.openxmlformats.org/drawingml/2006/main">
            <a:r>
              <a:t>https://mehmetgokturk.com/cse513/lecture-09.html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 örnek aynı client gözleminin farklı gerçek geçmişlerle uyumlu olduğunu gösterir. Bir response timeout’u üç olasılıktan birini seçmez. Retry tasarımını yalnız happy path’e göre kurarsan son satırda işi iki kez yapabilirsin. Önce server side effect’ini ve client’in bilgisi arasındaki ayrımı çiz.</a:t>
            </a:r>
          </a:p>
          <a:p xmlns:a="http://schemas.openxmlformats.org/drawingml/2006/main">
            <a:r>
              <a:t/>
            </a:r>
          </a:p>
          <a:p xmlns:a="http://schemas.openxmlformats.org/drawingml/2006/main">
            <a:r>
              <a:t>SORUNUN YANITI: İşlem uygulandıysa retry ikinci uygulamaya yol açabilir; gecikmiş ilk istek de sonradan retry ile yarışabilir.</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https://mehmetgokturk.com/cse513/lecture-09.html</a:t>
            </a:r>
          </a:p>
          <a:p xmlns:a="http://schemas.openxmlformats.org/drawingml/2006/main">
            <a:r>
              <a:t/>
            </a:r>
          </a:p>
          <a:p xmlns:a="http://schemas.openxmlformats.org/drawingml/2006/main">
            <a:r>
              <a:t>https://mehmetgokturk.com/cse513/lecture-09.html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Zamanlar model birimidir, gerçek ölçüm değil</a:t>
            </a:r>
          </a:p>
          <a:p xmlns:a="http://schemas.openxmlformats.org/drawingml/2006/main">
            <a:r>
              <a:t/>
            </a:r>
          </a:p>
          <a:p xmlns:a="http://schemas.openxmlformats.org/drawingml/2006/main">
            <a:r>
              <a:t>İlk reply düşürülür. Client t8’de cevap beklemekten vazgeçer ve t10’da aynı mantıksal operation’ı tekrar gönderir. t11’de server ne yapacağını protocol belirler. Dedupe olmadan ikinci increment oluşur; kayıt korunuyorsa aynı operation ID için mevcut sonuç döner. t16’da client cevabı görür. Bu iz network delivery garantisi değil, iki tasarımı karşılaştıran bounded modeldir.</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https://mehmetgokturk.com/cse513/lecture-09.html</a:t>
            </a:r>
          </a:p>
          <a:p xmlns:a="http://schemas.openxmlformats.org/drawingml/2006/main">
            <a:r>
              <a:t/>
            </a:r>
          </a:p>
          <a:p xmlns:a="http://schemas.openxmlformats.org/drawingml/2006/main">
            <a:r>
              <a:t>https://mehmetgokturk.com/cse513/lecture-09.html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Başlangıç counter=0. Naive server t4 ve t11’de artırır, final=2. Dedupe server op-7’yi tanır, final=1. Dedupe client isteğini silmez; aynı kimlikteki işi yeniden uygulamamak için sonuç kaydı kullanır. Sonuç cache’i ile state değişikliği gerçek sistemde atomik ilişki istemelidir. Lab bunu tek bir sequential transition olarak modeller.</a:t>
            </a:r>
          </a:p>
          <a:p xmlns:a="http://schemas.openxmlformats.org/drawingml/2006/main">
            <a:r>
              <a:t/>
            </a:r>
          </a:p>
          <a:p xmlns:a="http://schemas.openxmlformats.org/drawingml/2006/main">
            <a:r>
              <a:t>GERÇEK HAYAT: Gerçek hayat: Tekrar gönderilen iş</a:t>
            </a:r>
          </a:p>
          <a:p xmlns:a="http://schemas.openxmlformats.org/drawingml/2006/main">
            <a:r>
              <a:t>Yanıt gelmediği için iş tekrar sunulur.</a:t>
            </a:r>
          </a:p>
          <a:p xmlns:a="http://schemas.openxmlformats.org/drawingml/2006/main">
            <a:r>
              <a:t>Mekanizma: İki delivery bir logical operation’a ait olabilir.</a:t>
            </a:r>
          </a:p>
          <a:p xmlns:a="http://schemas.openxmlformats.org/drawingml/2006/main">
            <a:r>
              <a:t>Ne zaman işe yarar: Delivery sayısı ile iş etkisi sayısını ayır.</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https://mehmetgokturk.com/cse513/lecture-09.html</a:t>
            </a:r>
          </a:p>
          <a:p xmlns:a="http://schemas.openxmlformats.org/drawingml/2006/main">
            <a:r>
              <a:t/>
            </a:r>
          </a:p>
          <a:p xmlns:a="http://schemas.openxmlformats.org/drawingml/2006/main">
            <a:r>
              <a:t>https://mehmetgokturk.com/cse513/lecture-09.html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Aynı logical operation aynı ID kullansın</a:t>
            </a:r>
          </a:p>
          <a:p xmlns:a="http://schemas.openxmlformats.org/drawingml/2006/main">
            <a:r>
              <a:t>Aynı ID farklı payload ise reddet</a:t>
            </a:r>
          </a:p>
          <a:p xmlns:a="http://schemas.openxmlformats.org/drawingml/2006/main">
            <a:r>
              <a:t>Sonucu hangi süre/kalıcılıkla sakladığını belirt</a:t>
            </a:r>
          </a:p>
          <a:p xmlns:a="http://schemas.openxmlformats.org/drawingml/2006/main">
            <a:r>
              <a:t>State ve sonuç kaydı birlikte korunmalı</a:t>
            </a:r>
          </a:p>
          <a:p xmlns:a="http://schemas.openxmlformats.org/drawingml/2006/main">
            <a:r>
              <a:t/>
            </a:r>
          </a:p>
          <a:p xmlns:a="http://schemas.openxmlformats.org/drawingml/2006/main">
            <a:r>
              <a:t>Idempotent operation tekrar uygulandığında aynı hedef state’i korur; her operation doğal olarak böyle değildir. Increment idempotent değildir. Request dedupe onu belirli kimlik ve kayıt koşulları altında tek etkili yapabilir. Aynı anahtar için farklı payload kabul etmek başka işi eski sonuçla eşleştirir. Auth scope, key uniqueness, concurrent duplicates ve kayıt ömrü gerçek tasarımın parçasıdır.</a:t>
            </a:r>
          </a:p>
          <a:p xmlns:a="http://schemas.openxmlformats.org/drawingml/2006/main">
            <a:r>
              <a:t/>
            </a:r>
          </a:p>
          <a:p xmlns:a="http://schemas.openxmlformats.org/drawingml/2006/main">
            <a:r>
              <a:t>GERÇEK HAYAT: Gerçek hayat: Sepet güncellemesi</a:t>
            </a:r>
          </a:p>
          <a:p xmlns:a="http://schemas.openxmlformats.org/drawingml/2006/main">
            <a:r>
              <a:t>set quantity=3 ile increment quantity farklıdır.</a:t>
            </a:r>
          </a:p>
          <a:p xmlns:a="http://schemas.openxmlformats.org/drawingml/2006/main">
            <a:r>
              <a:t>Mekanizma: Birincisi aynı hedef değer, ikincisi yeni etki oluşturabilir.</a:t>
            </a:r>
          </a:p>
          <a:p xmlns:a="http://schemas.openxmlformats.org/drawingml/2006/main">
            <a:r>
              <a:t>Ne zaman işe yarar: Retry semantiğini operation bazında tanımla.</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https://mehmetgokturk.com/cse513/lecture-09.html</a:t>
            </a:r>
          </a:p>
          <a:p xmlns:a="http://schemas.openxmlformats.org/drawingml/2006/main">
            <a:r>
              <a:t/>
            </a:r>
          </a:p>
          <a:p xmlns:a="http://schemas.openxmlformats.org/drawingml/2006/main">
            <a:r>
              <a:t>https://mehmetgokturk.com/cse513/lecture-09.html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Dedupe kaydı crash sonrası kaybolursa?</a:t>
            </a:r>
          </a:p>
          <a:p xmlns:a="http://schemas.openxmlformats.org/drawingml/2006/main">
            <a:r>
              <a:t>Eski ID yeniden gelirse?</a:t>
            </a:r>
          </a:p>
          <a:p xmlns:a="http://schemas.openxmlformats.org/drawingml/2006/main">
            <a:r>
              <a:t>Dış yan etki ve kayıt ayrıysa?</a:t>
            </a:r>
          </a:p>
          <a:p xmlns:a="http://schemas.openxmlformats.org/drawingml/2006/main">
            <a:r>
              <a:t/>
            </a:r>
          </a:p>
          <a:p xmlns:a="http://schemas.openxmlformats.org/drawingml/2006/main">
            <a:r>
              <a:t>Network’in mesajı exactly once taşıdığını vaat etmiyoruz. Lab dedupe kaydı reset edilip state korunursa aynı retry yeniden artırır ve final2 olur. Kalıcı record olsa bile update ile atomik değilse crash penceresi kalabilir. Dış bir servise gönderilmiş mesajı yerel transaction geri alamaz. Garanti ancak sınırları ve failure model’iyle anlamlıdır.</a:t>
            </a:r>
          </a:p>
          <a:p xmlns:a="http://schemas.openxmlformats.org/drawingml/2006/main">
            <a:r>
              <a:t/>
            </a:r>
          </a:p>
          <a:p xmlns:a="http://schemas.openxmlformats.org/drawingml/2006/main">
            <a:r>
              <a:t>SORUNUN YANITI: Kaydın kapsamı, kalıcılığı, yaşam süresi ve etkiyle atomik ilişkisi belirtilmeli. Lab yalnız retained-record, bounded trace koşulunda tek etki gösterir.</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https://mehmetgokturk.com/cse513/lecture-09.html</a:t>
            </a:r>
          </a:p>
          <a:p xmlns:a="http://schemas.openxmlformats.org/drawingml/2006/main">
            <a:r>
              <a:t/>
            </a:r>
          </a:p>
          <a:p xmlns:a="http://schemas.openxmlformats.org/drawingml/2006/main">
            <a:r>
              <a:t>https://mehmetgokturk.com/cse513/lecture-09.html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Timeout seçimi workload’a bağlıdır</a:t>
            </a:r>
          </a:p>
          <a:p xmlns:a="http://schemas.openxmlformats.org/drawingml/2006/main">
            <a:r>
              <a:t>Backoff/jitter senkron retry’ı azaltabilir</a:t>
            </a:r>
          </a:p>
          <a:p xmlns:a="http://schemas.openxmlformats.org/drawingml/2006/main">
            <a:r>
              <a:t>Bounded attempt ve deadline tanımla</a:t>
            </a:r>
          </a:p>
          <a:p xmlns:a="http://schemas.openxmlformats.org/drawingml/2006/main">
            <a:r>
              <a:t>Sonucu belirsiz işi ayrıca takip et</a:t>
            </a:r>
          </a:p>
          <a:p xmlns:a="http://schemas.openxmlformats.org/drawingml/2006/main">
            <a:r>
              <a:t/>
            </a:r>
          </a:p>
          <a:p xmlns:a="http://schemas.openxmlformats.org/drawingml/2006/main">
            <a:r>
              <a:t>Server yavaşladığında bütün client’lar hemen tekrar gönderirse load artar. Daha fazla retry sistemin toparlanmasını zorlaştırabilir. Backoff yardımcı bir load politikasıdır, işlemin yapılmadığını kanıtlamaz. Deadline bittiğinde uygulama belirsiz sonucu reconciliation ile ele alabilir. Lab finite iki delivery kullanır; üretim retry politikası veya performans ölçümü değildir.</a:t>
            </a:r>
          </a:p>
          <a:p xmlns:a="http://schemas.openxmlformats.org/drawingml/2006/main">
            <a:r>
              <a:t/>
            </a:r>
          </a:p>
          <a:p xmlns:a="http://schemas.openxmlformats.org/drawingml/2006/main">
            <a:r>
              <a:t>GERÇEK HAYAT: Gerçek hayat: Kampanya yükü</a:t>
            </a:r>
          </a:p>
          <a:p xmlns:a="http://schemas.openxmlformats.org/drawingml/2006/main">
            <a:r>
              <a:t>Yavaşlayan servis tekrar istekleri de alır.</a:t>
            </a:r>
          </a:p>
          <a:p xmlns:a="http://schemas.openxmlformats.org/drawingml/2006/main">
            <a:r>
              <a:t>Mekanizma: Retry traffic asli load’u büyütebilir.</a:t>
            </a:r>
          </a:p>
          <a:p xmlns:a="http://schemas.openxmlformats.org/drawingml/2006/main">
            <a:r>
              <a:t>Ne zaman işe yarar: İstek bütçesi ve operasyon kimliğini birlikte tasarla.</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https://mehmetgokturk.com/cse513/lecture-09.html</a:t>
            </a:r>
          </a:p>
          <a:p xmlns:a="http://schemas.openxmlformats.org/drawingml/2006/main">
            <a:r>
              <a:t/>
            </a:r>
          </a:p>
          <a:p xmlns:a="http://schemas.openxmlformats.org/drawingml/2006/main">
            <a:r>
              <a:t>https://mehmetgokturk.com/cse513/lecture-09.html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Timeout hangi bilgiyi sağlar?</a:t>
            </a:r>
          </a:p>
          <a:p xmlns:a="http://schemas.openxmlformats.org/drawingml/2006/main">
            <a:r>
              <a:t>Aynı ID iki teslimde counter kaç olur?</a:t>
            </a:r>
          </a:p>
          <a:p xmlns:a="http://schemas.openxmlformats.org/drawingml/2006/main">
            <a:r>
              <a:t>Cache reset’i garantiyi değiştirir mi?</a:t>
            </a:r>
          </a:p>
          <a:p xmlns:a="http://schemas.openxmlformats.org/drawingml/2006/main">
            <a:r>
              <a:t/>
            </a:r>
          </a:p>
          <a:p xmlns:a="http://schemas.openxmlformats.org/drawingml/2006/main">
            <a:r>
              <a:t>Cevapları model varsayımlarıyla söyle. Naive, retained dedupe ve reset dedupe izlerini ayrı düşün. Timeout yalnız observed reply eksikliğidir. Burada iletişimden ordering konusuna geçmeden ara ver. Aynı makinede thread’leri izlemekten farklı olarak uzak olayları tek bir global saatle gözleyemeyeceğiz.</a:t>
            </a:r>
          </a:p>
          <a:p xmlns:a="http://schemas.openxmlformats.org/drawingml/2006/main">
            <a:r>
              <a:t/>
            </a:r>
          </a:p>
          <a:p xmlns:a="http://schemas.openxmlformats.org/drawingml/2006/main">
            <a:r>
              <a:t>SORUNUN YANITI: Süre içinde cevap görülmedi. Naive2, retained dedupe1; kayıt reset ve state korunursa2. Bu sayılar verilen bounded iz içindir.</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https://mehmetgokturk.com/cse513/lecture-09.html</a:t>
            </a:r>
          </a:p>
          <a:p xmlns:a="http://schemas.openxmlformats.org/drawingml/2006/main">
            <a:r>
              <a:t/>
            </a:r>
          </a:p>
          <a:p xmlns:a="http://schemas.openxmlformats.org/drawingml/2006/main">
            <a:r>
              <a:t>https://mehmetgokturk.com/cse513/lecture-09.html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İki makinenin saatleri offset ve drift taşıyabilir. Timestamp daha küçük diye bir olayın diğerine neden olduğunu söyleme. Belli sistemler fiziksel clock uncertainty’yi açıkça yönetir; bu giriş dersinde clock sync algoritması öğretmiyoruz. Olay ordering’i için local order ve message ilişkisiyle başlayacağız.</a:t>
            </a:r>
          </a:p>
          <a:p xmlns:a="http://schemas.openxmlformats.org/drawingml/2006/main">
            <a:r>
              <a:t/>
            </a:r>
          </a:p>
          <a:p xmlns:a="http://schemas.openxmlformats.org/drawingml/2006/main">
            <a:r>
              <a:t>GERÇEK HAYAT: Gerçek hayat: Birleştirilmiş loglar</a:t>
            </a:r>
          </a:p>
          <a:p xmlns:a="http://schemas.openxmlformats.org/drawingml/2006/main">
            <a:r>
              <a:t>İki server logu timestamp ile sıralanır.</a:t>
            </a:r>
          </a:p>
          <a:p xmlns:a="http://schemas.openxmlformats.org/drawingml/2006/main">
            <a:r>
              <a:t>Mekanizma: Saat farkı nedensel sırayı bozabilir.</a:t>
            </a:r>
          </a:p>
          <a:p xmlns:a="http://schemas.openxmlformats.org/drawingml/2006/main">
            <a:r>
              <a:t>Ne zaman işe yarar: Correlation ID ve mesaj bağımlılıklarını koru.</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https://mehmetgokturk.com/cse513/lecture-09.html</a:t>
            </a:r>
          </a:p>
          <a:p xmlns:a="http://schemas.openxmlformats.org/drawingml/2006/main">
            <a:r>
              <a:t/>
            </a:r>
          </a:p>
          <a:p xmlns:a="http://schemas.openxmlformats.org/drawingml/2006/main">
            <a:r>
              <a:t>https://mehmetgokturk.com/cse513/lecture-09.html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Aynı process’te önceki event → sonraki</a:t>
            </a:r>
          </a:p>
          <a:p xmlns:a="http://schemas.openxmlformats.org/drawingml/2006/main">
            <a:r>
              <a:t>Message send → receive</a:t>
            </a:r>
          </a:p>
          <a:p xmlns:a="http://schemas.openxmlformats.org/drawingml/2006/main">
            <a:r>
              <a:t>İlişki geçişlidir</a:t>
            </a:r>
          </a:p>
          <a:p xmlns:a="http://schemas.openxmlformats.org/drawingml/2006/main">
            <a:r>
              <a:t>İlişkisiz event’ler concurrent olabilir</a:t>
            </a:r>
          </a:p>
          <a:p xmlns:a="http://schemas.openxmlformats.org/drawingml/2006/main">
            <a:r>
              <a:t/>
            </a:r>
          </a:p>
          <a:p xmlns:a="http://schemas.openxmlformats.org/drawingml/2006/main">
            <a:r>
              <a:t>a→b bir causal ordering ilişkisini temsil eder. İki event arasında ne a→b ne b→a kurulabiliyorsa modelde concurrent’tir. Concurrent aynı fiziksel nanosaniyede olmak demek değildir; bilinen causal zincirin yokluğudur. Lab process order ve bir message üzerinden bu ilişkiyi sayısal clock ile gösterir.</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https://mehmetgokturk.com/cse513/lecture-09.html</a:t>
            </a:r>
          </a:p>
          <a:p xmlns:a="http://schemas.openxmlformats.org/drawingml/2006/main">
            <a:r>
              <a:t/>
            </a:r>
          </a:p>
          <a:p xmlns:a="http://schemas.openxmlformats.org/drawingml/2006/main">
            <a:r>
              <a:t>https://lamport.azurewebsites.net/pubs/time-clocks.pdf</a:t>
            </a:r>
          </a:p>
          <a:p xmlns:a="http://schemas.openxmlformats.org/drawingml/2006/main">
            <a:r>
              <a:t/>
            </a:r>
          </a:p>
          <a:p xmlns:a="http://schemas.openxmlformats.org/drawingml/2006/main">
            <a:r>
              <a:t>https://mehmetgokturk.com/cse513/lecture-09.html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Gönderilen mesaj clock değerini taşır</a:t>
            </a:r>
          </a:p>
          <a:p xmlns:a="http://schemas.openxmlformats.org/drawingml/2006/main">
            <a:r>
              <a:t/>
            </a:r>
          </a:p>
          <a:p xmlns:a="http://schemas.openxmlformats.org/drawingml/2006/main">
            <a:r>
              <a:t>Clock başlangıcı0. Her local/send event’te1 artır. Receive’de max(local, received)+1. Bu kurallar a→b ise L(a)&lt;L(b) sağlar. Tersi doğru değildir: küçük clock tek başına causal edge kanıtı olmaz. Process ID ile tie-break toplam sıra oluşturabilir, ancak yeni causal bilgi yaratmaz. Lab yalnız bir finite trace inceler.</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https://mehmetgokturk.com/cse513/lecture-09.html</a:t>
            </a:r>
          </a:p>
          <a:p xmlns:a="http://schemas.openxmlformats.org/drawingml/2006/main">
            <a:r>
              <a:t/>
            </a:r>
          </a:p>
          <a:p xmlns:a="http://schemas.openxmlformats.org/drawingml/2006/main">
            <a:r>
              <a:t>https://lamport.azurewebsites.net/pubs/time-clocks.pdf</a:t>
            </a:r>
          </a:p>
          <a:p xmlns:a="http://schemas.openxmlformats.org/drawingml/2006/main">
            <a:r>
              <a:t/>
            </a:r>
          </a:p>
          <a:p xmlns:a="http://schemas.openxmlformats.org/drawingml/2006/main">
            <a:r>
              <a:t>https://mehmetgokturk.com/cse513/lecture-09.html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local1, send2 yapar; B independent local1 yapar, A’dan timestamp2 mesajını receive edince3 olur. B sonra local4 yapar. A’nın send2 ve B’nin local1 event’i concurrent’tir;1&lt;2 causal yön kanıtı değildir. Send2→receive3 ise message bağımlılığıyla kanıtlıdır. Satır sırası teaching trace’in simülatör sırasıdır; bütün olaylar için tek global causal sıra varsaymayız.</a:t>
            </a:r>
          </a:p>
          <a:p xmlns:a="http://schemas.openxmlformats.org/drawingml/2006/main">
            <a:r>
              <a:t/>
            </a:r>
          </a:p>
          <a:p xmlns:a="http://schemas.openxmlformats.org/drawingml/2006/main">
            <a:r>
              <a:t>SORUNUN YANITI: Hayır. Clock sayısal sırası causal ilişkiyi ters yönde çıkarmaya yetmez.</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https://mehmetgokturk.com/cse513/lecture-09.html</a:t>
            </a:r>
          </a:p>
          <a:p xmlns:a="http://schemas.openxmlformats.org/drawingml/2006/main">
            <a:r>
              <a:t/>
            </a:r>
          </a:p>
          <a:p xmlns:a="http://schemas.openxmlformats.org/drawingml/2006/main">
            <a:r>
              <a:t>https://lamport.azurewebsites.net/pubs/time-clocks.pdf</a:t>
            </a:r>
          </a:p>
          <a:p xmlns:a="http://schemas.openxmlformats.org/drawingml/2006/main">
            <a:r>
              <a:t/>
            </a:r>
          </a:p>
          <a:p xmlns:a="http://schemas.openxmlformats.org/drawingml/2006/main">
            <a:r>
              <a:t>https://mehmetgokturk.com/cse513/lecture-09.html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Aynı işin sahibi kim?</a:t>
            </a:r>
          </a:p>
          <a:p xmlns:a="http://schemas.openxmlformats.org/drawingml/2006/main">
            <a:r>
              <a:t>Hangi update sırası geçerli?</a:t>
            </a:r>
          </a:p>
          <a:p xmlns:a="http://schemas.openxmlformats.org/drawingml/2006/main">
            <a:r>
              <a:t>Kim karar vermeye yetkili?</a:t>
            </a:r>
          </a:p>
          <a:p xmlns:a="http://schemas.openxmlformats.org/drawingml/2006/main">
            <a:r>
              <a:t>Failure model ve scope ne?</a:t>
            </a:r>
          </a:p>
          <a:p xmlns:a="http://schemas.openxmlformats.org/drawingml/2006/main">
            <a:r>
              <a:t/>
            </a:r>
          </a:p>
          <a:p xmlns:a="http://schemas.openxmlformats.org/drawingml/2006/main">
            <a:r>
              <a:t>Koordinasyon, tüm makinelerin sürekli global state bilmesi değildir. Belirli kararlar için ortak protokol gerekir. Bir worker kendini leader sanıyorsa diğer worker’ın bunu tanıdığı veya eski leader’ın etkisiz olduğu henüz kanıtlanmaz. Authority, epoch veya fencing gibi teknikler sistem tasarımına bağlıdır; bu hafta yalnız problemi görünür kılıyoruz.</a:t>
            </a:r>
          </a:p>
          <a:p xmlns:a="http://schemas.openxmlformats.org/drawingml/2006/main">
            <a:r>
              <a:t/>
            </a:r>
          </a:p>
          <a:p xmlns:a="http://schemas.openxmlformats.org/drawingml/2006/main">
            <a:r>
              <a:t>GERÇEK HAYAT: Gerçek hayat: Zamanlanmış job sahibi</a:t>
            </a:r>
          </a:p>
          <a:p xmlns:a="http://schemas.openxmlformats.org/drawingml/2006/main">
            <a:r>
              <a:t>İki worker aynı job’u üstlenir.</a:t>
            </a:r>
          </a:p>
          <a:p xmlns:a="http://schemas.openxmlformats.org/drawingml/2006/main">
            <a:r>
              <a:t>Mekanizma: Leadership belief ile kabul edilen authority farklıdır.</a:t>
            </a:r>
          </a:p>
          <a:p xmlns:a="http://schemas.openxmlformats.org/drawingml/2006/main">
            <a:r>
              <a:t>Ne zaman işe yarar: Tek iş sahibi garantisinin scope’unu sor.</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https://mehmetgokturk.com/cse513/lecture-09.html</a:t>
            </a:r>
          </a:p>
          <a:p xmlns:a="http://schemas.openxmlformats.org/drawingml/2006/main">
            <a:r>
              <a:t/>
            </a:r>
          </a:p>
          <a:p xmlns:a="http://schemas.openxmlformats.org/drawingml/2006/main">
            <a:r>
              <a:t>https://mehmetgokturk.com/cse513/lecture-09.html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Birden fazla replica arızaya dayanıklılık veya read load hedefleyebilir. Kopyalar iletişimle güncellenir; instant ortak bellek değildir. Replica sayısı tek başına dayanıklılık, availability veya consistency garantisi vermez. Replica’ların aynı failure domain’de olması ortak kesintiye açık olabilir. Backup ile canlı replica farklı amaçlara hizmet eder.</a:t>
            </a:r>
          </a:p>
          <a:p xmlns:a="http://schemas.openxmlformats.org/drawingml/2006/main">
            <a:r>
              <a:t/>
            </a:r>
          </a:p>
          <a:p xmlns:a="http://schemas.openxmlformats.org/drawingml/2006/main">
            <a:r>
              <a:t>GERÇEK HAYAT: Gerçek hayat: İkinci bölge kopyası</a:t>
            </a:r>
          </a:p>
          <a:p xmlns:a="http://schemas.openxmlformats.org/drawingml/2006/main">
            <a:r>
              <a:t>Veri başka yerde de duruyor.</a:t>
            </a:r>
          </a:p>
          <a:p xmlns:a="http://schemas.openxmlformats.org/drawingml/2006/main">
            <a:r>
              <a:t>Mekanizma: Yerleşim ortak failure riskini değiştirir.</a:t>
            </a:r>
          </a:p>
          <a:p xmlns:a="http://schemas.openxmlformats.org/drawingml/2006/main">
            <a:r>
              <a:t>Ne zaman işe yarar: Copy count yanında failure domain’i sor.</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https://mehmetgokturk.com/cse513/lecture-09.html</a:t>
            </a:r>
          </a:p>
          <a:p xmlns:a="http://schemas.openxmlformats.org/drawingml/2006/main">
            <a:r>
              <a:t/>
            </a:r>
          </a:p>
          <a:p xmlns:a="http://schemas.openxmlformats.org/drawingml/2006/main">
            <a:r>
              <a:t>https://mehmetgokturk.com/cse513/lecture-09.html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Başlangıç x=0 · Model update x=1</a:t>
            </a:r>
          </a:p>
          <a:p xmlns:a="http://schemas.openxmlformats.org/drawingml/2006/main">
            <a:r>
              <a:t/>
            </a:r>
          </a:p>
          <a:p xmlns:a="http://schemas.openxmlformats.org/drawingml/2006/main">
            <a:r>
              <a:t>Modelde primary t2’de x1’i uygular ve t3’te client’e ack verir; replica t8’de güncellenir. t4 replica read x0 döndürür. Bu ack politikası asynchronous replication varsayımıdır, belirli ürüne atfedilmez. Client’in yazdıktan sonra kendi read’inde x0 görmesini hangi consistency sözleşmesinin kabul ettiğini tartış.</a:t>
            </a:r>
          </a:p>
          <a:p xmlns:a="http://schemas.openxmlformats.org/drawingml/2006/main">
            <a:r>
              <a:t/>
            </a:r>
          </a:p>
          <a:p xmlns:a="http://schemas.openxmlformats.org/drawingml/2006/main">
            <a:r>
              <a:t>GERÇEK HAYAT: Gerçek hayat: Yazdıktan sonra eski profil</a:t>
            </a:r>
          </a:p>
          <a:p xmlns:a="http://schemas.openxmlformats.org/drawingml/2006/main">
            <a:r>
              <a:t>Kaydettiğin değişiklik hemen görünmüyor.</a:t>
            </a:r>
          </a:p>
          <a:p xmlns:a="http://schemas.openxmlformats.org/drawingml/2006/main">
            <a:r>
              <a:t>Mekanizma: Read lagging replica’dan gelmiş olabilir.</a:t>
            </a:r>
          </a:p>
          <a:p xmlns:a="http://schemas.openxmlformats.org/drawingml/2006/main">
            <a:r>
              <a:t>Ne zaman işe yarar: Read-your-writes ihtiyacını arayüz sözleşmesine bağla.</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https://mehmetgokturk.com/cse513/lecture-09.html</a:t>
            </a:r>
          </a:p>
          <a:p xmlns:a="http://schemas.openxmlformats.org/drawingml/2006/main">
            <a:r>
              <a:t/>
            </a:r>
          </a:p>
          <a:p xmlns:a="http://schemas.openxmlformats.org/drawingml/2006/main">
            <a:r>
              <a:t>https://mehmetgokturk.com/cse513/lecture-09.html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Linearizability her operation’ı invocation ve response aralığında tek bir anda olmuş gibi açıklar ve real-time sırasını korur. Eventual convergence yeni update yokken iletişim ve repair koşulları sağlandığında kopyaların sonunda uyumunu hedefler; her read’in en son yazıyı döndüreceği sözü değildir. Causal ordering ve read-your-writes farklı sözleşmelerdir. Burada ayrımları tanıtıyoruz, bütün modelleri ispatlamıyoruz.</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https://mehmetgokturk.com/cse513/lecture-09.html</a:t>
            </a:r>
          </a:p>
          <a:p xmlns:a="http://schemas.openxmlformats.org/drawingml/2006/main">
            <a:r>
              <a:t/>
            </a:r>
          </a:p>
          <a:p xmlns:a="http://schemas.openxmlformats.org/drawingml/2006/main">
            <a:r>
              <a:t>https://mehmetgokturk.com/cse513/lecture-09.html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İki taraf da yeni yazı kabul ederse çatışma olabilir</a:t>
            </a:r>
          </a:p>
          <a:p xmlns:a="http://schemas.openxmlformats.org/drawingml/2006/main">
            <a:r>
              <a:t>Ortak karar için erişim kısıtlanabilir</a:t>
            </a:r>
          </a:p>
          <a:p xmlns:a="http://schemas.openxmlformats.org/drawingml/2006/main">
            <a:r>
              <a:t>Garanti modelini belirt</a:t>
            </a:r>
          </a:p>
          <a:p xmlns:a="http://schemas.openxmlformats.org/drawingml/2006/main">
            <a:r>
              <a:t>Ürün etiketi mekanizma yerine geçmez</a:t>
            </a:r>
          </a:p>
          <a:p xmlns:a="http://schemas.openxmlformats.org/drawingml/2006/main">
            <a:r>
              <a:t/>
            </a:r>
          </a:p>
          <a:p xmlns:a="http://schemas.openxmlformats.org/drawingml/2006/main">
            <a:r>
              <a:t>Network partition sırasında diğer taraftaki güncel state’e erişilemiyor olabilir. Bir tasarım bazı operation’ları reddedebilir veya farklı consistency sunabilir. “Consistency vs availability” sloganı, hangi operation, failure ve response koşuluyla konuştuğunu söylemeden eksiktir. Bu derste CAP ispatı veya ürün sınıflandırması eklemiyoruz; unreachable link altında açıklanabilir davranış arıyoruz.</a:t>
            </a:r>
          </a:p>
          <a:p xmlns:a="http://schemas.openxmlformats.org/drawingml/2006/main">
            <a:r>
              <a:t/>
            </a:r>
          </a:p>
          <a:p xmlns:a="http://schemas.openxmlformats.org/drawingml/2006/main">
            <a:r>
              <a:t>GERÇEK HAYAT: Gerçek hayat: Offline düzenleme</a:t>
            </a:r>
          </a:p>
          <a:p xmlns:a="http://schemas.openxmlformats.org/drawingml/2006/main">
            <a:r>
              <a:t>İki cihaz offline farklı değişiklik yapar.</a:t>
            </a:r>
          </a:p>
          <a:p xmlns:a="http://schemas.openxmlformats.org/drawingml/2006/main">
            <a:r>
              <a:t>Mekanizma: Çatışmayı protocol merge veya karar politikası ele alır.</a:t>
            </a:r>
          </a:p>
          <a:p xmlns:a="http://schemas.openxmlformats.org/drawingml/2006/main">
            <a:r>
              <a:t>Ne zaman işe yarar: Kullanıcıya hangi değişikliğin korunduğunu açıkla.</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https://mehmetgokturk.com/cse513/lecture-09.html</a:t>
            </a:r>
          </a:p>
          <a:p xmlns:a="http://schemas.openxmlformats.org/drawingml/2006/main">
            <a:r>
              <a:t/>
            </a:r>
          </a:p>
          <a:p xmlns:a="http://schemas.openxmlformats.org/drawingml/2006/main">
            <a:r>
              <a:t>https://mehmetgokturk.com/cse513/lecture-09.html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Sabit 3 üye → majority 2</a:t>
            </a:r>
          </a:p>
          <a:p xmlns:a="http://schemas.openxmlformats.org/drawingml/2006/main">
            <a:r>
              <a:t>Her iki majority en az 1 üyede kesişir</a:t>
            </a:r>
          </a:p>
          <a:p xmlns:a="http://schemas.openxmlformats.org/drawingml/2006/main">
            <a:r>
              <a:t/>
            </a:r>
          </a:p>
          <a:p xmlns:a="http://schemas.openxmlformats.org/drawingml/2006/main">
            <a:r>
              <a:t>A,B,C için AB,AC,BC çiftlerini yaz: herhangi ikisinin ortak üyesi vardır. Bu aritmetik, protocol üyelerin hangi değeri nasıl kabul edeceğini belirlemeden safety ispatı değildir. Raft seçmeli okuma olarak replicated log, leadership ve commit koşullarını somutlaştırır. Bu hafta election implementation veya Byzantine tolerance öğretmiyoruz. Crash-stop/crash-recovery varsayımları bile ayrı belirtilmelidir.</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https://mehmetgokturk.com/cse513/lecture-09.html</a:t>
            </a:r>
          </a:p>
          <a:p xmlns:a="http://schemas.openxmlformats.org/drawingml/2006/main">
            <a:r>
              <a:t/>
            </a:r>
          </a:p>
          <a:p xmlns:a="http://schemas.openxmlformats.org/drawingml/2006/main">
            <a:r>
              <a:t>https://raft.github.io/raft.pdf</a:t>
            </a:r>
          </a:p>
          <a:p xmlns:a="http://schemas.openxmlformats.org/drawingml/2006/main">
            <a:r>
              <a:t/>
            </a:r>
          </a:p>
          <a:p xmlns:a="http://schemas.openxmlformats.org/drawingml/2006/main">
            <a:r>
              <a:t>https://mehmetgokturk.com/cse513/lecture-09.html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 ve failure model ne?</a:t>
            </a:r>
          </a:p>
          <a:p xmlns:a="http://schemas.openxmlformats.org/drawingml/2006/main">
            <a:r>
              <a:t>Protocol hangi boundary’de çalışıyor?</a:t>
            </a:r>
          </a:p>
          <a:p xmlns:a="http://schemas.openxmlformats.org/drawingml/2006/main">
            <a:r>
              <a:t>Safety ile liveness iddiası farklı mı?</a:t>
            </a:r>
          </a:p>
          <a:p xmlns:a="http://schemas.openxmlformats.org/drawingml/2006/main">
            <a:r>
              <a:t>Deney bu iddiayı gerçekten sınamış mı?</a:t>
            </a:r>
          </a:p>
          <a:p xmlns:a="http://schemas.openxmlformats.org/drawingml/2006/main">
            <a:r>
              <a:t/>
            </a:r>
          </a:p>
          <a:p xmlns:a="http://schemas.openxmlformats.org/drawingml/2006/main">
            <a:r>
              <a:t>Bir grafik daha hızlı olduğunu gösterebilir, ama bütün execution’larda safety sağlandığını ispatlamaz. Bir proof da belirli workload’un throughput’unu ölçmez. Makalenin iddiasını model, mekanizma ve evidence ile eşleştir. Raft okuması yalnız isteğe bağlı inceleme örneğidir, resmî assigned paper listesi değildir. Sunum haftaları için öğretim elemanının allocation ve rubric duyurusunu takip et.</a:t>
            </a:r>
          </a:p>
          <a:p xmlns:a="http://schemas.openxmlformats.org/drawingml/2006/main">
            <a:r>
              <a:t/>
            </a:r>
          </a:p>
          <a:p xmlns:a="http://schemas.openxmlformats.org/drawingml/2006/main">
            <a:r>
              <a:t>SORUNUN YANITI: İddia, varsayım, mekanizma, kanıt ve sınırlama ayrı yazılmalı. Resmî paper ataması yapılmış sayılmaz.</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https://mehmetgokturk.com/cse513/lecture-09.html</a:t>
            </a:r>
          </a:p>
          <a:p xmlns:a="http://schemas.openxmlformats.org/drawingml/2006/main">
            <a:r>
              <a:t/>
            </a:r>
          </a:p>
          <a:p xmlns:a="http://schemas.openxmlformats.org/drawingml/2006/main">
            <a:r>
              <a:t>https://mehmetgokturk.com/cse513/presentations.html</a:t>
            </a:r>
          </a:p>
          <a:p xmlns:a="http://schemas.openxmlformats.org/drawingml/2006/main">
            <a:r>
              <a:t/>
            </a:r>
          </a:p>
          <a:p xmlns:a="http://schemas.openxmlformats.org/drawingml/2006/main">
            <a:r>
              <a:t>https://raft.github.io/raft.pdf</a:t>
            </a:r>
          </a:p>
          <a:p xmlns:a="http://schemas.openxmlformats.org/drawingml/2006/main">
            <a:r>
              <a:t/>
            </a:r>
          </a:p>
          <a:p xmlns:a="http://schemas.openxmlformats.org/drawingml/2006/main">
            <a:r>
              <a:t>https://mehmetgokturk.com/cse513/lecture-09.html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Naive / dedupe / reset karşılaştır</a:t>
            </a:r>
          </a:p>
          <a:p xmlns:a="http://schemas.openxmlformats.org/drawingml/2006/main">
            <a:r>
              <a:t>Lamport receive hesabını elle yap</a:t>
            </a:r>
          </a:p>
          <a:p xmlns:a="http://schemas.openxmlformats.org/drawingml/2006/main">
            <a:r>
              <a:t>İzdeki model varsayımlarını yaz</a:t>
            </a:r>
          </a:p>
          <a:p xmlns:a="http://schemas.openxmlformats.org/drawingml/2006/main">
            <a:r>
              <a:t/>
            </a:r>
          </a:p>
          <a:p xmlns:a="http://schemas.openxmlformats.org/drawingml/2006/main">
            <a:r>
              <a:t>rpc_retry.py yalnız bellekte counter ve sonuç dictionary’si kullanır. Bir request, kayıp reply, bir timeout ve bir retry gösterir. lamport_trace.py local/send/receive event’lerini üretir. Gerçek network, ödeme, dosya veya servis yan etkisi yoktur. Tüm durumlar bounded ve deterministic’tir. README TR/EN ve self-test komutları pakettedir.</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https://mehmetgokturk.com/cse513/lecture-09.html</a:t>
            </a:r>
          </a:p>
          <a:p xmlns:a="http://schemas.openxmlformats.org/drawingml/2006/main">
            <a:r>
              <a:t/>
            </a:r>
          </a:p>
          <a:p xmlns:a="http://schemas.openxmlformats.org/drawingml/2006/main">
            <a:r>
              <a:t>https://mehmetgokturk.com/cse513/lecture-09.html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Timeout operation failure kanıtı mı?</a:t>
            </a:r>
          </a:p>
          <a:p xmlns:a="http://schemas.openxmlformats.org/drawingml/2006/main">
            <a:r>
              <a:t>Aynı ID farklı payload nasıl ele alınmalı?</a:t>
            </a:r>
          </a:p>
          <a:p xmlns:a="http://schemas.openxmlformats.org/drawingml/2006/main">
            <a:r>
              <a:t>L(a)&lt;L(b) ise a→b kesin mi?</a:t>
            </a:r>
          </a:p>
          <a:p xmlns:a="http://schemas.openxmlformats.org/drawingml/2006/main">
            <a:r>
              <a:t>Replica count consistency kanıtı mı?</a:t>
            </a:r>
          </a:p>
          <a:p xmlns:a="http://schemas.openxmlformats.org/drawingml/2006/main">
            <a:r>
              <a:t>Dedupe reset sonrası garanti sürer mi?</a:t>
            </a:r>
          </a:p>
          <a:p xmlns:a="http://schemas.openxmlformats.org/drawingml/2006/main">
            <a:r>
              <a:t/>
            </a:r>
          </a:p>
          <a:p xmlns:a="http://schemas.openxmlformats.org/drawingml/2006/main">
            <a:r>
              <a:t>Beş soruda sonuç ve mekanizmayı açıkla. Öğrenme öz değerlendirmesi için her birine2 puan verebilirsin; resmî not değildir. En az bir soruyu realworld örneğinle açıkla. Bu kapsam adaptasyonu slide PDF’den türetilmemiştir; resmî Lecture09 sayfasına dayanır. Sonraki aşama resmî atanacak makaleyi problem, mechanism, evidence ve limits ile incelemektir.</a:t>
            </a:r>
          </a:p>
          <a:p xmlns:a="http://schemas.openxmlformats.org/drawingml/2006/main">
            <a:r>
              <a:t/>
            </a:r>
          </a:p>
          <a:p xmlns:a="http://schemas.openxmlformats.org/drawingml/2006/main">
            <a:r>
              <a:t>SORUNUN YANITI: Hayır. Farklı payload reddedilmeli. Hayır; yalnız ileri yön kuralı. Hayır; protocol/ack/read sözleşmesi gerekir. Hayır; korunmuş state ve kayıp kayıt ikinci etki yaratabilir.</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https://mehmetgokturk.com/cse513/lecture-09.html</a:t>
            </a:r>
          </a:p>
          <a:p xmlns:a="http://schemas.openxmlformats.org/drawingml/2006/main">
            <a:r>
              <a:t/>
            </a:r>
          </a:p>
          <a:p xmlns:a="http://schemas.openxmlformats.org/drawingml/2006/main">
            <a:r>
              <a:t>https://mehmetgokturk.com/cse513/lecture-09.html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f8d5d64c7644ea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0807bb0c7054e51" /><Relationship Type="http://schemas.openxmlformats.org/officeDocument/2006/relationships/slideLayout" Target="/ppt/slideLayouts/slideLayout1.xml" Id="R21f953ae21fa4f6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1f953ae21fa4f6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c2e684b74c2457c" /><Relationship Type="http://schemas.openxmlformats.org/officeDocument/2006/relationships/image" Target="/ppt/media/image.png" Id="R77a149cfaaa34fcb" /><Relationship Type="http://schemas.openxmlformats.org/officeDocument/2006/relationships/notesSlide" Target="/ppt/notesSlides/notesSlide1.xml" Id="R887f4bbb3ff543f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a1a006c41d64ae4" /><Relationship Type="http://schemas.openxmlformats.org/officeDocument/2006/relationships/notesSlide" Target="/ppt/notesSlides/notesSlide2.xml" Id="R548a003dd0b247b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3514bd0663e498e" /><Relationship Type="http://schemas.openxmlformats.org/officeDocument/2006/relationships/notesSlide" Target="/ppt/notesSlides/notesSlide3.xml" Id="Rdf3a9c4499d9464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86419659b704c6b" /><Relationship Type="http://schemas.openxmlformats.org/officeDocument/2006/relationships/notesSlide" Target="/ppt/notesSlides/notesSlide4.xml" Id="R3bfdd03056244fe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cc73ad7c3f340c7" /><Relationship Type="http://schemas.openxmlformats.org/officeDocument/2006/relationships/notesSlide" Target="/ppt/notesSlides/notesSlide5.xml" Id="Rf8339be06034485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dfc3695849e477e" /><Relationship Type="http://schemas.openxmlformats.org/officeDocument/2006/relationships/notesSlide" Target="/ppt/notesSlides/notesSlide6.xml" Id="R491c6b640bbe4e8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34520007e2a4575" /><Relationship Type="http://schemas.openxmlformats.org/officeDocument/2006/relationships/notesSlide" Target="/ppt/notesSlides/notesSlide7.xml" Id="R9969e743744747e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76fa0fbc0224a87" /><Relationship Type="http://schemas.openxmlformats.org/officeDocument/2006/relationships/notesSlide" Target="/ppt/notesSlides/notesSlide8.xml" Id="R7b184b2d87844c8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3a4a6073280462a" /><Relationship Type="http://schemas.openxmlformats.org/officeDocument/2006/relationships/notesSlide" Target="/ppt/notesSlides/notesSlide9.xml" Id="R291d357d5e984e1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e66adc5d2b148b5" /><Relationship Type="http://schemas.openxmlformats.org/officeDocument/2006/relationships/notesSlide" Target="/ppt/notesSlides/notesSlide10.xml" Id="Rd09293e8eefd432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c10d83488794c50" /><Relationship Type="http://schemas.openxmlformats.org/officeDocument/2006/relationships/notesSlide" Target="/ppt/notesSlides/notesSlide11.xml" Id="Rce91fbdcd7584f4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1052589577e4e49" /><Relationship Type="http://schemas.openxmlformats.org/officeDocument/2006/relationships/notesSlide" Target="/ppt/notesSlides/notesSlide12.xml" Id="Rcfb1f0c13788467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9290304b1534206" /><Relationship Type="http://schemas.openxmlformats.org/officeDocument/2006/relationships/notesSlide" Target="/ppt/notesSlides/notesSlide13.xml" Id="R6f135cd608bf4f4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e0899328ec447e0" /><Relationship Type="http://schemas.openxmlformats.org/officeDocument/2006/relationships/notesSlide" Target="/ppt/notesSlides/notesSlide14.xml" Id="Ra2e8d017aa4e44a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668b2fdf2954307" /><Relationship Type="http://schemas.openxmlformats.org/officeDocument/2006/relationships/notesSlide" Target="/ppt/notesSlides/notesSlide15.xml" Id="Rc881f439115d497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f940b6da77543cb" /><Relationship Type="http://schemas.openxmlformats.org/officeDocument/2006/relationships/notesSlide" Target="/ppt/notesSlides/notesSlide16.xml" Id="R720d8dbf2728485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81098e127da4535" /><Relationship Type="http://schemas.openxmlformats.org/officeDocument/2006/relationships/notesSlide" Target="/ppt/notesSlides/notesSlide17.xml" Id="R7bf87135fd324b0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2af7d1f557f4f27" /><Relationship Type="http://schemas.openxmlformats.org/officeDocument/2006/relationships/notesSlide" Target="/ppt/notesSlides/notesSlide18.xml" Id="R2f5445dd9c224bb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b72ce51786934205" /><Relationship Type="http://schemas.openxmlformats.org/officeDocument/2006/relationships/notesSlide" Target="/ppt/notesSlides/notesSlide19.xml" Id="R1adf466ed66247f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cb15b39de128410c" /><Relationship Type="http://schemas.openxmlformats.org/officeDocument/2006/relationships/notesSlide" Target="/ppt/notesSlides/notesSlide20.xml" Id="R6f75e93bfaf1433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5b713dab6c044fb2" /><Relationship Type="http://schemas.openxmlformats.org/officeDocument/2006/relationships/notesSlide" Target="/ppt/notesSlides/notesSlide21.xml" Id="R2309f18eb30c459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18ac25654a5a43bf" /><Relationship Type="http://schemas.openxmlformats.org/officeDocument/2006/relationships/notesSlide" Target="/ppt/notesSlides/notesSlide22.xml" Id="R984bf86e4360448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b68b094ad9e940aa" /><Relationship Type="http://schemas.openxmlformats.org/officeDocument/2006/relationships/notesSlide" Target="/ppt/notesSlides/notesSlide23.xml" Id="Ra549ada7ed59409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a3108c85e7de43bd" /><Relationship Type="http://schemas.openxmlformats.org/officeDocument/2006/relationships/notesSlide" Target="/ppt/notesSlides/notesSlide24.xml" Id="R7fc6ef36511848b2"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8f65ac5bd3824fd3" /><Relationship Type="http://schemas.openxmlformats.org/officeDocument/2006/relationships/notesSlide" Target="/ppt/notesSlides/notesSlide25.xml" Id="R7c0a9111aca34631"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ffaa5f8d94b94da4" /><Relationship Type="http://schemas.openxmlformats.org/officeDocument/2006/relationships/notesSlide" Target="/ppt/notesSlides/notesSlide26.xml" Id="R2600244a36744f8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da31686ffa8c4241" /><Relationship Type="http://schemas.openxmlformats.org/officeDocument/2006/relationships/notesSlide" Target="/ppt/notesSlides/notesSlide27.xml" Id="R852aa9cf7ed840cd" /></Relationships>
</file>

<file path=ppt/slides/slide1.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77a149cfaaa34fcb"/>
          <a:stretch xmlns:a="http://schemas.openxmlformats.org/drawingml/2006/main"/>
        </p:blipFill>
        <p:spPr>
          <a:xfrm xmlns:a="http://schemas.openxmlformats.org/drawingml/2006/main">
            <a:off x="6667500" y="0"/>
            <a:ext cx="51435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75B6EE7-7179-431B-843F-1DFF9F689D66}"/>
              </a:ext>
            </a:extLst>
          </p:cNvPr>
          <p:cNvSpPr>
            <a:spLocks xmlns:a="http://schemas.openxmlformats.org/drawingml/2006/main" noGrp="1"/>
          </p:cNvSpPr>
          <p:nvPr/>
        </p:nvSpPr>
        <p:spPr>
          <a:xfrm xmlns:a="http://schemas.openxmlformats.org/drawingml/2006/main">
            <a:off x="571500" y="619125"/>
            <a:ext cx="542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1">
                <a:solidFill>
                  <a:srgbClr val="087E83"/>
                </a:solidFill>
                <a:latin typeface="Helvetica Neue"/>
                <a:ea typeface="Helvetica Neue"/>
                <a:cs typeface="Helvetica Neue"/>
              </a:defRPr>
            </a:pPr>
            <a:r>
              <a:rPr sz="1725" b="1">
                <a:solidFill>
                  <a:srgbClr val="087E83"/>
                </a:solidFill>
                <a:latin typeface="Helvetica Neue"/>
                <a:ea typeface="Helvetica Neue"/>
                <a:cs typeface="Helvetica Neue"/>
              </a:rPr>
              <a:t>CSE513 · HAFTA 10</a:t>
            </a:r>
          </a:p>
        </p:txBody>
      </p:sp>
      <p:sp>
        <p:nvSpPr>
          <p:cNvPr id="3" name="">
            <a:extLst xmlns:a="http://schemas.openxmlformats.org/drawingml/2006/main">
              <a:ext uri="{FF2B5EF4-FFF2-40B4-BE49-F238E27FC236}">
                <a16:creationId xmlns:a16="http://schemas.microsoft.com/office/drawing/2014/main" id="{9E971041-6765-4595-A431-0FFC5EF63B72}"/>
              </a:ext>
            </a:extLst>
          </p:cNvPr>
          <p:cNvSpPr>
            <a:spLocks xmlns:a="http://schemas.openxmlformats.org/drawingml/2006/main" noGrp="1"/>
          </p:cNvSpPr>
          <p:nvPr/>
        </p:nvSpPr>
        <p:spPr>
          <a:xfrm xmlns:a="http://schemas.openxmlformats.org/drawingml/2006/main">
            <a:off x="571500" y="1476375"/>
            <a:ext cx="5476875"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050" b="1">
                <a:solidFill>
                  <a:srgbClr val="122C42"/>
                </a:solidFill>
                <a:latin typeface="Helvetica Neue"/>
                <a:ea typeface="Helvetica Neue"/>
                <a:cs typeface="Helvetica Neue"/>
              </a:defRPr>
            </a:pPr>
            <a:r>
              <a:rPr sz="4050" b="1">
                <a:solidFill>
                  <a:srgbClr val="122C42"/>
                </a:solidFill>
                <a:latin typeface="Helvetica Neue"/>
                <a:ea typeface="Helvetica Neue"/>
                <a:cs typeface="Helvetica Neue"/>
              </a:rPr>
              <a:t>İşlem oldu mu,</a:t>
            </a:r>
          </a:p>
          <a:p xmlns:a="http://schemas.openxmlformats.org/drawingml/2006/main">
            <a:pPr>
              <a:defRPr sz="4050" b="1">
                <a:solidFill>
                  <a:srgbClr val="122C42"/>
                </a:solidFill>
                <a:latin typeface="Helvetica Neue"/>
                <a:ea typeface="Helvetica Neue"/>
                <a:cs typeface="Helvetica Neue"/>
              </a:defRPr>
            </a:pPr>
            <a:r>
              <a:rPr sz="4050" b="1">
                <a:solidFill>
                  <a:srgbClr val="122C42"/>
                </a:solidFill>
                <a:latin typeface="Helvetica Neue"/>
                <a:ea typeface="Helvetica Neue"/>
                <a:cs typeface="Helvetica Neue"/>
              </a:rPr>
              <a:t>yoksa cevap mı kayıp?</a:t>
            </a:r>
          </a:p>
        </p:txBody>
      </p:sp>
      <p:sp>
        <p:nvSpPr>
          <p:cNvPr id="4" name="">
            <a:extLst xmlns:a="http://schemas.openxmlformats.org/drawingml/2006/main">
              <a:ext uri="{FF2B5EF4-FFF2-40B4-BE49-F238E27FC236}">
                <a16:creationId xmlns:a16="http://schemas.microsoft.com/office/drawing/2014/main" id="{7163EFD2-F447-4390-B20C-FC8AE689C312}"/>
              </a:ext>
            </a:extLst>
          </p:cNvPr>
          <p:cNvSpPr>
            <a:spLocks xmlns:a="http://schemas.openxmlformats.org/drawingml/2006/main" noGrp="1"/>
          </p:cNvSpPr>
          <p:nvPr/>
        </p:nvSpPr>
        <p:spPr>
          <a:xfrm xmlns:a="http://schemas.openxmlformats.org/drawingml/2006/main">
            <a:off x="571500" y="3619500"/>
            <a:ext cx="52863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122C42"/>
                </a:solidFill>
                <a:latin typeface="Helvetica Neue"/>
                <a:ea typeface="Helvetica Neue"/>
                <a:cs typeface="Helvetica Neue"/>
              </a:defRPr>
            </a:pPr>
            <a:r>
              <a:rPr sz="2175" b="0">
                <a:solidFill>
                  <a:srgbClr val="122C42"/>
                </a:solidFill>
                <a:latin typeface="Helvetica Neue"/>
                <a:ea typeface="Helvetica Neue"/>
                <a:cs typeface="Helvetica Neue"/>
              </a:rPr>
              <a:t>Dağıtık sistemler: cevap yoksa ne biliyoruz?</a:t>
            </a:r>
          </a:p>
        </p:txBody>
      </p:sp>
      <p:sp>
        <p:nvSpPr>
          <p:cNvPr id="5" name="">
            <a:extLst xmlns:a="http://schemas.openxmlformats.org/drawingml/2006/main">
              <a:ext uri="{FF2B5EF4-FFF2-40B4-BE49-F238E27FC236}">
                <a16:creationId xmlns:a16="http://schemas.microsoft.com/office/drawing/2014/main" id="{59EED043-550C-4690-BF24-B33C05C9899F}"/>
              </a:ext>
            </a:extLst>
          </p:cNvPr>
          <p:cNvSpPr>
            <a:spLocks xmlns:a="http://schemas.openxmlformats.org/drawingml/2006/main" noGrp="1"/>
          </p:cNvSpPr>
          <p:nvPr/>
        </p:nvSpPr>
        <p:spPr>
          <a:xfrm xmlns:a="http://schemas.openxmlformats.org/drawingml/2006/main">
            <a:off x="571500" y="5619750"/>
            <a:ext cx="5476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C46225"/>
                </a:solidFill>
                <a:latin typeface="Helvetica Neue"/>
                <a:ea typeface="Helvetica Neue"/>
                <a:cs typeface="Helvetica Neue"/>
              </a:defRPr>
            </a:pPr>
            <a:r>
              <a:rPr sz="1800" b="1">
                <a:solidFill>
                  <a:srgbClr val="C46225"/>
                </a:solidFill>
                <a:latin typeface="Helvetica Neue"/>
                <a:ea typeface="Helvetica Neue"/>
                <a:cs typeface="Helvetica Neue"/>
              </a:rPr>
              <a:t>Tahmin et · dene · gerekçelendir</a:t>
            </a:r>
          </a:p>
        </p:txBody>
      </p:sp>
      <p:sp>
        <p:nvSpPr>
          <p:cNvPr id="6" name="">
            <a:extLst xmlns:a="http://schemas.openxmlformats.org/drawingml/2006/main">
              <a:ext uri="{FF2B5EF4-FFF2-40B4-BE49-F238E27FC236}">
                <a16:creationId xmlns:a16="http://schemas.microsoft.com/office/drawing/2014/main" id="{9A3A8FAB-2320-4642-B978-2442B895A36D}"/>
              </a:ext>
            </a:extLst>
          </p:cNvPr>
          <p:cNvSpPr>
            <a:spLocks xmlns:a="http://schemas.openxmlformats.org/drawingml/2006/main" noGrp="1"/>
          </p:cNvSpPr>
          <p:nvPr/>
        </p:nvSpPr>
        <p:spPr>
          <a:xfrm xmlns:a="http://schemas.openxmlformats.org/drawingml/2006/main">
            <a:off x="571500" y="6200775"/>
            <a:ext cx="5572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4D606A"/>
                </a:solidFill>
                <a:latin typeface="Helvetica Neue"/>
                <a:ea typeface="Helvetica Neue"/>
                <a:cs typeface="Helvetica Neue"/>
              </a:defRPr>
            </a:pPr>
            <a:r>
              <a:rPr sz="1350" b="0">
                <a:solidFill>
                  <a:srgbClr val="4D606A"/>
                </a:solidFill>
                <a:latin typeface="Helvetica Neue"/>
                <a:ea typeface="Helvetica Neue"/>
                <a:cs typeface="Helvetica Neue"/>
              </a:rPr>
              <a:t>Yayımlanan haftalık kapsamın özgün uyarlaması</a:t>
            </a:r>
          </a:p>
        </p:txBody>
      </p:sp>
    </p:spTree>
    <p:extLst>
      <p:ext uri="{BB962C8B-B14F-4D97-AF65-F5344CB8AC3E}">
        <p14:creationId xmlns:p14="http://schemas.microsoft.com/office/powerpoint/2010/main" val="2065128654"/>
      </p:ext>
    </p:extLst>
  </p:cSld>
</p:sld>
</file>

<file path=ppt/slides/slide2.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F17AF36-DDEB-454D-8106-E69FF2397D1A}"/>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Bu haftanın dört sorusu</a:t>
            </a:r>
          </a:p>
        </p:txBody>
      </p:sp>
      <p:sp>
        <p:nvSpPr>
          <p:cNvPr id="2" name="">
            <a:extLst xmlns:a="http://schemas.openxmlformats.org/drawingml/2006/main">
              <a:ext uri="{FF2B5EF4-FFF2-40B4-BE49-F238E27FC236}">
                <a16:creationId xmlns:a16="http://schemas.microsoft.com/office/drawing/2014/main" id="{1471A606-C05C-458F-A7F5-41DBF61C5E64}"/>
              </a:ext>
            </a:extLst>
          </p:cNvPr>
          <p:cNvSpPr>
            <a:spLocks xmlns:a="http://schemas.openxmlformats.org/drawingml/2006/main" noGrp="1"/>
          </p:cNvSpPr>
          <p:nvPr/>
        </p:nvSpPr>
        <p:spPr>
          <a:xfrm xmlns:a="http://schemas.openxmlformats.org/drawingml/2006/main">
            <a:off x="609600" y="1952625"/>
            <a:ext cx="43815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9A6903E0-1004-4D8A-BF63-6F42857E1EE2}"/>
              </a:ext>
            </a:extLst>
          </p:cNvPr>
          <p:cNvSpPr>
            <a:spLocks xmlns:a="http://schemas.openxmlformats.org/drawingml/2006/main" noGrp="1"/>
          </p:cNvSpPr>
          <p:nvPr/>
        </p:nvSpPr>
        <p:spPr>
          <a:xfrm xmlns:a="http://schemas.openxmlformats.org/drawingml/2006/main">
            <a:off x="1333500" y="1952625"/>
            <a:ext cx="1024890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Cevap yokken hangi ihtimaller açık?</a:t>
            </a:r>
          </a:p>
        </p:txBody>
      </p:sp>
      <p:sp>
        <p:nvSpPr>
          <p:cNvPr id="4" name="">
            <a:extLst xmlns:a="http://schemas.openxmlformats.org/drawingml/2006/main">
              <a:ext uri="{FF2B5EF4-FFF2-40B4-BE49-F238E27FC236}">
                <a16:creationId xmlns:a16="http://schemas.microsoft.com/office/drawing/2014/main" id="{A008558C-DEA8-41E2-92F0-BF069C3474F5}"/>
              </a:ext>
            </a:extLst>
          </p:cNvPr>
          <p:cNvSpPr>
            <a:spLocks xmlns:a="http://schemas.openxmlformats.org/drawingml/2006/main" noGrp="1"/>
          </p:cNvSpPr>
          <p:nvPr/>
        </p:nvSpPr>
        <p:spPr>
          <a:xfrm xmlns:a="http://schemas.openxmlformats.org/drawingml/2006/main">
            <a:off x="609600" y="2900363"/>
            <a:ext cx="43815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27030F8F-04D9-4EFF-B1CF-0A033CDEEC11}"/>
              </a:ext>
            </a:extLst>
          </p:cNvPr>
          <p:cNvSpPr>
            <a:spLocks xmlns:a="http://schemas.openxmlformats.org/drawingml/2006/main" noGrp="1"/>
          </p:cNvSpPr>
          <p:nvPr/>
        </p:nvSpPr>
        <p:spPr>
          <a:xfrm xmlns:a="http://schemas.openxmlformats.org/drawingml/2006/main">
            <a:off x="1333500" y="2900363"/>
            <a:ext cx="1024890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Tekrar deneme neyi iki kez yapabilir?</a:t>
            </a:r>
          </a:p>
        </p:txBody>
      </p:sp>
      <p:sp>
        <p:nvSpPr>
          <p:cNvPr id="6" name="">
            <a:extLst xmlns:a="http://schemas.openxmlformats.org/drawingml/2006/main">
              <a:ext uri="{FF2B5EF4-FFF2-40B4-BE49-F238E27FC236}">
                <a16:creationId xmlns:a16="http://schemas.microsoft.com/office/drawing/2014/main" id="{B9A005B5-C6B0-443B-99F9-86DD70F79162}"/>
              </a:ext>
            </a:extLst>
          </p:cNvPr>
          <p:cNvSpPr>
            <a:spLocks xmlns:a="http://schemas.openxmlformats.org/drawingml/2006/main" noGrp="1"/>
          </p:cNvSpPr>
          <p:nvPr/>
        </p:nvSpPr>
        <p:spPr>
          <a:xfrm xmlns:a="http://schemas.openxmlformats.org/drawingml/2006/main">
            <a:off x="609600" y="3848100"/>
            <a:ext cx="43815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CA35F12C-7DC8-423C-AC7C-13A2AF5CC57A}"/>
              </a:ext>
            </a:extLst>
          </p:cNvPr>
          <p:cNvSpPr>
            <a:spLocks xmlns:a="http://schemas.openxmlformats.org/drawingml/2006/main" noGrp="1"/>
          </p:cNvSpPr>
          <p:nvPr/>
        </p:nvSpPr>
        <p:spPr>
          <a:xfrm xmlns:a="http://schemas.openxmlformats.org/drawingml/2006/main">
            <a:off x="1333500" y="3848100"/>
            <a:ext cx="1024890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Olayları hangi sırayla biliyoruz?</a:t>
            </a:r>
          </a:p>
        </p:txBody>
      </p:sp>
      <p:sp>
        <p:nvSpPr>
          <p:cNvPr id="8" name="">
            <a:extLst xmlns:a="http://schemas.openxmlformats.org/drawingml/2006/main">
              <a:ext uri="{FF2B5EF4-FFF2-40B4-BE49-F238E27FC236}">
                <a16:creationId xmlns:a16="http://schemas.microsoft.com/office/drawing/2014/main" id="{2D62A0A4-37A7-4100-96E2-8D52682CC347}"/>
              </a:ext>
            </a:extLst>
          </p:cNvPr>
          <p:cNvSpPr>
            <a:spLocks xmlns:a="http://schemas.openxmlformats.org/drawingml/2006/main" noGrp="1"/>
          </p:cNvSpPr>
          <p:nvPr/>
        </p:nvSpPr>
        <p:spPr>
          <a:xfrm xmlns:a="http://schemas.openxmlformats.org/drawingml/2006/main">
            <a:off x="609600" y="4795838"/>
            <a:ext cx="43815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04</a:t>
            </a:r>
          </a:p>
        </p:txBody>
      </p:sp>
      <p:sp>
        <p:nvSpPr>
          <p:cNvPr id="9" name="">
            <a:extLst xmlns:a="http://schemas.openxmlformats.org/drawingml/2006/main">
              <a:ext uri="{FF2B5EF4-FFF2-40B4-BE49-F238E27FC236}">
                <a16:creationId xmlns:a16="http://schemas.microsoft.com/office/drawing/2014/main" id="{C7870089-9EB9-4587-B32B-3885BD126B69}"/>
              </a:ext>
            </a:extLst>
          </p:cNvPr>
          <p:cNvSpPr>
            <a:spLocks xmlns:a="http://schemas.openxmlformats.org/drawingml/2006/main" noGrp="1"/>
          </p:cNvSpPr>
          <p:nvPr/>
        </p:nvSpPr>
        <p:spPr>
          <a:xfrm xmlns:a="http://schemas.openxmlformats.org/drawingml/2006/main">
            <a:off x="1333500" y="4795838"/>
            <a:ext cx="1024890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Kopyalar hangi görünümü vaat ediyor?</a:t>
            </a:r>
          </a:p>
        </p:txBody>
      </p:sp>
      <p:sp>
        <p:nvSpPr>
          <p:cNvPr id="10" name="">
            <a:extLst xmlns:a="http://schemas.openxmlformats.org/drawingml/2006/main">
              <a:ext uri="{FF2B5EF4-FFF2-40B4-BE49-F238E27FC236}">
                <a16:creationId xmlns:a16="http://schemas.microsoft.com/office/drawing/2014/main" id="{CB77BE9E-2F41-4C10-BB73-FD74152B37C7}"/>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10</a:t>
            </a:r>
          </a:p>
        </p:txBody>
      </p:sp>
      <p:sp>
        <p:nvSpPr>
          <p:cNvPr id="11" name="">
            <a:extLst xmlns:a="http://schemas.openxmlformats.org/drawingml/2006/main">
              <a:ext uri="{FF2B5EF4-FFF2-40B4-BE49-F238E27FC236}">
                <a16:creationId xmlns:a16="http://schemas.microsoft.com/office/drawing/2014/main" id="{AB1BDF67-2012-4821-BF1F-7BF1564A3198}"/>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02 / 27</a:t>
            </a:r>
          </a:p>
        </p:txBody>
      </p:sp>
    </p:spTree>
    <p:extLst>
      <p:ext uri="{BB962C8B-B14F-4D97-AF65-F5344CB8AC3E}">
        <p14:creationId xmlns:p14="http://schemas.microsoft.com/office/powerpoint/2010/main" val="1563504327"/>
      </p:ext>
    </p:extLst>
  </p:cSld>
</p:sld>
</file>

<file path=ppt/slides/slide3.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D852CAC-F649-41AE-826C-7262C3A1B8EB}"/>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Adres alanını paylaşmak yerine mesaj</a:t>
            </a:r>
          </a:p>
        </p:txBody>
      </p:sp>
      <p:sp>
        <p:nvSpPr>
          <p:cNvPr id="2" name="">
            <a:extLst xmlns:a="http://schemas.openxmlformats.org/drawingml/2006/main">
              <a:ext uri="{FF2B5EF4-FFF2-40B4-BE49-F238E27FC236}">
                <a16:creationId xmlns:a16="http://schemas.microsoft.com/office/drawing/2014/main" id="{32BA06D8-10F9-4DD1-98E3-B46E77BD0162}"/>
              </a:ext>
            </a:extLst>
          </p:cNvPr>
          <p:cNvSpPr>
            <a:spLocks xmlns:a="http://schemas.openxmlformats.org/drawingml/2006/main" noGrp="1"/>
          </p:cNvSpPr>
          <p:nvPr/>
        </p:nvSpPr>
        <p:spPr>
          <a:xfrm xmlns:a="http://schemas.openxmlformats.org/drawingml/2006/main">
            <a:off x="609600" y="1952625"/>
            <a:ext cx="5295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E83"/>
                </a:solidFill>
                <a:latin typeface="Helvetica Neue"/>
                <a:ea typeface="Helvetica Neue"/>
                <a:cs typeface="Helvetica Neue"/>
              </a:defRPr>
            </a:pPr>
            <a:r>
              <a:rPr sz="2250" b="1">
                <a:solidFill>
                  <a:srgbClr val="087E83"/>
                </a:solidFill>
                <a:latin typeface="Helvetica Neue"/>
                <a:ea typeface="Helvetica Neue"/>
                <a:cs typeface="Helvetica Neue"/>
              </a:rPr>
              <a:t>Makine A</a:t>
            </a:r>
          </a:p>
        </p:txBody>
      </p:sp>
      <p:sp>
        <p:nvSpPr>
          <p:cNvPr id="3" name="">
            <a:extLst xmlns:a="http://schemas.openxmlformats.org/drawingml/2006/main">
              <a:ext uri="{FF2B5EF4-FFF2-40B4-BE49-F238E27FC236}">
                <a16:creationId xmlns:a16="http://schemas.microsoft.com/office/drawing/2014/main" id="{FF96C7FC-1B21-493E-8555-D9CE905BA649}"/>
              </a:ext>
            </a:extLst>
          </p:cNvPr>
          <p:cNvSpPr>
            <a:spLocks xmlns:a="http://schemas.openxmlformats.org/drawingml/2006/main" noGrp="1"/>
          </p:cNvSpPr>
          <p:nvPr/>
        </p:nvSpPr>
        <p:spPr>
          <a:xfrm xmlns:a="http://schemas.openxmlformats.org/drawingml/2006/main">
            <a:off x="609600" y="2714625"/>
            <a:ext cx="5295900" cy="2505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Yerel bellek</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Gönderilen mesaj</a:t>
            </a:r>
          </a:p>
        </p:txBody>
      </p:sp>
      <p:sp>
        <p:nvSpPr>
          <p:cNvPr id="4" name="">
            <a:extLst xmlns:a="http://schemas.openxmlformats.org/drawingml/2006/main">
              <a:ext uri="{FF2B5EF4-FFF2-40B4-BE49-F238E27FC236}">
                <a16:creationId xmlns:a16="http://schemas.microsoft.com/office/drawing/2014/main" id="{D1092FC5-80E8-4ED5-B384-823208021DAE}"/>
              </a:ext>
            </a:extLst>
          </p:cNvPr>
          <p:cNvSpPr>
            <a:spLocks xmlns:a="http://schemas.openxmlformats.org/drawingml/2006/main" noGrp="1"/>
          </p:cNvSpPr>
          <p:nvPr/>
        </p:nvSpPr>
        <p:spPr>
          <a:xfrm xmlns:a="http://schemas.openxmlformats.org/drawingml/2006/main">
            <a:off x="6286500" y="1952625"/>
            <a:ext cx="5295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E83"/>
                </a:solidFill>
                <a:latin typeface="Helvetica Neue"/>
                <a:ea typeface="Helvetica Neue"/>
                <a:cs typeface="Helvetica Neue"/>
              </a:defRPr>
            </a:pPr>
            <a:r>
              <a:rPr sz="2250" b="1">
                <a:solidFill>
                  <a:srgbClr val="087E83"/>
                </a:solidFill>
                <a:latin typeface="Helvetica Neue"/>
                <a:ea typeface="Helvetica Neue"/>
                <a:cs typeface="Helvetica Neue"/>
              </a:rPr>
              <a:t>Makine B</a:t>
            </a:r>
          </a:p>
        </p:txBody>
      </p:sp>
      <p:sp>
        <p:nvSpPr>
          <p:cNvPr id="5" name="">
            <a:extLst xmlns:a="http://schemas.openxmlformats.org/drawingml/2006/main">
              <a:ext uri="{FF2B5EF4-FFF2-40B4-BE49-F238E27FC236}">
                <a16:creationId xmlns:a16="http://schemas.microsoft.com/office/drawing/2014/main" id="{93823FD8-52A8-41A0-ABD8-682327B759A2}"/>
              </a:ext>
            </a:extLst>
          </p:cNvPr>
          <p:cNvSpPr>
            <a:spLocks xmlns:a="http://schemas.openxmlformats.org/drawingml/2006/main" noGrp="1"/>
          </p:cNvSpPr>
          <p:nvPr/>
        </p:nvSpPr>
        <p:spPr>
          <a:xfrm xmlns:a="http://schemas.openxmlformats.org/drawingml/2006/main">
            <a:off x="6286500" y="2714625"/>
            <a:ext cx="5295900" cy="2505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Ayrı bellek</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Alınan veri</a:t>
            </a:r>
          </a:p>
        </p:txBody>
      </p:sp>
      <p:sp>
        <p:nvSpPr>
          <p:cNvPr id="6" name="">
            <a:extLst xmlns:a="http://schemas.openxmlformats.org/drawingml/2006/main">
              <a:ext uri="{FF2B5EF4-FFF2-40B4-BE49-F238E27FC236}">
                <a16:creationId xmlns:a16="http://schemas.microsoft.com/office/drawing/2014/main" id="{C2BBB77E-1FB9-49B3-A3B4-F488694FC9D8}"/>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Gerçek hayat: Mobil uygulama ve servis</a:t>
            </a:r>
          </a:p>
        </p:txBody>
      </p:sp>
      <p:sp>
        <p:nvSpPr>
          <p:cNvPr id="7" name="">
            <a:extLst xmlns:a="http://schemas.openxmlformats.org/drawingml/2006/main">
              <a:ext uri="{FF2B5EF4-FFF2-40B4-BE49-F238E27FC236}">
                <a16:creationId xmlns:a16="http://schemas.microsoft.com/office/drawing/2014/main" id="{2908EE25-2A4F-4042-91ED-EE0563D6D7B0}"/>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Telefon sipariş gönderir.</a:t>
            </a:r>
          </a:p>
        </p:txBody>
      </p:sp>
      <p:sp>
        <p:nvSpPr>
          <p:cNvPr id="8" name="">
            <a:extLst xmlns:a="http://schemas.openxmlformats.org/drawingml/2006/main">
              <a:ext uri="{FF2B5EF4-FFF2-40B4-BE49-F238E27FC236}">
                <a16:creationId xmlns:a16="http://schemas.microsoft.com/office/drawing/2014/main" id="{93D73DE5-45E5-4F82-9560-FEE2CD8B4517}"/>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10</a:t>
            </a:r>
          </a:p>
        </p:txBody>
      </p:sp>
      <p:sp>
        <p:nvSpPr>
          <p:cNvPr id="9" name="">
            <a:extLst xmlns:a="http://schemas.openxmlformats.org/drawingml/2006/main">
              <a:ext uri="{FF2B5EF4-FFF2-40B4-BE49-F238E27FC236}">
                <a16:creationId xmlns:a16="http://schemas.microsoft.com/office/drawing/2014/main" id="{8F5837EC-AFA2-41F0-8944-80D106A6A77F}"/>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03 / 27</a:t>
            </a:r>
          </a:p>
        </p:txBody>
      </p:sp>
    </p:spTree>
    <p:extLst>
      <p:ext uri="{BB962C8B-B14F-4D97-AF65-F5344CB8AC3E}">
        <p14:creationId xmlns:p14="http://schemas.microsoft.com/office/powerpoint/2010/main" val="1735470686"/>
      </p:ext>
    </p:extLst>
  </p:cSld>
</p:sld>
</file>

<file path=ppt/slides/slide4.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C414ACB-9CCB-4F4C-BCB6-7208A835E1EF}"/>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Gecikme: yalnız mesafe değil</a:t>
            </a:r>
          </a:p>
        </p:txBody>
      </p:sp>
      <p:graphicFrame>
        <p:nvGraphicFramePr>
          <p:cNvPr id="8" name=""/>
          <p:cNvGraphicFramePr/>
          <p:nvPr/>
        </p:nvGraphicFramePr>
        <p:xfrm>
          <a:off xmlns:a="http://schemas.openxmlformats.org/drawingml/2006/main" x="609600" y="1857375"/>
          <a:ext xmlns:a="http://schemas.openxmlformats.org/drawingml/2006/main" cx="10972800" cy="3362325"/>
        </p:xfrm>
        <a:graphic xmlns:a="http://schemas.openxmlformats.org/drawingml/2006/main">
          <a:graphicData uri="http://schemas.openxmlformats.org/drawingml/2006/table">
            <a:tbl>
              <a:tblPr/>
              <a:tblGrid>
                <a:gridCol w="5486400"/>
                <a:gridCol w="5486400"/>
              </a:tblGrid>
              <a:tr h="840581">
                <a:tc>
                  <a:txBody>
                    <a:bodyPr/>
                    <a:lstStyle/>
                    <a:p>
                      <a:r>
                        <a:rPr sz="1800" b="1">
                          <a:solidFill>
                            <a:srgbClr val="FFFFFF"/>
                          </a:solidFill>
                          <a:latin typeface="Helvetica Neue"/>
                          <a:ea typeface="Helvetica Neue"/>
                          <a:cs typeface="Helvetica Neue"/>
                        </a:rPr>
                        <a:t>Bileşen</a:t>
                      </a:r>
                    </a:p>
                  </a:txBody>
                  <a:tcPr marL="114300" marR="114300" marT="47625" marB="47625" anchor="ctr">
                    <a:solidFill>
                      <a:srgbClr val="122C42"/>
                    </a:solidFill>
                  </a:tcPr>
                </a:tc>
                <a:tc>
                  <a:txBody>
                    <a:bodyPr/>
                    <a:lstStyle/>
                    <a:p>
                      <a:r>
                        <a:rPr sz="1800" b="1">
                          <a:solidFill>
                            <a:srgbClr val="FFFFFF"/>
                          </a:solidFill>
                          <a:latin typeface="Helvetica Neue"/>
                          <a:ea typeface="Helvetica Neue"/>
                          <a:cs typeface="Helvetica Neue"/>
                        </a:rPr>
                        <a:t>İzlenecek soru</a:t>
                      </a:r>
                    </a:p>
                  </a:txBody>
                  <a:tcPr marL="114300" marR="114300" marT="47625" marB="47625" anchor="ctr">
                    <a:solidFill>
                      <a:srgbClr val="122C42"/>
                    </a:solidFill>
                  </a:tcPr>
                </a:tc>
              </a:tr>
              <a:tr h="840581">
                <a:tc>
                  <a:txBody>
                    <a:bodyPr/>
                    <a:lstStyle/>
                    <a:p>
                      <a:r>
                        <a:rPr sz="1800" b="0">
                          <a:solidFill>
                            <a:srgbClr val="122C42"/>
                          </a:solidFill>
                          <a:latin typeface="Helvetica Neue"/>
                          <a:ea typeface="Helvetica Neue"/>
                          <a:cs typeface="Helvetica Neue"/>
                        </a:rPr>
                        <a:t>Client/server queue</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Ne kadar sıra beklendi?</a:t>
                      </a:r>
                    </a:p>
                  </a:txBody>
                  <a:tcPr marL="114300" marR="114300" marT="47625" marB="47625" anchor="ctr">
                    <a:solidFill>
                      <a:srgbClr val="FFFFFF"/>
                    </a:solidFill>
                  </a:tcPr>
                </a:tc>
              </a:tr>
              <a:tr h="840581">
                <a:tc>
                  <a:txBody>
                    <a:bodyPr/>
                    <a:lstStyle/>
                    <a:p>
                      <a:r>
                        <a:rPr sz="1800" b="0">
                          <a:solidFill>
                            <a:srgbClr val="122C42"/>
                          </a:solidFill>
                          <a:latin typeface="Helvetica Neue"/>
                          <a:ea typeface="Helvetica Neue"/>
                          <a:cs typeface="Helvetica Neue"/>
                        </a:rPr>
                        <a:t>Network</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Mesaj ne zaman ulaşabildi?</a:t>
                      </a:r>
                    </a:p>
                  </a:txBody>
                  <a:tcPr marL="114300" marR="114300" marT="47625" marB="47625" anchor="ctr">
                    <a:solidFill>
                      <a:srgbClr val="ECF0EC"/>
                    </a:solidFill>
                  </a:tcPr>
                </a:tc>
              </a:tr>
              <a:tr h="840581">
                <a:tc>
                  <a:txBody>
                    <a:bodyPr/>
                    <a:lstStyle/>
                    <a:p>
                      <a:r>
                        <a:rPr sz="1800" b="0">
                          <a:solidFill>
                            <a:srgbClr val="122C42"/>
                          </a:solidFill>
                          <a:latin typeface="Helvetica Neue"/>
                          <a:ea typeface="Helvetica Neue"/>
                          <a:cs typeface="Helvetica Neue"/>
                        </a:rPr>
                        <a:t>İşlem</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Server ne kadar iş yaptı?</a:t>
                      </a:r>
                    </a:p>
                  </a:txBody>
                  <a:tcPr marL="114300" marR="114300" marT="47625" marB="47625"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51BD2329-E9B4-4981-A3B9-C2A3440128EB}"/>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Gerçek hayat: Yavaş arama</a:t>
            </a:r>
          </a:p>
        </p:txBody>
      </p:sp>
      <p:sp>
        <p:nvSpPr>
          <p:cNvPr id="4" name="">
            <a:extLst xmlns:a="http://schemas.openxmlformats.org/drawingml/2006/main">
              <a:ext uri="{FF2B5EF4-FFF2-40B4-BE49-F238E27FC236}">
                <a16:creationId xmlns:a16="http://schemas.microsoft.com/office/drawing/2014/main" id="{2EF82698-CCDC-4EBA-A332-A185C2CA61DE}"/>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Bazı aramalar nadiren çok uzun sürer.</a:t>
            </a:r>
          </a:p>
        </p:txBody>
      </p:sp>
      <p:sp>
        <p:nvSpPr>
          <p:cNvPr id="5" name="">
            <a:extLst xmlns:a="http://schemas.openxmlformats.org/drawingml/2006/main">
              <a:ext uri="{FF2B5EF4-FFF2-40B4-BE49-F238E27FC236}">
                <a16:creationId xmlns:a16="http://schemas.microsoft.com/office/drawing/2014/main" id="{61DC8EEA-3CBC-4994-BBEE-61445A4BC25B}"/>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10</a:t>
            </a:r>
          </a:p>
        </p:txBody>
      </p:sp>
      <p:sp>
        <p:nvSpPr>
          <p:cNvPr id="6" name="">
            <a:extLst xmlns:a="http://schemas.openxmlformats.org/drawingml/2006/main">
              <a:ext uri="{FF2B5EF4-FFF2-40B4-BE49-F238E27FC236}">
                <a16:creationId xmlns:a16="http://schemas.microsoft.com/office/drawing/2014/main" id="{416AB32B-65AF-4655-AD90-613FE456832A}"/>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04 / 27</a:t>
            </a:r>
          </a:p>
        </p:txBody>
      </p:sp>
    </p:spTree>
    <p:extLst>
      <p:ext uri="{BB962C8B-B14F-4D97-AF65-F5344CB8AC3E}">
        <p14:creationId xmlns:p14="http://schemas.microsoft.com/office/powerpoint/2010/main" val="1740330427"/>
      </p:ext>
    </p:extLst>
  </p:cSld>
</p:sld>
</file>

<file path=ppt/slides/slide5.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5DFB24E-5856-4CFB-91D7-E7FF523FFAA3}"/>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RPC yerel çağrıya benzer, eşit değildir</a:t>
            </a:r>
          </a:p>
        </p:txBody>
      </p:sp>
      <p:sp>
        <p:nvSpPr>
          <p:cNvPr id="2" name="">
            <a:extLst xmlns:a="http://schemas.openxmlformats.org/drawingml/2006/main">
              <a:ext uri="{FF2B5EF4-FFF2-40B4-BE49-F238E27FC236}">
                <a16:creationId xmlns:a16="http://schemas.microsoft.com/office/drawing/2014/main" id="{0DD3C2E2-52BF-4F02-BF27-63C8F4D6043F}"/>
              </a:ext>
            </a:extLst>
          </p:cNvPr>
          <p:cNvSpPr>
            <a:spLocks xmlns:a="http://schemas.openxmlformats.org/drawingml/2006/main" noGrp="1"/>
          </p:cNvSpPr>
          <p:nvPr/>
        </p:nvSpPr>
        <p:spPr>
          <a:xfrm xmlns:a="http://schemas.openxmlformats.org/drawingml/2006/main">
            <a:off x="609600" y="1952625"/>
            <a:ext cx="43815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8B51B16F-439C-4589-8EC5-4E66F345E132}"/>
              </a:ext>
            </a:extLst>
          </p:cNvPr>
          <p:cNvSpPr>
            <a:spLocks xmlns:a="http://schemas.openxmlformats.org/drawingml/2006/main" noGrp="1"/>
          </p:cNvSpPr>
          <p:nvPr/>
        </p:nvSpPr>
        <p:spPr>
          <a:xfrm xmlns:a="http://schemas.openxmlformats.org/drawingml/2006/main">
            <a:off x="1333500" y="1952625"/>
            <a:ext cx="1024890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İstek parametreleri encode edilir</a:t>
            </a:r>
          </a:p>
        </p:txBody>
      </p:sp>
      <p:sp>
        <p:nvSpPr>
          <p:cNvPr id="4" name="">
            <a:extLst xmlns:a="http://schemas.openxmlformats.org/drawingml/2006/main">
              <a:ext uri="{FF2B5EF4-FFF2-40B4-BE49-F238E27FC236}">
                <a16:creationId xmlns:a16="http://schemas.microsoft.com/office/drawing/2014/main" id="{4BC017E3-B2EB-478C-9DA7-1E582073FC71}"/>
              </a:ext>
            </a:extLst>
          </p:cNvPr>
          <p:cNvSpPr>
            <a:spLocks xmlns:a="http://schemas.openxmlformats.org/drawingml/2006/main" noGrp="1"/>
          </p:cNvSpPr>
          <p:nvPr/>
        </p:nvSpPr>
        <p:spPr>
          <a:xfrm xmlns:a="http://schemas.openxmlformats.org/drawingml/2006/main">
            <a:off x="609600" y="2900363"/>
            <a:ext cx="43815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CDF012C6-678B-485C-A08B-957B35152815}"/>
              </a:ext>
            </a:extLst>
          </p:cNvPr>
          <p:cNvSpPr>
            <a:spLocks xmlns:a="http://schemas.openxmlformats.org/drawingml/2006/main" noGrp="1"/>
          </p:cNvSpPr>
          <p:nvPr/>
        </p:nvSpPr>
        <p:spPr>
          <a:xfrm xmlns:a="http://schemas.openxmlformats.org/drawingml/2006/main">
            <a:off x="1333500" y="2900363"/>
            <a:ext cx="1024890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Server işlemi yürütür</a:t>
            </a:r>
          </a:p>
        </p:txBody>
      </p:sp>
      <p:sp>
        <p:nvSpPr>
          <p:cNvPr id="6" name="">
            <a:extLst xmlns:a="http://schemas.openxmlformats.org/drawingml/2006/main">
              <a:ext uri="{FF2B5EF4-FFF2-40B4-BE49-F238E27FC236}">
                <a16:creationId xmlns:a16="http://schemas.microsoft.com/office/drawing/2014/main" id="{9EA703CB-0451-41BF-AC2C-28736411C445}"/>
              </a:ext>
            </a:extLst>
          </p:cNvPr>
          <p:cNvSpPr>
            <a:spLocks xmlns:a="http://schemas.openxmlformats.org/drawingml/2006/main" noGrp="1"/>
          </p:cNvSpPr>
          <p:nvPr/>
        </p:nvSpPr>
        <p:spPr>
          <a:xfrm xmlns:a="http://schemas.openxmlformats.org/drawingml/2006/main">
            <a:off x="609600" y="3848100"/>
            <a:ext cx="43815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3F526E39-7781-41A8-8F28-D38DD0B5268D}"/>
              </a:ext>
            </a:extLst>
          </p:cNvPr>
          <p:cNvSpPr>
            <a:spLocks xmlns:a="http://schemas.openxmlformats.org/drawingml/2006/main" noGrp="1"/>
          </p:cNvSpPr>
          <p:nvPr/>
        </p:nvSpPr>
        <p:spPr>
          <a:xfrm xmlns:a="http://schemas.openxmlformats.org/drawingml/2006/main">
            <a:off x="1333500" y="3848100"/>
            <a:ext cx="1024890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Cevap geri taşınır</a:t>
            </a:r>
          </a:p>
        </p:txBody>
      </p:sp>
      <p:sp>
        <p:nvSpPr>
          <p:cNvPr id="8" name="">
            <a:extLst xmlns:a="http://schemas.openxmlformats.org/drawingml/2006/main">
              <a:ext uri="{FF2B5EF4-FFF2-40B4-BE49-F238E27FC236}">
                <a16:creationId xmlns:a16="http://schemas.microsoft.com/office/drawing/2014/main" id="{D4CFFD47-5CBE-4712-9540-B4A111A6F83E}"/>
              </a:ext>
            </a:extLst>
          </p:cNvPr>
          <p:cNvSpPr>
            <a:spLocks xmlns:a="http://schemas.openxmlformats.org/drawingml/2006/main" noGrp="1"/>
          </p:cNvSpPr>
          <p:nvPr/>
        </p:nvSpPr>
        <p:spPr>
          <a:xfrm xmlns:a="http://schemas.openxmlformats.org/drawingml/2006/main">
            <a:off x="609600" y="4795838"/>
            <a:ext cx="43815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04</a:t>
            </a:r>
          </a:p>
        </p:txBody>
      </p:sp>
      <p:sp>
        <p:nvSpPr>
          <p:cNvPr id="9" name="">
            <a:extLst xmlns:a="http://schemas.openxmlformats.org/drawingml/2006/main">
              <a:ext uri="{FF2B5EF4-FFF2-40B4-BE49-F238E27FC236}">
                <a16:creationId xmlns:a16="http://schemas.microsoft.com/office/drawing/2014/main" id="{6F540BA5-E8EF-478E-B7C7-0B524572749D}"/>
              </a:ext>
            </a:extLst>
          </p:cNvPr>
          <p:cNvSpPr>
            <a:spLocks xmlns:a="http://schemas.openxmlformats.org/drawingml/2006/main" noGrp="1"/>
          </p:cNvSpPr>
          <p:nvPr/>
        </p:nvSpPr>
        <p:spPr>
          <a:xfrm xmlns:a="http://schemas.openxmlformats.org/drawingml/2006/main">
            <a:off x="1333500" y="4795838"/>
            <a:ext cx="1024890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Her sınır ayrı hata noktasıdır</a:t>
            </a:r>
          </a:p>
        </p:txBody>
      </p:sp>
      <p:sp>
        <p:nvSpPr>
          <p:cNvPr id="10" name="">
            <a:extLst xmlns:a="http://schemas.openxmlformats.org/drawingml/2006/main">
              <a:ext uri="{FF2B5EF4-FFF2-40B4-BE49-F238E27FC236}">
                <a16:creationId xmlns:a16="http://schemas.microsoft.com/office/drawing/2014/main" id="{0041F12D-DE63-4CC1-B265-682BAF2C90AB}"/>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10</a:t>
            </a:r>
          </a:p>
        </p:txBody>
      </p:sp>
      <p:sp>
        <p:nvSpPr>
          <p:cNvPr id="11" name="">
            <a:extLst xmlns:a="http://schemas.openxmlformats.org/drawingml/2006/main">
              <a:ext uri="{FF2B5EF4-FFF2-40B4-BE49-F238E27FC236}">
                <a16:creationId xmlns:a16="http://schemas.microsoft.com/office/drawing/2014/main" id="{1AA53355-6D10-46D7-B9DB-E0AD62C975E8}"/>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05 / 27</a:t>
            </a:r>
          </a:p>
        </p:txBody>
      </p:sp>
    </p:spTree>
    <p:extLst>
      <p:ext uri="{BB962C8B-B14F-4D97-AF65-F5344CB8AC3E}">
        <p14:creationId xmlns:p14="http://schemas.microsoft.com/office/powerpoint/2010/main" val="282208544"/>
      </p:ext>
    </p:extLst>
  </p:cSld>
</p:sld>
</file>

<file path=ppt/slides/slide6.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4536B72-D59B-4A2B-A6E9-59F6560ACDCA}"/>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Partial failure: sistem tek bit değil</a:t>
            </a:r>
          </a:p>
        </p:txBody>
      </p:sp>
      <p:graphicFrame>
        <p:nvGraphicFramePr>
          <p:cNvPr id="8" name=""/>
          <p:cNvGraphicFramePr/>
          <p:nvPr/>
        </p:nvGraphicFramePr>
        <p:xfrm>
          <a:off xmlns:a="http://schemas.openxmlformats.org/drawingml/2006/main" x="609600" y="1857375"/>
          <a:ext xmlns:a="http://schemas.openxmlformats.org/drawingml/2006/main" cx="10972800" cy="3362325"/>
        </p:xfrm>
        <a:graphic xmlns:a="http://schemas.openxmlformats.org/drawingml/2006/main">
          <a:graphicData uri="http://schemas.openxmlformats.org/drawingml/2006/table">
            <a:tbl>
              <a:tblPr/>
              <a:tblGrid>
                <a:gridCol w="5486400"/>
                <a:gridCol w="5486400"/>
              </a:tblGrid>
              <a:tr h="840581">
                <a:tc>
                  <a:txBody>
                    <a:bodyPr/>
                    <a:lstStyle/>
                    <a:p>
                      <a:r>
                        <a:rPr sz="1800" b="1">
                          <a:solidFill>
                            <a:srgbClr val="FFFFFF"/>
                          </a:solidFill>
                          <a:latin typeface="Helvetica Neue"/>
                          <a:ea typeface="Helvetica Neue"/>
                          <a:cs typeface="Helvetica Neue"/>
                        </a:rPr>
                        <a:t>Gözlem</a:t>
                      </a:r>
                    </a:p>
                  </a:txBody>
                  <a:tcPr marL="114300" marR="114300" marT="47625" marB="47625" anchor="ctr">
                    <a:solidFill>
                      <a:srgbClr val="122C42"/>
                    </a:solidFill>
                  </a:tcPr>
                </a:tc>
                <a:tc>
                  <a:txBody>
                    <a:bodyPr/>
                    <a:lstStyle/>
                    <a:p>
                      <a:r>
                        <a:rPr sz="1800" b="1">
                          <a:solidFill>
                            <a:srgbClr val="FFFFFF"/>
                          </a:solidFill>
                          <a:latin typeface="Helvetica Neue"/>
                          <a:ea typeface="Helvetica Neue"/>
                          <a:cs typeface="Helvetica Neue"/>
                        </a:rPr>
                        <a:t>Çıkarılamayan sonuç</a:t>
                      </a:r>
                    </a:p>
                  </a:txBody>
                  <a:tcPr marL="114300" marR="114300" marT="47625" marB="47625" anchor="ctr">
                    <a:solidFill>
                      <a:srgbClr val="122C42"/>
                    </a:solidFill>
                  </a:tcPr>
                </a:tc>
              </a:tr>
              <a:tr h="840581">
                <a:tc>
                  <a:txBody>
                    <a:bodyPr/>
                    <a:lstStyle/>
                    <a:p>
                      <a:r>
                        <a:rPr sz="1800" b="0">
                          <a:solidFill>
                            <a:srgbClr val="122C42"/>
                          </a:solidFill>
                          <a:latin typeface="Helvetica Neue"/>
                          <a:ea typeface="Helvetica Neue"/>
                          <a:cs typeface="Helvetica Neue"/>
                        </a:rPr>
                        <a:t>Client bağlı</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Server kesin sağlıklı</a:t>
                      </a:r>
                    </a:p>
                  </a:txBody>
                  <a:tcPr marL="114300" marR="114300" marT="47625" marB="47625" anchor="ctr">
                    <a:solidFill>
                      <a:srgbClr val="FFFFFF"/>
                    </a:solidFill>
                  </a:tcPr>
                </a:tc>
              </a:tr>
              <a:tr h="840581">
                <a:tc>
                  <a:txBody>
                    <a:bodyPr/>
                    <a:lstStyle/>
                    <a:p>
                      <a:r>
                        <a:rPr sz="1800" b="0">
                          <a:solidFill>
                            <a:srgbClr val="122C42"/>
                          </a:solidFill>
                          <a:latin typeface="Helvetica Neue"/>
                          <a:ea typeface="Helvetica Neue"/>
                          <a:cs typeface="Helvetica Neue"/>
                        </a:rPr>
                        <a:t>Server işlemi yaptı</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Client cevabı aldı</a:t>
                      </a:r>
                    </a:p>
                  </a:txBody>
                  <a:tcPr marL="114300" marR="114300" marT="47625" marB="47625" anchor="ctr">
                    <a:solidFill>
                      <a:srgbClr val="ECF0EC"/>
                    </a:solidFill>
                  </a:tcPr>
                </a:tc>
              </a:tr>
              <a:tr h="840581">
                <a:tc>
                  <a:txBody>
                    <a:bodyPr/>
                    <a:lstStyle/>
                    <a:p>
                      <a:r>
                        <a:rPr sz="1800" b="0">
                          <a:solidFill>
                            <a:srgbClr val="122C42"/>
                          </a:solidFill>
                          <a:latin typeface="Helvetica Neue"/>
                          <a:ea typeface="Helvetica Neue"/>
                          <a:cs typeface="Helvetica Neue"/>
                        </a:rPr>
                        <a:t>Timeout</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İşlem hiç yapılmadı</a:t>
                      </a:r>
                    </a:p>
                  </a:txBody>
                  <a:tcPr marL="114300" marR="114300" marT="47625" marB="47625"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232428D8-5EF6-4FF2-B1AB-5B1844FB6541}"/>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Gerçek hayat: Bölgesel kesinti</a:t>
            </a:r>
          </a:p>
        </p:txBody>
      </p:sp>
      <p:sp>
        <p:nvSpPr>
          <p:cNvPr id="4" name="">
            <a:extLst xmlns:a="http://schemas.openxmlformats.org/drawingml/2006/main">
              <a:ext uri="{FF2B5EF4-FFF2-40B4-BE49-F238E27FC236}">
                <a16:creationId xmlns:a16="http://schemas.microsoft.com/office/drawing/2014/main" id="{9CD2356E-9D08-4E25-A484-AA60E15E3B56}"/>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Bir bölge erişilemez, diğeri çalışıyor.</a:t>
            </a:r>
          </a:p>
        </p:txBody>
      </p:sp>
      <p:sp>
        <p:nvSpPr>
          <p:cNvPr id="5" name="">
            <a:extLst xmlns:a="http://schemas.openxmlformats.org/drawingml/2006/main">
              <a:ext uri="{FF2B5EF4-FFF2-40B4-BE49-F238E27FC236}">
                <a16:creationId xmlns:a16="http://schemas.microsoft.com/office/drawing/2014/main" id="{9FD6C297-31E6-4050-BFC9-F6C732A3F29A}"/>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10</a:t>
            </a:r>
          </a:p>
        </p:txBody>
      </p:sp>
      <p:sp>
        <p:nvSpPr>
          <p:cNvPr id="6" name="">
            <a:extLst xmlns:a="http://schemas.openxmlformats.org/drawingml/2006/main">
              <a:ext uri="{FF2B5EF4-FFF2-40B4-BE49-F238E27FC236}">
                <a16:creationId xmlns:a16="http://schemas.microsoft.com/office/drawing/2014/main" id="{433C4519-9EE4-4D83-94EA-17F0B8E2E0CF}"/>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06 / 27</a:t>
            </a:r>
          </a:p>
        </p:txBody>
      </p:sp>
    </p:spTree>
    <p:extLst>
      <p:ext uri="{BB962C8B-B14F-4D97-AF65-F5344CB8AC3E}">
        <p14:creationId xmlns:p14="http://schemas.microsoft.com/office/powerpoint/2010/main" val="1281438325"/>
      </p:ext>
    </p:extLst>
  </p:cSld>
</p:sld>
</file>

<file path=ppt/slides/slide7.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618A2F4-6010-4D76-AF16-50F40654368C}"/>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Timeout yalnız bekleme sınırıdır</a:t>
            </a:r>
          </a:p>
        </p:txBody>
      </p:sp>
      <p:sp>
        <p:nvSpPr>
          <p:cNvPr id="2" name="">
            <a:extLst xmlns:a="http://schemas.openxmlformats.org/drawingml/2006/main">
              <a:ext uri="{FF2B5EF4-FFF2-40B4-BE49-F238E27FC236}">
                <a16:creationId xmlns:a16="http://schemas.microsoft.com/office/drawing/2014/main" id="{D25FA649-1264-4025-A7BB-B58B2C8B74B3}"/>
              </a:ext>
            </a:extLst>
          </p:cNvPr>
          <p:cNvSpPr>
            <a:spLocks xmlns:a="http://schemas.openxmlformats.org/drawingml/2006/main" noGrp="1"/>
          </p:cNvSpPr>
          <p:nvPr/>
        </p:nvSpPr>
        <p:spPr>
          <a:xfrm xmlns:a="http://schemas.openxmlformats.org/drawingml/2006/main">
            <a:off x="609600" y="1952625"/>
            <a:ext cx="5295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E83"/>
                </a:solidFill>
                <a:latin typeface="Helvetica Neue"/>
                <a:ea typeface="Helvetica Neue"/>
                <a:cs typeface="Helvetica Neue"/>
              </a:defRPr>
            </a:pPr>
            <a:r>
              <a:rPr sz="2250" b="1">
                <a:solidFill>
                  <a:srgbClr val="087E83"/>
                </a:solidFill>
                <a:latin typeface="Helvetica Neue"/>
                <a:ea typeface="Helvetica Neue"/>
                <a:cs typeface="Helvetica Neue"/>
              </a:rPr>
              <a:t>Bilinen</a:t>
            </a:r>
          </a:p>
        </p:txBody>
      </p:sp>
      <p:sp>
        <p:nvSpPr>
          <p:cNvPr id="3" name="">
            <a:extLst xmlns:a="http://schemas.openxmlformats.org/drawingml/2006/main">
              <a:ext uri="{FF2B5EF4-FFF2-40B4-BE49-F238E27FC236}">
                <a16:creationId xmlns:a16="http://schemas.microsoft.com/office/drawing/2014/main" id="{4F28C7AD-061F-4480-803F-B88A83FED947}"/>
              </a:ext>
            </a:extLst>
          </p:cNvPr>
          <p:cNvSpPr>
            <a:spLocks xmlns:a="http://schemas.openxmlformats.org/drawingml/2006/main" noGrp="1"/>
          </p:cNvSpPr>
          <p:nvPr/>
        </p:nvSpPr>
        <p:spPr>
          <a:xfrm xmlns:a="http://schemas.openxmlformats.org/drawingml/2006/main">
            <a:off x="609600" y="2714625"/>
            <a:ext cx="5295900" cy="2505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Cevap deadline’a kadar gelmedi</a:t>
            </a:r>
          </a:p>
        </p:txBody>
      </p:sp>
      <p:sp>
        <p:nvSpPr>
          <p:cNvPr id="4" name="">
            <a:extLst xmlns:a="http://schemas.openxmlformats.org/drawingml/2006/main">
              <a:ext uri="{FF2B5EF4-FFF2-40B4-BE49-F238E27FC236}">
                <a16:creationId xmlns:a16="http://schemas.microsoft.com/office/drawing/2014/main" id="{BB683289-1505-409A-9ED4-DEF4CF5EBA47}"/>
              </a:ext>
            </a:extLst>
          </p:cNvPr>
          <p:cNvSpPr>
            <a:spLocks xmlns:a="http://schemas.openxmlformats.org/drawingml/2006/main" noGrp="1"/>
          </p:cNvSpPr>
          <p:nvPr/>
        </p:nvSpPr>
        <p:spPr>
          <a:xfrm xmlns:a="http://schemas.openxmlformats.org/drawingml/2006/main">
            <a:off x="6286500" y="1952625"/>
            <a:ext cx="5295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E83"/>
                </a:solidFill>
                <a:latin typeface="Helvetica Neue"/>
                <a:ea typeface="Helvetica Neue"/>
                <a:cs typeface="Helvetica Neue"/>
              </a:defRPr>
            </a:pPr>
            <a:r>
              <a:rPr sz="2250" b="1">
                <a:solidFill>
                  <a:srgbClr val="087E83"/>
                </a:solidFill>
                <a:latin typeface="Helvetica Neue"/>
                <a:ea typeface="Helvetica Neue"/>
                <a:cs typeface="Helvetica Neue"/>
              </a:rPr>
              <a:t>Bilinmeyen</a:t>
            </a:r>
          </a:p>
        </p:txBody>
      </p:sp>
      <p:sp>
        <p:nvSpPr>
          <p:cNvPr id="5" name="">
            <a:extLst xmlns:a="http://schemas.openxmlformats.org/drawingml/2006/main">
              <a:ext uri="{FF2B5EF4-FFF2-40B4-BE49-F238E27FC236}">
                <a16:creationId xmlns:a16="http://schemas.microsoft.com/office/drawing/2014/main" id="{9308BA55-49C0-4668-8671-383582927548}"/>
              </a:ext>
            </a:extLst>
          </p:cNvPr>
          <p:cNvSpPr>
            <a:spLocks xmlns:a="http://schemas.openxmlformats.org/drawingml/2006/main" noGrp="1"/>
          </p:cNvSpPr>
          <p:nvPr/>
        </p:nvSpPr>
        <p:spPr>
          <a:xfrm xmlns:a="http://schemas.openxmlformats.org/drawingml/2006/main">
            <a:off x="6286500" y="2714625"/>
            <a:ext cx="5295900" cy="2505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İşlem uygulanmış olabilir</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Sonuç başka yerde durabilir</a:t>
            </a:r>
          </a:p>
        </p:txBody>
      </p:sp>
      <p:sp>
        <p:nvSpPr>
          <p:cNvPr id="6" name="">
            <a:extLst xmlns:a="http://schemas.openxmlformats.org/drawingml/2006/main">
              <a:ext uri="{FF2B5EF4-FFF2-40B4-BE49-F238E27FC236}">
                <a16:creationId xmlns:a16="http://schemas.microsoft.com/office/drawing/2014/main" id="{0601E55A-DC19-4E83-9450-A1407671DE2E}"/>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Gerçek hayat: Sipariş onay ekranı</a:t>
            </a:r>
          </a:p>
        </p:txBody>
      </p:sp>
      <p:sp>
        <p:nvSpPr>
          <p:cNvPr id="7" name="">
            <a:extLst xmlns:a="http://schemas.openxmlformats.org/drawingml/2006/main">
              <a:ext uri="{FF2B5EF4-FFF2-40B4-BE49-F238E27FC236}">
                <a16:creationId xmlns:a16="http://schemas.microsoft.com/office/drawing/2014/main" id="{125B01D6-F3EE-4929-B4DD-6939BF939740}"/>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Ekran timeout gösterir.</a:t>
            </a:r>
          </a:p>
        </p:txBody>
      </p:sp>
      <p:sp>
        <p:nvSpPr>
          <p:cNvPr id="8" name="">
            <a:extLst xmlns:a="http://schemas.openxmlformats.org/drawingml/2006/main">
              <a:ext uri="{FF2B5EF4-FFF2-40B4-BE49-F238E27FC236}">
                <a16:creationId xmlns:a16="http://schemas.microsoft.com/office/drawing/2014/main" id="{5BC7F1F6-C08A-44A6-935A-79B7F8ADCAC4}"/>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10</a:t>
            </a:r>
          </a:p>
        </p:txBody>
      </p:sp>
      <p:sp>
        <p:nvSpPr>
          <p:cNvPr id="9" name="">
            <a:extLst xmlns:a="http://schemas.openxmlformats.org/drawingml/2006/main">
              <a:ext uri="{FF2B5EF4-FFF2-40B4-BE49-F238E27FC236}">
                <a16:creationId xmlns:a16="http://schemas.microsoft.com/office/drawing/2014/main" id="{29BC1D6B-4F2D-4C99-AD05-DC90C223130C}"/>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07 / 27</a:t>
            </a:r>
          </a:p>
        </p:txBody>
      </p:sp>
    </p:spTree>
    <p:extLst>
      <p:ext uri="{BB962C8B-B14F-4D97-AF65-F5344CB8AC3E}">
        <p14:creationId xmlns:p14="http://schemas.microsoft.com/office/powerpoint/2010/main" val="326521759"/>
      </p:ext>
    </p:extLst>
  </p:cSld>
</p:sld>
</file>

<file path=ppt/slides/slide8.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742D172-A127-48B5-BC5F-CA519D513F38}"/>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Bir isteğin üç olası hikâyesi</a:t>
            </a:r>
          </a:p>
        </p:txBody>
      </p:sp>
      <p:graphicFrame>
        <p:nvGraphicFramePr>
          <p:cNvPr id="7" name=""/>
          <p:cNvGraphicFramePr/>
          <p:nvPr/>
        </p:nvGraphicFramePr>
        <p:xfrm>
          <a:off xmlns:a="http://schemas.openxmlformats.org/drawingml/2006/main" x="609600" y="1857375"/>
          <a:ext xmlns:a="http://schemas.openxmlformats.org/drawingml/2006/main" cx="10972800" cy="3248025"/>
        </p:xfrm>
        <a:graphic xmlns:a="http://schemas.openxmlformats.org/drawingml/2006/main">
          <a:graphicData uri="http://schemas.openxmlformats.org/drawingml/2006/table">
            <a:tbl>
              <a:tblPr/>
              <a:tblGrid>
                <a:gridCol w="5486400"/>
                <a:gridCol w="5486400"/>
              </a:tblGrid>
              <a:tr h="812006">
                <a:tc>
                  <a:txBody>
                    <a:bodyPr/>
                    <a:lstStyle/>
                    <a:p>
                      <a:r>
                        <a:rPr sz="1800" b="1">
                          <a:solidFill>
                            <a:srgbClr val="FFFFFF"/>
                          </a:solidFill>
                          <a:latin typeface="Helvetica Neue"/>
                          <a:ea typeface="Helvetica Neue"/>
                          <a:cs typeface="Helvetica Neue"/>
                        </a:rPr>
                        <a:t>Olay</a:t>
                      </a:r>
                    </a:p>
                  </a:txBody>
                  <a:tcPr marL="114300" marR="114300" marT="47625" marB="47625" anchor="ctr">
                    <a:solidFill>
                      <a:srgbClr val="122C42"/>
                    </a:solidFill>
                  </a:tcPr>
                </a:tc>
                <a:tc>
                  <a:txBody>
                    <a:bodyPr/>
                    <a:lstStyle/>
                    <a:p>
                      <a:r>
                        <a:rPr sz="1800" b="1">
                          <a:solidFill>
                            <a:srgbClr val="FFFFFF"/>
                          </a:solidFill>
                          <a:latin typeface="Helvetica Neue"/>
                          <a:ea typeface="Helvetica Neue"/>
                          <a:cs typeface="Helvetica Neue"/>
                        </a:rPr>
                        <a:t>Client ne görüyor?</a:t>
                      </a:r>
                    </a:p>
                  </a:txBody>
                  <a:tcPr marL="114300" marR="114300" marT="47625" marB="47625" anchor="ctr">
                    <a:solidFill>
                      <a:srgbClr val="122C42"/>
                    </a:solidFill>
                  </a:tcPr>
                </a:tc>
              </a:tr>
              <a:tr h="812006">
                <a:tc>
                  <a:txBody>
                    <a:bodyPr/>
                    <a:lstStyle/>
                    <a:p>
                      <a:r>
                        <a:rPr sz="1800" b="0">
                          <a:solidFill>
                            <a:srgbClr val="122C42"/>
                          </a:solidFill>
                          <a:latin typeface="Helvetica Neue"/>
                          <a:ea typeface="Helvetica Neue"/>
                          <a:cs typeface="Helvetica Neue"/>
                        </a:rPr>
                        <a:t>İstek kayıp</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Timeout</a:t>
                      </a:r>
                    </a:p>
                  </a:txBody>
                  <a:tcPr marL="114300" marR="114300" marT="47625" marB="47625" anchor="ctr">
                    <a:solidFill>
                      <a:srgbClr val="FFFFFF"/>
                    </a:solidFill>
                  </a:tcPr>
                </a:tc>
              </a:tr>
              <a:tr h="812006">
                <a:tc>
                  <a:txBody>
                    <a:bodyPr/>
                    <a:lstStyle/>
                    <a:p>
                      <a:r>
                        <a:rPr sz="1800" b="0">
                          <a:solidFill>
                            <a:srgbClr val="122C42"/>
                          </a:solidFill>
                          <a:latin typeface="Helvetica Neue"/>
                          <a:ea typeface="Helvetica Neue"/>
                          <a:cs typeface="Helvetica Neue"/>
                        </a:rPr>
                        <a:t>İstek gecikti</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Timeout</a:t>
                      </a:r>
                    </a:p>
                  </a:txBody>
                  <a:tcPr marL="114300" marR="114300" marT="47625" marB="47625" anchor="ctr">
                    <a:solidFill>
                      <a:srgbClr val="ECF0EC"/>
                    </a:solidFill>
                  </a:tcPr>
                </a:tc>
              </a:tr>
              <a:tr h="812006">
                <a:tc>
                  <a:txBody>
                    <a:bodyPr/>
                    <a:lstStyle/>
                    <a:p>
                      <a:r>
                        <a:rPr sz="1800" b="0">
                          <a:solidFill>
                            <a:srgbClr val="122C42"/>
                          </a:solidFill>
                          <a:latin typeface="Helvetica Neue"/>
                          <a:ea typeface="Helvetica Neue"/>
                          <a:cs typeface="Helvetica Neue"/>
                        </a:rPr>
                        <a:t>İşlem uygulandı, cevap kayıp</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Timeout</a:t>
                      </a:r>
                    </a:p>
                  </a:txBody>
                  <a:tcPr marL="114300" marR="114300" marT="47625" marB="47625"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D42863BE-A616-4729-AFAE-B0428A288BC9}"/>
              </a:ext>
            </a:extLst>
          </p:cNvPr>
          <p:cNvSpPr>
            <a:spLocks xmlns:a="http://schemas.openxmlformats.org/drawingml/2006/main" noGrp="1"/>
          </p:cNvSpPr>
          <p:nvPr/>
        </p:nvSpPr>
        <p:spPr>
          <a:xfrm xmlns:a="http://schemas.openxmlformats.org/drawingml/2006/main">
            <a:off x="609600" y="523875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Düşün: Hangisinde tekrar iş yaratabilir?</a:t>
            </a:r>
          </a:p>
        </p:txBody>
      </p:sp>
      <p:sp>
        <p:nvSpPr>
          <p:cNvPr id="4" name="">
            <a:extLst xmlns:a="http://schemas.openxmlformats.org/drawingml/2006/main">
              <a:ext uri="{FF2B5EF4-FFF2-40B4-BE49-F238E27FC236}">
                <a16:creationId xmlns:a16="http://schemas.microsoft.com/office/drawing/2014/main" id="{65D8EC0C-2440-45CE-B4CE-FA5CE7FFF652}"/>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10</a:t>
            </a:r>
          </a:p>
        </p:txBody>
      </p:sp>
      <p:sp>
        <p:nvSpPr>
          <p:cNvPr id="5" name="">
            <a:extLst xmlns:a="http://schemas.openxmlformats.org/drawingml/2006/main">
              <a:ext uri="{FF2B5EF4-FFF2-40B4-BE49-F238E27FC236}">
                <a16:creationId xmlns:a16="http://schemas.microsoft.com/office/drawing/2014/main" id="{5A1352FF-630B-4E6E-AF2A-30132B6C9BD9}"/>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08 / 27</a:t>
            </a:r>
          </a:p>
        </p:txBody>
      </p:sp>
    </p:spTree>
    <p:extLst>
      <p:ext uri="{BB962C8B-B14F-4D97-AF65-F5344CB8AC3E}">
        <p14:creationId xmlns:p14="http://schemas.microsoft.com/office/powerpoint/2010/main" val="1723559538"/>
      </p:ext>
    </p:extLst>
  </p:cSld>
</p:sld>
</file>

<file path=ppt/slides/slide9.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59B84DC-6716-47FE-89C4-7B49680983D8}"/>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Sayısal iz: cevap kayıp, retry geldi</a:t>
            </a:r>
          </a:p>
        </p:txBody>
      </p:sp>
      <p:sp>
        <p:nvSpPr>
          <p:cNvPr id="2" name="">
            <a:extLst xmlns:a="http://schemas.openxmlformats.org/drawingml/2006/main">
              <a:ext uri="{FF2B5EF4-FFF2-40B4-BE49-F238E27FC236}">
                <a16:creationId xmlns:a16="http://schemas.microsoft.com/office/drawing/2014/main" id="{9FC17401-AE96-4866-86E8-D6FA42A0610C}"/>
              </a:ext>
            </a:extLst>
          </p:cNvPr>
          <p:cNvSpPr>
            <a:spLocks xmlns:a="http://schemas.openxmlformats.org/drawingml/2006/main" noGrp="1"/>
          </p:cNvSpPr>
          <p:nvPr/>
        </p:nvSpPr>
        <p:spPr>
          <a:xfrm xmlns:a="http://schemas.openxmlformats.org/drawingml/2006/main">
            <a:off x="609600" y="17145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4D606A"/>
                </a:solidFill>
                <a:latin typeface="Helvetica Neue"/>
                <a:ea typeface="Helvetica Neue"/>
                <a:cs typeface="Helvetica Neue"/>
              </a:defRPr>
            </a:pPr>
            <a:r>
              <a:rPr sz="1800" b="0">
                <a:solidFill>
                  <a:srgbClr val="4D606A"/>
                </a:solidFill>
                <a:latin typeface="Helvetica Neue"/>
                <a:ea typeface="Helvetica Neue"/>
                <a:cs typeface="Helvetica Neue"/>
              </a:rPr>
              <a:t>Zamanlar model birimidir, gerçek ölçüm değil</a:t>
            </a:r>
          </a:p>
        </p:txBody>
      </p:sp>
      <p:graphicFrame>
        <p:nvGraphicFramePr>
          <p:cNvPr id="8" name=""/>
          <p:cNvGraphicFramePr/>
          <p:nvPr/>
        </p:nvGraphicFramePr>
        <p:xfrm>
          <a:off xmlns:a="http://schemas.openxmlformats.org/drawingml/2006/main" x="609600" y="2209800"/>
          <a:ext xmlns:a="http://schemas.openxmlformats.org/drawingml/2006/main" cx="10972800" cy="3533775"/>
        </p:xfrm>
        <a:graphic xmlns:a="http://schemas.openxmlformats.org/drawingml/2006/main">
          <a:graphicData uri="http://schemas.openxmlformats.org/drawingml/2006/table">
            <a:tbl>
              <a:tblPr/>
              <a:tblGrid>
                <a:gridCol w="5486400"/>
                <a:gridCol w="5486400"/>
              </a:tblGrid>
              <a:tr h="504825">
                <a:tc>
                  <a:txBody>
                    <a:bodyPr/>
                    <a:lstStyle/>
                    <a:p>
                      <a:r>
                        <a:rPr sz="1800" b="1">
                          <a:solidFill>
                            <a:srgbClr val="FFFFFF"/>
                          </a:solidFill>
                          <a:latin typeface="Helvetica Neue"/>
                          <a:ea typeface="Helvetica Neue"/>
                          <a:cs typeface="Helvetica Neue"/>
                        </a:rPr>
                        <a:t>t</a:t>
                      </a:r>
                    </a:p>
                  </a:txBody>
                  <a:tcPr marL="114300" marR="114300" marT="47625" marB="47625" anchor="ctr">
                    <a:solidFill>
                      <a:srgbClr val="122C42"/>
                    </a:solidFill>
                  </a:tcPr>
                </a:tc>
                <a:tc>
                  <a:txBody>
                    <a:bodyPr/>
                    <a:lstStyle/>
                    <a:p>
                      <a:r>
                        <a:rPr sz="1800" b="1">
                          <a:solidFill>
                            <a:srgbClr val="FFFFFF"/>
                          </a:solidFill>
                          <a:latin typeface="Helvetica Neue"/>
                          <a:ea typeface="Helvetica Neue"/>
                          <a:cs typeface="Helvetica Neue"/>
                        </a:rPr>
                        <a:t>Olay</a:t>
                      </a:r>
                    </a:p>
                  </a:txBody>
                  <a:tcPr marL="114300" marR="114300" marT="47625" marB="47625" anchor="ctr">
                    <a:solidFill>
                      <a:srgbClr val="122C42"/>
                    </a:solidFill>
                  </a:tcPr>
                </a:tc>
              </a:tr>
              <a:tr h="504825">
                <a:tc>
                  <a:txBody>
                    <a:bodyPr/>
                    <a:lstStyle/>
                    <a:p>
                      <a:r>
                        <a:rPr sz="1800" b="0">
                          <a:solidFill>
                            <a:srgbClr val="122C42"/>
                          </a:solidFill>
                          <a:latin typeface="Helvetica Neue"/>
                          <a:ea typeface="Helvetica Neue"/>
                          <a:cs typeface="Helvetica Neue"/>
                        </a:rPr>
                        <a:t>0</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Client op-7 gönderir</a:t>
                      </a:r>
                    </a:p>
                  </a:txBody>
                  <a:tcPr marL="114300" marR="114300" marT="47625" marB="47625" anchor="ctr">
                    <a:solidFill>
                      <a:srgbClr val="FFFFFF"/>
                    </a:solidFill>
                  </a:tcPr>
                </a:tc>
              </a:tr>
              <a:tr h="504825">
                <a:tc>
                  <a:txBody>
                    <a:bodyPr/>
                    <a:lstStyle/>
                    <a:p>
                      <a:r>
                        <a:rPr sz="1800" b="0">
                          <a:solidFill>
                            <a:srgbClr val="122C42"/>
                          </a:solidFill>
                          <a:latin typeface="Helvetica Neue"/>
                          <a:ea typeface="Helvetica Neue"/>
                          <a:cs typeface="Helvetica Neue"/>
                        </a:rPr>
                        <a:t>4</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Server counter’ı artırır; reply kayıp</a:t>
                      </a:r>
                    </a:p>
                  </a:txBody>
                  <a:tcPr marL="114300" marR="114300" marT="47625" marB="47625" anchor="ctr">
                    <a:solidFill>
                      <a:srgbClr val="ECF0EC"/>
                    </a:solidFill>
                  </a:tcPr>
                </a:tc>
              </a:tr>
              <a:tr h="504825">
                <a:tc>
                  <a:txBody>
                    <a:bodyPr/>
                    <a:lstStyle/>
                    <a:p>
                      <a:r>
                        <a:rPr sz="1800" b="0">
                          <a:solidFill>
                            <a:srgbClr val="122C42"/>
                          </a:solidFill>
                          <a:latin typeface="Helvetica Neue"/>
                          <a:ea typeface="Helvetica Neue"/>
                          <a:cs typeface="Helvetica Neue"/>
                        </a:rPr>
                        <a:t>8</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Client timeout</a:t>
                      </a:r>
                    </a:p>
                  </a:txBody>
                  <a:tcPr marL="114300" marR="114300" marT="47625" marB="47625" anchor="ctr">
                    <a:solidFill>
                      <a:srgbClr val="FFFFFF"/>
                    </a:solidFill>
                  </a:tcPr>
                </a:tc>
              </a:tr>
              <a:tr h="504825">
                <a:tc>
                  <a:txBody>
                    <a:bodyPr/>
                    <a:lstStyle/>
                    <a:p>
                      <a:r>
                        <a:rPr sz="1800" b="0">
                          <a:solidFill>
                            <a:srgbClr val="122C42"/>
                          </a:solidFill>
                          <a:latin typeface="Helvetica Neue"/>
                          <a:ea typeface="Helvetica Neue"/>
                          <a:cs typeface="Helvetica Neue"/>
                        </a:rPr>
                        <a:t>10</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Aynı op-7 retry</a:t>
                      </a:r>
                    </a:p>
                  </a:txBody>
                  <a:tcPr marL="114300" marR="114300" marT="47625" marB="47625" anchor="ctr">
                    <a:solidFill>
                      <a:srgbClr val="ECF0EC"/>
                    </a:solidFill>
                  </a:tcPr>
                </a:tc>
              </a:tr>
              <a:tr h="504825">
                <a:tc>
                  <a:txBody>
                    <a:bodyPr/>
                    <a:lstStyle/>
                    <a:p>
                      <a:r>
                        <a:rPr sz="1800" b="0">
                          <a:solidFill>
                            <a:srgbClr val="122C42"/>
                          </a:solidFill>
                          <a:latin typeface="Helvetica Neue"/>
                          <a:ea typeface="Helvetica Neue"/>
                          <a:cs typeface="Helvetica Neue"/>
                        </a:rPr>
                        <a:t>11</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Server retry’ı ele alır</a:t>
                      </a:r>
                    </a:p>
                  </a:txBody>
                  <a:tcPr marL="114300" marR="114300" marT="47625" marB="47625" anchor="ctr">
                    <a:solidFill>
                      <a:srgbClr val="FFFFFF"/>
                    </a:solidFill>
                  </a:tcPr>
                </a:tc>
              </a:tr>
              <a:tr h="504825">
                <a:tc>
                  <a:txBody>
                    <a:bodyPr/>
                    <a:lstStyle/>
                    <a:p>
                      <a:r>
                        <a:rPr sz="1800" b="0">
                          <a:solidFill>
                            <a:srgbClr val="122C42"/>
                          </a:solidFill>
                          <a:latin typeface="Helvetica Neue"/>
                          <a:ea typeface="Helvetica Neue"/>
                          <a:cs typeface="Helvetica Neue"/>
                        </a:rPr>
                        <a:t>16</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Client cevabı görür</a:t>
                      </a:r>
                    </a:p>
                  </a:txBody>
                  <a:tcPr marL="114300" marR="114300" marT="47625" marB="47625" anchor="ctr">
                    <a:solidFill>
                      <a:srgbClr val="ECF0EC"/>
                    </a:solidFill>
                  </a:tcPr>
                </a:tc>
              </a:tr>
            </a:tbl>
          </a:graphicData>
        </a:graphic>
      </p:graphicFrame>
      <p:sp>
        <p:nvSpPr>
          <p:cNvPr id="4" name="">
            <a:extLst xmlns:a="http://schemas.openxmlformats.org/drawingml/2006/main">
              <a:ext uri="{FF2B5EF4-FFF2-40B4-BE49-F238E27FC236}">
                <a16:creationId xmlns:a16="http://schemas.microsoft.com/office/drawing/2014/main" id="{439F1C92-9A8C-4F4C-ABC7-DC1124A9645A}"/>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10</a:t>
            </a:r>
          </a:p>
        </p:txBody>
      </p:sp>
      <p:sp>
        <p:nvSpPr>
          <p:cNvPr id="5" name="">
            <a:extLst xmlns:a="http://schemas.openxmlformats.org/drawingml/2006/main">
              <a:ext uri="{FF2B5EF4-FFF2-40B4-BE49-F238E27FC236}">
                <a16:creationId xmlns:a16="http://schemas.microsoft.com/office/drawing/2014/main" id="{D19510FA-A0C4-4CAA-81F4-53518E9EB6EF}"/>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09 / 27</a:t>
            </a:r>
          </a:p>
        </p:txBody>
      </p:sp>
    </p:spTree>
    <p:extLst>
      <p:ext uri="{BB962C8B-B14F-4D97-AF65-F5344CB8AC3E}">
        <p14:creationId xmlns:p14="http://schemas.microsoft.com/office/powerpoint/2010/main" val="800377012"/>
      </p:ext>
    </p:extLst>
  </p:cSld>
</p:sld>
</file>

<file path=ppt/slides/slide10.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4BB680B-FB64-4630-9655-813B76FE4FB1}"/>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Aynı retry, iki farklı sonuç</a:t>
            </a:r>
          </a:p>
        </p:txBody>
      </p:sp>
      <p:sp>
        <p:nvSpPr>
          <p:cNvPr id="2" name="">
            <a:extLst xmlns:a="http://schemas.openxmlformats.org/drawingml/2006/main">
              <a:ext uri="{FF2B5EF4-FFF2-40B4-BE49-F238E27FC236}">
                <a16:creationId xmlns:a16="http://schemas.microsoft.com/office/drawing/2014/main" id="{FB1A2169-551B-4FFF-84AF-03BB24F18E7F}"/>
              </a:ext>
            </a:extLst>
          </p:cNvPr>
          <p:cNvSpPr>
            <a:spLocks xmlns:a="http://schemas.openxmlformats.org/drawingml/2006/main" noGrp="1"/>
          </p:cNvSpPr>
          <p:nvPr/>
        </p:nvSpPr>
        <p:spPr>
          <a:xfrm xmlns:a="http://schemas.openxmlformats.org/drawingml/2006/main">
            <a:off x="609600" y="1952625"/>
            <a:ext cx="5295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E83"/>
                </a:solidFill>
                <a:latin typeface="Helvetica Neue"/>
                <a:ea typeface="Helvetica Neue"/>
                <a:cs typeface="Helvetica Neue"/>
              </a:defRPr>
            </a:pPr>
            <a:r>
              <a:rPr sz="2250" b="1">
                <a:solidFill>
                  <a:srgbClr val="087E83"/>
                </a:solidFill>
                <a:latin typeface="Helvetica Neue"/>
                <a:ea typeface="Helvetica Neue"/>
                <a:cs typeface="Helvetica Neue"/>
              </a:rPr>
              <a:t>Naive</a:t>
            </a:r>
          </a:p>
        </p:txBody>
      </p:sp>
      <p:sp>
        <p:nvSpPr>
          <p:cNvPr id="3" name="">
            <a:extLst xmlns:a="http://schemas.openxmlformats.org/drawingml/2006/main">
              <a:ext uri="{FF2B5EF4-FFF2-40B4-BE49-F238E27FC236}">
                <a16:creationId xmlns:a16="http://schemas.microsoft.com/office/drawing/2014/main" id="{D3BEC3CA-84E8-465A-9E47-8E5DF21AA427}"/>
              </a:ext>
            </a:extLst>
          </p:cNvPr>
          <p:cNvSpPr>
            <a:spLocks xmlns:a="http://schemas.openxmlformats.org/drawingml/2006/main" noGrp="1"/>
          </p:cNvSpPr>
          <p:nvPr/>
        </p:nvSpPr>
        <p:spPr>
          <a:xfrm xmlns:a="http://schemas.openxmlformats.org/drawingml/2006/main">
            <a:off x="609600" y="2714625"/>
            <a:ext cx="5295900" cy="2505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İki teslim → iki increment</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Final counter=2</a:t>
            </a:r>
          </a:p>
        </p:txBody>
      </p:sp>
      <p:sp>
        <p:nvSpPr>
          <p:cNvPr id="4" name="">
            <a:extLst xmlns:a="http://schemas.openxmlformats.org/drawingml/2006/main">
              <a:ext uri="{FF2B5EF4-FFF2-40B4-BE49-F238E27FC236}">
                <a16:creationId xmlns:a16="http://schemas.microsoft.com/office/drawing/2014/main" id="{EDDA127F-5D32-4F5B-8D5D-B10EE43F2ACE}"/>
              </a:ext>
            </a:extLst>
          </p:cNvPr>
          <p:cNvSpPr>
            <a:spLocks xmlns:a="http://schemas.openxmlformats.org/drawingml/2006/main" noGrp="1"/>
          </p:cNvSpPr>
          <p:nvPr/>
        </p:nvSpPr>
        <p:spPr>
          <a:xfrm xmlns:a="http://schemas.openxmlformats.org/drawingml/2006/main">
            <a:off x="6286500" y="1952625"/>
            <a:ext cx="5295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E83"/>
                </a:solidFill>
                <a:latin typeface="Helvetica Neue"/>
                <a:ea typeface="Helvetica Neue"/>
                <a:cs typeface="Helvetica Neue"/>
              </a:defRPr>
            </a:pPr>
            <a:r>
              <a:rPr sz="2250" b="1">
                <a:solidFill>
                  <a:srgbClr val="087E83"/>
                </a:solidFill>
                <a:latin typeface="Helvetica Neue"/>
                <a:ea typeface="Helvetica Neue"/>
                <a:cs typeface="Helvetica Neue"/>
              </a:rPr>
              <a:t>Dedupe kaydı var</a:t>
            </a:r>
          </a:p>
        </p:txBody>
      </p:sp>
      <p:sp>
        <p:nvSpPr>
          <p:cNvPr id="5" name="">
            <a:extLst xmlns:a="http://schemas.openxmlformats.org/drawingml/2006/main">
              <a:ext uri="{FF2B5EF4-FFF2-40B4-BE49-F238E27FC236}">
                <a16:creationId xmlns:a16="http://schemas.microsoft.com/office/drawing/2014/main" id="{D38F933F-F792-4857-B4AB-621349242625}"/>
              </a:ext>
            </a:extLst>
          </p:cNvPr>
          <p:cNvSpPr>
            <a:spLocks xmlns:a="http://schemas.openxmlformats.org/drawingml/2006/main" noGrp="1"/>
          </p:cNvSpPr>
          <p:nvPr/>
        </p:nvSpPr>
        <p:spPr>
          <a:xfrm xmlns:a="http://schemas.openxmlformats.org/drawingml/2006/main">
            <a:off x="6286500" y="2714625"/>
            <a:ext cx="5295900" cy="2505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Aynı ID → önceki sonuç</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Final counter=1</a:t>
            </a:r>
          </a:p>
        </p:txBody>
      </p:sp>
      <p:sp>
        <p:nvSpPr>
          <p:cNvPr id="6" name="">
            <a:extLst xmlns:a="http://schemas.openxmlformats.org/drawingml/2006/main">
              <a:ext uri="{FF2B5EF4-FFF2-40B4-BE49-F238E27FC236}">
                <a16:creationId xmlns:a16="http://schemas.microsoft.com/office/drawing/2014/main" id="{8866B09E-7D6B-4F5E-B0DE-068767AF4C36}"/>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Gerçek hayat: Tekrar gönderilen iş</a:t>
            </a:r>
          </a:p>
        </p:txBody>
      </p:sp>
      <p:sp>
        <p:nvSpPr>
          <p:cNvPr id="7" name="">
            <a:extLst xmlns:a="http://schemas.openxmlformats.org/drawingml/2006/main">
              <a:ext uri="{FF2B5EF4-FFF2-40B4-BE49-F238E27FC236}">
                <a16:creationId xmlns:a16="http://schemas.microsoft.com/office/drawing/2014/main" id="{1DD416BB-E19C-488D-A932-C70B2D89195D}"/>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Yanıt gelmediği için iş tekrar sunulur.</a:t>
            </a:r>
          </a:p>
        </p:txBody>
      </p:sp>
      <p:sp>
        <p:nvSpPr>
          <p:cNvPr id="8" name="">
            <a:extLst xmlns:a="http://schemas.openxmlformats.org/drawingml/2006/main">
              <a:ext uri="{FF2B5EF4-FFF2-40B4-BE49-F238E27FC236}">
                <a16:creationId xmlns:a16="http://schemas.microsoft.com/office/drawing/2014/main" id="{412F91F7-5AB9-4121-B14A-7319E0CF1F4E}"/>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10</a:t>
            </a:r>
          </a:p>
        </p:txBody>
      </p:sp>
      <p:sp>
        <p:nvSpPr>
          <p:cNvPr id="9" name="">
            <a:extLst xmlns:a="http://schemas.openxmlformats.org/drawingml/2006/main">
              <a:ext uri="{FF2B5EF4-FFF2-40B4-BE49-F238E27FC236}">
                <a16:creationId xmlns:a16="http://schemas.microsoft.com/office/drawing/2014/main" id="{E0269814-34BB-47C3-BFA6-FC3181278A7E}"/>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10 / 27</a:t>
            </a:r>
          </a:p>
        </p:txBody>
      </p:sp>
    </p:spTree>
    <p:extLst>
      <p:ext uri="{BB962C8B-B14F-4D97-AF65-F5344CB8AC3E}">
        <p14:creationId xmlns:p14="http://schemas.microsoft.com/office/powerpoint/2010/main" val="1310721549"/>
      </p:ext>
    </p:extLst>
  </p:cSld>
</p:sld>
</file>

<file path=ppt/slides/slide11.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4BE3356-B8F3-4080-AE07-336E6A1344E1}"/>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Idempotency sözleşmesi açık olmalı</a:t>
            </a:r>
          </a:p>
        </p:txBody>
      </p:sp>
      <p:sp>
        <p:nvSpPr>
          <p:cNvPr id="2" name="">
            <a:extLst xmlns:a="http://schemas.openxmlformats.org/drawingml/2006/main">
              <a:ext uri="{FF2B5EF4-FFF2-40B4-BE49-F238E27FC236}">
                <a16:creationId xmlns:a16="http://schemas.microsoft.com/office/drawing/2014/main" id="{5843F443-4796-471F-AF87-8191A5B84972}"/>
              </a:ext>
            </a:extLst>
          </p:cNvPr>
          <p:cNvSpPr>
            <a:spLocks xmlns:a="http://schemas.openxmlformats.org/drawingml/2006/main" noGrp="1"/>
          </p:cNvSpPr>
          <p:nvPr/>
        </p:nvSpPr>
        <p:spPr>
          <a:xfrm xmlns:a="http://schemas.openxmlformats.org/drawingml/2006/main">
            <a:off x="609600" y="1952625"/>
            <a:ext cx="4381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7BAC9993-DF11-4FB3-9646-63AA4B8134E5}"/>
              </a:ext>
            </a:extLst>
          </p:cNvPr>
          <p:cNvSpPr>
            <a:spLocks xmlns:a="http://schemas.openxmlformats.org/drawingml/2006/main" noGrp="1"/>
          </p:cNvSpPr>
          <p:nvPr/>
        </p:nvSpPr>
        <p:spPr>
          <a:xfrm xmlns:a="http://schemas.openxmlformats.org/drawingml/2006/main">
            <a:off x="1333500" y="1952625"/>
            <a:ext cx="102489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Aynı logical operation aynı ID kullansın</a:t>
            </a:r>
          </a:p>
        </p:txBody>
      </p:sp>
      <p:sp>
        <p:nvSpPr>
          <p:cNvPr id="4" name="">
            <a:extLst xmlns:a="http://schemas.openxmlformats.org/drawingml/2006/main">
              <a:ext uri="{FF2B5EF4-FFF2-40B4-BE49-F238E27FC236}">
                <a16:creationId xmlns:a16="http://schemas.microsoft.com/office/drawing/2014/main" id="{0FA1996E-9401-40F9-94F1-1ADFE69CF8D8}"/>
              </a:ext>
            </a:extLst>
          </p:cNvPr>
          <p:cNvSpPr>
            <a:spLocks xmlns:a="http://schemas.openxmlformats.org/drawingml/2006/main" noGrp="1"/>
          </p:cNvSpPr>
          <p:nvPr/>
        </p:nvSpPr>
        <p:spPr>
          <a:xfrm xmlns:a="http://schemas.openxmlformats.org/drawingml/2006/main">
            <a:off x="609600" y="2769394"/>
            <a:ext cx="4381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BFFD46D0-9A12-42A9-8106-1CDD47FBCF02}"/>
              </a:ext>
            </a:extLst>
          </p:cNvPr>
          <p:cNvSpPr>
            <a:spLocks xmlns:a="http://schemas.openxmlformats.org/drawingml/2006/main" noGrp="1"/>
          </p:cNvSpPr>
          <p:nvPr/>
        </p:nvSpPr>
        <p:spPr>
          <a:xfrm xmlns:a="http://schemas.openxmlformats.org/drawingml/2006/main">
            <a:off x="1333500" y="2769394"/>
            <a:ext cx="102489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Aynı ID farklı payload ise reddet</a:t>
            </a:r>
          </a:p>
        </p:txBody>
      </p:sp>
      <p:sp>
        <p:nvSpPr>
          <p:cNvPr id="6" name="">
            <a:extLst xmlns:a="http://schemas.openxmlformats.org/drawingml/2006/main">
              <a:ext uri="{FF2B5EF4-FFF2-40B4-BE49-F238E27FC236}">
                <a16:creationId xmlns:a16="http://schemas.microsoft.com/office/drawing/2014/main" id="{AEDCE6B6-0DB1-4759-8FB3-9FB6B9F97BA7}"/>
              </a:ext>
            </a:extLst>
          </p:cNvPr>
          <p:cNvSpPr>
            <a:spLocks xmlns:a="http://schemas.openxmlformats.org/drawingml/2006/main" noGrp="1"/>
          </p:cNvSpPr>
          <p:nvPr/>
        </p:nvSpPr>
        <p:spPr>
          <a:xfrm xmlns:a="http://schemas.openxmlformats.org/drawingml/2006/main">
            <a:off x="609600" y="3586163"/>
            <a:ext cx="4381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99CF0924-7218-4AA1-9967-5DB00561C32D}"/>
              </a:ext>
            </a:extLst>
          </p:cNvPr>
          <p:cNvSpPr>
            <a:spLocks xmlns:a="http://schemas.openxmlformats.org/drawingml/2006/main" noGrp="1"/>
          </p:cNvSpPr>
          <p:nvPr/>
        </p:nvSpPr>
        <p:spPr>
          <a:xfrm xmlns:a="http://schemas.openxmlformats.org/drawingml/2006/main">
            <a:off x="1333500" y="3586163"/>
            <a:ext cx="102489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Sonucu hangi süre/kalıcılıkla sakladığını belirt</a:t>
            </a:r>
          </a:p>
        </p:txBody>
      </p:sp>
      <p:sp>
        <p:nvSpPr>
          <p:cNvPr id="8" name="">
            <a:extLst xmlns:a="http://schemas.openxmlformats.org/drawingml/2006/main">
              <a:ext uri="{FF2B5EF4-FFF2-40B4-BE49-F238E27FC236}">
                <a16:creationId xmlns:a16="http://schemas.microsoft.com/office/drawing/2014/main" id="{2521887C-477D-4502-A65C-65AE9EEEE61B}"/>
              </a:ext>
            </a:extLst>
          </p:cNvPr>
          <p:cNvSpPr>
            <a:spLocks xmlns:a="http://schemas.openxmlformats.org/drawingml/2006/main" noGrp="1"/>
          </p:cNvSpPr>
          <p:nvPr/>
        </p:nvSpPr>
        <p:spPr>
          <a:xfrm xmlns:a="http://schemas.openxmlformats.org/drawingml/2006/main">
            <a:off x="609600" y="4402931"/>
            <a:ext cx="4381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04</a:t>
            </a:r>
          </a:p>
        </p:txBody>
      </p:sp>
      <p:sp>
        <p:nvSpPr>
          <p:cNvPr id="9" name="">
            <a:extLst xmlns:a="http://schemas.openxmlformats.org/drawingml/2006/main">
              <a:ext uri="{FF2B5EF4-FFF2-40B4-BE49-F238E27FC236}">
                <a16:creationId xmlns:a16="http://schemas.microsoft.com/office/drawing/2014/main" id="{80920775-B3AC-4D69-A94F-D93DB69E50B3}"/>
              </a:ext>
            </a:extLst>
          </p:cNvPr>
          <p:cNvSpPr>
            <a:spLocks xmlns:a="http://schemas.openxmlformats.org/drawingml/2006/main" noGrp="1"/>
          </p:cNvSpPr>
          <p:nvPr/>
        </p:nvSpPr>
        <p:spPr>
          <a:xfrm xmlns:a="http://schemas.openxmlformats.org/drawingml/2006/main">
            <a:off x="1333500" y="4402931"/>
            <a:ext cx="102489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State ve sonuç kaydı birlikte korunmalı</a:t>
            </a:r>
          </a:p>
        </p:txBody>
      </p:sp>
      <p:sp>
        <p:nvSpPr>
          <p:cNvPr id="10" name="">
            <a:extLst xmlns:a="http://schemas.openxmlformats.org/drawingml/2006/main">
              <a:ext uri="{FF2B5EF4-FFF2-40B4-BE49-F238E27FC236}">
                <a16:creationId xmlns:a16="http://schemas.microsoft.com/office/drawing/2014/main" id="{90904CBA-07FC-48BB-AA3A-733F6AD17518}"/>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Gerçek hayat: Sepet güncellemesi</a:t>
            </a:r>
          </a:p>
        </p:txBody>
      </p:sp>
      <p:sp>
        <p:nvSpPr>
          <p:cNvPr id="11" name="">
            <a:extLst xmlns:a="http://schemas.openxmlformats.org/drawingml/2006/main">
              <a:ext uri="{FF2B5EF4-FFF2-40B4-BE49-F238E27FC236}">
                <a16:creationId xmlns:a16="http://schemas.microsoft.com/office/drawing/2014/main" id="{1629C3E9-E408-4A0E-B251-851BF9AC0571}"/>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set quantity=3 ile increment quantity farklıdır.</a:t>
            </a:r>
          </a:p>
        </p:txBody>
      </p:sp>
      <p:sp>
        <p:nvSpPr>
          <p:cNvPr id="12" name="">
            <a:extLst xmlns:a="http://schemas.openxmlformats.org/drawingml/2006/main">
              <a:ext uri="{FF2B5EF4-FFF2-40B4-BE49-F238E27FC236}">
                <a16:creationId xmlns:a16="http://schemas.microsoft.com/office/drawing/2014/main" id="{700F5471-F642-4823-8203-902BD209EB75}"/>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10</a:t>
            </a:r>
          </a:p>
        </p:txBody>
      </p:sp>
      <p:sp>
        <p:nvSpPr>
          <p:cNvPr id="13" name="">
            <a:extLst xmlns:a="http://schemas.openxmlformats.org/drawingml/2006/main">
              <a:ext uri="{FF2B5EF4-FFF2-40B4-BE49-F238E27FC236}">
                <a16:creationId xmlns:a16="http://schemas.microsoft.com/office/drawing/2014/main" id="{14C8CE19-32E3-459A-9B83-E5D58CF70ACF}"/>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11 / 27</a:t>
            </a:r>
          </a:p>
        </p:txBody>
      </p:sp>
    </p:spTree>
    <p:extLst>
      <p:ext uri="{BB962C8B-B14F-4D97-AF65-F5344CB8AC3E}">
        <p14:creationId xmlns:p14="http://schemas.microsoft.com/office/powerpoint/2010/main" val="717385110"/>
      </p:ext>
    </p:extLst>
  </p:cSld>
</p:sld>
</file>

<file path=ppt/slides/slide12.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1D51B2D-C98D-498E-B4A1-B1908F171106}"/>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“Exactly once” diyebilmek için ne eksik?</a:t>
            </a:r>
          </a:p>
        </p:txBody>
      </p:sp>
      <p:sp>
        <p:nvSpPr>
          <p:cNvPr id="2" name="">
            <a:extLst xmlns:a="http://schemas.openxmlformats.org/drawingml/2006/main">
              <a:ext uri="{FF2B5EF4-FFF2-40B4-BE49-F238E27FC236}">
                <a16:creationId xmlns:a16="http://schemas.microsoft.com/office/drawing/2014/main" id="{BE01E236-4D38-4E15-A0AF-54C5FEBF2B2F}"/>
              </a:ext>
            </a:extLst>
          </p:cNvPr>
          <p:cNvSpPr>
            <a:spLocks xmlns:a="http://schemas.openxmlformats.org/drawingml/2006/main" noGrp="1"/>
          </p:cNvSpPr>
          <p:nvPr/>
        </p:nvSpPr>
        <p:spPr>
          <a:xfrm xmlns:a="http://schemas.openxmlformats.org/drawingml/2006/main">
            <a:off x="609600" y="195262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BC516428-0A2A-436B-9581-710007983309}"/>
              </a:ext>
            </a:extLst>
          </p:cNvPr>
          <p:cNvSpPr>
            <a:spLocks xmlns:a="http://schemas.openxmlformats.org/drawingml/2006/main" noGrp="1"/>
          </p:cNvSpPr>
          <p:nvPr/>
        </p:nvSpPr>
        <p:spPr>
          <a:xfrm xmlns:a="http://schemas.openxmlformats.org/drawingml/2006/main">
            <a:off x="1333500" y="195262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Dedupe kaydı crash sonrası kaybolursa?</a:t>
            </a:r>
          </a:p>
        </p:txBody>
      </p:sp>
      <p:sp>
        <p:nvSpPr>
          <p:cNvPr id="4" name="">
            <a:extLst xmlns:a="http://schemas.openxmlformats.org/drawingml/2006/main">
              <a:ext uri="{FF2B5EF4-FFF2-40B4-BE49-F238E27FC236}">
                <a16:creationId xmlns:a16="http://schemas.microsoft.com/office/drawing/2014/main" id="{F1934D8E-DF3B-4C4B-8B8D-DD1E25DAD2A8}"/>
              </a:ext>
            </a:extLst>
          </p:cNvPr>
          <p:cNvSpPr>
            <a:spLocks xmlns:a="http://schemas.openxmlformats.org/drawingml/2006/main" noGrp="1"/>
          </p:cNvSpPr>
          <p:nvPr/>
        </p:nvSpPr>
        <p:spPr>
          <a:xfrm xmlns:a="http://schemas.openxmlformats.org/drawingml/2006/main">
            <a:off x="609600" y="321627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C0834AFB-58B8-4A82-8D94-8635F30FABDC}"/>
              </a:ext>
            </a:extLst>
          </p:cNvPr>
          <p:cNvSpPr>
            <a:spLocks xmlns:a="http://schemas.openxmlformats.org/drawingml/2006/main" noGrp="1"/>
          </p:cNvSpPr>
          <p:nvPr/>
        </p:nvSpPr>
        <p:spPr>
          <a:xfrm xmlns:a="http://schemas.openxmlformats.org/drawingml/2006/main">
            <a:off x="1333500" y="321627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Eski ID yeniden gelirse?</a:t>
            </a:r>
          </a:p>
        </p:txBody>
      </p:sp>
      <p:sp>
        <p:nvSpPr>
          <p:cNvPr id="6" name="">
            <a:extLst xmlns:a="http://schemas.openxmlformats.org/drawingml/2006/main">
              <a:ext uri="{FF2B5EF4-FFF2-40B4-BE49-F238E27FC236}">
                <a16:creationId xmlns:a16="http://schemas.microsoft.com/office/drawing/2014/main" id="{A2F37981-BE4E-498F-BD2D-DE4852E928CD}"/>
              </a:ext>
            </a:extLst>
          </p:cNvPr>
          <p:cNvSpPr>
            <a:spLocks xmlns:a="http://schemas.openxmlformats.org/drawingml/2006/main" noGrp="1"/>
          </p:cNvSpPr>
          <p:nvPr/>
        </p:nvSpPr>
        <p:spPr>
          <a:xfrm xmlns:a="http://schemas.openxmlformats.org/drawingml/2006/main">
            <a:off x="609600" y="447992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7DF8D438-01E6-4933-875C-053188D1233F}"/>
              </a:ext>
            </a:extLst>
          </p:cNvPr>
          <p:cNvSpPr>
            <a:spLocks xmlns:a="http://schemas.openxmlformats.org/drawingml/2006/main" noGrp="1"/>
          </p:cNvSpPr>
          <p:nvPr/>
        </p:nvSpPr>
        <p:spPr>
          <a:xfrm xmlns:a="http://schemas.openxmlformats.org/drawingml/2006/main">
            <a:off x="1333500" y="447992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Dış yan etki ve kayıt ayrıysa?</a:t>
            </a:r>
          </a:p>
        </p:txBody>
      </p:sp>
      <p:sp>
        <p:nvSpPr>
          <p:cNvPr id="8" name="">
            <a:extLst xmlns:a="http://schemas.openxmlformats.org/drawingml/2006/main">
              <a:ext uri="{FF2B5EF4-FFF2-40B4-BE49-F238E27FC236}">
                <a16:creationId xmlns:a16="http://schemas.microsoft.com/office/drawing/2014/main" id="{DB92F838-D0BC-4786-96A8-C3233F847273}"/>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10</a:t>
            </a:r>
          </a:p>
        </p:txBody>
      </p:sp>
      <p:sp>
        <p:nvSpPr>
          <p:cNvPr id="9" name="">
            <a:extLst xmlns:a="http://schemas.openxmlformats.org/drawingml/2006/main">
              <a:ext uri="{FF2B5EF4-FFF2-40B4-BE49-F238E27FC236}">
                <a16:creationId xmlns:a16="http://schemas.microsoft.com/office/drawing/2014/main" id="{B96DA184-5A45-4F34-AB9D-F47A816DD9A6}"/>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12 / 27</a:t>
            </a:r>
          </a:p>
        </p:txBody>
      </p:sp>
    </p:spTree>
    <p:extLst>
      <p:ext uri="{BB962C8B-B14F-4D97-AF65-F5344CB8AC3E}">
        <p14:creationId xmlns:p14="http://schemas.microsoft.com/office/powerpoint/2010/main" val="2044738361"/>
      </p:ext>
    </p:extLst>
  </p:cSld>
</p:sld>
</file>

<file path=ppt/slides/slide13.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F4C5762-28BA-4C35-9F38-A399DE8070BA}"/>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Retry bütçesi, load’u da değiştirir</a:t>
            </a:r>
          </a:p>
        </p:txBody>
      </p:sp>
      <p:sp>
        <p:nvSpPr>
          <p:cNvPr id="2" name="">
            <a:extLst xmlns:a="http://schemas.openxmlformats.org/drawingml/2006/main">
              <a:ext uri="{FF2B5EF4-FFF2-40B4-BE49-F238E27FC236}">
                <a16:creationId xmlns:a16="http://schemas.microsoft.com/office/drawing/2014/main" id="{CA7F893A-8EAA-472E-8B22-5F4E6E552482}"/>
              </a:ext>
            </a:extLst>
          </p:cNvPr>
          <p:cNvSpPr>
            <a:spLocks xmlns:a="http://schemas.openxmlformats.org/drawingml/2006/main" noGrp="1"/>
          </p:cNvSpPr>
          <p:nvPr/>
        </p:nvSpPr>
        <p:spPr>
          <a:xfrm xmlns:a="http://schemas.openxmlformats.org/drawingml/2006/main">
            <a:off x="609600" y="1952625"/>
            <a:ext cx="4381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D1459B13-ECCB-4A5D-A502-3D95B0AB7EE1}"/>
              </a:ext>
            </a:extLst>
          </p:cNvPr>
          <p:cNvSpPr>
            <a:spLocks xmlns:a="http://schemas.openxmlformats.org/drawingml/2006/main" noGrp="1"/>
          </p:cNvSpPr>
          <p:nvPr/>
        </p:nvSpPr>
        <p:spPr>
          <a:xfrm xmlns:a="http://schemas.openxmlformats.org/drawingml/2006/main">
            <a:off x="1333500" y="1952625"/>
            <a:ext cx="102489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Timeout seçimi workload’a bağlıdır</a:t>
            </a:r>
          </a:p>
        </p:txBody>
      </p:sp>
      <p:sp>
        <p:nvSpPr>
          <p:cNvPr id="4" name="">
            <a:extLst xmlns:a="http://schemas.openxmlformats.org/drawingml/2006/main">
              <a:ext uri="{FF2B5EF4-FFF2-40B4-BE49-F238E27FC236}">
                <a16:creationId xmlns:a16="http://schemas.microsoft.com/office/drawing/2014/main" id="{86C1E20C-EECC-41F6-B3F8-9FC898B9196C}"/>
              </a:ext>
            </a:extLst>
          </p:cNvPr>
          <p:cNvSpPr>
            <a:spLocks xmlns:a="http://schemas.openxmlformats.org/drawingml/2006/main" noGrp="1"/>
          </p:cNvSpPr>
          <p:nvPr/>
        </p:nvSpPr>
        <p:spPr>
          <a:xfrm xmlns:a="http://schemas.openxmlformats.org/drawingml/2006/main">
            <a:off x="609600" y="2769394"/>
            <a:ext cx="4381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AE888419-15E1-4075-BAF4-6DC3B7FA1BC0}"/>
              </a:ext>
            </a:extLst>
          </p:cNvPr>
          <p:cNvSpPr>
            <a:spLocks xmlns:a="http://schemas.openxmlformats.org/drawingml/2006/main" noGrp="1"/>
          </p:cNvSpPr>
          <p:nvPr/>
        </p:nvSpPr>
        <p:spPr>
          <a:xfrm xmlns:a="http://schemas.openxmlformats.org/drawingml/2006/main">
            <a:off x="1333500" y="2769394"/>
            <a:ext cx="102489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Backoff/jitter senkron retry’ı azaltabilir</a:t>
            </a:r>
          </a:p>
        </p:txBody>
      </p:sp>
      <p:sp>
        <p:nvSpPr>
          <p:cNvPr id="6" name="">
            <a:extLst xmlns:a="http://schemas.openxmlformats.org/drawingml/2006/main">
              <a:ext uri="{FF2B5EF4-FFF2-40B4-BE49-F238E27FC236}">
                <a16:creationId xmlns:a16="http://schemas.microsoft.com/office/drawing/2014/main" id="{6A85426F-52C2-4085-BB3C-60F60C25B126}"/>
              </a:ext>
            </a:extLst>
          </p:cNvPr>
          <p:cNvSpPr>
            <a:spLocks xmlns:a="http://schemas.openxmlformats.org/drawingml/2006/main" noGrp="1"/>
          </p:cNvSpPr>
          <p:nvPr/>
        </p:nvSpPr>
        <p:spPr>
          <a:xfrm xmlns:a="http://schemas.openxmlformats.org/drawingml/2006/main">
            <a:off x="609600" y="3586163"/>
            <a:ext cx="4381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AAD96E0C-247B-4489-BB07-0F5B878ECF4E}"/>
              </a:ext>
            </a:extLst>
          </p:cNvPr>
          <p:cNvSpPr>
            <a:spLocks xmlns:a="http://schemas.openxmlformats.org/drawingml/2006/main" noGrp="1"/>
          </p:cNvSpPr>
          <p:nvPr/>
        </p:nvSpPr>
        <p:spPr>
          <a:xfrm xmlns:a="http://schemas.openxmlformats.org/drawingml/2006/main">
            <a:off x="1333500" y="3586163"/>
            <a:ext cx="102489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Bounded attempt ve deadline tanımla</a:t>
            </a:r>
          </a:p>
        </p:txBody>
      </p:sp>
      <p:sp>
        <p:nvSpPr>
          <p:cNvPr id="8" name="">
            <a:extLst xmlns:a="http://schemas.openxmlformats.org/drawingml/2006/main">
              <a:ext uri="{FF2B5EF4-FFF2-40B4-BE49-F238E27FC236}">
                <a16:creationId xmlns:a16="http://schemas.microsoft.com/office/drawing/2014/main" id="{EA1A5936-F880-40A6-AD44-956730A1C8AD}"/>
              </a:ext>
            </a:extLst>
          </p:cNvPr>
          <p:cNvSpPr>
            <a:spLocks xmlns:a="http://schemas.openxmlformats.org/drawingml/2006/main" noGrp="1"/>
          </p:cNvSpPr>
          <p:nvPr/>
        </p:nvSpPr>
        <p:spPr>
          <a:xfrm xmlns:a="http://schemas.openxmlformats.org/drawingml/2006/main">
            <a:off x="609600" y="4402931"/>
            <a:ext cx="4381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04</a:t>
            </a:r>
          </a:p>
        </p:txBody>
      </p:sp>
      <p:sp>
        <p:nvSpPr>
          <p:cNvPr id="9" name="">
            <a:extLst xmlns:a="http://schemas.openxmlformats.org/drawingml/2006/main">
              <a:ext uri="{FF2B5EF4-FFF2-40B4-BE49-F238E27FC236}">
                <a16:creationId xmlns:a16="http://schemas.microsoft.com/office/drawing/2014/main" id="{8476A90D-D530-4646-A47A-A749E44E7AB9}"/>
              </a:ext>
            </a:extLst>
          </p:cNvPr>
          <p:cNvSpPr>
            <a:spLocks xmlns:a="http://schemas.openxmlformats.org/drawingml/2006/main" noGrp="1"/>
          </p:cNvSpPr>
          <p:nvPr/>
        </p:nvSpPr>
        <p:spPr>
          <a:xfrm xmlns:a="http://schemas.openxmlformats.org/drawingml/2006/main">
            <a:off x="1333500" y="4402931"/>
            <a:ext cx="102489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Sonucu belirsiz işi ayrıca takip et</a:t>
            </a:r>
          </a:p>
        </p:txBody>
      </p:sp>
      <p:sp>
        <p:nvSpPr>
          <p:cNvPr id="10" name="">
            <a:extLst xmlns:a="http://schemas.openxmlformats.org/drawingml/2006/main">
              <a:ext uri="{FF2B5EF4-FFF2-40B4-BE49-F238E27FC236}">
                <a16:creationId xmlns:a16="http://schemas.microsoft.com/office/drawing/2014/main" id="{44B3EF90-3BFE-454F-90AC-67030BE6ECD0}"/>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Gerçek hayat: Kampanya yükü</a:t>
            </a:r>
          </a:p>
        </p:txBody>
      </p:sp>
      <p:sp>
        <p:nvSpPr>
          <p:cNvPr id="11" name="">
            <a:extLst xmlns:a="http://schemas.openxmlformats.org/drawingml/2006/main">
              <a:ext uri="{FF2B5EF4-FFF2-40B4-BE49-F238E27FC236}">
                <a16:creationId xmlns:a16="http://schemas.microsoft.com/office/drawing/2014/main" id="{CBD3C252-1C68-44B7-9F54-7426C7244A2C}"/>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Yavaşlayan servis tekrar istekleri de alır.</a:t>
            </a:r>
          </a:p>
        </p:txBody>
      </p:sp>
      <p:sp>
        <p:nvSpPr>
          <p:cNvPr id="12" name="">
            <a:extLst xmlns:a="http://schemas.openxmlformats.org/drawingml/2006/main">
              <a:ext uri="{FF2B5EF4-FFF2-40B4-BE49-F238E27FC236}">
                <a16:creationId xmlns:a16="http://schemas.microsoft.com/office/drawing/2014/main" id="{04FE9EC2-6806-44EF-A8BF-422EEE2A1DDF}"/>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10</a:t>
            </a:r>
          </a:p>
        </p:txBody>
      </p:sp>
      <p:sp>
        <p:nvSpPr>
          <p:cNvPr id="13" name="">
            <a:extLst xmlns:a="http://schemas.openxmlformats.org/drawingml/2006/main">
              <a:ext uri="{FF2B5EF4-FFF2-40B4-BE49-F238E27FC236}">
                <a16:creationId xmlns:a16="http://schemas.microsoft.com/office/drawing/2014/main" id="{FD5C4BAA-F77B-4E49-8D5A-0F84F9BD7B87}"/>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13 / 27</a:t>
            </a:r>
          </a:p>
        </p:txBody>
      </p:sp>
    </p:spTree>
    <p:extLst>
      <p:ext uri="{BB962C8B-B14F-4D97-AF65-F5344CB8AC3E}">
        <p14:creationId xmlns:p14="http://schemas.microsoft.com/office/powerpoint/2010/main" val="452239763"/>
      </p:ext>
    </p:extLst>
  </p:cSld>
</p:sld>
</file>

<file path=ppt/slides/slide14.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E72562E-8F4F-494D-9175-8B9DC0A06493}"/>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İlk bölüm kontrolü</a:t>
            </a:r>
          </a:p>
        </p:txBody>
      </p:sp>
      <p:sp>
        <p:nvSpPr>
          <p:cNvPr id="2" name="">
            <a:extLst xmlns:a="http://schemas.openxmlformats.org/drawingml/2006/main">
              <a:ext uri="{FF2B5EF4-FFF2-40B4-BE49-F238E27FC236}">
                <a16:creationId xmlns:a16="http://schemas.microsoft.com/office/drawing/2014/main" id="{63CBBAA2-5740-456C-8197-F11F79D0968C}"/>
              </a:ext>
            </a:extLst>
          </p:cNvPr>
          <p:cNvSpPr>
            <a:spLocks xmlns:a="http://schemas.openxmlformats.org/drawingml/2006/main" noGrp="1"/>
          </p:cNvSpPr>
          <p:nvPr/>
        </p:nvSpPr>
        <p:spPr>
          <a:xfrm xmlns:a="http://schemas.openxmlformats.org/drawingml/2006/main">
            <a:off x="609600" y="195262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ACE67797-6B4C-4078-9A0F-6A258E0972F7}"/>
              </a:ext>
            </a:extLst>
          </p:cNvPr>
          <p:cNvSpPr>
            <a:spLocks xmlns:a="http://schemas.openxmlformats.org/drawingml/2006/main" noGrp="1"/>
          </p:cNvSpPr>
          <p:nvPr/>
        </p:nvSpPr>
        <p:spPr>
          <a:xfrm xmlns:a="http://schemas.openxmlformats.org/drawingml/2006/main">
            <a:off x="1333500" y="195262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Timeout hangi bilgiyi sağlar?</a:t>
            </a:r>
          </a:p>
        </p:txBody>
      </p:sp>
      <p:sp>
        <p:nvSpPr>
          <p:cNvPr id="4" name="">
            <a:extLst xmlns:a="http://schemas.openxmlformats.org/drawingml/2006/main">
              <a:ext uri="{FF2B5EF4-FFF2-40B4-BE49-F238E27FC236}">
                <a16:creationId xmlns:a16="http://schemas.microsoft.com/office/drawing/2014/main" id="{CCEBBF11-A190-4DD0-AC4A-0D09DEF2307C}"/>
              </a:ext>
            </a:extLst>
          </p:cNvPr>
          <p:cNvSpPr>
            <a:spLocks xmlns:a="http://schemas.openxmlformats.org/drawingml/2006/main" noGrp="1"/>
          </p:cNvSpPr>
          <p:nvPr/>
        </p:nvSpPr>
        <p:spPr>
          <a:xfrm xmlns:a="http://schemas.openxmlformats.org/drawingml/2006/main">
            <a:off x="609600" y="321627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2AC1E2D1-18E9-4ABC-99DA-4531D8410D83}"/>
              </a:ext>
            </a:extLst>
          </p:cNvPr>
          <p:cNvSpPr>
            <a:spLocks xmlns:a="http://schemas.openxmlformats.org/drawingml/2006/main" noGrp="1"/>
          </p:cNvSpPr>
          <p:nvPr/>
        </p:nvSpPr>
        <p:spPr>
          <a:xfrm xmlns:a="http://schemas.openxmlformats.org/drawingml/2006/main">
            <a:off x="1333500" y="321627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Aynı ID iki teslimde counter kaç olur?</a:t>
            </a:r>
          </a:p>
        </p:txBody>
      </p:sp>
      <p:sp>
        <p:nvSpPr>
          <p:cNvPr id="6" name="">
            <a:extLst xmlns:a="http://schemas.openxmlformats.org/drawingml/2006/main">
              <a:ext uri="{FF2B5EF4-FFF2-40B4-BE49-F238E27FC236}">
                <a16:creationId xmlns:a16="http://schemas.microsoft.com/office/drawing/2014/main" id="{A0E0DA50-41F1-4B48-A108-1EE6448DE874}"/>
              </a:ext>
            </a:extLst>
          </p:cNvPr>
          <p:cNvSpPr>
            <a:spLocks xmlns:a="http://schemas.openxmlformats.org/drawingml/2006/main" noGrp="1"/>
          </p:cNvSpPr>
          <p:nvPr/>
        </p:nvSpPr>
        <p:spPr>
          <a:xfrm xmlns:a="http://schemas.openxmlformats.org/drawingml/2006/main">
            <a:off x="609600" y="447992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8CDBE426-D226-4A92-AA50-61C76E2BC1E5}"/>
              </a:ext>
            </a:extLst>
          </p:cNvPr>
          <p:cNvSpPr>
            <a:spLocks xmlns:a="http://schemas.openxmlformats.org/drawingml/2006/main" noGrp="1"/>
          </p:cNvSpPr>
          <p:nvPr/>
        </p:nvSpPr>
        <p:spPr>
          <a:xfrm xmlns:a="http://schemas.openxmlformats.org/drawingml/2006/main">
            <a:off x="1333500" y="447992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Cache reset’i garantiyi değiştirir mi?</a:t>
            </a:r>
          </a:p>
        </p:txBody>
      </p:sp>
      <p:sp>
        <p:nvSpPr>
          <p:cNvPr id="8" name="">
            <a:extLst xmlns:a="http://schemas.openxmlformats.org/drawingml/2006/main">
              <a:ext uri="{FF2B5EF4-FFF2-40B4-BE49-F238E27FC236}">
                <a16:creationId xmlns:a16="http://schemas.microsoft.com/office/drawing/2014/main" id="{EF38FC25-2940-479E-BDB7-22491A32AEB0}"/>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10</a:t>
            </a:r>
          </a:p>
        </p:txBody>
      </p:sp>
      <p:sp>
        <p:nvSpPr>
          <p:cNvPr id="9" name="">
            <a:extLst xmlns:a="http://schemas.openxmlformats.org/drawingml/2006/main">
              <a:ext uri="{FF2B5EF4-FFF2-40B4-BE49-F238E27FC236}">
                <a16:creationId xmlns:a16="http://schemas.microsoft.com/office/drawing/2014/main" id="{9B22193A-CFDA-49EF-A08C-E4CF0D9D6AAF}"/>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14 / 27</a:t>
            </a:r>
          </a:p>
        </p:txBody>
      </p:sp>
    </p:spTree>
    <p:extLst>
      <p:ext uri="{BB962C8B-B14F-4D97-AF65-F5344CB8AC3E}">
        <p14:creationId xmlns:p14="http://schemas.microsoft.com/office/powerpoint/2010/main" val="1948412461"/>
      </p:ext>
    </p:extLst>
  </p:cSld>
</p:sld>
</file>

<file path=ppt/slides/slide15.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61FD2A0-CBB7-49E8-B0FA-C2D9FD9C6F97}"/>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Duvar saati sırası her şeyi açıklamaz</a:t>
            </a:r>
          </a:p>
        </p:txBody>
      </p:sp>
      <p:sp>
        <p:nvSpPr>
          <p:cNvPr id="2" name="">
            <a:extLst xmlns:a="http://schemas.openxmlformats.org/drawingml/2006/main">
              <a:ext uri="{FF2B5EF4-FFF2-40B4-BE49-F238E27FC236}">
                <a16:creationId xmlns:a16="http://schemas.microsoft.com/office/drawing/2014/main" id="{2F08F57C-F00D-4C8E-B198-0FA44C528C99}"/>
              </a:ext>
            </a:extLst>
          </p:cNvPr>
          <p:cNvSpPr>
            <a:spLocks xmlns:a="http://schemas.openxmlformats.org/drawingml/2006/main" noGrp="1"/>
          </p:cNvSpPr>
          <p:nvPr/>
        </p:nvSpPr>
        <p:spPr>
          <a:xfrm xmlns:a="http://schemas.openxmlformats.org/drawingml/2006/main">
            <a:off x="609600" y="1952625"/>
            <a:ext cx="5295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E83"/>
                </a:solidFill>
                <a:latin typeface="Helvetica Neue"/>
                <a:ea typeface="Helvetica Neue"/>
                <a:cs typeface="Helvetica Neue"/>
              </a:defRPr>
            </a:pPr>
            <a:r>
              <a:rPr sz="2250" b="1">
                <a:solidFill>
                  <a:srgbClr val="087E83"/>
                </a:solidFill>
                <a:latin typeface="Helvetica Neue"/>
                <a:ea typeface="Helvetica Neue"/>
                <a:cs typeface="Helvetica Neue"/>
              </a:rPr>
              <a:t>Fiziksel zaman</a:t>
            </a:r>
          </a:p>
        </p:txBody>
      </p:sp>
      <p:sp>
        <p:nvSpPr>
          <p:cNvPr id="3" name="">
            <a:extLst xmlns:a="http://schemas.openxmlformats.org/drawingml/2006/main">
              <a:ext uri="{FF2B5EF4-FFF2-40B4-BE49-F238E27FC236}">
                <a16:creationId xmlns:a16="http://schemas.microsoft.com/office/drawing/2014/main" id="{957674F3-01ED-4A93-8945-52BB1E398F02}"/>
              </a:ext>
            </a:extLst>
          </p:cNvPr>
          <p:cNvSpPr>
            <a:spLocks xmlns:a="http://schemas.openxmlformats.org/drawingml/2006/main" noGrp="1"/>
          </p:cNvSpPr>
          <p:nvPr/>
        </p:nvSpPr>
        <p:spPr>
          <a:xfrm xmlns:a="http://schemas.openxmlformats.org/drawingml/2006/main">
            <a:off x="609600" y="2714625"/>
            <a:ext cx="5295900" cy="2505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Duvar saati tahmini</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Offset/drift varsayımları</a:t>
            </a:r>
          </a:p>
        </p:txBody>
      </p:sp>
      <p:sp>
        <p:nvSpPr>
          <p:cNvPr id="4" name="">
            <a:extLst xmlns:a="http://schemas.openxmlformats.org/drawingml/2006/main">
              <a:ext uri="{FF2B5EF4-FFF2-40B4-BE49-F238E27FC236}">
                <a16:creationId xmlns:a16="http://schemas.microsoft.com/office/drawing/2014/main" id="{7F84D1FD-3508-48A3-A674-21D878996695}"/>
              </a:ext>
            </a:extLst>
          </p:cNvPr>
          <p:cNvSpPr>
            <a:spLocks xmlns:a="http://schemas.openxmlformats.org/drawingml/2006/main" noGrp="1"/>
          </p:cNvSpPr>
          <p:nvPr/>
        </p:nvSpPr>
        <p:spPr>
          <a:xfrm xmlns:a="http://schemas.openxmlformats.org/drawingml/2006/main">
            <a:off x="6286500" y="1952625"/>
            <a:ext cx="5295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E83"/>
                </a:solidFill>
                <a:latin typeface="Helvetica Neue"/>
                <a:ea typeface="Helvetica Neue"/>
                <a:cs typeface="Helvetica Neue"/>
              </a:defRPr>
            </a:pPr>
            <a:r>
              <a:rPr sz="2250" b="1">
                <a:solidFill>
                  <a:srgbClr val="087E83"/>
                </a:solidFill>
                <a:latin typeface="Helvetica Neue"/>
                <a:ea typeface="Helvetica Neue"/>
                <a:cs typeface="Helvetica Neue"/>
              </a:rPr>
              <a:t>Mantıksal sıra</a:t>
            </a:r>
          </a:p>
        </p:txBody>
      </p:sp>
      <p:sp>
        <p:nvSpPr>
          <p:cNvPr id="5" name="">
            <a:extLst xmlns:a="http://schemas.openxmlformats.org/drawingml/2006/main">
              <a:ext uri="{FF2B5EF4-FFF2-40B4-BE49-F238E27FC236}">
                <a16:creationId xmlns:a16="http://schemas.microsoft.com/office/drawing/2014/main" id="{47721D0F-3112-46FC-B619-3FFCE82E6EB6}"/>
              </a:ext>
            </a:extLst>
          </p:cNvPr>
          <p:cNvSpPr>
            <a:spLocks xmlns:a="http://schemas.openxmlformats.org/drawingml/2006/main" noGrp="1"/>
          </p:cNvSpPr>
          <p:nvPr/>
        </p:nvSpPr>
        <p:spPr>
          <a:xfrm xmlns:a="http://schemas.openxmlformats.org/drawingml/2006/main">
            <a:off x="6286500" y="2714625"/>
            <a:ext cx="5295900" cy="2505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Yerel event sırası</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Send → receive ilişkisi</a:t>
            </a:r>
          </a:p>
        </p:txBody>
      </p:sp>
      <p:sp>
        <p:nvSpPr>
          <p:cNvPr id="6" name="">
            <a:extLst xmlns:a="http://schemas.openxmlformats.org/drawingml/2006/main">
              <a:ext uri="{FF2B5EF4-FFF2-40B4-BE49-F238E27FC236}">
                <a16:creationId xmlns:a16="http://schemas.microsoft.com/office/drawing/2014/main" id="{36E3C082-80BA-4429-BF8C-8D9FAF69DE05}"/>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Gerçek hayat: Birleştirilmiş loglar</a:t>
            </a:r>
          </a:p>
        </p:txBody>
      </p:sp>
      <p:sp>
        <p:nvSpPr>
          <p:cNvPr id="7" name="">
            <a:extLst xmlns:a="http://schemas.openxmlformats.org/drawingml/2006/main">
              <a:ext uri="{FF2B5EF4-FFF2-40B4-BE49-F238E27FC236}">
                <a16:creationId xmlns:a16="http://schemas.microsoft.com/office/drawing/2014/main" id="{9B1A9A76-DFA2-499B-92C2-1F27DE4C61B8}"/>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İki server logu timestamp ile sıralanır.</a:t>
            </a:r>
          </a:p>
        </p:txBody>
      </p:sp>
      <p:sp>
        <p:nvSpPr>
          <p:cNvPr id="8" name="">
            <a:extLst xmlns:a="http://schemas.openxmlformats.org/drawingml/2006/main">
              <a:ext uri="{FF2B5EF4-FFF2-40B4-BE49-F238E27FC236}">
                <a16:creationId xmlns:a16="http://schemas.microsoft.com/office/drawing/2014/main" id="{2C75F86B-42F0-43F6-8A24-459B873C1054}"/>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10</a:t>
            </a:r>
          </a:p>
        </p:txBody>
      </p:sp>
      <p:sp>
        <p:nvSpPr>
          <p:cNvPr id="9" name="">
            <a:extLst xmlns:a="http://schemas.openxmlformats.org/drawingml/2006/main">
              <a:ext uri="{FF2B5EF4-FFF2-40B4-BE49-F238E27FC236}">
                <a16:creationId xmlns:a16="http://schemas.microsoft.com/office/drawing/2014/main" id="{6CC79D43-6B24-4D68-AC98-75FBA45AE582}"/>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15 / 27</a:t>
            </a:r>
          </a:p>
        </p:txBody>
      </p:sp>
    </p:spTree>
    <p:extLst>
      <p:ext uri="{BB962C8B-B14F-4D97-AF65-F5344CB8AC3E}">
        <p14:creationId xmlns:p14="http://schemas.microsoft.com/office/powerpoint/2010/main" val="42245336"/>
      </p:ext>
    </p:extLst>
  </p:cSld>
</p:sld>
</file>

<file path=ppt/slides/slide16.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348C0E6-5904-4AA8-B25D-298AD2722D3C}"/>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Happens-before: gözlenen bağımlılık</a:t>
            </a:r>
          </a:p>
        </p:txBody>
      </p:sp>
      <p:sp>
        <p:nvSpPr>
          <p:cNvPr id="2" name="">
            <a:extLst xmlns:a="http://schemas.openxmlformats.org/drawingml/2006/main">
              <a:ext uri="{FF2B5EF4-FFF2-40B4-BE49-F238E27FC236}">
                <a16:creationId xmlns:a16="http://schemas.microsoft.com/office/drawing/2014/main" id="{82F00B72-0FC3-44FD-9C4A-7031630140E7}"/>
              </a:ext>
            </a:extLst>
          </p:cNvPr>
          <p:cNvSpPr>
            <a:spLocks xmlns:a="http://schemas.openxmlformats.org/drawingml/2006/main" noGrp="1"/>
          </p:cNvSpPr>
          <p:nvPr/>
        </p:nvSpPr>
        <p:spPr>
          <a:xfrm xmlns:a="http://schemas.openxmlformats.org/drawingml/2006/main">
            <a:off x="609600" y="1952625"/>
            <a:ext cx="43815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ED194BD1-16D3-4829-9998-03501968CFBC}"/>
              </a:ext>
            </a:extLst>
          </p:cNvPr>
          <p:cNvSpPr>
            <a:spLocks xmlns:a="http://schemas.openxmlformats.org/drawingml/2006/main" noGrp="1"/>
          </p:cNvSpPr>
          <p:nvPr/>
        </p:nvSpPr>
        <p:spPr>
          <a:xfrm xmlns:a="http://schemas.openxmlformats.org/drawingml/2006/main">
            <a:off x="1333500" y="1952625"/>
            <a:ext cx="1024890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Aynı process’te önceki event → sonraki</a:t>
            </a:r>
          </a:p>
        </p:txBody>
      </p:sp>
      <p:sp>
        <p:nvSpPr>
          <p:cNvPr id="4" name="">
            <a:extLst xmlns:a="http://schemas.openxmlformats.org/drawingml/2006/main">
              <a:ext uri="{FF2B5EF4-FFF2-40B4-BE49-F238E27FC236}">
                <a16:creationId xmlns:a16="http://schemas.microsoft.com/office/drawing/2014/main" id="{59F939CF-D58B-49EA-87BB-4F691D9779E9}"/>
              </a:ext>
            </a:extLst>
          </p:cNvPr>
          <p:cNvSpPr>
            <a:spLocks xmlns:a="http://schemas.openxmlformats.org/drawingml/2006/main" noGrp="1"/>
          </p:cNvSpPr>
          <p:nvPr/>
        </p:nvSpPr>
        <p:spPr>
          <a:xfrm xmlns:a="http://schemas.openxmlformats.org/drawingml/2006/main">
            <a:off x="609600" y="2900363"/>
            <a:ext cx="43815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9EDB9AA2-2484-40F8-92E2-DE79A3D016C4}"/>
              </a:ext>
            </a:extLst>
          </p:cNvPr>
          <p:cNvSpPr>
            <a:spLocks xmlns:a="http://schemas.openxmlformats.org/drawingml/2006/main" noGrp="1"/>
          </p:cNvSpPr>
          <p:nvPr/>
        </p:nvSpPr>
        <p:spPr>
          <a:xfrm xmlns:a="http://schemas.openxmlformats.org/drawingml/2006/main">
            <a:off x="1333500" y="2900363"/>
            <a:ext cx="1024890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Message send → receive</a:t>
            </a:r>
          </a:p>
        </p:txBody>
      </p:sp>
      <p:sp>
        <p:nvSpPr>
          <p:cNvPr id="6" name="">
            <a:extLst xmlns:a="http://schemas.openxmlformats.org/drawingml/2006/main">
              <a:ext uri="{FF2B5EF4-FFF2-40B4-BE49-F238E27FC236}">
                <a16:creationId xmlns:a16="http://schemas.microsoft.com/office/drawing/2014/main" id="{0494114E-9EA6-4793-A7BD-5AEC19E5AAB7}"/>
              </a:ext>
            </a:extLst>
          </p:cNvPr>
          <p:cNvSpPr>
            <a:spLocks xmlns:a="http://schemas.openxmlformats.org/drawingml/2006/main" noGrp="1"/>
          </p:cNvSpPr>
          <p:nvPr/>
        </p:nvSpPr>
        <p:spPr>
          <a:xfrm xmlns:a="http://schemas.openxmlformats.org/drawingml/2006/main">
            <a:off x="609600" y="3848100"/>
            <a:ext cx="43815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0CC5EFFB-5BC4-42F7-8163-65B23553EF3C}"/>
              </a:ext>
            </a:extLst>
          </p:cNvPr>
          <p:cNvSpPr>
            <a:spLocks xmlns:a="http://schemas.openxmlformats.org/drawingml/2006/main" noGrp="1"/>
          </p:cNvSpPr>
          <p:nvPr/>
        </p:nvSpPr>
        <p:spPr>
          <a:xfrm xmlns:a="http://schemas.openxmlformats.org/drawingml/2006/main">
            <a:off x="1333500" y="3848100"/>
            <a:ext cx="1024890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İlişki geçişlidir</a:t>
            </a:r>
          </a:p>
        </p:txBody>
      </p:sp>
      <p:sp>
        <p:nvSpPr>
          <p:cNvPr id="8" name="">
            <a:extLst xmlns:a="http://schemas.openxmlformats.org/drawingml/2006/main">
              <a:ext uri="{FF2B5EF4-FFF2-40B4-BE49-F238E27FC236}">
                <a16:creationId xmlns:a16="http://schemas.microsoft.com/office/drawing/2014/main" id="{626E700C-F6C4-4C69-AE17-404723BDE45F}"/>
              </a:ext>
            </a:extLst>
          </p:cNvPr>
          <p:cNvSpPr>
            <a:spLocks xmlns:a="http://schemas.openxmlformats.org/drawingml/2006/main" noGrp="1"/>
          </p:cNvSpPr>
          <p:nvPr/>
        </p:nvSpPr>
        <p:spPr>
          <a:xfrm xmlns:a="http://schemas.openxmlformats.org/drawingml/2006/main">
            <a:off x="609600" y="4795838"/>
            <a:ext cx="43815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04</a:t>
            </a:r>
          </a:p>
        </p:txBody>
      </p:sp>
      <p:sp>
        <p:nvSpPr>
          <p:cNvPr id="9" name="">
            <a:extLst xmlns:a="http://schemas.openxmlformats.org/drawingml/2006/main">
              <a:ext uri="{FF2B5EF4-FFF2-40B4-BE49-F238E27FC236}">
                <a16:creationId xmlns:a16="http://schemas.microsoft.com/office/drawing/2014/main" id="{18AB3B50-D8C2-44B0-8024-FC1C7B974BB7}"/>
              </a:ext>
            </a:extLst>
          </p:cNvPr>
          <p:cNvSpPr>
            <a:spLocks xmlns:a="http://schemas.openxmlformats.org/drawingml/2006/main" noGrp="1"/>
          </p:cNvSpPr>
          <p:nvPr/>
        </p:nvSpPr>
        <p:spPr>
          <a:xfrm xmlns:a="http://schemas.openxmlformats.org/drawingml/2006/main">
            <a:off x="1333500" y="4795838"/>
            <a:ext cx="1024890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İlişkisiz event’ler concurrent olabilir</a:t>
            </a:r>
          </a:p>
        </p:txBody>
      </p:sp>
      <p:sp>
        <p:nvSpPr>
          <p:cNvPr id="10" name="">
            <a:extLst xmlns:a="http://schemas.openxmlformats.org/drawingml/2006/main">
              <a:ext uri="{FF2B5EF4-FFF2-40B4-BE49-F238E27FC236}">
                <a16:creationId xmlns:a16="http://schemas.microsoft.com/office/drawing/2014/main" id="{DC3B2807-831E-4669-BA6A-ED9867872F7C}"/>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10</a:t>
            </a:r>
          </a:p>
        </p:txBody>
      </p:sp>
      <p:sp>
        <p:nvSpPr>
          <p:cNvPr id="11" name="">
            <a:extLst xmlns:a="http://schemas.openxmlformats.org/drawingml/2006/main">
              <a:ext uri="{FF2B5EF4-FFF2-40B4-BE49-F238E27FC236}">
                <a16:creationId xmlns:a16="http://schemas.microsoft.com/office/drawing/2014/main" id="{E15CAA36-D66A-417C-9DC3-368DFB65F19E}"/>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16 / 27</a:t>
            </a:r>
          </a:p>
        </p:txBody>
      </p:sp>
    </p:spTree>
    <p:extLst>
      <p:ext uri="{BB962C8B-B14F-4D97-AF65-F5344CB8AC3E}">
        <p14:creationId xmlns:p14="http://schemas.microsoft.com/office/powerpoint/2010/main" val="1147278949"/>
      </p:ext>
    </p:extLst>
  </p:cSld>
</p:sld>
</file>

<file path=ppt/slides/slide17.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4ACB3B8-FDFD-4D26-A85A-C2118CEF9FB1}"/>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Lamport clock: küçük bir araç</a:t>
            </a:r>
          </a:p>
        </p:txBody>
      </p:sp>
      <p:sp>
        <p:nvSpPr>
          <p:cNvPr id="2" name="">
            <a:extLst xmlns:a="http://schemas.openxmlformats.org/drawingml/2006/main">
              <a:ext uri="{FF2B5EF4-FFF2-40B4-BE49-F238E27FC236}">
                <a16:creationId xmlns:a16="http://schemas.microsoft.com/office/drawing/2014/main" id="{870AC585-1E05-4871-867C-64247A05B273}"/>
              </a:ext>
            </a:extLst>
          </p:cNvPr>
          <p:cNvSpPr>
            <a:spLocks xmlns:a="http://schemas.openxmlformats.org/drawingml/2006/main" noGrp="1"/>
          </p:cNvSpPr>
          <p:nvPr/>
        </p:nvSpPr>
        <p:spPr>
          <a:xfrm xmlns:a="http://schemas.openxmlformats.org/drawingml/2006/main">
            <a:off x="609600" y="1762125"/>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4D606A"/>
                </a:solidFill>
                <a:latin typeface="Helvetica Neue"/>
                <a:ea typeface="Helvetica Neue"/>
                <a:cs typeface="Helvetica Neue"/>
              </a:defRPr>
            </a:pPr>
            <a:r>
              <a:rPr sz="1800" b="0">
                <a:solidFill>
                  <a:srgbClr val="4D606A"/>
                </a:solidFill>
                <a:latin typeface="Helvetica Neue"/>
                <a:ea typeface="Helvetica Neue"/>
                <a:cs typeface="Helvetica Neue"/>
              </a:rPr>
              <a:t>Gönderilen mesaj clock değerini taşır</a:t>
            </a:r>
          </a:p>
        </p:txBody>
      </p:sp>
      <p:sp>
        <p:nvSpPr>
          <p:cNvPr id="3" name="">
            <a:extLst xmlns:a="http://schemas.openxmlformats.org/drawingml/2006/main">
              <a:ext uri="{FF2B5EF4-FFF2-40B4-BE49-F238E27FC236}">
                <a16:creationId xmlns:a16="http://schemas.microsoft.com/office/drawing/2014/main" id="{B8061550-F2AC-4497-9C3A-BB14F3CAF430}"/>
              </a:ext>
            </a:extLst>
          </p:cNvPr>
          <p:cNvSpPr>
            <a:spLocks xmlns:a="http://schemas.openxmlformats.org/drawingml/2006/main" noGrp="1"/>
          </p:cNvSpPr>
          <p:nvPr/>
        </p:nvSpPr>
        <p:spPr>
          <a:xfrm xmlns:a="http://schemas.openxmlformats.org/drawingml/2006/main">
            <a:off x="742950" y="2257425"/>
            <a:ext cx="107156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local_event: clock = clock + 1</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send: clock = clock + 1; message.clock = clock</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receive(t): clock = max(clock, t) + 1</a:t>
            </a:r>
          </a:p>
        </p:txBody>
      </p:sp>
      <p:sp>
        <p:nvSpPr>
          <p:cNvPr id="4" name="">
            <a:extLst xmlns:a="http://schemas.openxmlformats.org/drawingml/2006/main">
              <a:ext uri="{FF2B5EF4-FFF2-40B4-BE49-F238E27FC236}">
                <a16:creationId xmlns:a16="http://schemas.microsoft.com/office/drawing/2014/main" id="{EDCE8750-5D5E-40E0-AE70-71B505E65AEE}"/>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10</a:t>
            </a:r>
          </a:p>
        </p:txBody>
      </p:sp>
      <p:sp>
        <p:nvSpPr>
          <p:cNvPr id="5" name="">
            <a:extLst xmlns:a="http://schemas.openxmlformats.org/drawingml/2006/main">
              <a:ext uri="{FF2B5EF4-FFF2-40B4-BE49-F238E27FC236}">
                <a16:creationId xmlns:a16="http://schemas.microsoft.com/office/drawing/2014/main" id="{C3152515-F1DD-47B7-B0A2-ADFB9441FCFD}"/>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17 / 27</a:t>
            </a:r>
          </a:p>
        </p:txBody>
      </p:sp>
    </p:spTree>
    <p:extLst>
      <p:ext uri="{BB962C8B-B14F-4D97-AF65-F5344CB8AC3E}">
        <p14:creationId xmlns:p14="http://schemas.microsoft.com/office/powerpoint/2010/main" val="1256687383"/>
      </p:ext>
    </p:extLst>
  </p:cSld>
</p:sld>
</file>

<file path=ppt/slides/slide18.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2F6FE43-792E-4CE4-AE2F-77E42F333988}"/>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Clock izi: sayı ile neden farklı</a:t>
            </a:r>
          </a:p>
        </p:txBody>
      </p:sp>
      <p:graphicFrame>
        <p:nvGraphicFramePr>
          <p:cNvPr id="7" name=""/>
          <p:cNvGraphicFramePr/>
          <p:nvPr/>
        </p:nvGraphicFramePr>
        <p:xfrm>
          <a:off xmlns:a="http://schemas.openxmlformats.org/drawingml/2006/main" x="609600" y="1857375"/>
          <a:ext xmlns:a="http://schemas.openxmlformats.org/drawingml/2006/main" cx="10972800" cy="3248025"/>
        </p:xfrm>
        <a:graphic xmlns:a="http://schemas.openxmlformats.org/drawingml/2006/main">
          <a:graphicData uri="http://schemas.openxmlformats.org/drawingml/2006/table">
            <a:tbl>
              <a:tblPr/>
              <a:tblGrid>
                <a:gridCol w="5486400"/>
                <a:gridCol w="5486400"/>
              </a:tblGrid>
              <a:tr h="541338">
                <a:tc>
                  <a:txBody>
                    <a:bodyPr/>
                    <a:lstStyle/>
                    <a:p>
                      <a:r>
                        <a:rPr sz="1800" b="1">
                          <a:solidFill>
                            <a:srgbClr val="FFFFFF"/>
                          </a:solidFill>
                          <a:latin typeface="Helvetica Neue"/>
                          <a:ea typeface="Helvetica Neue"/>
                          <a:cs typeface="Helvetica Neue"/>
                        </a:rPr>
                        <a:t>Event</a:t>
                      </a:r>
                    </a:p>
                  </a:txBody>
                  <a:tcPr marL="114300" marR="114300" marT="47625" marB="47625" anchor="ctr">
                    <a:solidFill>
                      <a:srgbClr val="122C42"/>
                    </a:solidFill>
                  </a:tcPr>
                </a:tc>
                <a:tc>
                  <a:txBody>
                    <a:bodyPr/>
                    <a:lstStyle/>
                    <a:p>
                      <a:r>
                        <a:rPr sz="1800" b="1">
                          <a:solidFill>
                            <a:srgbClr val="FFFFFF"/>
                          </a:solidFill>
                          <a:latin typeface="Helvetica Neue"/>
                          <a:ea typeface="Helvetica Neue"/>
                          <a:cs typeface="Helvetica Neue"/>
                        </a:rPr>
                        <a:t>Clock</a:t>
                      </a:r>
                    </a:p>
                  </a:txBody>
                  <a:tcPr marL="114300" marR="114300" marT="47625" marB="47625" anchor="ctr">
                    <a:solidFill>
                      <a:srgbClr val="122C42"/>
                    </a:solidFill>
                  </a:tcPr>
                </a:tc>
              </a:tr>
              <a:tr h="541338">
                <a:tc>
                  <a:txBody>
                    <a:bodyPr/>
                    <a:lstStyle/>
                    <a:p>
                      <a:r>
                        <a:rPr sz="1800" b="0">
                          <a:solidFill>
                            <a:srgbClr val="122C42"/>
                          </a:solidFill>
                          <a:latin typeface="Helvetica Neue"/>
                          <a:ea typeface="Helvetica Neue"/>
                          <a:cs typeface="Helvetica Neue"/>
                        </a:rPr>
                        <a:t>A: local</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1</a:t>
                      </a:r>
                    </a:p>
                  </a:txBody>
                  <a:tcPr marL="114300" marR="114300" marT="47625" marB="47625" anchor="ctr">
                    <a:solidFill>
                      <a:srgbClr val="FFFFFF"/>
                    </a:solidFill>
                  </a:tcPr>
                </a:tc>
              </a:tr>
              <a:tr h="541338">
                <a:tc>
                  <a:txBody>
                    <a:bodyPr/>
                    <a:lstStyle/>
                    <a:p>
                      <a:r>
                        <a:rPr sz="1800" b="0">
                          <a:solidFill>
                            <a:srgbClr val="122C42"/>
                          </a:solidFill>
                          <a:latin typeface="Helvetica Neue"/>
                          <a:ea typeface="Helvetica Neue"/>
                          <a:cs typeface="Helvetica Neue"/>
                        </a:rPr>
                        <a:t>A: send m</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2</a:t>
                      </a:r>
                    </a:p>
                  </a:txBody>
                  <a:tcPr marL="114300" marR="114300" marT="47625" marB="47625" anchor="ctr">
                    <a:solidFill>
                      <a:srgbClr val="ECF0EC"/>
                    </a:solidFill>
                  </a:tcPr>
                </a:tc>
              </a:tr>
              <a:tr h="541338">
                <a:tc>
                  <a:txBody>
                    <a:bodyPr/>
                    <a:lstStyle/>
                    <a:p>
                      <a:r>
                        <a:rPr sz="1800" b="0">
                          <a:solidFill>
                            <a:srgbClr val="122C42"/>
                          </a:solidFill>
                          <a:latin typeface="Helvetica Neue"/>
                          <a:ea typeface="Helvetica Neue"/>
                          <a:cs typeface="Helvetica Neue"/>
                        </a:rPr>
                        <a:t>B: independent local</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1</a:t>
                      </a:r>
                    </a:p>
                  </a:txBody>
                  <a:tcPr marL="114300" marR="114300" marT="47625" marB="47625" anchor="ctr">
                    <a:solidFill>
                      <a:srgbClr val="FFFFFF"/>
                    </a:solidFill>
                  </a:tcPr>
                </a:tc>
              </a:tr>
              <a:tr h="541338">
                <a:tc>
                  <a:txBody>
                    <a:bodyPr/>
                    <a:lstStyle/>
                    <a:p>
                      <a:r>
                        <a:rPr sz="1800" b="0">
                          <a:solidFill>
                            <a:srgbClr val="122C42"/>
                          </a:solidFill>
                          <a:latin typeface="Helvetica Neue"/>
                          <a:ea typeface="Helvetica Neue"/>
                          <a:cs typeface="Helvetica Neue"/>
                        </a:rPr>
                        <a:t>B: receive m</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3</a:t>
                      </a:r>
                    </a:p>
                  </a:txBody>
                  <a:tcPr marL="114300" marR="114300" marT="47625" marB="47625" anchor="ctr">
                    <a:solidFill>
                      <a:srgbClr val="ECF0EC"/>
                    </a:solidFill>
                  </a:tcPr>
                </a:tc>
              </a:tr>
              <a:tr h="541338">
                <a:tc>
                  <a:txBody>
                    <a:bodyPr/>
                    <a:lstStyle/>
                    <a:p>
                      <a:r>
                        <a:rPr sz="1800" b="0">
                          <a:solidFill>
                            <a:srgbClr val="122C42"/>
                          </a:solidFill>
                          <a:latin typeface="Helvetica Neue"/>
                          <a:ea typeface="Helvetica Neue"/>
                          <a:cs typeface="Helvetica Neue"/>
                        </a:rPr>
                        <a:t>B: local</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4</a:t>
                      </a:r>
                    </a:p>
                  </a:txBody>
                  <a:tcPr marL="114300" marR="114300" marT="47625" marB="47625"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FFD5CC41-CBEB-49EA-B3B7-1BA63907AC7A}"/>
              </a:ext>
            </a:extLst>
          </p:cNvPr>
          <p:cNvSpPr>
            <a:spLocks xmlns:a="http://schemas.openxmlformats.org/drawingml/2006/main" noGrp="1"/>
          </p:cNvSpPr>
          <p:nvPr/>
        </p:nvSpPr>
        <p:spPr>
          <a:xfrm xmlns:a="http://schemas.openxmlformats.org/drawingml/2006/main">
            <a:off x="609600" y="523875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Düşün: B local1 → A send2 sonucu çıkar mı?</a:t>
            </a:r>
          </a:p>
        </p:txBody>
      </p:sp>
      <p:sp>
        <p:nvSpPr>
          <p:cNvPr id="4" name="">
            <a:extLst xmlns:a="http://schemas.openxmlformats.org/drawingml/2006/main">
              <a:ext uri="{FF2B5EF4-FFF2-40B4-BE49-F238E27FC236}">
                <a16:creationId xmlns:a16="http://schemas.microsoft.com/office/drawing/2014/main" id="{2103CA19-88B8-4AF3-ABCA-8954286EB466}"/>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10</a:t>
            </a:r>
          </a:p>
        </p:txBody>
      </p:sp>
      <p:sp>
        <p:nvSpPr>
          <p:cNvPr id="5" name="">
            <a:extLst xmlns:a="http://schemas.openxmlformats.org/drawingml/2006/main">
              <a:ext uri="{FF2B5EF4-FFF2-40B4-BE49-F238E27FC236}">
                <a16:creationId xmlns:a16="http://schemas.microsoft.com/office/drawing/2014/main" id="{CBBFF9BA-6E04-4330-88D3-8E5DE8D8D0D6}"/>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18 / 27</a:t>
            </a:r>
          </a:p>
        </p:txBody>
      </p:sp>
    </p:spTree>
    <p:extLst>
      <p:ext uri="{BB962C8B-B14F-4D97-AF65-F5344CB8AC3E}">
        <p14:creationId xmlns:p14="http://schemas.microsoft.com/office/powerpoint/2010/main" val="1428732086"/>
      </p:ext>
    </p:extLst>
  </p:cSld>
</p:sld>
</file>

<file path=ppt/slides/slide19.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6F784B7-D051-4556-9E30-DF67B5617F10}"/>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Koordinasyon: hangi karar ortak?</a:t>
            </a:r>
          </a:p>
        </p:txBody>
      </p:sp>
      <p:sp>
        <p:nvSpPr>
          <p:cNvPr id="2" name="">
            <a:extLst xmlns:a="http://schemas.openxmlformats.org/drawingml/2006/main">
              <a:ext uri="{FF2B5EF4-FFF2-40B4-BE49-F238E27FC236}">
                <a16:creationId xmlns:a16="http://schemas.microsoft.com/office/drawing/2014/main" id="{2D2C85F4-E4E9-4E48-8C78-3529905454D2}"/>
              </a:ext>
            </a:extLst>
          </p:cNvPr>
          <p:cNvSpPr>
            <a:spLocks xmlns:a="http://schemas.openxmlformats.org/drawingml/2006/main" noGrp="1"/>
          </p:cNvSpPr>
          <p:nvPr/>
        </p:nvSpPr>
        <p:spPr>
          <a:xfrm xmlns:a="http://schemas.openxmlformats.org/drawingml/2006/main">
            <a:off x="609600" y="1952625"/>
            <a:ext cx="4381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629CD3ED-BD05-4040-9E2A-EE48D9ED1141}"/>
              </a:ext>
            </a:extLst>
          </p:cNvPr>
          <p:cNvSpPr>
            <a:spLocks xmlns:a="http://schemas.openxmlformats.org/drawingml/2006/main" noGrp="1"/>
          </p:cNvSpPr>
          <p:nvPr/>
        </p:nvSpPr>
        <p:spPr>
          <a:xfrm xmlns:a="http://schemas.openxmlformats.org/drawingml/2006/main">
            <a:off x="1333500" y="1952625"/>
            <a:ext cx="102489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Aynı işin sahibi kim?</a:t>
            </a:r>
          </a:p>
        </p:txBody>
      </p:sp>
      <p:sp>
        <p:nvSpPr>
          <p:cNvPr id="4" name="">
            <a:extLst xmlns:a="http://schemas.openxmlformats.org/drawingml/2006/main">
              <a:ext uri="{FF2B5EF4-FFF2-40B4-BE49-F238E27FC236}">
                <a16:creationId xmlns:a16="http://schemas.microsoft.com/office/drawing/2014/main" id="{C82ED801-D658-49C2-A315-41BE12EF6CA8}"/>
              </a:ext>
            </a:extLst>
          </p:cNvPr>
          <p:cNvSpPr>
            <a:spLocks xmlns:a="http://schemas.openxmlformats.org/drawingml/2006/main" noGrp="1"/>
          </p:cNvSpPr>
          <p:nvPr/>
        </p:nvSpPr>
        <p:spPr>
          <a:xfrm xmlns:a="http://schemas.openxmlformats.org/drawingml/2006/main">
            <a:off x="609600" y="2769394"/>
            <a:ext cx="4381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C9C4E4D7-6A92-499B-B803-9979B5404EE2}"/>
              </a:ext>
            </a:extLst>
          </p:cNvPr>
          <p:cNvSpPr>
            <a:spLocks xmlns:a="http://schemas.openxmlformats.org/drawingml/2006/main" noGrp="1"/>
          </p:cNvSpPr>
          <p:nvPr/>
        </p:nvSpPr>
        <p:spPr>
          <a:xfrm xmlns:a="http://schemas.openxmlformats.org/drawingml/2006/main">
            <a:off x="1333500" y="2769394"/>
            <a:ext cx="102489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Hangi update sırası geçerli?</a:t>
            </a:r>
          </a:p>
        </p:txBody>
      </p:sp>
      <p:sp>
        <p:nvSpPr>
          <p:cNvPr id="6" name="">
            <a:extLst xmlns:a="http://schemas.openxmlformats.org/drawingml/2006/main">
              <a:ext uri="{FF2B5EF4-FFF2-40B4-BE49-F238E27FC236}">
                <a16:creationId xmlns:a16="http://schemas.microsoft.com/office/drawing/2014/main" id="{D561AB4A-1246-4758-9FDA-B3324F33FC7A}"/>
              </a:ext>
            </a:extLst>
          </p:cNvPr>
          <p:cNvSpPr>
            <a:spLocks xmlns:a="http://schemas.openxmlformats.org/drawingml/2006/main" noGrp="1"/>
          </p:cNvSpPr>
          <p:nvPr/>
        </p:nvSpPr>
        <p:spPr>
          <a:xfrm xmlns:a="http://schemas.openxmlformats.org/drawingml/2006/main">
            <a:off x="609600" y="3586163"/>
            <a:ext cx="4381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06595674-2D6B-4470-B22A-BF13EB6ED062}"/>
              </a:ext>
            </a:extLst>
          </p:cNvPr>
          <p:cNvSpPr>
            <a:spLocks xmlns:a="http://schemas.openxmlformats.org/drawingml/2006/main" noGrp="1"/>
          </p:cNvSpPr>
          <p:nvPr/>
        </p:nvSpPr>
        <p:spPr>
          <a:xfrm xmlns:a="http://schemas.openxmlformats.org/drawingml/2006/main">
            <a:off x="1333500" y="3586163"/>
            <a:ext cx="102489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Kim karar vermeye yetkili?</a:t>
            </a:r>
          </a:p>
        </p:txBody>
      </p:sp>
      <p:sp>
        <p:nvSpPr>
          <p:cNvPr id="8" name="">
            <a:extLst xmlns:a="http://schemas.openxmlformats.org/drawingml/2006/main">
              <a:ext uri="{FF2B5EF4-FFF2-40B4-BE49-F238E27FC236}">
                <a16:creationId xmlns:a16="http://schemas.microsoft.com/office/drawing/2014/main" id="{7448DE8E-4D2B-446A-AE33-F8E754737E22}"/>
              </a:ext>
            </a:extLst>
          </p:cNvPr>
          <p:cNvSpPr>
            <a:spLocks xmlns:a="http://schemas.openxmlformats.org/drawingml/2006/main" noGrp="1"/>
          </p:cNvSpPr>
          <p:nvPr/>
        </p:nvSpPr>
        <p:spPr>
          <a:xfrm xmlns:a="http://schemas.openxmlformats.org/drawingml/2006/main">
            <a:off x="609600" y="4402931"/>
            <a:ext cx="4381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04</a:t>
            </a:r>
          </a:p>
        </p:txBody>
      </p:sp>
      <p:sp>
        <p:nvSpPr>
          <p:cNvPr id="9" name="">
            <a:extLst xmlns:a="http://schemas.openxmlformats.org/drawingml/2006/main">
              <a:ext uri="{FF2B5EF4-FFF2-40B4-BE49-F238E27FC236}">
                <a16:creationId xmlns:a16="http://schemas.microsoft.com/office/drawing/2014/main" id="{F912197E-6380-479D-9A06-B2709BBAA57A}"/>
              </a:ext>
            </a:extLst>
          </p:cNvPr>
          <p:cNvSpPr>
            <a:spLocks xmlns:a="http://schemas.openxmlformats.org/drawingml/2006/main" noGrp="1"/>
          </p:cNvSpPr>
          <p:nvPr/>
        </p:nvSpPr>
        <p:spPr>
          <a:xfrm xmlns:a="http://schemas.openxmlformats.org/drawingml/2006/main">
            <a:off x="1333500" y="4402931"/>
            <a:ext cx="102489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Failure model ve scope ne?</a:t>
            </a:r>
          </a:p>
        </p:txBody>
      </p:sp>
      <p:sp>
        <p:nvSpPr>
          <p:cNvPr id="10" name="">
            <a:extLst xmlns:a="http://schemas.openxmlformats.org/drawingml/2006/main">
              <a:ext uri="{FF2B5EF4-FFF2-40B4-BE49-F238E27FC236}">
                <a16:creationId xmlns:a16="http://schemas.microsoft.com/office/drawing/2014/main" id="{A2457AA3-C7BB-4315-8B4B-141B7AC40082}"/>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Gerçek hayat: Zamanlanmış job sahibi</a:t>
            </a:r>
          </a:p>
        </p:txBody>
      </p:sp>
      <p:sp>
        <p:nvSpPr>
          <p:cNvPr id="11" name="">
            <a:extLst xmlns:a="http://schemas.openxmlformats.org/drawingml/2006/main">
              <a:ext uri="{FF2B5EF4-FFF2-40B4-BE49-F238E27FC236}">
                <a16:creationId xmlns:a16="http://schemas.microsoft.com/office/drawing/2014/main" id="{E46A90A3-D148-41ED-9276-45A4C55282D0}"/>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İki worker aynı job’u üstlenir.</a:t>
            </a:r>
          </a:p>
        </p:txBody>
      </p:sp>
      <p:sp>
        <p:nvSpPr>
          <p:cNvPr id="12" name="">
            <a:extLst xmlns:a="http://schemas.openxmlformats.org/drawingml/2006/main">
              <a:ext uri="{FF2B5EF4-FFF2-40B4-BE49-F238E27FC236}">
                <a16:creationId xmlns:a16="http://schemas.microsoft.com/office/drawing/2014/main" id="{D07A48E0-CF3D-46B9-9D4B-50CABA194BD1}"/>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10</a:t>
            </a:r>
          </a:p>
        </p:txBody>
      </p:sp>
      <p:sp>
        <p:nvSpPr>
          <p:cNvPr id="13" name="">
            <a:extLst xmlns:a="http://schemas.openxmlformats.org/drawingml/2006/main">
              <a:ext uri="{FF2B5EF4-FFF2-40B4-BE49-F238E27FC236}">
                <a16:creationId xmlns:a16="http://schemas.microsoft.com/office/drawing/2014/main" id="{A86EFD85-DAE1-4682-9873-CD8E5CCDC696}"/>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19 / 27</a:t>
            </a:r>
          </a:p>
        </p:txBody>
      </p:sp>
    </p:spTree>
    <p:extLst>
      <p:ext uri="{BB962C8B-B14F-4D97-AF65-F5344CB8AC3E}">
        <p14:creationId xmlns:p14="http://schemas.microsoft.com/office/powerpoint/2010/main" val="635408499"/>
      </p:ext>
    </p:extLst>
  </p:cSld>
</p:sld>
</file>

<file path=ppt/slides/slide20.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E54A0F8-0E8D-4470-9BF7-192BB1096230}"/>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Replication: kopya neden var?</a:t>
            </a:r>
          </a:p>
        </p:txBody>
      </p:sp>
      <p:sp>
        <p:nvSpPr>
          <p:cNvPr id="2" name="">
            <a:extLst xmlns:a="http://schemas.openxmlformats.org/drawingml/2006/main">
              <a:ext uri="{FF2B5EF4-FFF2-40B4-BE49-F238E27FC236}">
                <a16:creationId xmlns:a16="http://schemas.microsoft.com/office/drawing/2014/main" id="{C61A0720-3C74-4EF3-B655-6D37EF8DBE4E}"/>
              </a:ext>
            </a:extLst>
          </p:cNvPr>
          <p:cNvSpPr>
            <a:spLocks xmlns:a="http://schemas.openxmlformats.org/drawingml/2006/main" noGrp="1"/>
          </p:cNvSpPr>
          <p:nvPr/>
        </p:nvSpPr>
        <p:spPr>
          <a:xfrm xmlns:a="http://schemas.openxmlformats.org/drawingml/2006/main">
            <a:off x="609600" y="1952625"/>
            <a:ext cx="5295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E83"/>
                </a:solidFill>
                <a:latin typeface="Helvetica Neue"/>
                <a:ea typeface="Helvetica Neue"/>
                <a:cs typeface="Helvetica Neue"/>
              </a:defRPr>
            </a:pPr>
            <a:r>
              <a:rPr sz="2250" b="1">
                <a:solidFill>
                  <a:srgbClr val="087E83"/>
                </a:solidFill>
                <a:latin typeface="Helvetica Neue"/>
                <a:ea typeface="Helvetica Neue"/>
                <a:cs typeface="Helvetica Neue"/>
              </a:rPr>
              <a:t>Hedef</a:t>
            </a:r>
          </a:p>
        </p:txBody>
      </p:sp>
      <p:sp>
        <p:nvSpPr>
          <p:cNvPr id="3" name="">
            <a:extLst xmlns:a="http://schemas.openxmlformats.org/drawingml/2006/main">
              <a:ext uri="{FF2B5EF4-FFF2-40B4-BE49-F238E27FC236}">
                <a16:creationId xmlns:a16="http://schemas.microsoft.com/office/drawing/2014/main" id="{E73F3E58-732C-4E99-A9DA-D552439F30B9}"/>
              </a:ext>
            </a:extLst>
          </p:cNvPr>
          <p:cNvSpPr>
            <a:spLocks xmlns:a="http://schemas.openxmlformats.org/drawingml/2006/main" noGrp="1"/>
          </p:cNvSpPr>
          <p:nvPr/>
        </p:nvSpPr>
        <p:spPr>
          <a:xfrm xmlns:a="http://schemas.openxmlformats.org/drawingml/2006/main">
            <a:off x="609600" y="2714625"/>
            <a:ext cx="5295900" cy="2505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Arıza toleransı</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Read load dağıtımı</a:t>
            </a:r>
          </a:p>
        </p:txBody>
      </p:sp>
      <p:sp>
        <p:nvSpPr>
          <p:cNvPr id="4" name="">
            <a:extLst xmlns:a="http://schemas.openxmlformats.org/drawingml/2006/main">
              <a:ext uri="{FF2B5EF4-FFF2-40B4-BE49-F238E27FC236}">
                <a16:creationId xmlns:a16="http://schemas.microsoft.com/office/drawing/2014/main" id="{BE2E4D18-0A64-4F72-B57A-F8D683EE62B8}"/>
              </a:ext>
            </a:extLst>
          </p:cNvPr>
          <p:cNvSpPr>
            <a:spLocks xmlns:a="http://schemas.openxmlformats.org/drawingml/2006/main" noGrp="1"/>
          </p:cNvSpPr>
          <p:nvPr/>
        </p:nvSpPr>
        <p:spPr>
          <a:xfrm xmlns:a="http://schemas.openxmlformats.org/drawingml/2006/main">
            <a:off x="6286500" y="1952625"/>
            <a:ext cx="5295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E83"/>
                </a:solidFill>
                <a:latin typeface="Helvetica Neue"/>
                <a:ea typeface="Helvetica Neue"/>
                <a:cs typeface="Helvetica Neue"/>
              </a:defRPr>
            </a:pPr>
            <a:r>
              <a:rPr sz="2250" b="1">
                <a:solidFill>
                  <a:srgbClr val="087E83"/>
                </a:solidFill>
                <a:latin typeface="Helvetica Neue"/>
                <a:ea typeface="Helvetica Neue"/>
                <a:cs typeface="Helvetica Neue"/>
              </a:rPr>
              <a:t>Bedel</a:t>
            </a:r>
          </a:p>
        </p:txBody>
      </p:sp>
      <p:sp>
        <p:nvSpPr>
          <p:cNvPr id="5" name="">
            <a:extLst xmlns:a="http://schemas.openxmlformats.org/drawingml/2006/main">
              <a:ext uri="{FF2B5EF4-FFF2-40B4-BE49-F238E27FC236}">
                <a16:creationId xmlns:a16="http://schemas.microsoft.com/office/drawing/2014/main" id="{1BE11A66-BA56-43F1-8147-5A37C2F7D655}"/>
              </a:ext>
            </a:extLst>
          </p:cNvPr>
          <p:cNvSpPr>
            <a:spLocks xmlns:a="http://schemas.openxmlformats.org/drawingml/2006/main" noGrp="1"/>
          </p:cNvSpPr>
          <p:nvPr/>
        </p:nvSpPr>
        <p:spPr>
          <a:xfrm xmlns:a="http://schemas.openxmlformats.org/drawingml/2006/main">
            <a:off x="6286500" y="2714625"/>
            <a:ext cx="5295900" cy="2505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İletişim ve update sırası</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Kopyalar arası lag</a:t>
            </a:r>
          </a:p>
        </p:txBody>
      </p:sp>
      <p:sp>
        <p:nvSpPr>
          <p:cNvPr id="6" name="">
            <a:extLst xmlns:a="http://schemas.openxmlformats.org/drawingml/2006/main">
              <a:ext uri="{FF2B5EF4-FFF2-40B4-BE49-F238E27FC236}">
                <a16:creationId xmlns:a16="http://schemas.microsoft.com/office/drawing/2014/main" id="{168F10BC-B704-46AD-A91E-662D19372ECA}"/>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Gerçek hayat: İkinci bölge kopyası</a:t>
            </a:r>
          </a:p>
        </p:txBody>
      </p:sp>
      <p:sp>
        <p:nvSpPr>
          <p:cNvPr id="7" name="">
            <a:extLst xmlns:a="http://schemas.openxmlformats.org/drawingml/2006/main">
              <a:ext uri="{FF2B5EF4-FFF2-40B4-BE49-F238E27FC236}">
                <a16:creationId xmlns:a16="http://schemas.microsoft.com/office/drawing/2014/main" id="{703221C0-F47B-4D6C-BF80-2BFFE18D9A8E}"/>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Veri başka yerde de duruyor.</a:t>
            </a:r>
          </a:p>
        </p:txBody>
      </p:sp>
      <p:sp>
        <p:nvSpPr>
          <p:cNvPr id="8" name="">
            <a:extLst xmlns:a="http://schemas.openxmlformats.org/drawingml/2006/main">
              <a:ext uri="{FF2B5EF4-FFF2-40B4-BE49-F238E27FC236}">
                <a16:creationId xmlns:a16="http://schemas.microsoft.com/office/drawing/2014/main" id="{16CD57C6-6660-468D-A15C-14EFDAFD9518}"/>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10</a:t>
            </a:r>
          </a:p>
        </p:txBody>
      </p:sp>
      <p:sp>
        <p:nvSpPr>
          <p:cNvPr id="9" name="">
            <a:extLst xmlns:a="http://schemas.openxmlformats.org/drawingml/2006/main">
              <a:ext uri="{FF2B5EF4-FFF2-40B4-BE49-F238E27FC236}">
                <a16:creationId xmlns:a16="http://schemas.microsoft.com/office/drawing/2014/main" id="{E90A7CB2-A344-4C78-8038-2A86EAD5D8F1}"/>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20 / 27</a:t>
            </a:r>
          </a:p>
        </p:txBody>
      </p:sp>
    </p:spTree>
    <p:extLst>
      <p:ext uri="{BB962C8B-B14F-4D97-AF65-F5344CB8AC3E}">
        <p14:creationId xmlns:p14="http://schemas.microsoft.com/office/powerpoint/2010/main" val="1181180012"/>
      </p:ext>
    </p:extLst>
  </p:cSld>
</p:sld>
</file>

<file path=ppt/slides/slide21.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466DDC9-84A5-40CA-AB77-638C2EF5ACD9}"/>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Storage izi: read hangi kopyadan?</a:t>
            </a:r>
          </a:p>
        </p:txBody>
      </p:sp>
      <p:sp>
        <p:nvSpPr>
          <p:cNvPr id="2" name="">
            <a:extLst xmlns:a="http://schemas.openxmlformats.org/drawingml/2006/main">
              <a:ext uri="{FF2B5EF4-FFF2-40B4-BE49-F238E27FC236}">
                <a16:creationId xmlns:a16="http://schemas.microsoft.com/office/drawing/2014/main" id="{D6D95991-9E85-4360-88A2-9AFED7530D8A}"/>
              </a:ext>
            </a:extLst>
          </p:cNvPr>
          <p:cNvSpPr>
            <a:spLocks xmlns:a="http://schemas.openxmlformats.org/drawingml/2006/main" noGrp="1"/>
          </p:cNvSpPr>
          <p:nvPr/>
        </p:nvSpPr>
        <p:spPr>
          <a:xfrm xmlns:a="http://schemas.openxmlformats.org/drawingml/2006/main">
            <a:off x="609600" y="17145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4D606A"/>
                </a:solidFill>
                <a:latin typeface="Helvetica Neue"/>
                <a:ea typeface="Helvetica Neue"/>
                <a:cs typeface="Helvetica Neue"/>
              </a:defRPr>
            </a:pPr>
            <a:r>
              <a:rPr sz="1800" b="0">
                <a:solidFill>
                  <a:srgbClr val="4D606A"/>
                </a:solidFill>
                <a:latin typeface="Helvetica Neue"/>
                <a:ea typeface="Helvetica Neue"/>
                <a:cs typeface="Helvetica Neue"/>
              </a:rPr>
              <a:t>Başlangıç x=0 · Model update x=1</a:t>
            </a:r>
          </a:p>
        </p:txBody>
      </p:sp>
      <p:graphicFrame>
        <p:nvGraphicFramePr>
          <p:cNvPr id="10" name=""/>
          <p:cNvGraphicFramePr/>
          <p:nvPr/>
        </p:nvGraphicFramePr>
        <p:xfrm>
          <a:off xmlns:a="http://schemas.openxmlformats.org/drawingml/2006/main" x="609600" y="2209800"/>
          <a:ext xmlns:a="http://schemas.openxmlformats.org/drawingml/2006/main" cx="10972800" cy="3009900"/>
        </p:xfrm>
        <a:graphic xmlns:a="http://schemas.openxmlformats.org/drawingml/2006/main">
          <a:graphicData uri="http://schemas.openxmlformats.org/drawingml/2006/table">
            <a:tbl>
              <a:tblPr/>
              <a:tblGrid>
                <a:gridCol w="2743200"/>
                <a:gridCol w="2743200"/>
                <a:gridCol w="2743200"/>
                <a:gridCol w="2743200"/>
              </a:tblGrid>
              <a:tr h="501650">
                <a:tc>
                  <a:txBody>
                    <a:bodyPr/>
                    <a:lstStyle/>
                    <a:p>
                      <a:r>
                        <a:rPr sz="1800" b="1">
                          <a:solidFill>
                            <a:srgbClr val="FFFFFF"/>
                          </a:solidFill>
                          <a:latin typeface="Helvetica Neue"/>
                          <a:ea typeface="Helvetica Neue"/>
                          <a:cs typeface="Helvetica Neue"/>
                        </a:rPr>
                        <a:t>t</a:t>
                      </a:r>
                    </a:p>
                  </a:txBody>
                  <a:tcPr marL="114300" marR="114300" marT="47625" marB="47625" anchor="ctr">
                    <a:solidFill>
                      <a:srgbClr val="122C42"/>
                    </a:solidFill>
                  </a:tcPr>
                </a:tc>
                <a:tc>
                  <a:txBody>
                    <a:bodyPr/>
                    <a:lstStyle/>
                    <a:p>
                      <a:r>
                        <a:rPr sz="1800" b="1">
                          <a:solidFill>
                            <a:srgbClr val="FFFFFF"/>
                          </a:solidFill>
                          <a:latin typeface="Helvetica Neue"/>
                          <a:ea typeface="Helvetica Neue"/>
                          <a:cs typeface="Helvetica Neue"/>
                        </a:rPr>
                        <a:t>Primary</a:t>
                      </a:r>
                    </a:p>
                  </a:txBody>
                  <a:tcPr marL="114300" marR="114300" marT="47625" marB="47625" anchor="ctr">
                    <a:solidFill>
                      <a:srgbClr val="122C42"/>
                    </a:solidFill>
                  </a:tcPr>
                </a:tc>
                <a:tc>
                  <a:txBody>
                    <a:bodyPr/>
                    <a:lstStyle/>
                    <a:p>
                      <a:r>
                        <a:rPr sz="1800" b="1">
                          <a:solidFill>
                            <a:srgbClr val="FFFFFF"/>
                          </a:solidFill>
                          <a:latin typeface="Helvetica Neue"/>
                          <a:ea typeface="Helvetica Neue"/>
                          <a:cs typeface="Helvetica Neue"/>
                        </a:rPr>
                        <a:t>Replica</a:t>
                      </a:r>
                    </a:p>
                  </a:txBody>
                  <a:tcPr marL="114300" marR="114300" marT="47625" marB="47625" anchor="ctr">
                    <a:solidFill>
                      <a:srgbClr val="122C42"/>
                    </a:solidFill>
                  </a:tcPr>
                </a:tc>
                <a:tc>
                  <a:txBody>
                    <a:bodyPr/>
                    <a:lstStyle/>
                    <a:p>
                      <a:r>
                        <a:rPr sz="1800" b="1">
                          <a:solidFill>
                            <a:srgbClr val="FFFFFF"/>
                          </a:solidFill>
                          <a:latin typeface="Helvetica Neue"/>
                          <a:ea typeface="Helvetica Neue"/>
                          <a:cs typeface="Helvetica Neue"/>
                        </a:rPr>
                        <a:t>Gözlem</a:t>
                      </a:r>
                    </a:p>
                  </a:txBody>
                  <a:tcPr marL="114300" marR="114300" marT="47625" marB="47625" anchor="ctr">
                    <a:solidFill>
                      <a:srgbClr val="122C42"/>
                    </a:solidFill>
                  </a:tcPr>
                </a:tc>
              </a:tr>
              <a:tr h="501650">
                <a:tc>
                  <a:txBody>
                    <a:bodyPr/>
                    <a:lstStyle/>
                    <a:p>
                      <a:r>
                        <a:rPr sz="1800" b="0">
                          <a:solidFill>
                            <a:srgbClr val="122C42"/>
                          </a:solidFill>
                          <a:latin typeface="Helvetica Neue"/>
                          <a:ea typeface="Helvetica Neue"/>
                          <a:cs typeface="Helvetica Neue"/>
                        </a:rPr>
                        <a:t>0</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x=0</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x=0</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Başlangıç</a:t>
                      </a:r>
                    </a:p>
                  </a:txBody>
                  <a:tcPr marL="114300" marR="114300" marT="47625" marB="47625" anchor="ctr">
                    <a:solidFill>
                      <a:srgbClr val="FFFFFF"/>
                    </a:solidFill>
                  </a:tcPr>
                </a:tc>
              </a:tr>
              <a:tr h="501650">
                <a:tc>
                  <a:txBody>
                    <a:bodyPr/>
                    <a:lstStyle/>
                    <a:p>
                      <a:r>
                        <a:rPr sz="1800" b="0">
                          <a:solidFill>
                            <a:srgbClr val="122C42"/>
                          </a:solidFill>
                          <a:latin typeface="Helvetica Neue"/>
                          <a:ea typeface="Helvetica Neue"/>
                          <a:cs typeface="Helvetica Neue"/>
                        </a:rPr>
                        <a:t>2</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x=1</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x=0</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Update uygulanır</a:t>
                      </a:r>
                    </a:p>
                  </a:txBody>
                  <a:tcPr marL="114300" marR="114300" marT="47625" marB="47625" anchor="ctr">
                    <a:solidFill>
                      <a:srgbClr val="ECF0EC"/>
                    </a:solidFill>
                  </a:tcPr>
                </a:tc>
              </a:tr>
              <a:tr h="501650">
                <a:tc>
                  <a:txBody>
                    <a:bodyPr/>
                    <a:lstStyle/>
                    <a:p>
                      <a:r>
                        <a:rPr sz="1800" b="0">
                          <a:solidFill>
                            <a:srgbClr val="122C42"/>
                          </a:solidFill>
                          <a:latin typeface="Helvetica Neue"/>
                          <a:ea typeface="Helvetica Neue"/>
                          <a:cs typeface="Helvetica Neue"/>
                        </a:rPr>
                        <a:t>3</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x=1</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x=0</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Client ack alır</a:t>
                      </a:r>
                    </a:p>
                  </a:txBody>
                  <a:tcPr marL="114300" marR="114300" marT="47625" marB="47625" anchor="ctr">
                    <a:solidFill>
                      <a:srgbClr val="FFFFFF"/>
                    </a:solidFill>
                  </a:tcPr>
                </a:tc>
              </a:tr>
              <a:tr h="501650">
                <a:tc>
                  <a:txBody>
                    <a:bodyPr/>
                    <a:lstStyle/>
                    <a:p>
                      <a:r>
                        <a:rPr sz="1800" b="0">
                          <a:solidFill>
                            <a:srgbClr val="122C42"/>
                          </a:solidFill>
                          <a:latin typeface="Helvetica Neue"/>
                          <a:ea typeface="Helvetica Neue"/>
                          <a:cs typeface="Helvetica Neue"/>
                        </a:rPr>
                        <a:t>4</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x=1</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x=0</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Replica read →0</a:t>
                      </a:r>
                    </a:p>
                  </a:txBody>
                  <a:tcPr marL="114300" marR="114300" marT="47625" marB="47625" anchor="ctr">
                    <a:solidFill>
                      <a:srgbClr val="ECF0EC"/>
                    </a:solidFill>
                  </a:tcPr>
                </a:tc>
              </a:tr>
              <a:tr h="501650">
                <a:tc>
                  <a:txBody>
                    <a:bodyPr/>
                    <a:lstStyle/>
                    <a:p>
                      <a:r>
                        <a:rPr sz="1800" b="0">
                          <a:solidFill>
                            <a:srgbClr val="122C42"/>
                          </a:solidFill>
                          <a:latin typeface="Helvetica Neue"/>
                          <a:ea typeface="Helvetica Neue"/>
                          <a:cs typeface="Helvetica Neue"/>
                        </a:rPr>
                        <a:t>8</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x=1</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x=1</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Kopya yetişir</a:t>
                      </a:r>
                    </a:p>
                  </a:txBody>
                  <a:tcPr marL="114300" marR="114300" marT="47625" marB="4762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0E8F87FA-1A5F-466A-8AB5-55BE5673EC7F}"/>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Gerçek hayat: Yazdıktan sonra eski profil</a:t>
            </a:r>
          </a:p>
        </p:txBody>
      </p:sp>
      <p:sp>
        <p:nvSpPr>
          <p:cNvPr id="5" name="">
            <a:extLst xmlns:a="http://schemas.openxmlformats.org/drawingml/2006/main">
              <a:ext uri="{FF2B5EF4-FFF2-40B4-BE49-F238E27FC236}">
                <a16:creationId xmlns:a16="http://schemas.microsoft.com/office/drawing/2014/main" id="{87708871-E544-4165-8BB4-BAE558B8670F}"/>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Kaydettiğin değişiklik hemen görünmüyor.</a:t>
            </a:r>
          </a:p>
        </p:txBody>
      </p:sp>
      <p:sp>
        <p:nvSpPr>
          <p:cNvPr id="6" name="">
            <a:extLst xmlns:a="http://schemas.openxmlformats.org/drawingml/2006/main">
              <a:ext uri="{FF2B5EF4-FFF2-40B4-BE49-F238E27FC236}">
                <a16:creationId xmlns:a16="http://schemas.microsoft.com/office/drawing/2014/main" id="{901B73A5-E453-47B5-8045-11A9AA394720}"/>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10</a:t>
            </a:r>
          </a:p>
        </p:txBody>
      </p:sp>
      <p:sp>
        <p:nvSpPr>
          <p:cNvPr id="7" name="">
            <a:extLst xmlns:a="http://schemas.openxmlformats.org/drawingml/2006/main">
              <a:ext uri="{FF2B5EF4-FFF2-40B4-BE49-F238E27FC236}">
                <a16:creationId xmlns:a16="http://schemas.microsoft.com/office/drawing/2014/main" id="{BD3F4C55-591A-42B1-AE15-144B3A61D62B}"/>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21 / 27</a:t>
            </a:r>
          </a:p>
        </p:txBody>
      </p:sp>
    </p:spTree>
    <p:extLst>
      <p:ext uri="{BB962C8B-B14F-4D97-AF65-F5344CB8AC3E}">
        <p14:creationId xmlns:p14="http://schemas.microsoft.com/office/powerpoint/2010/main" val="1786996753"/>
      </p:ext>
    </p:extLst>
  </p:cSld>
</p:sld>
</file>

<file path=ppt/slides/slide22.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C0C591F-D548-40DC-9BCD-0E54613816C0}"/>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Consistency: hangi söz veriliyor?</a:t>
            </a:r>
          </a:p>
        </p:txBody>
      </p:sp>
      <p:graphicFrame>
        <p:nvGraphicFramePr>
          <p:cNvPr id="6" name=""/>
          <p:cNvGraphicFramePr/>
          <p:nvPr/>
        </p:nvGraphicFramePr>
        <p:xfrm>
          <a:off xmlns:a="http://schemas.openxmlformats.org/drawingml/2006/main" x="609600" y="1857375"/>
          <a:ext xmlns:a="http://schemas.openxmlformats.org/drawingml/2006/main" cx="10972800" cy="3886200"/>
        </p:xfrm>
        <a:graphic xmlns:a="http://schemas.openxmlformats.org/drawingml/2006/main">
          <a:graphicData uri="http://schemas.openxmlformats.org/drawingml/2006/table">
            <a:tbl>
              <a:tblPr/>
              <a:tblGrid>
                <a:gridCol w="5486400"/>
                <a:gridCol w="5486400"/>
              </a:tblGrid>
              <a:tr h="971550">
                <a:tc>
                  <a:txBody>
                    <a:bodyPr/>
                    <a:lstStyle/>
                    <a:p>
                      <a:r>
                        <a:rPr sz="1800" b="1">
                          <a:solidFill>
                            <a:srgbClr val="FFFFFF"/>
                          </a:solidFill>
                          <a:latin typeface="Helvetica Neue"/>
                          <a:ea typeface="Helvetica Neue"/>
                          <a:cs typeface="Helvetica Neue"/>
                        </a:rPr>
                        <a:t>Sözleşme</a:t>
                      </a:r>
                    </a:p>
                  </a:txBody>
                  <a:tcPr marL="114300" marR="114300" marT="47625" marB="47625" anchor="ctr">
                    <a:solidFill>
                      <a:srgbClr val="122C42"/>
                    </a:solidFill>
                  </a:tcPr>
                </a:tc>
                <a:tc>
                  <a:txBody>
                    <a:bodyPr/>
                    <a:lstStyle/>
                    <a:p>
                      <a:r>
                        <a:rPr sz="1800" b="1">
                          <a:solidFill>
                            <a:srgbClr val="FFFFFF"/>
                          </a:solidFill>
                          <a:latin typeface="Helvetica Neue"/>
                          <a:ea typeface="Helvetica Neue"/>
                          <a:cs typeface="Helvetica Neue"/>
                        </a:rPr>
                        <a:t>Kısa soru</a:t>
                      </a:r>
                    </a:p>
                  </a:txBody>
                  <a:tcPr marL="114300" marR="114300" marT="47625" marB="47625" anchor="ctr">
                    <a:solidFill>
                      <a:srgbClr val="122C42"/>
                    </a:solidFill>
                  </a:tcPr>
                </a:tc>
              </a:tr>
              <a:tr h="971550">
                <a:tc>
                  <a:txBody>
                    <a:bodyPr/>
                    <a:lstStyle/>
                    <a:p>
                      <a:r>
                        <a:rPr sz="1800" b="0">
                          <a:solidFill>
                            <a:srgbClr val="122C42"/>
                          </a:solidFill>
                          <a:latin typeface="Helvetica Neue"/>
                          <a:ea typeface="Helvetica Neue"/>
                          <a:cs typeface="Helvetica Neue"/>
                        </a:rPr>
                        <a:t>Linearizable</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Tek görünüm ve real-time sırası var mı?</a:t>
                      </a:r>
                    </a:p>
                  </a:txBody>
                  <a:tcPr marL="114300" marR="114300" marT="47625" marB="47625" anchor="ctr">
                    <a:solidFill>
                      <a:srgbClr val="FFFFFF"/>
                    </a:solidFill>
                  </a:tcPr>
                </a:tc>
              </a:tr>
              <a:tr h="971550">
                <a:tc>
                  <a:txBody>
                    <a:bodyPr/>
                    <a:lstStyle/>
                    <a:p>
                      <a:r>
                        <a:rPr sz="1800" b="0">
                          <a:solidFill>
                            <a:srgbClr val="122C42"/>
                          </a:solidFill>
                          <a:latin typeface="Helvetica Neue"/>
                          <a:ea typeface="Helvetica Neue"/>
                          <a:cs typeface="Helvetica Neue"/>
                        </a:rPr>
                        <a:t>Read-your-writes</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Kendi tamamlanan yazını görür müsün?</a:t>
                      </a:r>
                    </a:p>
                  </a:txBody>
                  <a:tcPr marL="114300" marR="114300" marT="47625" marB="47625" anchor="ctr">
                    <a:solidFill>
                      <a:srgbClr val="ECF0EC"/>
                    </a:solidFill>
                  </a:tcPr>
                </a:tc>
              </a:tr>
              <a:tr h="971550">
                <a:tc>
                  <a:txBody>
                    <a:bodyPr/>
                    <a:lstStyle/>
                    <a:p>
                      <a:r>
                        <a:rPr sz="1800" b="0">
                          <a:solidFill>
                            <a:srgbClr val="122C42"/>
                          </a:solidFill>
                          <a:latin typeface="Helvetica Neue"/>
                          <a:ea typeface="Helvetica Neue"/>
                          <a:cs typeface="Helvetica Neue"/>
                        </a:rPr>
                        <a:t>Eventual convergence</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Koşullar sağlanınca kopyalar yakınsar mı?</a:t>
                      </a:r>
                    </a:p>
                  </a:txBody>
                  <a:tcPr marL="114300" marR="114300" marT="47625" marB="47625"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C855535B-A718-4309-8D4F-190C8A1ADDE4}"/>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10</a:t>
            </a:r>
          </a:p>
        </p:txBody>
      </p:sp>
      <p:sp>
        <p:nvSpPr>
          <p:cNvPr id="4" name="">
            <a:extLst xmlns:a="http://schemas.openxmlformats.org/drawingml/2006/main">
              <a:ext uri="{FF2B5EF4-FFF2-40B4-BE49-F238E27FC236}">
                <a16:creationId xmlns:a16="http://schemas.microsoft.com/office/drawing/2014/main" id="{0ADE8397-0558-4AEB-9CF4-693AE5D2694B}"/>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22 / 27</a:t>
            </a:r>
          </a:p>
        </p:txBody>
      </p:sp>
    </p:spTree>
    <p:extLst>
      <p:ext uri="{BB962C8B-B14F-4D97-AF65-F5344CB8AC3E}">
        <p14:creationId xmlns:p14="http://schemas.microsoft.com/office/powerpoint/2010/main" val="1411837936"/>
      </p:ext>
    </p:extLst>
  </p:cSld>
</p:sld>
</file>

<file path=ppt/slides/slide23.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0525A77-90A4-47D4-BF43-A7D6F5B8CA5D}"/>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Partition: ulaşılamayan tarafa ne vaat?</a:t>
            </a:r>
          </a:p>
        </p:txBody>
      </p:sp>
      <p:sp>
        <p:nvSpPr>
          <p:cNvPr id="2" name="">
            <a:extLst xmlns:a="http://schemas.openxmlformats.org/drawingml/2006/main">
              <a:ext uri="{FF2B5EF4-FFF2-40B4-BE49-F238E27FC236}">
                <a16:creationId xmlns:a16="http://schemas.microsoft.com/office/drawing/2014/main" id="{C0F792BE-F4A9-4EFB-AC68-29E6241B8226}"/>
              </a:ext>
            </a:extLst>
          </p:cNvPr>
          <p:cNvSpPr>
            <a:spLocks xmlns:a="http://schemas.openxmlformats.org/drawingml/2006/main" noGrp="1"/>
          </p:cNvSpPr>
          <p:nvPr/>
        </p:nvSpPr>
        <p:spPr>
          <a:xfrm xmlns:a="http://schemas.openxmlformats.org/drawingml/2006/main">
            <a:off x="609600" y="1952625"/>
            <a:ext cx="4381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547DBC5D-7038-4221-8B43-CE3202A73A4D}"/>
              </a:ext>
            </a:extLst>
          </p:cNvPr>
          <p:cNvSpPr>
            <a:spLocks xmlns:a="http://schemas.openxmlformats.org/drawingml/2006/main" noGrp="1"/>
          </p:cNvSpPr>
          <p:nvPr/>
        </p:nvSpPr>
        <p:spPr>
          <a:xfrm xmlns:a="http://schemas.openxmlformats.org/drawingml/2006/main">
            <a:off x="1333500" y="1952625"/>
            <a:ext cx="102489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İki taraf da yeni yazı kabul ederse çatışma olabilir</a:t>
            </a:r>
          </a:p>
        </p:txBody>
      </p:sp>
      <p:sp>
        <p:nvSpPr>
          <p:cNvPr id="4" name="">
            <a:extLst xmlns:a="http://schemas.openxmlformats.org/drawingml/2006/main">
              <a:ext uri="{FF2B5EF4-FFF2-40B4-BE49-F238E27FC236}">
                <a16:creationId xmlns:a16="http://schemas.microsoft.com/office/drawing/2014/main" id="{BEE92CBF-A5ED-41F4-B435-DD9E82A05C6F}"/>
              </a:ext>
            </a:extLst>
          </p:cNvPr>
          <p:cNvSpPr>
            <a:spLocks xmlns:a="http://schemas.openxmlformats.org/drawingml/2006/main" noGrp="1"/>
          </p:cNvSpPr>
          <p:nvPr/>
        </p:nvSpPr>
        <p:spPr>
          <a:xfrm xmlns:a="http://schemas.openxmlformats.org/drawingml/2006/main">
            <a:off x="609600" y="2769394"/>
            <a:ext cx="4381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3BADC323-EBF2-4AD5-98D1-7533F845ED0C}"/>
              </a:ext>
            </a:extLst>
          </p:cNvPr>
          <p:cNvSpPr>
            <a:spLocks xmlns:a="http://schemas.openxmlformats.org/drawingml/2006/main" noGrp="1"/>
          </p:cNvSpPr>
          <p:nvPr/>
        </p:nvSpPr>
        <p:spPr>
          <a:xfrm xmlns:a="http://schemas.openxmlformats.org/drawingml/2006/main">
            <a:off x="1333500" y="2769394"/>
            <a:ext cx="102489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Ortak karar için erişim kısıtlanabilir</a:t>
            </a:r>
          </a:p>
        </p:txBody>
      </p:sp>
      <p:sp>
        <p:nvSpPr>
          <p:cNvPr id="6" name="">
            <a:extLst xmlns:a="http://schemas.openxmlformats.org/drawingml/2006/main">
              <a:ext uri="{FF2B5EF4-FFF2-40B4-BE49-F238E27FC236}">
                <a16:creationId xmlns:a16="http://schemas.microsoft.com/office/drawing/2014/main" id="{61F0B4BD-14B4-4214-A19A-2CFDE691645E}"/>
              </a:ext>
            </a:extLst>
          </p:cNvPr>
          <p:cNvSpPr>
            <a:spLocks xmlns:a="http://schemas.openxmlformats.org/drawingml/2006/main" noGrp="1"/>
          </p:cNvSpPr>
          <p:nvPr/>
        </p:nvSpPr>
        <p:spPr>
          <a:xfrm xmlns:a="http://schemas.openxmlformats.org/drawingml/2006/main">
            <a:off x="609600" y="3586163"/>
            <a:ext cx="4381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D1E38676-3170-432B-847F-7F1A022DE1E0}"/>
              </a:ext>
            </a:extLst>
          </p:cNvPr>
          <p:cNvSpPr>
            <a:spLocks xmlns:a="http://schemas.openxmlformats.org/drawingml/2006/main" noGrp="1"/>
          </p:cNvSpPr>
          <p:nvPr/>
        </p:nvSpPr>
        <p:spPr>
          <a:xfrm xmlns:a="http://schemas.openxmlformats.org/drawingml/2006/main">
            <a:off x="1333500" y="3586163"/>
            <a:ext cx="102489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Garanti modelini belirt</a:t>
            </a:r>
          </a:p>
        </p:txBody>
      </p:sp>
      <p:sp>
        <p:nvSpPr>
          <p:cNvPr id="8" name="">
            <a:extLst xmlns:a="http://schemas.openxmlformats.org/drawingml/2006/main">
              <a:ext uri="{FF2B5EF4-FFF2-40B4-BE49-F238E27FC236}">
                <a16:creationId xmlns:a16="http://schemas.microsoft.com/office/drawing/2014/main" id="{0C563BE5-F866-4D4F-9B6B-C2207E75FC73}"/>
              </a:ext>
            </a:extLst>
          </p:cNvPr>
          <p:cNvSpPr>
            <a:spLocks xmlns:a="http://schemas.openxmlformats.org/drawingml/2006/main" noGrp="1"/>
          </p:cNvSpPr>
          <p:nvPr/>
        </p:nvSpPr>
        <p:spPr>
          <a:xfrm xmlns:a="http://schemas.openxmlformats.org/drawingml/2006/main">
            <a:off x="609600" y="4402931"/>
            <a:ext cx="4381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04</a:t>
            </a:r>
          </a:p>
        </p:txBody>
      </p:sp>
      <p:sp>
        <p:nvSpPr>
          <p:cNvPr id="9" name="">
            <a:extLst xmlns:a="http://schemas.openxmlformats.org/drawingml/2006/main">
              <a:ext uri="{FF2B5EF4-FFF2-40B4-BE49-F238E27FC236}">
                <a16:creationId xmlns:a16="http://schemas.microsoft.com/office/drawing/2014/main" id="{95DC5A98-C761-4356-9016-DEAB22D42026}"/>
              </a:ext>
            </a:extLst>
          </p:cNvPr>
          <p:cNvSpPr>
            <a:spLocks xmlns:a="http://schemas.openxmlformats.org/drawingml/2006/main" noGrp="1"/>
          </p:cNvSpPr>
          <p:nvPr/>
        </p:nvSpPr>
        <p:spPr>
          <a:xfrm xmlns:a="http://schemas.openxmlformats.org/drawingml/2006/main">
            <a:off x="1333500" y="4402931"/>
            <a:ext cx="102489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Ürün etiketi mekanizma yerine geçmez</a:t>
            </a:r>
          </a:p>
        </p:txBody>
      </p:sp>
      <p:sp>
        <p:nvSpPr>
          <p:cNvPr id="10" name="">
            <a:extLst xmlns:a="http://schemas.openxmlformats.org/drawingml/2006/main">
              <a:ext uri="{FF2B5EF4-FFF2-40B4-BE49-F238E27FC236}">
                <a16:creationId xmlns:a16="http://schemas.microsoft.com/office/drawing/2014/main" id="{6368B936-E7AD-4D1C-903D-1E6C0C10AB54}"/>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Gerçek hayat: Offline düzenleme</a:t>
            </a:r>
          </a:p>
        </p:txBody>
      </p:sp>
      <p:sp>
        <p:nvSpPr>
          <p:cNvPr id="11" name="">
            <a:extLst xmlns:a="http://schemas.openxmlformats.org/drawingml/2006/main">
              <a:ext uri="{FF2B5EF4-FFF2-40B4-BE49-F238E27FC236}">
                <a16:creationId xmlns:a16="http://schemas.microsoft.com/office/drawing/2014/main" id="{2CE68074-5C11-49E8-A276-94D1E2B9AC6B}"/>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İki cihaz offline farklı değişiklik yapar.</a:t>
            </a:r>
          </a:p>
        </p:txBody>
      </p:sp>
      <p:sp>
        <p:nvSpPr>
          <p:cNvPr id="12" name="">
            <a:extLst xmlns:a="http://schemas.openxmlformats.org/drawingml/2006/main">
              <a:ext uri="{FF2B5EF4-FFF2-40B4-BE49-F238E27FC236}">
                <a16:creationId xmlns:a16="http://schemas.microsoft.com/office/drawing/2014/main" id="{6959691A-289C-4F53-A3E5-8F873160F653}"/>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10</a:t>
            </a:r>
          </a:p>
        </p:txBody>
      </p:sp>
      <p:sp>
        <p:nvSpPr>
          <p:cNvPr id="13" name="">
            <a:extLst xmlns:a="http://schemas.openxmlformats.org/drawingml/2006/main">
              <a:ext uri="{FF2B5EF4-FFF2-40B4-BE49-F238E27FC236}">
                <a16:creationId xmlns:a16="http://schemas.microsoft.com/office/drawing/2014/main" id="{34CB9162-BBE0-417B-941F-048F3CEDBBA6}"/>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23 / 27</a:t>
            </a:r>
          </a:p>
        </p:txBody>
      </p:sp>
    </p:spTree>
    <p:extLst>
      <p:ext uri="{BB962C8B-B14F-4D97-AF65-F5344CB8AC3E}">
        <p14:creationId xmlns:p14="http://schemas.microsoft.com/office/powerpoint/2010/main" val="87323767"/>
      </p:ext>
    </p:extLst>
  </p:cSld>
</p:sld>
</file>

<file path=ppt/slides/slide24.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1B0F8A6-48E2-4507-A0B5-8CA6D6E8561A}"/>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Çoğunluk hesabı tek başına algoritma değil</a:t>
            </a:r>
          </a:p>
        </p:txBody>
      </p:sp>
      <p:sp>
        <p:nvSpPr>
          <p:cNvPr id="2" name="">
            <a:extLst xmlns:a="http://schemas.openxmlformats.org/drawingml/2006/main">
              <a:ext uri="{FF2B5EF4-FFF2-40B4-BE49-F238E27FC236}">
                <a16:creationId xmlns:a16="http://schemas.microsoft.com/office/drawing/2014/main" id="{AD034525-D145-4559-8A77-D9B0B9061472}"/>
              </a:ext>
            </a:extLst>
          </p:cNvPr>
          <p:cNvSpPr>
            <a:spLocks xmlns:a="http://schemas.openxmlformats.org/drawingml/2006/main" noGrp="1"/>
          </p:cNvSpPr>
          <p:nvPr/>
        </p:nvSpPr>
        <p:spPr>
          <a:xfrm xmlns:a="http://schemas.openxmlformats.org/drawingml/2006/main">
            <a:off x="609600" y="17145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4D606A"/>
                </a:solidFill>
                <a:latin typeface="Helvetica Neue"/>
                <a:ea typeface="Helvetica Neue"/>
                <a:cs typeface="Helvetica Neue"/>
              </a:defRPr>
            </a:pPr>
            <a:r>
              <a:rPr sz="1800" b="0">
                <a:solidFill>
                  <a:srgbClr val="4D606A"/>
                </a:solidFill>
                <a:latin typeface="Helvetica Neue"/>
                <a:ea typeface="Helvetica Neue"/>
                <a:cs typeface="Helvetica Neue"/>
              </a:rPr>
              <a:t>Sabit 3 üye → majority 2</a:t>
            </a:r>
          </a:p>
          <a:p xmlns:a="http://schemas.openxmlformats.org/drawingml/2006/main">
            <a:pPr>
              <a:defRPr sz="1800" b="0">
                <a:solidFill>
                  <a:srgbClr val="4D606A"/>
                </a:solidFill>
                <a:latin typeface="Helvetica Neue"/>
                <a:ea typeface="Helvetica Neue"/>
                <a:cs typeface="Helvetica Neue"/>
              </a:defRPr>
            </a:pPr>
            <a:r>
              <a:rPr sz="1800" b="0">
                <a:solidFill>
                  <a:srgbClr val="4D606A"/>
                </a:solidFill>
                <a:latin typeface="Helvetica Neue"/>
                <a:ea typeface="Helvetica Neue"/>
                <a:cs typeface="Helvetica Neue"/>
              </a:rPr>
              <a:t>Her iki majority en az 1 üyede kesişir</a:t>
            </a:r>
          </a:p>
        </p:txBody>
      </p:sp>
      <p:graphicFrame>
        <p:nvGraphicFramePr>
          <p:cNvPr id="8" name=""/>
          <p:cNvGraphicFramePr/>
          <p:nvPr/>
        </p:nvGraphicFramePr>
        <p:xfrm>
          <a:off xmlns:a="http://schemas.openxmlformats.org/drawingml/2006/main" x="609600" y="2486025"/>
          <a:ext xmlns:a="http://schemas.openxmlformats.org/drawingml/2006/main" cx="10972800" cy="3257550"/>
        </p:xfrm>
        <a:graphic xmlns:a="http://schemas.openxmlformats.org/drawingml/2006/main">
          <a:graphicData uri="http://schemas.openxmlformats.org/drawingml/2006/table">
            <a:tbl>
              <a:tblPr/>
              <a:tblGrid>
                <a:gridCol w="5486400"/>
                <a:gridCol w="5486400"/>
              </a:tblGrid>
              <a:tr h="814388">
                <a:tc>
                  <a:txBody>
                    <a:bodyPr/>
                    <a:lstStyle/>
                    <a:p>
                      <a:r>
                        <a:rPr sz="1800" b="1">
                          <a:solidFill>
                            <a:srgbClr val="FFFFFF"/>
                          </a:solidFill>
                          <a:latin typeface="Helvetica Neue"/>
                          <a:ea typeface="Helvetica Neue"/>
                          <a:cs typeface="Helvetica Neue"/>
                        </a:rPr>
                        <a:t>Majority</a:t>
                      </a:r>
                    </a:p>
                  </a:txBody>
                  <a:tcPr marL="114300" marR="114300" marT="47625" marB="47625" anchor="ctr">
                    <a:solidFill>
                      <a:srgbClr val="122C42"/>
                    </a:solidFill>
                  </a:tcPr>
                </a:tc>
                <a:tc>
                  <a:txBody>
                    <a:bodyPr/>
                    <a:lstStyle/>
                    <a:p>
                      <a:r>
                        <a:rPr sz="1800" b="1">
                          <a:solidFill>
                            <a:srgbClr val="FFFFFF"/>
                          </a:solidFill>
                          <a:latin typeface="Helvetica Neue"/>
                          <a:ea typeface="Helvetica Neue"/>
                          <a:cs typeface="Helvetica Neue"/>
                        </a:rPr>
                        <a:t>Ortak örnek</a:t>
                      </a:r>
                    </a:p>
                  </a:txBody>
                  <a:tcPr marL="114300" marR="114300" marT="47625" marB="47625" anchor="ctr">
                    <a:solidFill>
                      <a:srgbClr val="122C42"/>
                    </a:solidFill>
                  </a:tcPr>
                </a:tc>
              </a:tr>
              <a:tr h="814388">
                <a:tc>
                  <a:txBody>
                    <a:bodyPr/>
                    <a:lstStyle/>
                    <a:p>
                      <a:r>
                        <a:rPr sz="1800" b="0">
                          <a:solidFill>
                            <a:srgbClr val="122C42"/>
                          </a:solidFill>
                          <a:latin typeface="Helvetica Neue"/>
                          <a:ea typeface="Helvetica Neue"/>
                          <a:cs typeface="Helvetica Neue"/>
                        </a:rPr>
                        <a:t>AB ve AC</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A</a:t>
                      </a:r>
                    </a:p>
                  </a:txBody>
                  <a:tcPr marL="114300" marR="114300" marT="47625" marB="47625" anchor="ctr">
                    <a:solidFill>
                      <a:srgbClr val="FFFFFF"/>
                    </a:solidFill>
                  </a:tcPr>
                </a:tc>
              </a:tr>
              <a:tr h="814388">
                <a:tc>
                  <a:txBody>
                    <a:bodyPr/>
                    <a:lstStyle/>
                    <a:p>
                      <a:r>
                        <a:rPr sz="1800" b="0">
                          <a:solidFill>
                            <a:srgbClr val="122C42"/>
                          </a:solidFill>
                          <a:latin typeface="Helvetica Neue"/>
                          <a:ea typeface="Helvetica Neue"/>
                          <a:cs typeface="Helvetica Neue"/>
                        </a:rPr>
                        <a:t>AB ve BC</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B</a:t>
                      </a:r>
                    </a:p>
                  </a:txBody>
                  <a:tcPr marL="114300" marR="114300" marT="47625" marB="47625" anchor="ctr">
                    <a:solidFill>
                      <a:srgbClr val="ECF0EC"/>
                    </a:solidFill>
                  </a:tcPr>
                </a:tc>
              </a:tr>
              <a:tr h="814388">
                <a:tc>
                  <a:txBody>
                    <a:bodyPr/>
                    <a:lstStyle/>
                    <a:p>
                      <a:r>
                        <a:rPr sz="1800" b="0">
                          <a:solidFill>
                            <a:srgbClr val="122C42"/>
                          </a:solidFill>
                          <a:latin typeface="Helvetica Neue"/>
                          <a:ea typeface="Helvetica Neue"/>
                          <a:cs typeface="Helvetica Neue"/>
                        </a:rPr>
                        <a:t>AC ve BC</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C</a:t>
                      </a:r>
                    </a:p>
                  </a:txBody>
                  <a:tcPr marL="114300" marR="114300" marT="47625" marB="4762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D7E8BC20-611E-4615-81C1-E7401D14BFAA}"/>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10</a:t>
            </a:r>
          </a:p>
        </p:txBody>
      </p:sp>
      <p:sp>
        <p:nvSpPr>
          <p:cNvPr id="5" name="">
            <a:extLst xmlns:a="http://schemas.openxmlformats.org/drawingml/2006/main">
              <a:ext uri="{FF2B5EF4-FFF2-40B4-BE49-F238E27FC236}">
                <a16:creationId xmlns:a16="http://schemas.microsoft.com/office/drawing/2014/main" id="{9AE152F7-050B-405C-94B9-884724E0BEAF}"/>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24 / 27</a:t>
            </a:r>
          </a:p>
        </p:txBody>
      </p:sp>
    </p:spTree>
    <p:extLst>
      <p:ext uri="{BB962C8B-B14F-4D97-AF65-F5344CB8AC3E}">
        <p14:creationId xmlns:p14="http://schemas.microsoft.com/office/powerpoint/2010/main" val="1574519576"/>
      </p:ext>
    </p:extLst>
  </p:cSld>
</p:sld>
</file>

<file path=ppt/slides/slide25.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C196C9A-E210-43E0-AF8F-643AF95CDEEC}"/>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Bir makalede garantiyi nasıl oku?</a:t>
            </a:r>
          </a:p>
        </p:txBody>
      </p:sp>
      <p:sp>
        <p:nvSpPr>
          <p:cNvPr id="2" name="">
            <a:extLst xmlns:a="http://schemas.openxmlformats.org/drawingml/2006/main">
              <a:ext uri="{FF2B5EF4-FFF2-40B4-BE49-F238E27FC236}">
                <a16:creationId xmlns:a16="http://schemas.microsoft.com/office/drawing/2014/main" id="{44B616BC-7F3F-4024-871E-82659D22B3C3}"/>
              </a:ext>
            </a:extLst>
          </p:cNvPr>
          <p:cNvSpPr>
            <a:spLocks xmlns:a="http://schemas.openxmlformats.org/drawingml/2006/main" noGrp="1"/>
          </p:cNvSpPr>
          <p:nvPr/>
        </p:nvSpPr>
        <p:spPr>
          <a:xfrm xmlns:a="http://schemas.openxmlformats.org/drawingml/2006/main">
            <a:off x="609600" y="1952625"/>
            <a:ext cx="43815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02B00DFD-DB95-475E-89A9-4D944F044920}"/>
              </a:ext>
            </a:extLst>
          </p:cNvPr>
          <p:cNvSpPr>
            <a:spLocks xmlns:a="http://schemas.openxmlformats.org/drawingml/2006/main" noGrp="1"/>
          </p:cNvSpPr>
          <p:nvPr/>
        </p:nvSpPr>
        <p:spPr>
          <a:xfrm xmlns:a="http://schemas.openxmlformats.org/drawingml/2006/main">
            <a:off x="1333500" y="1952625"/>
            <a:ext cx="1024890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Problem ve failure model ne?</a:t>
            </a:r>
          </a:p>
        </p:txBody>
      </p:sp>
      <p:sp>
        <p:nvSpPr>
          <p:cNvPr id="4" name="">
            <a:extLst xmlns:a="http://schemas.openxmlformats.org/drawingml/2006/main">
              <a:ext uri="{FF2B5EF4-FFF2-40B4-BE49-F238E27FC236}">
                <a16:creationId xmlns:a16="http://schemas.microsoft.com/office/drawing/2014/main" id="{446D1314-E95B-48DB-9685-B5C79041D095}"/>
              </a:ext>
            </a:extLst>
          </p:cNvPr>
          <p:cNvSpPr>
            <a:spLocks xmlns:a="http://schemas.openxmlformats.org/drawingml/2006/main" noGrp="1"/>
          </p:cNvSpPr>
          <p:nvPr/>
        </p:nvSpPr>
        <p:spPr>
          <a:xfrm xmlns:a="http://schemas.openxmlformats.org/drawingml/2006/main">
            <a:off x="609600" y="2900363"/>
            <a:ext cx="43815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CE4B2E18-9548-46D0-9B75-58B34EF26F50}"/>
              </a:ext>
            </a:extLst>
          </p:cNvPr>
          <p:cNvSpPr>
            <a:spLocks xmlns:a="http://schemas.openxmlformats.org/drawingml/2006/main" noGrp="1"/>
          </p:cNvSpPr>
          <p:nvPr/>
        </p:nvSpPr>
        <p:spPr>
          <a:xfrm xmlns:a="http://schemas.openxmlformats.org/drawingml/2006/main">
            <a:off x="1333500" y="2900363"/>
            <a:ext cx="1024890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Protocol hangi boundary’de çalışıyor?</a:t>
            </a:r>
          </a:p>
        </p:txBody>
      </p:sp>
      <p:sp>
        <p:nvSpPr>
          <p:cNvPr id="6" name="">
            <a:extLst xmlns:a="http://schemas.openxmlformats.org/drawingml/2006/main">
              <a:ext uri="{FF2B5EF4-FFF2-40B4-BE49-F238E27FC236}">
                <a16:creationId xmlns:a16="http://schemas.microsoft.com/office/drawing/2014/main" id="{C8BFFFD4-12B1-4FE6-BEFE-FFC342A6385F}"/>
              </a:ext>
            </a:extLst>
          </p:cNvPr>
          <p:cNvSpPr>
            <a:spLocks xmlns:a="http://schemas.openxmlformats.org/drawingml/2006/main" noGrp="1"/>
          </p:cNvSpPr>
          <p:nvPr/>
        </p:nvSpPr>
        <p:spPr>
          <a:xfrm xmlns:a="http://schemas.openxmlformats.org/drawingml/2006/main">
            <a:off x="609600" y="3848100"/>
            <a:ext cx="43815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9A9B15A9-BDC4-4B72-9750-70F3D99A65BD}"/>
              </a:ext>
            </a:extLst>
          </p:cNvPr>
          <p:cNvSpPr>
            <a:spLocks xmlns:a="http://schemas.openxmlformats.org/drawingml/2006/main" noGrp="1"/>
          </p:cNvSpPr>
          <p:nvPr/>
        </p:nvSpPr>
        <p:spPr>
          <a:xfrm xmlns:a="http://schemas.openxmlformats.org/drawingml/2006/main">
            <a:off x="1333500" y="3848100"/>
            <a:ext cx="1024890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Safety ile liveness iddiası farklı mı?</a:t>
            </a:r>
          </a:p>
        </p:txBody>
      </p:sp>
      <p:sp>
        <p:nvSpPr>
          <p:cNvPr id="8" name="">
            <a:extLst xmlns:a="http://schemas.openxmlformats.org/drawingml/2006/main">
              <a:ext uri="{FF2B5EF4-FFF2-40B4-BE49-F238E27FC236}">
                <a16:creationId xmlns:a16="http://schemas.microsoft.com/office/drawing/2014/main" id="{F5DE3182-582C-463C-AEEC-620FCB0CE304}"/>
              </a:ext>
            </a:extLst>
          </p:cNvPr>
          <p:cNvSpPr>
            <a:spLocks xmlns:a="http://schemas.openxmlformats.org/drawingml/2006/main" noGrp="1"/>
          </p:cNvSpPr>
          <p:nvPr/>
        </p:nvSpPr>
        <p:spPr>
          <a:xfrm xmlns:a="http://schemas.openxmlformats.org/drawingml/2006/main">
            <a:off x="609600" y="4795838"/>
            <a:ext cx="43815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04</a:t>
            </a:r>
          </a:p>
        </p:txBody>
      </p:sp>
      <p:sp>
        <p:nvSpPr>
          <p:cNvPr id="9" name="">
            <a:extLst xmlns:a="http://schemas.openxmlformats.org/drawingml/2006/main">
              <a:ext uri="{FF2B5EF4-FFF2-40B4-BE49-F238E27FC236}">
                <a16:creationId xmlns:a16="http://schemas.microsoft.com/office/drawing/2014/main" id="{AE30FE4A-A392-4B0C-B115-166F76E4F696}"/>
              </a:ext>
            </a:extLst>
          </p:cNvPr>
          <p:cNvSpPr>
            <a:spLocks xmlns:a="http://schemas.openxmlformats.org/drawingml/2006/main" noGrp="1"/>
          </p:cNvSpPr>
          <p:nvPr/>
        </p:nvSpPr>
        <p:spPr>
          <a:xfrm xmlns:a="http://schemas.openxmlformats.org/drawingml/2006/main">
            <a:off x="1333500" y="4795838"/>
            <a:ext cx="1024890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Deney bu iddiayı gerçekten sınamış mı?</a:t>
            </a:r>
          </a:p>
        </p:txBody>
      </p:sp>
      <p:sp>
        <p:nvSpPr>
          <p:cNvPr id="10" name="">
            <a:extLst xmlns:a="http://schemas.openxmlformats.org/drawingml/2006/main">
              <a:ext uri="{FF2B5EF4-FFF2-40B4-BE49-F238E27FC236}">
                <a16:creationId xmlns:a16="http://schemas.microsoft.com/office/drawing/2014/main" id="{18E0862F-9E35-4F89-8311-7958DA05BA39}"/>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10</a:t>
            </a:r>
          </a:p>
        </p:txBody>
      </p:sp>
      <p:sp>
        <p:nvSpPr>
          <p:cNvPr id="11" name="">
            <a:extLst xmlns:a="http://schemas.openxmlformats.org/drawingml/2006/main">
              <a:ext uri="{FF2B5EF4-FFF2-40B4-BE49-F238E27FC236}">
                <a16:creationId xmlns:a16="http://schemas.microsoft.com/office/drawing/2014/main" id="{CD9D07AC-55C2-4883-B9E2-E420BCFF94EC}"/>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25 / 27</a:t>
            </a:r>
          </a:p>
        </p:txBody>
      </p:sp>
    </p:spTree>
    <p:extLst>
      <p:ext uri="{BB962C8B-B14F-4D97-AF65-F5344CB8AC3E}">
        <p14:creationId xmlns:p14="http://schemas.microsoft.com/office/powerpoint/2010/main" val="1698081914"/>
      </p:ext>
    </p:extLst>
  </p:cSld>
</p:sld>
</file>

<file path=ppt/slides/slide26.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88C146C-D028-4E91-9F4A-561DEF694378}"/>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Çevrimdışı deney: tekrar ve sıra</a:t>
            </a:r>
          </a:p>
        </p:txBody>
      </p:sp>
      <p:sp>
        <p:nvSpPr>
          <p:cNvPr id="2" name="">
            <a:extLst xmlns:a="http://schemas.openxmlformats.org/drawingml/2006/main">
              <a:ext uri="{FF2B5EF4-FFF2-40B4-BE49-F238E27FC236}">
                <a16:creationId xmlns:a16="http://schemas.microsoft.com/office/drawing/2014/main" id="{D0CD39E0-C568-4283-8F98-5B357DC9A935}"/>
              </a:ext>
            </a:extLst>
          </p:cNvPr>
          <p:cNvSpPr>
            <a:spLocks xmlns:a="http://schemas.openxmlformats.org/drawingml/2006/main" noGrp="1"/>
          </p:cNvSpPr>
          <p:nvPr/>
        </p:nvSpPr>
        <p:spPr>
          <a:xfrm xmlns:a="http://schemas.openxmlformats.org/drawingml/2006/main">
            <a:off x="609600" y="1762125"/>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4D606A"/>
                </a:solidFill>
                <a:latin typeface="Helvetica Neue"/>
                <a:ea typeface="Helvetica Neue"/>
                <a:cs typeface="Helvetica Neue"/>
              </a:defRPr>
            </a:pPr>
            <a:r>
              <a:rPr sz="1800" b="0">
                <a:solidFill>
                  <a:srgbClr val="4D606A"/>
                </a:solidFill>
                <a:latin typeface="Helvetica Neue"/>
                <a:ea typeface="Helvetica Neue"/>
                <a:cs typeface="Helvetica Neue"/>
              </a:rPr>
              <a:t>Naive / dedupe / reset karşılaştır</a:t>
            </a:r>
          </a:p>
          <a:p xmlns:a="http://schemas.openxmlformats.org/drawingml/2006/main">
            <a:pPr>
              <a:defRPr sz="1800" b="0">
                <a:solidFill>
                  <a:srgbClr val="4D606A"/>
                </a:solidFill>
                <a:latin typeface="Helvetica Neue"/>
                <a:ea typeface="Helvetica Neue"/>
                <a:cs typeface="Helvetica Neue"/>
              </a:defRPr>
            </a:pPr>
            <a:r>
              <a:rPr sz="1800" b="0">
                <a:solidFill>
                  <a:srgbClr val="4D606A"/>
                </a:solidFill>
                <a:latin typeface="Helvetica Neue"/>
                <a:ea typeface="Helvetica Neue"/>
                <a:cs typeface="Helvetica Neue"/>
              </a:rPr>
              <a:t>Lamport receive hesabını elle yap</a:t>
            </a:r>
          </a:p>
          <a:p xmlns:a="http://schemas.openxmlformats.org/drawingml/2006/main">
            <a:pPr>
              <a:defRPr sz="1800" b="0">
                <a:solidFill>
                  <a:srgbClr val="4D606A"/>
                </a:solidFill>
                <a:latin typeface="Helvetica Neue"/>
                <a:ea typeface="Helvetica Neue"/>
                <a:cs typeface="Helvetica Neue"/>
              </a:defRPr>
            </a:pPr>
            <a:r>
              <a:rPr sz="1800" b="0">
                <a:solidFill>
                  <a:srgbClr val="4D606A"/>
                </a:solidFill>
                <a:latin typeface="Helvetica Neue"/>
                <a:ea typeface="Helvetica Neue"/>
                <a:cs typeface="Helvetica Neue"/>
              </a:rPr>
              <a:t>İzdeki model varsayımlarını yaz</a:t>
            </a:r>
          </a:p>
        </p:txBody>
      </p:sp>
      <p:sp>
        <p:nvSpPr>
          <p:cNvPr id="3" name="">
            <a:extLst xmlns:a="http://schemas.openxmlformats.org/drawingml/2006/main">
              <a:ext uri="{FF2B5EF4-FFF2-40B4-BE49-F238E27FC236}">
                <a16:creationId xmlns:a16="http://schemas.microsoft.com/office/drawing/2014/main" id="{F00D4B26-9AF5-44E5-BC37-08B7D8C283E8}"/>
              </a:ext>
            </a:extLst>
          </p:cNvPr>
          <p:cNvSpPr>
            <a:spLocks xmlns:a="http://schemas.openxmlformats.org/drawingml/2006/main" noGrp="1"/>
          </p:cNvSpPr>
          <p:nvPr/>
        </p:nvSpPr>
        <p:spPr>
          <a:xfrm xmlns:a="http://schemas.openxmlformats.org/drawingml/2006/main">
            <a:off x="742950" y="2809875"/>
            <a:ext cx="10715625" cy="2933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python3 ../lab/rpc_retry.py --mode naive</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python3 ../lab/rpc_retry.py --mode dedupe</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python3 ../lab/rpc_retry.py --mode reset</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python3 ../lab/lamport_trace.py</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python3 ../lab/rpc_retry.py --self-test</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python3 ../lab/lamport_trace.py --self-test</a:t>
            </a:r>
          </a:p>
        </p:txBody>
      </p:sp>
      <p:sp>
        <p:nvSpPr>
          <p:cNvPr id="4" name="">
            <a:extLst xmlns:a="http://schemas.openxmlformats.org/drawingml/2006/main">
              <a:ext uri="{FF2B5EF4-FFF2-40B4-BE49-F238E27FC236}">
                <a16:creationId xmlns:a16="http://schemas.microsoft.com/office/drawing/2014/main" id="{4CD8395B-94CF-4C5A-BAD5-271EFE52B18C}"/>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10</a:t>
            </a:r>
          </a:p>
        </p:txBody>
      </p:sp>
      <p:sp>
        <p:nvSpPr>
          <p:cNvPr id="5" name="">
            <a:extLst xmlns:a="http://schemas.openxmlformats.org/drawingml/2006/main">
              <a:ext uri="{FF2B5EF4-FFF2-40B4-BE49-F238E27FC236}">
                <a16:creationId xmlns:a16="http://schemas.microsoft.com/office/drawing/2014/main" id="{F6A34008-99E2-4063-A077-597676FA9684}"/>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26 / 27</a:t>
            </a:r>
          </a:p>
        </p:txBody>
      </p:sp>
    </p:spTree>
    <p:extLst>
      <p:ext uri="{BB962C8B-B14F-4D97-AF65-F5344CB8AC3E}">
        <p14:creationId xmlns:p14="http://schemas.microsoft.com/office/powerpoint/2010/main" val="1516520132"/>
      </p:ext>
    </p:extLst>
  </p:cSld>
</p:sld>
</file>

<file path=ppt/slides/slide27.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50C2C77-615B-4663-AE53-C4CAA96524A4}"/>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Çıkış bileti: bilgi ile garantiyi ayır</a:t>
            </a:r>
          </a:p>
        </p:txBody>
      </p:sp>
      <p:sp>
        <p:nvSpPr>
          <p:cNvPr id="2" name="">
            <a:extLst xmlns:a="http://schemas.openxmlformats.org/drawingml/2006/main">
              <a:ext uri="{FF2B5EF4-FFF2-40B4-BE49-F238E27FC236}">
                <a16:creationId xmlns:a16="http://schemas.microsoft.com/office/drawing/2014/main" id="{775CE96D-F05B-4090-910B-C521599A6ED1}"/>
              </a:ext>
            </a:extLst>
          </p:cNvPr>
          <p:cNvSpPr>
            <a:spLocks xmlns:a="http://schemas.openxmlformats.org/drawingml/2006/main" noGrp="1"/>
          </p:cNvSpPr>
          <p:nvPr/>
        </p:nvSpPr>
        <p:spPr>
          <a:xfrm xmlns:a="http://schemas.openxmlformats.org/drawingml/2006/main">
            <a:off x="609600" y="1952625"/>
            <a:ext cx="438150" cy="662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AF031E93-CDC7-4F13-ACE9-D64C434D1D61}"/>
              </a:ext>
            </a:extLst>
          </p:cNvPr>
          <p:cNvSpPr>
            <a:spLocks xmlns:a="http://schemas.openxmlformats.org/drawingml/2006/main" noGrp="1"/>
          </p:cNvSpPr>
          <p:nvPr/>
        </p:nvSpPr>
        <p:spPr>
          <a:xfrm xmlns:a="http://schemas.openxmlformats.org/drawingml/2006/main">
            <a:off x="1333500" y="1952625"/>
            <a:ext cx="10248900" cy="662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Timeout operation failure kanıtı mı?</a:t>
            </a:r>
          </a:p>
        </p:txBody>
      </p:sp>
      <p:sp>
        <p:nvSpPr>
          <p:cNvPr id="4" name="">
            <a:extLst xmlns:a="http://schemas.openxmlformats.org/drawingml/2006/main">
              <a:ext uri="{FF2B5EF4-FFF2-40B4-BE49-F238E27FC236}">
                <a16:creationId xmlns:a16="http://schemas.microsoft.com/office/drawing/2014/main" id="{FB23C2F0-2D51-454C-9D42-7C449F25A089}"/>
              </a:ext>
            </a:extLst>
          </p:cNvPr>
          <p:cNvSpPr>
            <a:spLocks xmlns:a="http://schemas.openxmlformats.org/drawingml/2006/main" noGrp="1"/>
          </p:cNvSpPr>
          <p:nvPr/>
        </p:nvSpPr>
        <p:spPr>
          <a:xfrm xmlns:a="http://schemas.openxmlformats.org/drawingml/2006/main">
            <a:off x="609600" y="2710815"/>
            <a:ext cx="438150" cy="662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24B20A4E-D056-4D5B-919F-6038B6F49E40}"/>
              </a:ext>
            </a:extLst>
          </p:cNvPr>
          <p:cNvSpPr>
            <a:spLocks xmlns:a="http://schemas.openxmlformats.org/drawingml/2006/main" noGrp="1"/>
          </p:cNvSpPr>
          <p:nvPr/>
        </p:nvSpPr>
        <p:spPr>
          <a:xfrm xmlns:a="http://schemas.openxmlformats.org/drawingml/2006/main">
            <a:off x="1333500" y="2710815"/>
            <a:ext cx="10248900" cy="662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Aynı ID farklı payload nasıl ele alınmalı?</a:t>
            </a:r>
          </a:p>
        </p:txBody>
      </p:sp>
      <p:sp>
        <p:nvSpPr>
          <p:cNvPr id="6" name="">
            <a:extLst xmlns:a="http://schemas.openxmlformats.org/drawingml/2006/main">
              <a:ext uri="{FF2B5EF4-FFF2-40B4-BE49-F238E27FC236}">
                <a16:creationId xmlns:a16="http://schemas.microsoft.com/office/drawing/2014/main" id="{A5380FF9-058F-47C5-9E86-50DBB06ABB1A}"/>
              </a:ext>
            </a:extLst>
          </p:cNvPr>
          <p:cNvSpPr>
            <a:spLocks xmlns:a="http://schemas.openxmlformats.org/drawingml/2006/main" noGrp="1"/>
          </p:cNvSpPr>
          <p:nvPr/>
        </p:nvSpPr>
        <p:spPr>
          <a:xfrm xmlns:a="http://schemas.openxmlformats.org/drawingml/2006/main">
            <a:off x="609600" y="3469005"/>
            <a:ext cx="438150" cy="662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1841BB1C-761B-4E1E-8E8E-8842C1FABA54}"/>
              </a:ext>
            </a:extLst>
          </p:cNvPr>
          <p:cNvSpPr>
            <a:spLocks xmlns:a="http://schemas.openxmlformats.org/drawingml/2006/main" noGrp="1"/>
          </p:cNvSpPr>
          <p:nvPr/>
        </p:nvSpPr>
        <p:spPr>
          <a:xfrm xmlns:a="http://schemas.openxmlformats.org/drawingml/2006/main">
            <a:off x="1333500" y="3469005"/>
            <a:ext cx="10248900" cy="662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L(a)&lt;L(b) ise a→b kesin mi?</a:t>
            </a:r>
          </a:p>
        </p:txBody>
      </p:sp>
      <p:sp>
        <p:nvSpPr>
          <p:cNvPr id="8" name="">
            <a:extLst xmlns:a="http://schemas.openxmlformats.org/drawingml/2006/main">
              <a:ext uri="{FF2B5EF4-FFF2-40B4-BE49-F238E27FC236}">
                <a16:creationId xmlns:a16="http://schemas.microsoft.com/office/drawing/2014/main" id="{553B10D3-58A9-4D29-9EA0-07DAB58F0566}"/>
              </a:ext>
            </a:extLst>
          </p:cNvPr>
          <p:cNvSpPr>
            <a:spLocks xmlns:a="http://schemas.openxmlformats.org/drawingml/2006/main" noGrp="1"/>
          </p:cNvSpPr>
          <p:nvPr/>
        </p:nvSpPr>
        <p:spPr>
          <a:xfrm xmlns:a="http://schemas.openxmlformats.org/drawingml/2006/main">
            <a:off x="609600" y="4227195"/>
            <a:ext cx="438150" cy="662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04</a:t>
            </a:r>
          </a:p>
        </p:txBody>
      </p:sp>
      <p:sp>
        <p:nvSpPr>
          <p:cNvPr id="9" name="">
            <a:extLst xmlns:a="http://schemas.openxmlformats.org/drawingml/2006/main">
              <a:ext uri="{FF2B5EF4-FFF2-40B4-BE49-F238E27FC236}">
                <a16:creationId xmlns:a16="http://schemas.microsoft.com/office/drawing/2014/main" id="{513D3C8E-F2FE-473D-BF2F-391E4118E08D}"/>
              </a:ext>
            </a:extLst>
          </p:cNvPr>
          <p:cNvSpPr>
            <a:spLocks xmlns:a="http://schemas.openxmlformats.org/drawingml/2006/main" noGrp="1"/>
          </p:cNvSpPr>
          <p:nvPr/>
        </p:nvSpPr>
        <p:spPr>
          <a:xfrm xmlns:a="http://schemas.openxmlformats.org/drawingml/2006/main">
            <a:off x="1333500" y="4227195"/>
            <a:ext cx="10248900" cy="662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Replica count consistency kanıtı mı?</a:t>
            </a:r>
          </a:p>
        </p:txBody>
      </p:sp>
      <p:sp>
        <p:nvSpPr>
          <p:cNvPr id="10" name="">
            <a:extLst xmlns:a="http://schemas.openxmlformats.org/drawingml/2006/main">
              <a:ext uri="{FF2B5EF4-FFF2-40B4-BE49-F238E27FC236}">
                <a16:creationId xmlns:a16="http://schemas.microsoft.com/office/drawing/2014/main" id="{189D5B2F-BB57-4CB7-ABAE-783FEF7B9D7D}"/>
              </a:ext>
            </a:extLst>
          </p:cNvPr>
          <p:cNvSpPr>
            <a:spLocks xmlns:a="http://schemas.openxmlformats.org/drawingml/2006/main" noGrp="1"/>
          </p:cNvSpPr>
          <p:nvPr/>
        </p:nvSpPr>
        <p:spPr>
          <a:xfrm xmlns:a="http://schemas.openxmlformats.org/drawingml/2006/main">
            <a:off x="609600" y="4985385"/>
            <a:ext cx="438150" cy="662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05</a:t>
            </a:r>
          </a:p>
        </p:txBody>
      </p:sp>
      <p:sp>
        <p:nvSpPr>
          <p:cNvPr id="11" name="">
            <a:extLst xmlns:a="http://schemas.openxmlformats.org/drawingml/2006/main">
              <a:ext uri="{FF2B5EF4-FFF2-40B4-BE49-F238E27FC236}">
                <a16:creationId xmlns:a16="http://schemas.microsoft.com/office/drawing/2014/main" id="{23441E30-8884-4637-BD22-B6DB76761D00}"/>
              </a:ext>
            </a:extLst>
          </p:cNvPr>
          <p:cNvSpPr>
            <a:spLocks xmlns:a="http://schemas.openxmlformats.org/drawingml/2006/main" noGrp="1"/>
          </p:cNvSpPr>
          <p:nvPr/>
        </p:nvSpPr>
        <p:spPr>
          <a:xfrm xmlns:a="http://schemas.openxmlformats.org/drawingml/2006/main">
            <a:off x="1333500" y="4985385"/>
            <a:ext cx="10248900" cy="662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Dedupe reset sonrası garanti sürer mi?</a:t>
            </a:r>
          </a:p>
        </p:txBody>
      </p:sp>
      <p:sp>
        <p:nvSpPr>
          <p:cNvPr id="12" name="">
            <a:extLst xmlns:a="http://schemas.openxmlformats.org/drawingml/2006/main">
              <a:ext uri="{FF2B5EF4-FFF2-40B4-BE49-F238E27FC236}">
                <a16:creationId xmlns:a16="http://schemas.microsoft.com/office/drawing/2014/main" id="{F74637B7-4D10-48A8-B458-41EA84BA9F48}"/>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10</a:t>
            </a:r>
          </a:p>
        </p:txBody>
      </p:sp>
      <p:sp>
        <p:nvSpPr>
          <p:cNvPr id="13" name="">
            <a:extLst xmlns:a="http://schemas.openxmlformats.org/drawingml/2006/main">
              <a:ext uri="{FF2B5EF4-FFF2-40B4-BE49-F238E27FC236}">
                <a16:creationId xmlns:a16="http://schemas.microsoft.com/office/drawing/2014/main" id="{58A79D81-3994-42FC-B3BB-3874A7B78BC3}"/>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27 / 27</a:t>
            </a:r>
          </a:p>
        </p:txBody>
      </p:sp>
    </p:spTree>
    <p:extLst>
      <p:ext uri="{BB962C8B-B14F-4D97-AF65-F5344CB8AC3E}">
        <p14:creationId xmlns:p14="http://schemas.microsoft.com/office/powerpoint/2010/main" val="169747243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2026-10-07T20:19:49.4740000Z</dcterms:created>
  <dcterms:modified xsi:type="dcterms:W3CDTF">2026-10-07T20:19:49.4740000Z</dcterms:modified>
</coreProperties>
</file>