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f19447520349f9" /><Relationship Type="http://schemas.openxmlformats.org/officeDocument/2006/relationships/extended-properties" Target="/docProps/app.xml" Id="R3bf64531270b4f69" /><Relationship Type="http://schemas.openxmlformats.org/officeDocument/2006/relationships/officeDocument" Target="/ppt/presentation.xml" Id="R4f0d90d6381f4c35" /></Relationships>
</file>

<file path=ppt/presentation.xml><?xml version="1.0" encoding="utf-8"?>
<p:presentation xmlns:p="http://schemas.openxmlformats.org/presentationml/2006/main">
  <p:sldMasterIdLst>
    <p:sldMasterId xmlns:r="http://schemas.openxmlformats.org/officeDocument/2006/relationships" id="2147483648" r:id="R17e76e89e6734b93"/>
  </p:sldMasterIdLst>
  <p:notesMasterIdLst>
    <p:notesMasterId xmlns:r="http://schemas.openxmlformats.org/officeDocument/2006/relationships" r:id="Re6ada26f4d8a4a2a"/>
  </p:notesMasterIdLst>
  <p:sldIdLst>
    <p:sldId xmlns:r="http://schemas.openxmlformats.org/officeDocument/2006/relationships" id="256" r:id="R43ded9a5131745be"/>
    <p:sldId xmlns:r="http://schemas.openxmlformats.org/officeDocument/2006/relationships" id="257" r:id="Rff2993c92ce34833"/>
    <p:sldId xmlns:r="http://schemas.openxmlformats.org/officeDocument/2006/relationships" id="258" r:id="R71ff2297c9bb456e"/>
    <p:sldId xmlns:r="http://schemas.openxmlformats.org/officeDocument/2006/relationships" id="259" r:id="Rbe5caa76724f4ac2"/>
    <p:sldId xmlns:r="http://schemas.openxmlformats.org/officeDocument/2006/relationships" id="260" r:id="R17c44b60feb7429a"/>
    <p:sldId xmlns:r="http://schemas.openxmlformats.org/officeDocument/2006/relationships" id="261" r:id="Rae2cc108d8ad4e21"/>
    <p:sldId xmlns:r="http://schemas.openxmlformats.org/officeDocument/2006/relationships" id="262" r:id="Ra88dbf3675644770"/>
    <p:sldId xmlns:r="http://schemas.openxmlformats.org/officeDocument/2006/relationships" id="263" r:id="R82adfca1b6304633"/>
    <p:sldId xmlns:r="http://schemas.openxmlformats.org/officeDocument/2006/relationships" id="264" r:id="R02b9865a5dc74b5e"/>
    <p:sldId xmlns:r="http://schemas.openxmlformats.org/officeDocument/2006/relationships" id="265" r:id="Rb1bd73a73c6346df"/>
    <p:sldId xmlns:r="http://schemas.openxmlformats.org/officeDocument/2006/relationships" id="266" r:id="R9f6279cec34d40e2"/>
    <p:sldId xmlns:r="http://schemas.openxmlformats.org/officeDocument/2006/relationships" id="267" r:id="R20de3d54373d4796"/>
    <p:sldId xmlns:r="http://schemas.openxmlformats.org/officeDocument/2006/relationships" id="268" r:id="R963f3d9c3b7d4637"/>
    <p:sldId xmlns:r="http://schemas.openxmlformats.org/officeDocument/2006/relationships" id="269" r:id="R14999a92b0b04c7b"/>
    <p:sldId xmlns:r="http://schemas.openxmlformats.org/officeDocument/2006/relationships" id="270" r:id="R9e732c637fbe4b79"/>
    <p:sldId xmlns:r="http://schemas.openxmlformats.org/officeDocument/2006/relationships" id="271" r:id="R5e7edd50ccb94102"/>
    <p:sldId xmlns:r="http://schemas.openxmlformats.org/officeDocument/2006/relationships" id="272" r:id="Reb21773327d24334"/>
    <p:sldId xmlns:r="http://schemas.openxmlformats.org/officeDocument/2006/relationships" id="273" r:id="R0d276f5f670e4505"/>
    <p:sldId xmlns:r="http://schemas.openxmlformats.org/officeDocument/2006/relationships" id="274" r:id="Rd84b539f048f468d"/>
    <p:sldId xmlns:r="http://schemas.openxmlformats.org/officeDocument/2006/relationships" id="275" r:id="Ra8aa3ed206984c32"/>
    <p:sldId xmlns:r="http://schemas.openxmlformats.org/officeDocument/2006/relationships" id="276" r:id="Rcf8b566007014af2"/>
    <p:sldId xmlns:r="http://schemas.openxmlformats.org/officeDocument/2006/relationships" id="277" r:id="R97c6e0cdaf6040fd"/>
    <p:sldId xmlns:r="http://schemas.openxmlformats.org/officeDocument/2006/relationships" id="278" r:id="R0ebeb7ed55424abd"/>
    <p:sldId xmlns:r="http://schemas.openxmlformats.org/officeDocument/2006/relationships" id="279" r:id="R8205329cafbe4774"/>
    <p:sldId xmlns:r="http://schemas.openxmlformats.org/officeDocument/2006/relationships" id="280" r:id="Rfedab616ce774528"/>
    <p:sldId xmlns:r="http://schemas.openxmlformats.org/officeDocument/2006/relationships" id="281" r:id="Rce86a9d25fbf48e1"/>
    <p:sldId xmlns:r="http://schemas.openxmlformats.org/officeDocument/2006/relationships" id="282" r:id="Rbbae89f08f6b46de"/>
    <p:sldId xmlns:r="http://schemas.openxmlformats.org/officeDocument/2006/relationships" id="283" r:id="R38aa5a6945bb49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ddd1ee583c48c3" /><Relationship Type="http://schemas.openxmlformats.org/officeDocument/2006/relationships/slideMaster" Target="/ppt/slideMasters/slideMaster1.xml" Id="R17e76e89e6734b93" /><Relationship Type="http://schemas.openxmlformats.org/officeDocument/2006/relationships/notesMaster" Target="/ppt/notesMasters/notesMaster1.xml" Id="Re6ada26f4d8a4a2a" /><Relationship Type="http://schemas.openxmlformats.org/officeDocument/2006/relationships/presProps" Target="/ppt/presProps.xml" Id="Rd04050e0b55d456f" /><Relationship Type="http://schemas.openxmlformats.org/officeDocument/2006/relationships/tableStyles" Target="/ppt/tableStyles.xml" Id="R5235fe47361a4ada" /><Relationship Type="http://schemas.openxmlformats.org/officeDocument/2006/relationships/slide" Target="/ppt/slides/slide1.xml" Id="R43ded9a5131745be" /><Relationship Type="http://schemas.openxmlformats.org/officeDocument/2006/relationships/slide" Target="/ppt/slides/slide2.xml" Id="Rff2993c92ce34833" /><Relationship Type="http://schemas.openxmlformats.org/officeDocument/2006/relationships/slide" Target="/ppt/slides/slide3.xml" Id="R71ff2297c9bb456e" /><Relationship Type="http://schemas.openxmlformats.org/officeDocument/2006/relationships/slide" Target="/ppt/slides/slide4.xml" Id="Rbe5caa76724f4ac2" /><Relationship Type="http://schemas.openxmlformats.org/officeDocument/2006/relationships/slide" Target="/ppt/slides/slide5.xml" Id="R17c44b60feb7429a" /><Relationship Type="http://schemas.openxmlformats.org/officeDocument/2006/relationships/slide" Target="/ppt/slides/slide6.xml" Id="Rae2cc108d8ad4e21" /><Relationship Type="http://schemas.openxmlformats.org/officeDocument/2006/relationships/slide" Target="/ppt/slides/slide7.xml" Id="Ra88dbf3675644770" /><Relationship Type="http://schemas.openxmlformats.org/officeDocument/2006/relationships/slide" Target="/ppt/slides/slide8.xml" Id="R82adfca1b6304633" /><Relationship Type="http://schemas.openxmlformats.org/officeDocument/2006/relationships/slide" Target="/ppt/slides/slide9.xml" Id="R02b9865a5dc74b5e" /><Relationship Type="http://schemas.openxmlformats.org/officeDocument/2006/relationships/slide" Target="/ppt/slides/slide10.xml" Id="Rb1bd73a73c6346df" /><Relationship Type="http://schemas.openxmlformats.org/officeDocument/2006/relationships/slide" Target="/ppt/slides/slide11.xml" Id="R9f6279cec34d40e2" /><Relationship Type="http://schemas.openxmlformats.org/officeDocument/2006/relationships/slide" Target="/ppt/slides/slide12.xml" Id="R20de3d54373d4796" /><Relationship Type="http://schemas.openxmlformats.org/officeDocument/2006/relationships/slide" Target="/ppt/slides/slide13.xml" Id="R963f3d9c3b7d4637" /><Relationship Type="http://schemas.openxmlformats.org/officeDocument/2006/relationships/slide" Target="/ppt/slides/slide14.xml" Id="R14999a92b0b04c7b" /><Relationship Type="http://schemas.openxmlformats.org/officeDocument/2006/relationships/slide" Target="/ppt/slides/slide15.xml" Id="R9e732c637fbe4b79" /><Relationship Type="http://schemas.openxmlformats.org/officeDocument/2006/relationships/slide" Target="/ppt/slides/slide16.xml" Id="R5e7edd50ccb94102" /><Relationship Type="http://schemas.openxmlformats.org/officeDocument/2006/relationships/slide" Target="/ppt/slides/slide17.xml" Id="Reb21773327d24334" /><Relationship Type="http://schemas.openxmlformats.org/officeDocument/2006/relationships/slide" Target="/ppt/slides/slide18.xml" Id="R0d276f5f670e4505" /><Relationship Type="http://schemas.openxmlformats.org/officeDocument/2006/relationships/slide" Target="/ppt/slides/slide19.xml" Id="Rd84b539f048f468d" /><Relationship Type="http://schemas.openxmlformats.org/officeDocument/2006/relationships/slide" Target="/ppt/slides/slide20.xml" Id="Ra8aa3ed206984c32" /><Relationship Type="http://schemas.openxmlformats.org/officeDocument/2006/relationships/slide" Target="/ppt/slides/slide21.xml" Id="Rcf8b566007014af2" /><Relationship Type="http://schemas.openxmlformats.org/officeDocument/2006/relationships/slide" Target="/ppt/slides/slide22.xml" Id="R97c6e0cdaf6040fd" /><Relationship Type="http://schemas.openxmlformats.org/officeDocument/2006/relationships/slide" Target="/ppt/slides/slide23.xml" Id="R0ebeb7ed55424abd" /><Relationship Type="http://schemas.openxmlformats.org/officeDocument/2006/relationships/slide" Target="/ppt/slides/slide24.xml" Id="R8205329cafbe4774" /><Relationship Type="http://schemas.openxmlformats.org/officeDocument/2006/relationships/slide" Target="/ppt/slides/slide25.xml" Id="Rfedab616ce774528" /><Relationship Type="http://schemas.openxmlformats.org/officeDocument/2006/relationships/slide" Target="/ppt/slides/slide26.xml" Id="Rce86a9d25fbf48e1" /><Relationship Type="http://schemas.openxmlformats.org/officeDocument/2006/relationships/slide" Target="/ppt/slides/slide27.xml" Id="Rbbae89f08f6b46de" /><Relationship Type="http://schemas.openxmlformats.org/officeDocument/2006/relationships/slide" Target="/ppt/slides/slide28.xml" Id="R38aa5a6945bb49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347ccebb3948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c3c5bfa6ab41be" /><Relationship Type="http://schemas.openxmlformats.org/officeDocument/2006/relationships/notesMaster" Target="/ppt/notesMasters/notesMaster1.xml" Id="Re8f47d2e8c284e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a2e47ee6c746aa" /><Relationship Type="http://schemas.openxmlformats.org/officeDocument/2006/relationships/notesMaster" Target="/ppt/notesMasters/notesMaster1.xml" Id="R302e3daceeaa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0c9d8d51c04a05" /><Relationship Type="http://schemas.openxmlformats.org/officeDocument/2006/relationships/notesMaster" Target="/ppt/notesMasters/notesMaster1.xml" Id="R99b66fe0fb674c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cd6325078744ba" /><Relationship Type="http://schemas.openxmlformats.org/officeDocument/2006/relationships/notesMaster" Target="/ppt/notesMasters/notesMaster1.xml" Id="Rbe6ea364a41a46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299e0c92554524" /><Relationship Type="http://schemas.openxmlformats.org/officeDocument/2006/relationships/notesMaster" Target="/ppt/notesMasters/notesMaster1.xml" Id="Rfdde05f7bab9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1446f00d9540b9" /><Relationship Type="http://schemas.openxmlformats.org/officeDocument/2006/relationships/notesMaster" Target="/ppt/notesMasters/notesMaster1.xml" Id="R7074ee9017b948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0ffb95c7bc401b" /><Relationship Type="http://schemas.openxmlformats.org/officeDocument/2006/relationships/notesMaster" Target="/ppt/notesMasters/notesMaster1.xml" Id="Ra123e3f0a9d540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434519c6dd4fe1" /><Relationship Type="http://schemas.openxmlformats.org/officeDocument/2006/relationships/notesMaster" Target="/ppt/notesMasters/notesMaster1.xml" Id="Rb9d789692e8243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4684351877435d" /><Relationship Type="http://schemas.openxmlformats.org/officeDocument/2006/relationships/notesMaster" Target="/ppt/notesMasters/notesMaster1.xml" Id="R5bc68caf777942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b6f1df9a704f64" /><Relationship Type="http://schemas.openxmlformats.org/officeDocument/2006/relationships/notesMaster" Target="/ppt/notesMasters/notesMaster1.xml" Id="Rf3ebc067200449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3456a7bc1e4121" /><Relationship Type="http://schemas.openxmlformats.org/officeDocument/2006/relationships/notesMaster" Target="/ppt/notesMasters/notesMaster1.xml" Id="R86f377da102e45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3aab580a5b4a63" /><Relationship Type="http://schemas.openxmlformats.org/officeDocument/2006/relationships/notesMaster" Target="/ppt/notesMasters/notesMaster1.xml" Id="Rf504a90ae8124e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f16b36e34040cb" /><Relationship Type="http://schemas.openxmlformats.org/officeDocument/2006/relationships/notesMaster" Target="/ppt/notesMasters/notesMaster1.xml" Id="Ra3e4e7c5c82e46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d640b771274b57" /><Relationship Type="http://schemas.openxmlformats.org/officeDocument/2006/relationships/notesMaster" Target="/ppt/notesMasters/notesMaster1.xml" Id="R33f7b782ce4140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b1fc2e337e433d" /><Relationship Type="http://schemas.openxmlformats.org/officeDocument/2006/relationships/notesMaster" Target="/ppt/notesMasters/notesMaster1.xml" Id="Re036fa0a214e4a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0b4c1f24364334" /><Relationship Type="http://schemas.openxmlformats.org/officeDocument/2006/relationships/notesMaster" Target="/ppt/notesMasters/notesMaster1.xml" Id="R7725d6daf3aa4b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74734a4b614b3e" /><Relationship Type="http://schemas.openxmlformats.org/officeDocument/2006/relationships/notesMaster" Target="/ppt/notesMasters/notesMaster1.xml" Id="R6b9f4ba48a8647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d1bb6e323d4b86" /><Relationship Type="http://schemas.openxmlformats.org/officeDocument/2006/relationships/notesMaster" Target="/ppt/notesMasters/notesMaster1.xml" Id="R228df014272c40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f56b1902b14822" /><Relationship Type="http://schemas.openxmlformats.org/officeDocument/2006/relationships/notesMaster" Target="/ppt/notesMasters/notesMaster1.xml" Id="Re000e6199bdb4e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587fda56cd4810" /><Relationship Type="http://schemas.openxmlformats.org/officeDocument/2006/relationships/notesMaster" Target="/ppt/notesMasters/notesMaster1.xml" Id="Rb9eca7ef451b43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ea096ba0f24fef" /><Relationship Type="http://schemas.openxmlformats.org/officeDocument/2006/relationships/notesMaster" Target="/ppt/notesMasters/notesMaster1.xml" Id="R7e3667b1598741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82bc0cc1654d46" /><Relationship Type="http://schemas.openxmlformats.org/officeDocument/2006/relationships/notesMaster" Target="/ppt/notesMasters/notesMaster1.xml" Id="R6364f2f27ac04d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c4065b8938455f" /><Relationship Type="http://schemas.openxmlformats.org/officeDocument/2006/relationships/notesMaster" Target="/ppt/notesMasters/notesMaster1.xml" Id="R9c741b9a571045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b370ef6c7c40c4" /><Relationship Type="http://schemas.openxmlformats.org/officeDocument/2006/relationships/notesMaster" Target="/ppt/notesMasters/notesMaster1.xml" Id="Rc5152cee33394a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0e5ce37a7fc4a77" /><Relationship Type="http://schemas.openxmlformats.org/officeDocument/2006/relationships/notesMaster" Target="/ppt/notesMasters/notesMaster1.xml" Id="Rec186d0f260d4f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a9a5a3476d4a91" /><Relationship Type="http://schemas.openxmlformats.org/officeDocument/2006/relationships/notesMaster" Target="/ppt/notesMasters/notesMaster1.xml" Id="Rd5f78bed1e6245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435f3b189b2410f" /><Relationship Type="http://schemas.openxmlformats.org/officeDocument/2006/relationships/notesMaster" Target="/ppt/notesMasters/notesMaster1.xml" Id="R044fb5673ac842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fbd793a4834070" /><Relationship Type="http://schemas.openxmlformats.org/officeDocument/2006/relationships/notesMaster" Target="/ppt/notesMasters/notesMaster1.xml" Id="Refdf8ec2fc3746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Hafta 6</a:t>
            </a:r>
          </a:p>
          <a:p xmlns:a="http://schemas.openxmlformats.org/drawingml/2006/main">
            <a:r>
              <a:t>Demand paging ve locality</a:t>
            </a:r>
          </a:p>
          <a:p xmlns:a="http://schemas.openxmlformats.org/drawingml/2006/main">
            <a:r>
              <a:t/>
            </a:r>
          </a:p>
          <a:p xmlns:a="http://schemas.openxmlformats.org/drawingml/2006/main">
            <a:r>
              <a:t>Resmî Hafta 6 kapsamının bağımsız öğretim uyarlaması. PDF ve illustrated reading henüz hazırlanıyor; yayımlanmamış PDF için sayfa atfı vermiyoruz. İlk yarı demand paging ve COW; ikinci yarı replacement, locality ve working sets. Sayısal örnekler bu paket için oluşturulmuş modellerdir, makine ölçümü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Sanal raf kataloğu resident frame sayısından daha çok sayfayı adlandırabilir. Eksik sayfa önce region ve erişim izni bakımından denetlenir. Page-in bir depodan getirme sezgisidir; her fault disk okuması değildir. Hafta 1 eşleşmesi sabit kalır: aşçı CPU, iş kartı thread. Benzetme donanım ve kernel protokolünün yerine geçmez.</a:t>
            </a:r>
          </a:p>
          <a:p xmlns:a="http://schemas.openxmlformats.org/drawingml/2006/main">
            <a:r>
              <a:t/>
            </a:r>
          </a:p>
          <a:p xmlns:a="http://schemas.openxmlformats.org/drawingml/2006/main">
            <a:r>
              <a:t>GERÇEK HAYAT: Büyük dosyayı açmak</a:t>
            </a:r>
          </a:p>
          <a:p xmlns:a="http://schemas.openxmlformats.org/drawingml/2006/main">
            <a:r>
              <a:t>Dosyanın tamamına dokunmadan mapping oluşturulur.</a:t>
            </a:r>
          </a:p>
          <a:p xmlns:a="http://schemas.openxmlformats.org/drawingml/2006/main">
            <a:r>
              <a:t>Mekanizma: Mapped range tamamıyla resident olmak zorunda değildir.</a:t>
            </a:r>
          </a:p>
          <a:p xmlns:a="http://schemas.openxmlformats.org/drawingml/2006/main">
            <a:r>
              <a:t>Ne zaman işe yarar: Mapping ve page-in maliyetini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Adres alanı: hangi isimler var?</a:t>
            </a:r>
          </a:p>
          <a:p xmlns:a="http://schemas.openxmlformats.org/drawingml/2006/main">
            <a:r>
              <a:t>Residency: şu anda hangi pages RAM’de?</a:t>
            </a:r>
          </a:p>
          <a:p xmlns:a="http://schemas.openxmlformats.org/drawingml/2006/main">
            <a:r>
              <a:t>Backing: içerik nereden geri gelir?</a:t>
            </a:r>
          </a:p>
          <a:p xmlns:a="http://schemas.openxmlformats.org/drawingml/2006/main">
            <a:r>
              <a:t/>
            </a:r>
          </a:p>
          <a:p xmlns:a="http://schemas.openxmlformats.org/drawingml/2006/main">
            <a:r>
              <a:t>Virtual extent, RSS ve backing source farklıdır. Değiştirilmemiş file-backed sayfa dosyadan tekrar okunabilir; değiştirilmiş anonymous içeriğin korunması başka bir backing mekanizması ister. Physical frames, kernel metadata ve diğer işler kapasiteyi sınırlar. Sanal bellek sınırsız ücretsiz RAM değildir.</a:t>
            </a:r>
          </a:p>
          <a:p xmlns:a="http://schemas.openxmlformats.org/drawingml/2006/main">
            <a:r>
              <a:t/>
            </a:r>
          </a:p>
          <a:p xmlns:a="http://schemas.openxmlformats.org/drawingml/2006/main">
            <a:r>
              <a:t>GERÇEK HAYAT: Container memory bütçesi</a:t>
            </a:r>
          </a:p>
          <a:p xmlns:a="http://schemas.openxmlformats.org/drawingml/2006/main">
            <a:r>
              <a:t>Büyük virtual mapping düşük RSS gösterebilir.</a:t>
            </a:r>
          </a:p>
          <a:p xmlns:a="http://schemas.openxmlformats.org/drawingml/2006/main">
            <a:r>
              <a:t>Mekanizma: Resident working pages actual capacity tüketir.</a:t>
            </a:r>
          </a:p>
          <a:p xmlns:a="http://schemas.openxmlformats.org/drawingml/2006/main">
            <a:r>
              <a:t>Ne zaman işe yarar: Virtual size ile memory-limit başarısını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 region ve erişim izni denetlenir. Geçerli nonresident page için frame bulunur; gerekirse victim seçimi, backing I/O, zero fill veya COW işlemi yapılır. PTE/TLB coherence sağlanır ve faulting instruction tekrar yürütülür. I/O sırasında görev bloklanabilir; kernel entry tek başına başka task seçimini zorunlu kılmaz.</a:t>
            </a:r>
          </a:p>
          <a:p xmlns:a="http://schemas.openxmlformats.org/drawingml/2006/main">
            <a:r>
              <a:t/>
            </a:r>
          </a:p>
          <a:p xmlns:a="http://schemas.openxmlformats.org/drawingml/2006/main">
            <a:r>
              <a:t>SORUNUN YANITI: Başarılı demand-fault çözümünde retry gerekir; atlamak load/store işlemini kaybeder.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Hafta 5 P VPN2 mapped fakat not present idi; uygun erişim için hazırlanabilir. Unmapped erişim aynı otomatik page-in hakkına sahip değildir. Read-only write normal ihlal veya metadata izin veriyorsa COW çözümü olabilir. Bütün faults process öldürür veya bütün faults çözülür genellemeleri yanlıştır.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 fill, COW veya file cache içindeki sayfayı eşlemek storage read gerektirmeyebilir. Minor/major tanımları OS accounting kurallarına bağlıdır; Linux major faults genellikle I/O gerektirir. Exception adı ile performance counter aynı kavram değildir. Lab abstract resident hits/faults sayar; gerçek OS minor/major counters üretmez.</a:t>
            </a:r>
          </a:p>
          <a:p xmlns:a="http://schemas.openxmlformats.org/drawingml/2006/main">
            <a:r>
              <a:t/>
            </a:r>
          </a:p>
          <a:p xmlns:a="http://schemas.openxmlformats.org/drawingml/2006/main">
            <a:r>
              <a:t>SORUNUN YANITI: Hayır; fault türü, backing ve cache residency gerekir.</a:t>
            </a:r>
          </a:p>
          <a:p xmlns:a="http://schemas.openxmlformats.org/drawingml/2006/main">
            <a:r>
              <a:t/>
            </a:r>
          </a:p>
          <a:p xmlns:a="http://schemas.openxmlformats.org/drawingml/2006/main">
            <a:r>
              <a:t>GERÇEK HAYAT: İlk dokunuş</a:t>
            </a:r>
          </a:p>
          <a:p xmlns:a="http://schemas.openxmlformats.org/drawingml/2006/main">
            <a:r>
              <a:t>Yeni anonymous page ilk write sırasında hazırlanabilir.</a:t>
            </a:r>
          </a:p>
          <a:p xmlns:a="http://schemas.openxmlformats.org/drawingml/2006/main">
            <a:r>
              <a:t>Mekanizma: Zero fill storage read olmadan fault work gerektirebilir.</a:t>
            </a:r>
          </a:p>
          <a:p xmlns:a="http://schemas.openxmlformats.org/drawingml/2006/main">
            <a:r>
              <a:t>Ne zaman işe yarar: Fault sayısını disk I/O sayısı sanma.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Malloc/realloc çağrısı her zaman syscall veya frame allocation değildir. OS virtual region ayırıp physical preparation işini ilk dokunuşa erteleyebilir. Zero fill başka sürecin verisinin sızmasını önleyen güvenlik ihtiyacıdır. Overcommit ve failure semantics OS/configuration ile değişir; bütün reservations garanti edilir demiyoruz.</a:t>
            </a:r>
          </a:p>
          <a:p xmlns:a="http://schemas.openxmlformats.org/drawingml/2006/main">
            <a:r>
              <a:t/>
            </a:r>
          </a:p>
          <a:p xmlns:a="http://schemas.openxmlformats.org/drawingml/2006/main">
            <a:r>
              <a:t>GERÇEK HAYAT: Büyük array rezervasyonu</a:t>
            </a:r>
          </a:p>
          <a:p xmlns:a="http://schemas.openxmlformats.org/drawingml/2006/main">
            <a:r>
              <a:t>Allocate hızlı, initialization yavaş olabilir.</a:t>
            </a:r>
          </a:p>
          <a:p xmlns:a="http://schemas.openxmlformats.org/drawingml/2006/main">
            <a:r>
              <a:t>Mekanizma: Lazy preparation ilk touch maliyetine taşınır.</a:t>
            </a:r>
          </a:p>
          <a:p xmlns:a="http://schemas.openxmlformats.org/drawingml/2006/main">
            <a:r>
              <a:t>Ne zaman işe yarar: Allocation ve initialization sürelerini ayrı ölç.</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Fork sonrası ordinary private adres alanları mantıksal olarak ayrıdır. Başlangıçta aynı physical frames kullanımı optimizasyondur. Parent ve child yazmadan önce read-only mapping kullanabilir. Metadata COW durumunu belirtir; her read-only page COW değildir. Explicit shared memory farklı paylaşım semantiğine sahip olabilir.</a:t>
            </a:r>
          </a:p>
          <a:p xmlns:a="http://schemas.openxmlformats.org/drawingml/2006/main">
            <a:r>
              <a:t/>
            </a:r>
          </a:p>
          <a:p xmlns:a="http://schemas.openxmlformats.org/drawingml/2006/main">
            <a:r>
              <a:t>GERÇEK HAYAT: Fork ardından exec</a:t>
            </a:r>
          </a:p>
          <a:p xmlns:a="http://schemas.openxmlformats.org/drawingml/2006/main">
            <a:r>
              <a:t>Child eski pages’i değiştirmeden image değiştirebilir.</a:t>
            </a:r>
          </a:p>
          <a:p xmlns:a="http://schemas.openxmlformats.org/drawingml/2006/main">
            <a:r>
              <a:t>Mekanizma: COW gereksiz upfront copying’i azaltır.</a:t>
            </a:r>
          </a:p>
          <a:p xmlns:a="http://schemas.openxmlformats.org/drawingml/2006/main">
            <a:r>
              <a:t>Ne zaman işe yarar: Optimization’ı IPC sanma.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Başlangıçta iki mapping frame4 ve x=10 görsün. Child write fault alır: uygun private frame9 hazırlanır, içerik kopyalanır, child mapping writable yapılır, TLB güncellenir ve store20 tekrar yürütülür. Parent frame4/x10 görür. Gerçek kernel tek sahip varsa kopyasız permission upgrade yapabilir; her COW fault mutlaka copy değildir.</a:t>
            </a:r>
          </a:p>
          <a:p xmlns:a="http://schemas.openxmlformats.org/drawingml/2006/main">
            <a:r>
              <a:t/>
            </a:r>
          </a:p>
          <a:p xmlns:a="http://schemas.openxmlformats.org/drawingml/2006/main">
            <a:r>
              <a:t>SORUNUN YANITI: Private değişken için10. Wait adres alanlarını birleştirmez.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Handler içerik hazırlanmadıkça kullanılabilir mapping yayınlamamalı. TLB stale permission veya mapping tutmamalı; concurrent threads ve CPU’lar için coordination gerekebilir. Her page fault bütün data cache’i temizler demeyin. Bu, kavramsal lifecycle açıklamasıdır; belirli kernel locking implementation’ı değildir.</a:t>
            </a:r>
          </a:p>
          <a:p xmlns:a="http://schemas.openxmlformats.org/drawingml/2006/main">
            <a:r>
              <a:t/>
            </a:r>
          </a:p>
          <a:p xmlns:a="http://schemas.openxmlformats.org/drawingml/2006/main">
            <a:r>
              <a:t>GERÇEK HAYAT: Aynı process’in thread’leri</a:t>
            </a:r>
          </a:p>
          <a:p xmlns:a="http://schemas.openxmlformats.org/drawingml/2006/main">
            <a:r>
              <a:t>Bir thread fault alırken başkaları mapping’e erişebilir.</a:t>
            </a:r>
          </a:p>
          <a:p xmlns:a="http://schemas.openxmlformats.org/drawingml/2006/main">
            <a:r>
              <a:t>Mekanizma: PTE publication ve invalidation concurrency-safe olmalıdır.</a:t>
            </a:r>
          </a:p>
          <a:p xmlns:a="http://schemas.openxmlformats.org/drawingml/2006/main">
            <a:r>
              <a:t>Ne zaman işe yarar: Fault correctness’ini sadece memcpy ile açıklama.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Toy model: memory access100ns, fault ek service8ms ve ardından retry100ns. EAT=100+p×8,000,000ns. p=10^-5 için180ns; p=10^-3 için8100ns=8.1µs. Sabit service, no overlap, no TLB cost varsayılır. Gerçek fault cost dağılımları ve queueing farklıdır; bu bir ölçüm değildir.</a:t>
            </a:r>
          </a:p>
          <a:p xmlns:a="http://schemas.openxmlformats.org/drawingml/2006/main">
            <a:r>
              <a:t/>
            </a:r>
          </a:p>
          <a:p xmlns:a="http://schemas.openxmlformats.org/drawingml/2006/main">
            <a:r>
              <a:t>SORUNUN YANITI: Hayır; baseline100ns ve additive fault cost var.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string: 7,0,1,2,0,3,0,4,2,3,0,3,2. Üç frame başlangıçta boş. Her reference atomik ve sıralı; I/O süresi, TLB ve prefetch yok. Hit sayfanın resident olmasıdır. En düşük empty slot kullanılır; doluysa FIFO/LRU/OPT victim seçer. Fault sayıları gerçek disk read sayısı değildir.</a:t>
            </a:r>
          </a:p>
          <a:p xmlns:a="http://schemas.openxmlformats.org/drawingml/2006/main">
            <a:r>
              <a:t/>
            </a:r>
          </a:p>
          <a:p xmlns:a="http://schemas.openxmlformats.org/drawingml/2006/main">
            <a:r>
              <a:t>SORUNUN YANITI: Bu modelde hayır;7,0,1 henüz resident değil.</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FIFO load time kullanır; hit yaşı yenilemez. Page0 step5’te hit olmasına rağmen load order’da eski kalır. Step6 page3 geldiğinde page0 çıkar. Slotlar gerçek RAM adresi değildir; resident array gösterimidir. Her satırda victim ve load order’ı ayrı izleyin.</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Step7 page0, step6’da çıktığı için yeniden fault alır. Son0,3,2 references içinde0 fault,3 ve2 hit. Toplam10 fault+3 hit=13. Slot display order, FIFO queue order ile aynı olmak zorunda değildir; victim’i load timestamp belirler.</a:t>
            </a:r>
          </a:p>
          <a:p xmlns:a="http://schemas.openxmlformats.org/drawingml/2006/main">
            <a:r>
              <a:t/>
            </a:r>
          </a:p>
          <a:p xmlns:a="http://schemas.openxmlformats.org/drawingml/2006/main">
            <a:r>
              <a:t>SORUNUN YANITI: Resident0 en eski load time’a sahipti; step5 hit bunu yenilemedi.</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LRU son reference zamanını kullanır; frequency değildir. Step6 resident2,0,1 en son4,5,3’te kullanılmıştır: victim1. Page3 girer, step7 page0 hit olur. Tam iz9 fault ve4 hit verir. Exact LRU her erişimi takip ettiği için metadata maliyeti taşır; OS approximation aynı politika değildir.</a:t>
            </a:r>
          </a:p>
          <a:p xmlns:a="http://schemas.openxmlformats.org/drawingml/2006/main">
            <a:r>
              <a:t/>
            </a:r>
          </a:p>
          <a:p xmlns:a="http://schemas.openxmlformats.org/drawingml/2006/main">
            <a:r>
              <a:t>GERÇEK HAYAT: Yakın zamanda kullanılan pages</a:t>
            </a:r>
          </a:p>
          <a:p xmlns:a="http://schemas.openxmlformats.org/drawingml/2006/main">
            <a:r>
              <a:t>Hot loop aynı data’yı tekrar kullanır.</a:t>
            </a:r>
          </a:p>
          <a:p xmlns:a="http://schemas.openxmlformats.org/drawingml/2006/main">
            <a:r>
              <a:t>Mekanizma: Recency future reuse için heuristic olabilir.</a:t>
            </a:r>
          </a:p>
          <a:p xmlns:a="http://schemas.openxmlformats.org/drawingml/2006/main">
            <a:r>
              <a:t>Ne zaman işe yarar: LRU’yu future knowledge sayma.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 gelecekte en geç kullanılanı çıkarır. Step8 resident2,0,3 için next use9,11,10: victim0. Step11 resident2,4,3 içinde4 bir daha kullanılmaz;4 çıkar. Exact tie ve never-used tie en düşük slot’u seçer. Fixed finite trace ve unit fault cost ile7 faults; offline karşılaştırma baseline’ı, canlı sistemde geleceği bilme çözümü değildir.</a:t>
            </a:r>
          </a:p>
          <a:p xmlns:a="http://schemas.openxmlformats.org/drawingml/2006/main">
            <a:r>
              <a:t/>
            </a:r>
          </a:p>
          <a:p xmlns:a="http://schemas.openxmlformats.org/drawingml/2006/main">
            <a:r>
              <a:t>SORUNUN YANITI: Hayır; offline karşılaştırma baseline’ıdır.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Aynı cold start ve frame count ile karşılaştır: FIFO10, LRU9, OPT7 faults. Minimum fault count minimum wall-clock time garantisi değildir; dirty I/O, metadata, concurrency ve TLB dışarıda. Bir iz, LRU’nun her workload’da FIFO’dan daha az fault alacağını kanıtlamaz.</a:t>
            </a:r>
          </a:p>
          <a:p xmlns:a="http://schemas.openxmlformats.org/drawingml/2006/main">
            <a:r>
              <a:t/>
            </a:r>
          </a:p>
          <a:p xmlns:a="http://schemas.openxmlformats.org/drawingml/2006/main">
            <a:r>
              <a:t>GERÇEK HAYAT: Policy benchmark</a:t>
            </a:r>
          </a:p>
          <a:p xmlns:a="http://schemas.openxmlformats.org/drawingml/2006/main">
            <a:r>
              <a:t>Workload ve initial state değişirse kıyas şaşar.</a:t>
            </a:r>
          </a:p>
          <a:p xmlns:a="http://schemas.openxmlformats.org/drawingml/2006/main">
            <a:r>
              <a:t>Mekanizma: Sonuç belirtilmiş reference trace için geçerlidir.</a:t>
            </a:r>
          </a:p>
          <a:p xmlns:a="http://schemas.openxmlformats.org/drawingml/2006/main">
            <a:r>
              <a:t>Ne zaman işe yarar: Count, latency ve metadata maliyetini ayrı raporla.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Reference1,2,3,4,1,2,5,1,2,3,4,5. FIFO üç frame ile9, dört frame ile10 faults verir. Aynı trace, cold start ve exact FIFO kullanılır. Bu, RAM eklemek sistemleri genelde yavaşlatır iddiası değildir. Frame artışı victim history’yi değiştirir.</a:t>
            </a:r>
          </a:p>
          <a:p xmlns:a="http://schemas.openxmlformats.org/drawingml/2006/main">
            <a:r>
              <a:t/>
            </a:r>
          </a:p>
          <a:p xmlns:a="http://schemas.openxmlformats.org/drawingml/2006/main">
            <a:r>
              <a:t>SORUNUN YANITI: Hayır; FIFO karşı örneği var.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LRU aynı trace ve tutarlı initial/tie kurallarıyla küçük resident set’i büyük set içinde tutar; frame artınca faults artmaz. OPT minimum fault count da kapasite artışıyla kötüleşmez. Bu sonucu approximate clock veya global competing workloads’a taşımayın. Buradaki stack, call stack değil resident-set inclusion özelliğidir.</a:t>
            </a:r>
          </a:p>
          <a:p xmlns:a="http://schemas.openxmlformats.org/drawingml/2006/main">
            <a:r>
              <a:t/>
            </a:r>
          </a:p>
          <a:p xmlns:a="http://schemas.openxmlformats.org/drawingml/2006/main">
            <a:r>
              <a:t>SORUNUN YANITI: Hayır; algoritma özelliği ayrı kanıtlanmalıdır.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Two-frame FIFO:1 write,2 read,1 read,3 read. Step4 victim1 dirty olduğu için1 writeback sayılır. Step3 hit FIFO load age’ini yenilemez. Değiştirilmemiş file-backed page yeniden okunabilir; dirty içerik korunmalıdır. Clean anonymous page için de geçerli backing veya özel state gerekir; clean her zaman discardable demek değildir.</a:t>
            </a:r>
          </a:p>
          <a:p xmlns:a="http://schemas.openxmlformats.org/drawingml/2006/main">
            <a:r>
              <a:t/>
            </a:r>
          </a:p>
          <a:p xmlns:a="http://schemas.openxmlformats.org/drawingml/2006/main">
            <a:r>
              <a:t>GERÇEK HAYAT: Mapped dosya değişikliği</a:t>
            </a:r>
          </a:p>
          <a:p xmlns:a="http://schemas.openxmlformats.org/drawingml/2006/main">
            <a:r>
              <a:t>Resident contents backing source’dan farklılaşır.</a:t>
            </a:r>
          </a:p>
          <a:p xmlns:a="http://schemas.openxmlformats.org/drawingml/2006/main">
            <a:r>
              <a:t>Mekanizma: Dirty tracking preservation work’ü etkiler.</a:t>
            </a:r>
          </a:p>
          <a:p xmlns:a="http://schemas.openxmlformats.org/drawingml/2006/main">
            <a:r>
              <a:t>Ne zaman işe yarar: Writeback ile crash durability garantisini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bit recency ipucu</a:t>
            </a:r>
          </a:p>
          <a:p xmlns:a="http://schemas.openxmlformats.org/drawingml/2006/main">
            <a:r>
              <a:t>Hand ikinci şans verir</a:t>
            </a:r>
          </a:p>
          <a:p xmlns:a="http://schemas.openxmlformats.org/drawingml/2006/main">
            <a:r>
              <a:t>Exact LRU veya OPT değil</a:t>
            </a:r>
          </a:p>
          <a:p xmlns:a="http://schemas.openxmlformats.org/drawingml/2006/main">
            <a:r>
              <a:t/>
            </a:r>
          </a:p>
          <a:p xmlns:a="http://schemas.openxmlformats.org/drawingml/2006/main">
            <a:r>
              <a:t>Toy clock her erişimde reference bit’i1 yapar. Hand tararken R1 ise0 yapıp geçer; R0 ise victim seçer. Bit ve hand kuralları açık olmalıdır. R bit exact last-use order değildir. Clean/dirty-aware variants ek politika içerir; basit clock ile aynı sayılmaz.</a:t>
            </a:r>
          </a:p>
          <a:p xmlns:a="http://schemas.openxmlformats.org/drawingml/2006/main">
            <a:r>
              <a:t/>
            </a:r>
          </a:p>
          <a:p xmlns:a="http://schemas.openxmlformats.org/drawingml/2006/main">
            <a:r>
              <a:t>GERÇEK HAYAT: Büyük memory yönetimi</a:t>
            </a:r>
          </a:p>
          <a:p xmlns:a="http://schemas.openxmlformats.org/drawingml/2006/main">
            <a:r>
              <a:t>Her erişimde tam ordered list update pahalı olabilir.</a:t>
            </a:r>
          </a:p>
          <a:p xmlns:a="http://schemas.openxmlformats.org/drawingml/2006/main">
            <a:r>
              <a:t>Mekanizma: Approximation metadata work’ü azaltır.</a:t>
            </a:r>
          </a:p>
          <a:p xmlns:a="http://schemas.openxmlformats.org/drawingml/2006/main">
            <a:r>
              <a:t>Ne zaman işe yarar: Policy isminden aynı trace’i çıkarma.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locality aynı page’i yakın zamanda yeniden kullanır; spatial locality yakın adresleri birlikte kullanır. Toy iki frame:1,1,1,2,2,2→2 fault;1,2,3,1,2,3→LRU6 fault. İkisi altı erişim ama reuse pattern farklı. Logical page IDs physical adres veya CPU cache line değildir.</a:t>
            </a:r>
          </a:p>
          <a:p xmlns:a="http://schemas.openxmlformats.org/drawingml/2006/main">
            <a:r>
              <a:t/>
            </a:r>
          </a:p>
          <a:p xmlns:a="http://schemas.openxmlformats.org/drawingml/2006/main">
            <a:r>
              <a:t>SORUNUN YANITI: Hayır; pattern ve frame budget önemlidir.</a:t>
            </a:r>
          </a:p>
          <a:p xmlns:a="http://schemas.openxmlformats.org/drawingml/2006/main">
            <a:r>
              <a:t/>
            </a:r>
          </a:p>
          <a:p xmlns:a="http://schemas.openxmlformats.org/drawingml/2006/main">
            <a:r>
              <a:t>GERÇEK HAYAT: Row-major tarama</a:t>
            </a:r>
          </a:p>
          <a:p xmlns:a="http://schemas.openxmlformats.org/drawingml/2006/main">
            <a:r>
              <a:t>Data layout’a uygun loop yakın reuse üretebilir.</a:t>
            </a:r>
          </a:p>
          <a:p xmlns:a="http://schemas.openxmlformats.org/drawingml/2006/main">
            <a:r>
              <a:t>Mekanizma: Access order working footprint’i değiştirir.</a:t>
            </a:r>
          </a:p>
          <a:p xmlns:a="http://schemas.openxmlformats.org/drawingml/2006/main">
            <a:r>
              <a:t>Ne zaman işe yarar: Page ve CPU-cache etkilerini ayrı modelle.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offline pencere Δ=4 reference, dört millisecond değil. Ana iz step8 son dört0,3,0,4: W={0,3,4},size3. Step9 son dört3,0,4,2:size4. Job phase’leri footprint’i değiştirir. Window estimate future guarantee değildir; birimi ve Δ değerini raporla.</a:t>
            </a:r>
          </a:p>
          <a:p xmlns:a="http://schemas.openxmlformats.org/drawingml/2006/main">
            <a:r>
              <a:t/>
            </a:r>
          </a:p>
          <a:p xmlns:a="http://schemas.openxmlformats.org/drawingml/2006/main">
            <a:r>
              <a:t>GERÇEK HAYAT: Uygulama phase’i</a:t>
            </a:r>
          </a:p>
          <a:p xmlns:a="http://schemas.openxmlformats.org/drawingml/2006/main">
            <a:r>
              <a:t>Parsing ve compute farklı pages’e dokunur.</a:t>
            </a:r>
          </a:p>
          <a:p xmlns:a="http://schemas.openxmlformats.org/drawingml/2006/main">
            <a:r>
              <a:t>Mekanizma: Recent footprint phase ile büyüyüp küçülebilir.</a:t>
            </a:r>
          </a:p>
          <a:p xmlns:a="http://schemas.openxmlformats.org/drawingml/2006/main">
            <a:r>
              <a:t>Ne zaman işe yarar: Tek RSS snapshot bütün working set’i kanıtlamaz.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Aktif reuse footprint ayrılan frames’i sürekli aşarsa fault/evict/refault döngüsü artabilir. İki frame ve üç-page cycle LRU’da her erişimi fault yapar. I/O, batching ve policy önemlidir; yüksek fault count tek başına thrashing teşhisi değildir. Daha çok runnable job memory pressure’ı artırabilir.</a:t>
            </a:r>
          </a:p>
          <a:p xmlns:a="http://schemas.openxmlformats.org/drawingml/2006/main">
            <a:r>
              <a:t/>
            </a:r>
          </a:p>
          <a:p xmlns:a="http://schemas.openxmlformats.org/drawingml/2006/main">
            <a:r>
              <a:t>SORUNUN YANITI: Hayır; memory pressure ve fault I/O artabilir.</a:t>
            </a:r>
          </a:p>
          <a:p xmlns:a="http://schemas.openxmlformats.org/drawingml/2006/main">
            <a:r>
              <a:t/>
            </a:r>
          </a:p>
          <a:p xmlns:a="http://schemas.openxmlformats.org/drawingml/2006/main">
            <a:r>
              <a:t>GERÇEK HAYAT: Aynı anda çok notebook</a:t>
            </a:r>
          </a:p>
          <a:p xmlns:a="http://schemas.openxmlformats.org/drawingml/2006/main">
            <a:r>
              <a:t>Her job aktif pages’ini yeniden getiriyor olabilir.</a:t>
            </a:r>
          </a:p>
          <a:p xmlns:a="http://schemas.openxmlformats.org/drawingml/2006/main">
            <a:r>
              <a:t>Mekanizma: Aggregate footprint frame budget’ı aşabilir.</a:t>
            </a:r>
          </a:p>
          <a:p xmlns:a="http://schemas.openxmlformats.org/drawingml/2006/main">
            <a:r>
              <a:t>Ne zaman işe yarar: Capacity ve admission sorununu scheduling’den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replacement job’ın kendi resident set’inden; global replacement başka job frames’inden de victim seçebilir. Global adaptation kapasite paylaşır fakat locality interference yaratabilir. Page-fault frequency veya working-set feedback yardımcı olabilir; tek threshold evrensel garanti değildir. Lab tek-job fixed budget kullanarak bu interference’ı dışlar.</a:t>
            </a:r>
          </a:p>
          <a:p xmlns:a="http://schemas.openxmlformats.org/drawingml/2006/main">
            <a:r>
              <a:t/>
            </a:r>
          </a:p>
          <a:p xmlns:a="http://schemas.openxmlformats.org/drawingml/2006/main">
            <a:r>
              <a:t>GERÇEK HAYAT: Memory pressure komşuları</a:t>
            </a:r>
          </a:p>
          <a:p xmlns:a="http://schemas.openxmlformats.org/drawingml/2006/main">
            <a:r>
              <a:t>Büyük batch interactive job’ın pages’ini etkiler.</a:t>
            </a:r>
          </a:p>
          <a:p xmlns:a="http://schemas.openxmlformats.org/drawingml/2006/main">
            <a:r>
              <a:t>Mekanizma: Global victim seçimleri workloads’u birbirine bağlar.</a:t>
            </a:r>
          </a:p>
          <a:p xmlns:a="http://schemas.openxmlformats.org/drawingml/2006/main">
            <a:r>
              <a:t>Ne zaman işe yarar: Faults’u job ve ortam bağlamında yorumla.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Prefetch doğru reuse tahminiyle stalls azaltabilir; yanlış tahminde memory ve I/O bandwidth tüketir. Background writeback dirty-victim delay’ini azaltabilir ama queueing ve error handling gerekir. Outstanding writeback içeren frame reclamation completion/coherence protokolü ister. Unit-cost OPT prefetch veya asynchronous I/O’yu optimize etmiyor.</a:t>
            </a:r>
          </a:p>
          <a:p xmlns:a="http://schemas.openxmlformats.org/drawingml/2006/main">
            <a:r>
              <a:t/>
            </a:r>
          </a:p>
          <a:p xmlns:a="http://schemas.openxmlformats.org/drawingml/2006/main">
            <a:r>
              <a:t>GERÇEK HAYAT: Streaming video</a:t>
            </a:r>
          </a:p>
          <a:p xmlns:a="http://schemas.openxmlformats.org/drawingml/2006/main">
            <a:r>
              <a:t>Predictable reads gelecekteki data’yı getirme fırsatı verir.</a:t>
            </a:r>
          </a:p>
          <a:p xmlns:a="http://schemas.openxmlformats.org/drawingml/2006/main">
            <a:r>
              <a:t>Mekanizma: Prefetch latency ve memory pressure arasında tradeoff yapar.</a:t>
            </a:r>
          </a:p>
          <a:p xmlns:a="http://schemas.openxmlformats.org/drawingml/2006/main">
            <a:r>
              <a:t>Ne zaman işe yarar: Hit count ile uçtan uca latency’yi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 standart Python cold-residency modelidir; kernel değişikliği, network veya sonsuz bekleme yok. JSON hit, slots, victim, writeback ve working set verir. Writebacks yalnız dirty evictions için sayılır; run sonunda flush yok. Tests sayıları, Belady, dirty-hit korunumu ve resident-set invariants’ı denetler. Interactive veri experiment-data.json içindedir.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 page fault disk I/O mu; COW shared memory mi?</a:t>
            </a:r>
          </a:p>
          <a:p xmlns:a="http://schemas.openxmlformats.org/drawingml/2006/main">
            <a:r>
              <a:t>FIFO10/LRU9/OPT7: hangi initial state?</a:t>
            </a:r>
          </a:p>
          <a:p xmlns:a="http://schemas.openxmlformats.org/drawingml/2006/main">
            <a:r>
              <a:t>Daha fazla frame her policy’de faults azaltır mı?</a:t>
            </a:r>
          </a:p>
          <a:p xmlns:a="http://schemas.openxmlformats.org/drawingml/2006/main">
            <a:r>
              <a:t/>
            </a:r>
          </a:p>
          <a:p xmlns:a="http://schemas.openxmlformats.org/drawingml/2006/main">
            <a:r>
              <a:t>Cevaba model varsayımları ve gerekçe ekle. Bu resmî grading veya actual memory benchmark değildir. Lecture set6 semester week6’dır; week7 midterm, yeni lecture yok. Sonraki ders files/filesystems için virtual/resident/backing ayrımını koru.</a:t>
            </a:r>
          </a:p>
          <a:p xmlns:a="http://schemas.openxmlformats.org/drawingml/2006/main">
            <a:r>
              <a:t/>
            </a:r>
          </a:p>
          <a:p xmlns:a="http://schemas.openxmlformats.org/drawingml/2006/main">
            <a:r>
              <a:t>SORUNUN YANITI: Hayır; zero-fill/COW/file-cache faults farklıdır. COW private semantics korur. Üç empty frame ve belirtilmiş13 references. FIFO anomaly:3→4 frames9→10 faults; exact LRU aynı trace’de artmaz. Window4 references; fault count I/O duration garantisi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https://mehmetgokturk.com/cse513/lecture-06.html</a:t>
            </a:r>
          </a:p>
          <a:p xmlns:a="http://schemas.openxmlformats.org/drawingml/2006/main">
            <a:r>
              <a:t/>
            </a:r>
          </a:p>
          <a:p xmlns:a="http://schemas.openxmlformats.org/drawingml/2006/main">
            <a:r>
              <a:t>https://pages.cs.wisc.edu/~remzi/OSTEP/vm-beyondphys-policy.pdf</a:t>
            </a:r>
          </a:p>
          <a:p xmlns:a="http://schemas.openxmlformats.org/drawingml/2006/main">
            <a:r>
              <a:t/>
            </a:r>
          </a:p>
          <a:p xmlns:a="http://schemas.openxmlformats.org/drawingml/2006/main">
            <a:r>
              <a:t>https://mehmetgokturk.com/cse513/lecture-06.html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164ac5252541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c873a114a64546" /><Relationship Type="http://schemas.openxmlformats.org/officeDocument/2006/relationships/slideLayout" Target="/ppt/slideLayouts/slideLayout1.xml" Id="R194574ee7bbb49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4574ee7bbb49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769a41767e44df" /><Relationship Type="http://schemas.openxmlformats.org/officeDocument/2006/relationships/image" Target="/ppt/media/image.png" Id="R87e8f28252f549b6" /><Relationship Type="http://schemas.openxmlformats.org/officeDocument/2006/relationships/notesSlide" Target="/ppt/notesSlides/notesSlide1.xml" Id="R657db473d8e848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dac06c03374f0e" /><Relationship Type="http://schemas.openxmlformats.org/officeDocument/2006/relationships/notesSlide" Target="/ppt/notesSlides/notesSlide2.xml" Id="R9a31cc91c16b45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2ad5b866084835" /><Relationship Type="http://schemas.openxmlformats.org/officeDocument/2006/relationships/notesSlide" Target="/ppt/notesSlides/notesSlide3.xml" Id="R4b119a14050043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eb8239656c4436" /><Relationship Type="http://schemas.openxmlformats.org/officeDocument/2006/relationships/notesSlide" Target="/ppt/notesSlides/notesSlide4.xml" Id="Rffc79be5a1bd49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40a31807b14836" /><Relationship Type="http://schemas.openxmlformats.org/officeDocument/2006/relationships/notesSlide" Target="/ppt/notesSlides/notesSlide5.xml" Id="R53bde4a5f1c844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b2b832f3a0419c" /><Relationship Type="http://schemas.openxmlformats.org/officeDocument/2006/relationships/notesSlide" Target="/ppt/notesSlides/notesSlide6.xml" Id="Rf4b56cfc079f4a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f7994a908f4183" /><Relationship Type="http://schemas.openxmlformats.org/officeDocument/2006/relationships/notesSlide" Target="/ppt/notesSlides/notesSlide7.xml" Id="Rbb487f5e7b8a46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30dbb9d08d49f0" /><Relationship Type="http://schemas.openxmlformats.org/officeDocument/2006/relationships/notesSlide" Target="/ppt/notesSlides/notesSlide8.xml" Id="R1714b95ef47242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8c230a6fbe471e" /><Relationship Type="http://schemas.openxmlformats.org/officeDocument/2006/relationships/notesSlide" Target="/ppt/notesSlides/notesSlide9.xml" Id="Rcf18a5ecd2084d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9cfc9a52424cc7" /><Relationship Type="http://schemas.openxmlformats.org/officeDocument/2006/relationships/notesSlide" Target="/ppt/notesSlides/notesSlide10.xml" Id="R7a0e193385724b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ce41fc075e4fe7" /><Relationship Type="http://schemas.openxmlformats.org/officeDocument/2006/relationships/notesSlide" Target="/ppt/notesSlides/notesSlide11.xml" Id="R6ccf04c3d7b946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c0eec8bc244d1f" /><Relationship Type="http://schemas.openxmlformats.org/officeDocument/2006/relationships/notesSlide" Target="/ppt/notesSlides/notesSlide12.xml" Id="R31ffb2a285194d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82946f14864eb7" /><Relationship Type="http://schemas.openxmlformats.org/officeDocument/2006/relationships/notesSlide" Target="/ppt/notesSlides/notesSlide13.xml" Id="R871d43d1e51d44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a1fd83e9f0438a" /><Relationship Type="http://schemas.openxmlformats.org/officeDocument/2006/relationships/notesSlide" Target="/ppt/notesSlides/notesSlide14.xml" Id="R69f073223a1c44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796a1bbf75460c" /><Relationship Type="http://schemas.openxmlformats.org/officeDocument/2006/relationships/notesSlide" Target="/ppt/notesSlides/notesSlide15.xml" Id="R2cf4a01c8b4540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dda27c62d3e4893" /><Relationship Type="http://schemas.openxmlformats.org/officeDocument/2006/relationships/notesSlide" Target="/ppt/notesSlides/notesSlide16.xml" Id="R9731c7606e6a43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fbdb9319ac443e" /><Relationship Type="http://schemas.openxmlformats.org/officeDocument/2006/relationships/notesSlide" Target="/ppt/notesSlides/notesSlide17.xml" Id="Raed040b1e2b740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edcf4e4ff6415c" /><Relationship Type="http://schemas.openxmlformats.org/officeDocument/2006/relationships/notesSlide" Target="/ppt/notesSlides/notesSlide18.xml" Id="R06d15f1aab744e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03b057108cf4092" /><Relationship Type="http://schemas.openxmlformats.org/officeDocument/2006/relationships/notesSlide" Target="/ppt/notesSlides/notesSlide19.xml" Id="R57cced255e6446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bd2b3ba35d4e29" /><Relationship Type="http://schemas.openxmlformats.org/officeDocument/2006/relationships/notesSlide" Target="/ppt/notesSlides/notesSlide20.xml" Id="Rd44e961238e44f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5fc53260e34b0a" /><Relationship Type="http://schemas.openxmlformats.org/officeDocument/2006/relationships/notesSlide" Target="/ppt/notesSlides/notesSlide21.xml" Id="R4e3373a14fe84c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8391c4d977a4ddc" /><Relationship Type="http://schemas.openxmlformats.org/officeDocument/2006/relationships/notesSlide" Target="/ppt/notesSlides/notesSlide22.xml" Id="R35288e4ea61242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616b5a52a9346d5" /><Relationship Type="http://schemas.openxmlformats.org/officeDocument/2006/relationships/notesSlide" Target="/ppt/notesSlides/notesSlide23.xml" Id="Rbdcbbde230f745f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0226c7010bf4b66" /><Relationship Type="http://schemas.openxmlformats.org/officeDocument/2006/relationships/notesSlide" Target="/ppt/notesSlides/notesSlide24.xml" Id="Rf5802902cad5409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e8847feabeb434c" /><Relationship Type="http://schemas.openxmlformats.org/officeDocument/2006/relationships/notesSlide" Target="/ppt/notesSlides/notesSlide25.xml" Id="R470b949223d246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36c9b5b74404a87" /><Relationship Type="http://schemas.openxmlformats.org/officeDocument/2006/relationships/notesSlide" Target="/ppt/notesSlides/notesSlide26.xml" Id="R775a1aa2e515429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ee82f6b75534368" /><Relationship Type="http://schemas.openxmlformats.org/officeDocument/2006/relationships/notesSlide" Target="/ppt/notesSlides/notesSlide27.xml" Id="R4ac194f17b2145e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662bd94ac734449" /><Relationship Type="http://schemas.openxmlformats.org/officeDocument/2006/relationships/notesSlide" Target="/ppt/notesSlides/notesSlide28.xml" Id="Rab1e138ddf454a41"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7e8f28252f549b6"/>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4996C5-7558-4596-86F4-CFB5151CDB79}"/>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6</a:t>
            </a:r>
          </a:p>
        </p:txBody>
      </p:sp>
      <p:sp>
        <p:nvSpPr>
          <p:cNvPr id="3" name="">
            <a:extLst xmlns:a="http://schemas.openxmlformats.org/drawingml/2006/main">
              <a:ext uri="{FF2B5EF4-FFF2-40B4-BE49-F238E27FC236}">
                <a16:creationId xmlns:a16="http://schemas.microsoft.com/office/drawing/2014/main" id="{44AD7BC2-0553-4E73-805D-10DFDC2799F4}"/>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Gereken sayfa RAM’de değilse?</a:t>
            </a:r>
          </a:p>
        </p:txBody>
      </p:sp>
      <p:sp>
        <p:nvSpPr>
          <p:cNvPr id="4" name="">
            <a:extLst xmlns:a="http://schemas.openxmlformats.org/drawingml/2006/main">
              <a:ext uri="{FF2B5EF4-FFF2-40B4-BE49-F238E27FC236}">
                <a16:creationId xmlns:a16="http://schemas.microsoft.com/office/drawing/2014/main" id="{0F59C758-C5AC-4BE0-9CA8-DBC54D63760E}"/>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Eksik sayfadan retry’a; locality ve kapasite</a:t>
            </a:r>
          </a:p>
        </p:txBody>
      </p:sp>
      <p:sp>
        <p:nvSpPr>
          <p:cNvPr id="5" name="">
            <a:extLst xmlns:a="http://schemas.openxmlformats.org/drawingml/2006/main">
              <a:ext uri="{FF2B5EF4-FFF2-40B4-BE49-F238E27FC236}">
                <a16:creationId xmlns:a16="http://schemas.microsoft.com/office/drawing/2014/main" id="{0AB5FF1E-7960-4898-A55E-483EBF4375D9}"/>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
        <p:nvSpPr>
          <p:cNvPr id="6" name="">
            <a:extLst xmlns:a="http://schemas.openxmlformats.org/drawingml/2006/main">
              <a:ext uri="{FF2B5EF4-FFF2-40B4-BE49-F238E27FC236}">
                <a16:creationId xmlns:a16="http://schemas.microsoft.com/office/drawing/2014/main" id="{40C1C752-B4E1-44F8-9E06-8F1D6B09112A}"/>
              </a:ext>
            </a:extLst>
          </p:cNvPr>
          <p:cNvSpPr>
            <a:spLocks xmlns:a="http://schemas.openxmlformats.org/drawingml/2006/main" noGrp="1"/>
          </p:cNvSpPr>
          <p:nvPr/>
        </p:nvSpPr>
        <p:spPr>
          <a:xfrm xmlns:a="http://schemas.openxmlformats.org/drawingml/2006/main">
            <a:off x="571500" y="6200775"/>
            <a:ext cx="557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D606A"/>
                </a:solidFill>
                <a:latin typeface="Helvetica Neue"/>
                <a:ea typeface="Helvetica Neue"/>
                <a:cs typeface="Helvetica Neue"/>
              </a:defRPr>
            </a:pPr>
            <a:r>
              <a:rPr sz="1350" b="0">
                <a:solidFill>
                  <a:srgbClr val="4D606A"/>
                </a:solidFill>
                <a:latin typeface="Helvetica Neue"/>
                <a:ea typeface="Helvetica Neue"/>
                <a:cs typeface="Helvetica Neue"/>
              </a:rPr>
              <a:t>Yayımlanan haftalık kapsamın özgün uyarlaması</a:t>
            </a:r>
          </a:p>
        </p:txBody>
      </p:sp>
    </p:spTree>
    <p:extLst>
      <p:ext uri="{BB962C8B-B14F-4D97-AF65-F5344CB8AC3E}">
        <p14:creationId xmlns:p14="http://schemas.microsoft.com/office/powerpoint/2010/main" val="1832299500"/>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8E6897-9B79-41DE-A9A7-F2427CEA06D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Raf ile tezgâhı ayır</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672465">
                <a:tc>
                  <a:txBody>
                    <a:bodyPr/>
                    <a:lstStyle/>
                    <a:p>
                      <a:r>
                        <a:rPr sz="1800" b="1">
                          <a:solidFill>
                            <a:srgbClr val="FFFFFF"/>
                          </a:solidFill>
                          <a:latin typeface="Helvetica Neue"/>
                          <a:ea typeface="Helvetica Neue"/>
                          <a:cs typeface="Helvetica Neue"/>
                        </a:rPr>
                        <a:t>Hikâye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Teknik</a:t>
                      </a:r>
                    </a:p>
                  </a:txBody>
                  <a:tcPr marL="114300" marR="114300" marT="47625" marB="47625" anchor="ctr">
                    <a:solidFill>
                      <a:srgbClr val="122C42"/>
                    </a:solidFill>
                  </a:tcPr>
                </a:tc>
              </a:tr>
              <a:tr h="672465">
                <a:tc>
                  <a:txBody>
                    <a:bodyPr/>
                    <a:lstStyle/>
                    <a:p>
                      <a:r>
                        <a:rPr sz="1800" b="0">
                          <a:solidFill>
                            <a:srgbClr val="122C42"/>
                          </a:solidFill>
                          <a:latin typeface="Helvetica Neue"/>
                          <a:ea typeface="Helvetica Neue"/>
                          <a:cs typeface="Helvetica Neue"/>
                        </a:rPr>
                        <a:t>Katalogdaki yer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Mapped virtual page</a:t>
                      </a:r>
                    </a:p>
                  </a:txBody>
                  <a:tcPr marL="114300" marR="114300" marT="47625" marB="47625" anchor="ctr">
                    <a:solidFill>
                      <a:srgbClr val="FFFFFF"/>
                    </a:solidFill>
                  </a:tcPr>
                </a:tc>
              </a:tr>
              <a:tr h="672465">
                <a:tc>
                  <a:txBody>
                    <a:bodyPr/>
                    <a:lstStyle/>
                    <a:p>
                      <a:r>
                        <a:rPr sz="1800" b="0">
                          <a:solidFill>
                            <a:srgbClr val="122C42"/>
                          </a:solidFill>
                          <a:latin typeface="Helvetica Neue"/>
                          <a:ea typeface="Helvetica Neue"/>
                          <a:cs typeface="Helvetica Neue"/>
                        </a:rPr>
                        <a:t>Tezgâhtaki yer</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Resident frame</a:t>
                      </a:r>
                    </a:p>
                  </a:txBody>
                  <a:tcPr marL="114300" marR="114300" marT="47625" marB="47625" anchor="ctr">
                    <a:solidFill>
                      <a:srgbClr val="ECF0EC"/>
                    </a:solidFill>
                  </a:tcPr>
                </a:tc>
              </a:tr>
              <a:tr h="672465">
                <a:tc>
                  <a:txBody>
                    <a:bodyPr/>
                    <a:lstStyle/>
                    <a:p>
                      <a:r>
                        <a:rPr sz="1800" b="0">
                          <a:solidFill>
                            <a:srgbClr val="122C42"/>
                          </a:solidFill>
                          <a:latin typeface="Helvetica Neue"/>
                          <a:ea typeface="Helvetica Neue"/>
                          <a:cs typeface="Helvetica Neue"/>
                        </a:rPr>
                        <a:t>Eksik malzemeyi hazırlama</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Fault handling</a:t>
                      </a:r>
                    </a:p>
                  </a:txBody>
                  <a:tcPr marL="114300" marR="114300" marT="47625" marB="47625" anchor="ctr">
                    <a:solidFill>
                      <a:srgbClr val="FFFFFF"/>
                    </a:solidFill>
                  </a:tcPr>
                </a:tc>
              </a:tr>
              <a:tr h="672465">
                <a:tc>
                  <a:txBody>
                    <a:bodyPr/>
                    <a:lstStyle/>
                    <a:p>
                      <a:r>
                        <a:rPr sz="1800" b="0">
                          <a:solidFill>
                            <a:srgbClr val="122C42"/>
                          </a:solidFill>
                          <a:latin typeface="Helvetica Neue"/>
                          <a:ea typeface="Helvetica Neue"/>
                          <a:cs typeface="Helvetica Neue"/>
                        </a:rPr>
                        <a:t>Kartın adımını tekrar dene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Restart instruction</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29C7CD52-A614-45F8-947B-310217D676DB}"/>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Büyük dosyayı açmak</a:t>
            </a:r>
          </a:p>
        </p:txBody>
      </p:sp>
      <p:sp>
        <p:nvSpPr>
          <p:cNvPr id="4" name="">
            <a:extLst xmlns:a="http://schemas.openxmlformats.org/drawingml/2006/main">
              <a:ext uri="{FF2B5EF4-FFF2-40B4-BE49-F238E27FC236}">
                <a16:creationId xmlns:a16="http://schemas.microsoft.com/office/drawing/2014/main" id="{632B411E-BD2F-4716-A15D-E9AA820939EB}"/>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Dosyanın tamamına dokunmadan mapping oluşturulur.</a:t>
            </a:r>
          </a:p>
        </p:txBody>
      </p:sp>
      <p:sp>
        <p:nvSpPr>
          <p:cNvPr id="5" name="">
            <a:extLst xmlns:a="http://schemas.openxmlformats.org/drawingml/2006/main">
              <a:ext uri="{FF2B5EF4-FFF2-40B4-BE49-F238E27FC236}">
                <a16:creationId xmlns:a16="http://schemas.microsoft.com/office/drawing/2014/main" id="{BCC72347-152F-4D69-BA07-6CAC37C4EC6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FC557E2C-08E9-4880-96B0-772E64B3256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28</a:t>
            </a:r>
          </a:p>
        </p:txBody>
      </p:sp>
    </p:spTree>
    <p:extLst>
      <p:ext uri="{BB962C8B-B14F-4D97-AF65-F5344CB8AC3E}">
        <p14:creationId xmlns:p14="http://schemas.microsoft.com/office/powerpoint/2010/main" val="218398966"/>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12E0DF-F48B-4E43-B495-697818F3F48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Virtual büyük, RAM bedava değil</a:t>
            </a:r>
          </a:p>
        </p:txBody>
      </p:sp>
      <p:sp>
        <p:nvSpPr>
          <p:cNvPr id="2" name="">
            <a:extLst xmlns:a="http://schemas.openxmlformats.org/drawingml/2006/main">
              <a:ext uri="{FF2B5EF4-FFF2-40B4-BE49-F238E27FC236}">
                <a16:creationId xmlns:a16="http://schemas.microsoft.com/office/drawing/2014/main" id="{BDCDEAF7-1A23-4494-9CEC-8B4B819BE565}"/>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B70F203-B146-45C2-B0C7-B273DF4DCA1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Adres alanı: hangi isimler var?</a:t>
            </a:r>
          </a:p>
        </p:txBody>
      </p:sp>
      <p:sp>
        <p:nvSpPr>
          <p:cNvPr id="4" name="">
            <a:extLst xmlns:a="http://schemas.openxmlformats.org/drawingml/2006/main">
              <a:ext uri="{FF2B5EF4-FFF2-40B4-BE49-F238E27FC236}">
                <a16:creationId xmlns:a16="http://schemas.microsoft.com/office/drawing/2014/main" id="{AF553AEF-B192-451D-AD0C-E797ECA5FCC5}"/>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398E0C6-D97F-4338-808D-54E9CF89289F}"/>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Residency: şu anda hangi pages RAM’de?</a:t>
            </a:r>
          </a:p>
        </p:txBody>
      </p:sp>
      <p:sp>
        <p:nvSpPr>
          <p:cNvPr id="6" name="">
            <a:extLst xmlns:a="http://schemas.openxmlformats.org/drawingml/2006/main">
              <a:ext uri="{FF2B5EF4-FFF2-40B4-BE49-F238E27FC236}">
                <a16:creationId xmlns:a16="http://schemas.microsoft.com/office/drawing/2014/main" id="{0A39A66A-A43C-4973-9EC1-508CE9DE36EA}"/>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7AA1C67-D7FE-47B1-AE95-5369B1091818}"/>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Backing: içerik nereden geri gelir?</a:t>
            </a:r>
          </a:p>
        </p:txBody>
      </p:sp>
      <p:sp>
        <p:nvSpPr>
          <p:cNvPr id="8" name="">
            <a:extLst xmlns:a="http://schemas.openxmlformats.org/drawingml/2006/main">
              <a:ext uri="{FF2B5EF4-FFF2-40B4-BE49-F238E27FC236}">
                <a16:creationId xmlns:a16="http://schemas.microsoft.com/office/drawing/2014/main" id="{BA87D3BE-36DF-4780-BC04-60ED437017B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Container memory bütçesi</a:t>
            </a:r>
          </a:p>
        </p:txBody>
      </p:sp>
      <p:sp>
        <p:nvSpPr>
          <p:cNvPr id="9" name="">
            <a:extLst xmlns:a="http://schemas.openxmlformats.org/drawingml/2006/main">
              <a:ext uri="{FF2B5EF4-FFF2-40B4-BE49-F238E27FC236}">
                <a16:creationId xmlns:a16="http://schemas.microsoft.com/office/drawing/2014/main" id="{96DA4F45-2CAA-4A12-98DC-4A4C02D99DC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Büyük virtual mapping düşük RSS gösterebilir.</a:t>
            </a:r>
          </a:p>
        </p:txBody>
      </p:sp>
      <p:sp>
        <p:nvSpPr>
          <p:cNvPr id="10" name="">
            <a:extLst xmlns:a="http://schemas.openxmlformats.org/drawingml/2006/main">
              <a:ext uri="{FF2B5EF4-FFF2-40B4-BE49-F238E27FC236}">
                <a16:creationId xmlns:a16="http://schemas.microsoft.com/office/drawing/2014/main" id="{9C066599-FF03-4DBE-BE6D-55CFC234C70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11" name="">
            <a:extLst xmlns:a="http://schemas.openxmlformats.org/drawingml/2006/main">
              <a:ext uri="{FF2B5EF4-FFF2-40B4-BE49-F238E27FC236}">
                <a16:creationId xmlns:a16="http://schemas.microsoft.com/office/drawing/2014/main" id="{63231A47-3C0E-4C5A-8A88-6112C3D9458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28</a:t>
            </a:r>
          </a:p>
        </p:txBody>
      </p:sp>
    </p:spTree>
    <p:extLst>
      <p:ext uri="{BB962C8B-B14F-4D97-AF65-F5344CB8AC3E}">
        <p14:creationId xmlns:p14="http://schemas.microsoft.com/office/powerpoint/2010/main" val="126974415"/>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87BB46-9EB7-4B22-AE65-F7A845EE8D1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Fault yolu: dur, hazırla, tekrar dene</a:t>
            </a:r>
          </a:p>
        </p:txBody>
      </p:sp>
      <p:sp>
        <p:nvSpPr>
          <p:cNvPr id="2" name="">
            <a:extLst xmlns:a="http://schemas.openxmlformats.org/drawingml/2006/main">
              <a:ext uri="{FF2B5EF4-FFF2-40B4-BE49-F238E27FC236}">
                <a16:creationId xmlns:a16="http://schemas.microsoft.com/office/drawing/2014/main" id="{659B8CA6-0D8A-429D-A916-D2C488CFBA66}"/>
              </a:ext>
            </a:extLst>
          </p:cNvPr>
          <p:cNvSpPr>
            <a:spLocks xmlns:a="http://schemas.openxmlformats.org/drawingml/2006/main" noGrp="1"/>
          </p:cNvSpPr>
          <p:nvPr/>
        </p:nvSpPr>
        <p:spPr>
          <a:xfrm xmlns:a="http://schemas.openxmlformats.org/drawingml/2006/main">
            <a:off x="742950" y="2095500"/>
            <a:ext cx="10715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access → fault → validate → obtain frame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prepare contents → update mapping</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retry original instruction</a:t>
            </a:r>
          </a:p>
        </p:txBody>
      </p:sp>
      <p:sp>
        <p:nvSpPr>
          <p:cNvPr id="3" name="">
            <a:extLst xmlns:a="http://schemas.openxmlformats.org/drawingml/2006/main">
              <a:ext uri="{FF2B5EF4-FFF2-40B4-BE49-F238E27FC236}">
                <a16:creationId xmlns:a16="http://schemas.microsoft.com/office/drawing/2014/main" id="{4A02A9A3-E91C-4525-89C8-D4DF0D7CB802}"/>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Handler dönüşünde instruction atlanır mı?</a:t>
            </a:r>
          </a:p>
        </p:txBody>
      </p:sp>
      <p:sp>
        <p:nvSpPr>
          <p:cNvPr id="4" name="">
            <a:extLst xmlns:a="http://schemas.openxmlformats.org/drawingml/2006/main">
              <a:ext uri="{FF2B5EF4-FFF2-40B4-BE49-F238E27FC236}">
                <a16:creationId xmlns:a16="http://schemas.microsoft.com/office/drawing/2014/main" id="{59009F34-746F-4CDD-9F71-CA1D7CB8C6F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D3608365-B694-472C-8B56-A5A62A93A99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28</a:t>
            </a:r>
          </a:p>
        </p:txBody>
      </p:sp>
    </p:spTree>
    <p:extLst>
      <p:ext uri="{BB962C8B-B14F-4D97-AF65-F5344CB8AC3E}">
        <p14:creationId xmlns:p14="http://schemas.microsoft.com/office/powerpoint/2010/main" val="930714491"/>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291CC6-CAE8-4349-AC55-38608535A06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Geçerli fakat eksik; ya da yetkisiz</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5486400"/>
                <a:gridCol w="5486400"/>
              </a:tblGrid>
              <a:tr h="777240">
                <a:tc>
                  <a:txBody>
                    <a:bodyPr/>
                    <a:lstStyle/>
                    <a:p>
                      <a:r>
                        <a:rPr sz="1800" b="1">
                          <a:solidFill>
                            <a:srgbClr val="FFFFFF"/>
                          </a:solidFill>
                          <a:latin typeface="Helvetica Neue"/>
                          <a:ea typeface="Helvetica Neue"/>
                          <a:cs typeface="Helvetica Neue"/>
                        </a:rPr>
                        <a:t>Durum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Olası işlem</a:t>
                      </a:r>
                    </a:p>
                  </a:txBody>
                  <a:tcPr marL="114300" marR="114300" marT="47625" marB="47625" anchor="ctr">
                    <a:solidFill>
                      <a:srgbClr val="122C42"/>
                    </a:solidFill>
                  </a:tcPr>
                </a:tc>
              </a:tr>
              <a:tr h="777240">
                <a:tc>
                  <a:txBody>
                    <a:bodyPr/>
                    <a:lstStyle/>
                    <a:p>
                      <a:r>
                        <a:rPr sz="1800" b="0">
                          <a:solidFill>
                            <a:srgbClr val="122C42"/>
                          </a:solidFill>
                          <a:latin typeface="Helvetica Neue"/>
                          <a:ea typeface="Helvetica Neue"/>
                          <a:cs typeface="Helvetica Neue"/>
                        </a:rPr>
                        <a:t>Valid/nonresident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Prepare page; retry</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Unmapped</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Reject/OS-specific handling</a:t>
                      </a:r>
                    </a:p>
                  </a:txBody>
                  <a:tcPr marL="114300" marR="114300" marT="47625" marB="47625" anchor="ctr">
                    <a:solidFill>
                      <a:srgbClr val="ECF0EC"/>
                    </a:solidFill>
                  </a:tcPr>
                </a:tc>
              </a:tr>
              <a:tr h="777240">
                <a:tc>
                  <a:txBody>
                    <a:bodyPr/>
                    <a:lstStyle/>
                    <a:p>
                      <a:r>
                        <a:rPr sz="1800" b="0">
                          <a:solidFill>
                            <a:srgbClr val="122C42"/>
                          </a:solidFill>
                          <a:latin typeface="Helvetica Neue"/>
                          <a:ea typeface="Helvetica Neue"/>
                          <a:cs typeface="Helvetica Neue"/>
                        </a:rPr>
                        <a:t>Write readonly COW</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Private copy if permitted</a:t>
                      </a:r>
                    </a:p>
                  </a:txBody>
                  <a:tcPr marL="114300" marR="114300" marT="47625" marB="47625" anchor="ctr">
                    <a:solidFill>
                      <a:srgbClr val="FFFFFF"/>
                    </a:solidFill>
                  </a:tcPr>
                </a:tc>
              </a:tr>
              <a:tr h="777240">
                <a:tc>
                  <a:txBody>
                    <a:bodyPr/>
                    <a:lstStyle/>
                    <a:p>
                      <a:r>
                        <a:rPr sz="1800" b="0">
                          <a:solidFill>
                            <a:srgbClr val="122C42"/>
                          </a:solidFill>
                          <a:latin typeface="Helvetica Neue"/>
                          <a:ea typeface="Helvetica Neue"/>
                          <a:cs typeface="Helvetica Neue"/>
                        </a:rPr>
                        <a:t>Write truly readonly</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Protection violation</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11F3C4BD-5E14-474C-9DEB-7BEA4EEEF6B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4" name="">
            <a:extLst xmlns:a="http://schemas.openxmlformats.org/drawingml/2006/main">
              <a:ext uri="{FF2B5EF4-FFF2-40B4-BE49-F238E27FC236}">
                <a16:creationId xmlns:a16="http://schemas.microsoft.com/office/drawing/2014/main" id="{275B3DFD-54DA-422B-961E-E0AE3A63555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28</a:t>
            </a:r>
          </a:p>
        </p:txBody>
      </p:sp>
    </p:spTree>
    <p:extLst>
      <p:ext uri="{BB962C8B-B14F-4D97-AF65-F5344CB8AC3E}">
        <p14:creationId xmlns:p14="http://schemas.microsoft.com/office/powerpoint/2010/main" val="628579882"/>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180004-D688-4D41-B36E-9D0B37A742B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Her fault storage I/O değildir</a:t>
            </a:r>
          </a:p>
        </p:txBody>
      </p:sp>
      <p:sp>
        <p:nvSpPr>
          <p:cNvPr id="2" name="">
            <a:extLst xmlns:a="http://schemas.openxmlformats.org/drawingml/2006/main">
              <a:ext uri="{FF2B5EF4-FFF2-40B4-BE49-F238E27FC236}">
                <a16:creationId xmlns:a16="http://schemas.microsoft.com/office/drawing/2014/main" id="{B0BAEDE1-3287-4E78-B15D-B1A2F36B7B1C}"/>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On page fault on disk read kanıtı mı?</a:t>
            </a:r>
          </a:p>
        </p:txBody>
      </p:sp>
      <p:sp>
        <p:nvSpPr>
          <p:cNvPr id="3" name="">
            <a:extLst xmlns:a="http://schemas.openxmlformats.org/drawingml/2006/main">
              <a:ext uri="{FF2B5EF4-FFF2-40B4-BE49-F238E27FC236}">
                <a16:creationId xmlns:a16="http://schemas.microsoft.com/office/drawing/2014/main" id="{9F5CF599-7666-46DE-BE25-1F2B46B79E8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İlk dokunuş</a:t>
            </a:r>
          </a:p>
        </p:txBody>
      </p:sp>
      <p:sp>
        <p:nvSpPr>
          <p:cNvPr id="4" name="">
            <a:extLst xmlns:a="http://schemas.openxmlformats.org/drawingml/2006/main">
              <a:ext uri="{FF2B5EF4-FFF2-40B4-BE49-F238E27FC236}">
                <a16:creationId xmlns:a16="http://schemas.microsoft.com/office/drawing/2014/main" id="{48E8AE22-0D59-4F70-B588-A6BBA8534166}"/>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Yeni anonymous page ilk write sırasında hazırlanabilir.</a:t>
            </a:r>
          </a:p>
        </p:txBody>
      </p:sp>
      <p:sp>
        <p:nvSpPr>
          <p:cNvPr id="5" name="">
            <a:extLst xmlns:a="http://schemas.openxmlformats.org/drawingml/2006/main">
              <a:ext uri="{FF2B5EF4-FFF2-40B4-BE49-F238E27FC236}">
                <a16:creationId xmlns:a16="http://schemas.microsoft.com/office/drawing/2014/main" id="{64737271-2FD8-4B43-9CAF-DB5CC913EE9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BDA46A16-6744-47C4-885F-C14A516EDB9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28</a:t>
            </a:r>
          </a:p>
        </p:txBody>
      </p:sp>
    </p:spTree>
    <p:extLst>
      <p:ext uri="{BB962C8B-B14F-4D97-AF65-F5344CB8AC3E}">
        <p14:creationId xmlns:p14="http://schemas.microsoft.com/office/powerpoint/2010/main" val="193372870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004155-A928-4155-B5CA-55E7B7B4955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Lazy allocation: ayırmak ve kullanmak ayrı</a:t>
            </a:r>
          </a:p>
        </p:txBody>
      </p:sp>
      <p:sp>
        <p:nvSpPr>
          <p:cNvPr id="2" name="">
            <a:extLst xmlns:a="http://schemas.openxmlformats.org/drawingml/2006/main">
              <a:ext uri="{FF2B5EF4-FFF2-40B4-BE49-F238E27FC236}">
                <a16:creationId xmlns:a16="http://schemas.microsoft.com/office/drawing/2014/main" id="{FCEE9036-8FC1-4232-8A03-A5D840A5BD6E}"/>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Büyük array rezervasyonu</a:t>
            </a:r>
          </a:p>
        </p:txBody>
      </p:sp>
      <p:sp>
        <p:nvSpPr>
          <p:cNvPr id="3" name="">
            <a:extLst xmlns:a="http://schemas.openxmlformats.org/drawingml/2006/main">
              <a:ext uri="{FF2B5EF4-FFF2-40B4-BE49-F238E27FC236}">
                <a16:creationId xmlns:a16="http://schemas.microsoft.com/office/drawing/2014/main" id="{8F1114D0-C577-4EB6-A6AB-FB4B5D339F1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Allocate hızlı, initialization yavaş olabilir.</a:t>
            </a:r>
          </a:p>
        </p:txBody>
      </p:sp>
      <p:sp>
        <p:nvSpPr>
          <p:cNvPr id="4" name="">
            <a:extLst xmlns:a="http://schemas.openxmlformats.org/drawingml/2006/main">
              <a:ext uri="{FF2B5EF4-FFF2-40B4-BE49-F238E27FC236}">
                <a16:creationId xmlns:a16="http://schemas.microsoft.com/office/drawing/2014/main" id="{9C9880D0-0351-4F06-B381-AC4A4D887B0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54EC8154-7572-4414-8514-FE2D02E7FDE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28</a:t>
            </a:r>
          </a:p>
        </p:txBody>
      </p:sp>
    </p:spTree>
    <p:extLst>
      <p:ext uri="{BB962C8B-B14F-4D97-AF65-F5344CB8AC3E}">
        <p14:creationId xmlns:p14="http://schemas.microsoft.com/office/powerpoint/2010/main" val="1560218900"/>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55FE80-93AF-45BF-A28F-47F665866D4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COW: ortak fiziksel başlangıç, özel anlam</a:t>
            </a:r>
          </a:p>
        </p:txBody>
      </p:sp>
      <p:sp>
        <p:nvSpPr>
          <p:cNvPr id="2" name="">
            <a:extLst xmlns:a="http://schemas.openxmlformats.org/drawingml/2006/main">
              <a:ext uri="{FF2B5EF4-FFF2-40B4-BE49-F238E27FC236}">
                <a16:creationId xmlns:a16="http://schemas.microsoft.com/office/drawing/2014/main" id="{4FCD48DE-4955-4499-A198-909DDC0D9FED}"/>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Mantıksal görünüm</a:t>
            </a:r>
          </a:p>
        </p:txBody>
      </p:sp>
      <p:sp>
        <p:nvSpPr>
          <p:cNvPr id="3" name="">
            <a:extLst xmlns:a="http://schemas.openxmlformats.org/drawingml/2006/main">
              <a:ext uri="{FF2B5EF4-FFF2-40B4-BE49-F238E27FC236}">
                <a16:creationId xmlns:a16="http://schemas.microsoft.com/office/drawing/2014/main" id="{8F5CF0F4-626F-41D1-8CDA-4333188C4023}"/>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Parent özel x</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Child özel x</a:t>
            </a:r>
          </a:p>
        </p:txBody>
      </p:sp>
      <p:sp>
        <p:nvSpPr>
          <p:cNvPr id="4" name="">
            <a:extLst xmlns:a="http://schemas.openxmlformats.org/drawingml/2006/main">
              <a:ext uri="{FF2B5EF4-FFF2-40B4-BE49-F238E27FC236}">
                <a16:creationId xmlns:a16="http://schemas.microsoft.com/office/drawing/2014/main" id="{D1134BC9-8CA8-4C16-9F12-2A0823ECC891}"/>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Fiziksel başlangıç</a:t>
            </a:r>
          </a:p>
        </p:txBody>
      </p:sp>
      <p:sp>
        <p:nvSpPr>
          <p:cNvPr id="5" name="">
            <a:extLst xmlns:a="http://schemas.openxmlformats.org/drawingml/2006/main">
              <a:ext uri="{FF2B5EF4-FFF2-40B4-BE49-F238E27FC236}">
                <a16:creationId xmlns:a16="http://schemas.microsoft.com/office/drawing/2014/main" id="{706EE3A9-42F8-4334-8462-D2AC78E8F016}"/>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Aynı frame’e mapping</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Yazma kontrollü fault</a:t>
            </a:r>
          </a:p>
        </p:txBody>
      </p:sp>
      <p:sp>
        <p:nvSpPr>
          <p:cNvPr id="6" name="">
            <a:extLst xmlns:a="http://schemas.openxmlformats.org/drawingml/2006/main">
              <a:ext uri="{FF2B5EF4-FFF2-40B4-BE49-F238E27FC236}">
                <a16:creationId xmlns:a16="http://schemas.microsoft.com/office/drawing/2014/main" id="{1F3AB089-9E09-4CAB-9E75-1045165AB6AC}"/>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Fork ardından exec</a:t>
            </a:r>
          </a:p>
        </p:txBody>
      </p:sp>
      <p:sp>
        <p:nvSpPr>
          <p:cNvPr id="7" name="">
            <a:extLst xmlns:a="http://schemas.openxmlformats.org/drawingml/2006/main">
              <a:ext uri="{FF2B5EF4-FFF2-40B4-BE49-F238E27FC236}">
                <a16:creationId xmlns:a16="http://schemas.microsoft.com/office/drawing/2014/main" id="{C0551424-5617-4683-B55D-0E18D5B6653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Child eski pages’i değiştirmeden image değiştirebilir.</a:t>
            </a:r>
          </a:p>
        </p:txBody>
      </p:sp>
      <p:sp>
        <p:nvSpPr>
          <p:cNvPr id="8" name="">
            <a:extLst xmlns:a="http://schemas.openxmlformats.org/drawingml/2006/main">
              <a:ext uri="{FF2B5EF4-FFF2-40B4-BE49-F238E27FC236}">
                <a16:creationId xmlns:a16="http://schemas.microsoft.com/office/drawing/2014/main" id="{3552DBE8-0C7F-4C4E-A3E6-B24272C4C3E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9" name="">
            <a:extLst xmlns:a="http://schemas.openxmlformats.org/drawingml/2006/main">
              <a:ext uri="{FF2B5EF4-FFF2-40B4-BE49-F238E27FC236}">
                <a16:creationId xmlns:a16="http://schemas.microsoft.com/office/drawing/2014/main" id="{8EFDF666-488C-47C1-BC60-F7528E7B775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28</a:t>
            </a:r>
          </a:p>
        </p:txBody>
      </p:sp>
    </p:spTree>
    <p:extLst>
      <p:ext uri="{BB962C8B-B14F-4D97-AF65-F5344CB8AC3E}">
        <p14:creationId xmlns:p14="http://schemas.microsoft.com/office/powerpoint/2010/main" val="284285822"/>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93F7A2-CC45-4D1E-A405-66E76B08053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COW yazma izi: x10’dan child20’ye</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3657600"/>
                <a:gridCol w="3657600"/>
                <a:gridCol w="3657600"/>
              </a:tblGrid>
              <a:tr h="1082675">
                <a:tc>
                  <a:txBody>
                    <a:bodyPr/>
                    <a:lstStyle/>
                    <a:p>
                      <a:r>
                        <a:rPr sz="1800" b="1">
                          <a:solidFill>
                            <a:srgbClr val="FFFFFF"/>
                          </a:solidFill>
                          <a:latin typeface="Helvetica Neue"/>
                          <a:ea typeface="Helvetica Neue"/>
                          <a:cs typeface="Helvetica Neue"/>
                        </a:rPr>
                        <a:t>An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Parent</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Child</a:t>
                      </a:r>
                    </a:p>
                  </a:txBody>
                  <a:tcPr marL="114300" marR="114300" marT="47625" marB="47625" anchor="ctr">
                    <a:solidFill>
                      <a:srgbClr val="122C42"/>
                    </a:solidFill>
                  </a:tcPr>
                </a:tc>
              </a:tr>
              <a:tr h="1082675">
                <a:tc>
                  <a:txBody>
                    <a:bodyPr/>
                    <a:lstStyle/>
                    <a:p>
                      <a:r>
                        <a:rPr sz="1800" b="0">
                          <a:solidFill>
                            <a:srgbClr val="122C42"/>
                          </a:solidFill>
                          <a:latin typeface="Helvetica Neue"/>
                          <a:ea typeface="Helvetica Neue"/>
                          <a:cs typeface="Helvetica Neue"/>
                        </a:rPr>
                        <a:t>Başlangıç</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frame4,x10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frame4,x10</a:t>
                      </a:r>
                    </a:p>
                  </a:txBody>
                  <a:tcPr marL="114300" marR="114300" marT="47625" marB="47625" anchor="ctr">
                    <a:solidFill>
                      <a:srgbClr val="FFFFFF"/>
                    </a:solidFill>
                  </a:tcPr>
                </a:tc>
              </a:tr>
              <a:tr h="1082675">
                <a:tc>
                  <a:txBody>
                    <a:bodyPr/>
                    <a:lstStyle/>
                    <a:p>
                      <a:r>
                        <a:rPr sz="1800" b="0">
                          <a:solidFill>
                            <a:srgbClr val="122C42"/>
                          </a:solidFill>
                          <a:latin typeface="Helvetica Neue"/>
                          <a:ea typeface="Helvetica Neue"/>
                          <a:cs typeface="Helvetica Neue"/>
                        </a:rPr>
                        <a:t>Child yazdı</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frame4,x10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frame9,x20</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D5682193-B30A-4F88-AF86-F4F2DA29357A}"/>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Parent wait sonrası20 mi okur?</a:t>
            </a:r>
          </a:p>
        </p:txBody>
      </p:sp>
      <p:sp>
        <p:nvSpPr>
          <p:cNvPr id="4" name="">
            <a:extLst xmlns:a="http://schemas.openxmlformats.org/drawingml/2006/main">
              <a:ext uri="{FF2B5EF4-FFF2-40B4-BE49-F238E27FC236}">
                <a16:creationId xmlns:a16="http://schemas.microsoft.com/office/drawing/2014/main" id="{ADD6A02E-A870-4B49-9817-5FDD816EBB1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416F4EE3-5501-4C4A-8245-E530395B873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28</a:t>
            </a:r>
          </a:p>
        </p:txBody>
      </p:sp>
    </p:spTree>
    <p:extLst>
      <p:ext uri="{BB962C8B-B14F-4D97-AF65-F5344CB8AC3E}">
        <p14:creationId xmlns:p14="http://schemas.microsoft.com/office/powerpoint/2010/main" val="198879375"/>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0B1C17-9BEF-4C48-959E-189EBEE42ED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Mapping ve cache tutarlı kalmalı</a:t>
            </a:r>
          </a:p>
        </p:txBody>
      </p:sp>
      <p:sp>
        <p:nvSpPr>
          <p:cNvPr id="2" name="">
            <a:extLst xmlns:a="http://schemas.openxmlformats.org/drawingml/2006/main">
              <a:ext uri="{FF2B5EF4-FFF2-40B4-BE49-F238E27FC236}">
                <a16:creationId xmlns:a16="http://schemas.microsoft.com/office/drawing/2014/main" id="{11BC95E6-6D77-4A9F-BF67-21160AE2952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Aynı process’in thread’leri</a:t>
            </a:r>
          </a:p>
        </p:txBody>
      </p:sp>
      <p:sp>
        <p:nvSpPr>
          <p:cNvPr id="3" name="">
            <a:extLst xmlns:a="http://schemas.openxmlformats.org/drawingml/2006/main">
              <a:ext uri="{FF2B5EF4-FFF2-40B4-BE49-F238E27FC236}">
                <a16:creationId xmlns:a16="http://schemas.microsoft.com/office/drawing/2014/main" id="{257D1A74-E468-4994-9C9C-804CDB8B5AF7}"/>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Bir thread fault alırken başkaları mapping’e erişebilir.</a:t>
            </a:r>
          </a:p>
        </p:txBody>
      </p:sp>
      <p:sp>
        <p:nvSpPr>
          <p:cNvPr id="4" name="">
            <a:extLst xmlns:a="http://schemas.openxmlformats.org/drawingml/2006/main">
              <a:ext uri="{FF2B5EF4-FFF2-40B4-BE49-F238E27FC236}">
                <a16:creationId xmlns:a16="http://schemas.microsoft.com/office/drawing/2014/main" id="{390FE7BE-4320-4393-BE2F-4940DC4093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D9F20B6F-CFE5-48BE-9A61-B1CC058984C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28</a:t>
            </a:r>
          </a:p>
        </p:txBody>
      </p:sp>
    </p:spTree>
    <p:extLst>
      <p:ext uri="{BB962C8B-B14F-4D97-AF65-F5344CB8AC3E}">
        <p14:creationId xmlns:p14="http://schemas.microsoft.com/office/powerpoint/2010/main" val="73997937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420108-928F-4344-AF20-309C61966DB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Küçük fault oranı, büyük zaman etkisi</a:t>
            </a:r>
          </a:p>
        </p:txBody>
      </p:sp>
      <p:sp>
        <p:nvSpPr>
          <p:cNvPr id="2" name="">
            <a:extLst xmlns:a="http://schemas.openxmlformats.org/drawingml/2006/main">
              <a:ext uri="{FF2B5EF4-FFF2-40B4-BE49-F238E27FC236}">
                <a16:creationId xmlns:a16="http://schemas.microsoft.com/office/drawing/2014/main" id="{F1B8547C-D97B-4CCD-9911-2A110DA8FA15}"/>
              </a:ext>
            </a:extLst>
          </p:cNvPr>
          <p:cNvSpPr>
            <a:spLocks xmlns:a="http://schemas.openxmlformats.org/drawingml/2006/main" noGrp="1"/>
          </p:cNvSpPr>
          <p:nvPr/>
        </p:nvSpPr>
        <p:spPr>
          <a:xfrm xmlns:a="http://schemas.openxmlformats.org/drawingml/2006/main">
            <a:off x="742950" y="2095500"/>
            <a:ext cx="10715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EAT=(1−p)×100 +p×(8,000,000+100) ns</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p=0.00001 →180ns</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p=0.001 →8100ns</a:t>
            </a:r>
          </a:p>
        </p:txBody>
      </p:sp>
      <p:sp>
        <p:nvSpPr>
          <p:cNvPr id="3" name="">
            <a:extLst xmlns:a="http://schemas.openxmlformats.org/drawingml/2006/main">
              <a:ext uri="{FF2B5EF4-FFF2-40B4-BE49-F238E27FC236}">
                <a16:creationId xmlns:a16="http://schemas.microsoft.com/office/drawing/2014/main" id="{F7B67440-5F62-4649-B468-10F5B0EFEAEF}"/>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Fault oranı100 kat artınca EAT100 kat mı?</a:t>
            </a:r>
          </a:p>
        </p:txBody>
      </p:sp>
      <p:sp>
        <p:nvSpPr>
          <p:cNvPr id="4" name="">
            <a:extLst xmlns:a="http://schemas.openxmlformats.org/drawingml/2006/main">
              <a:ext uri="{FF2B5EF4-FFF2-40B4-BE49-F238E27FC236}">
                <a16:creationId xmlns:a16="http://schemas.microsoft.com/office/drawing/2014/main" id="{BA754109-0ED1-4F72-93BA-0C2BEFD261A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21330808-7B55-4B22-A19F-AA06224FFCB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28</a:t>
            </a:r>
          </a:p>
        </p:txBody>
      </p:sp>
    </p:spTree>
    <p:extLst>
      <p:ext uri="{BB962C8B-B14F-4D97-AF65-F5344CB8AC3E}">
        <p14:creationId xmlns:p14="http://schemas.microsoft.com/office/powerpoint/2010/main" val="313669994"/>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92B90C-0D06-4CEC-9AD2-0F55DE68991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Replacement deneyi: veri ve kurallar</a:t>
            </a:r>
          </a:p>
        </p:txBody>
      </p:sp>
      <p:sp>
        <p:nvSpPr>
          <p:cNvPr id="2" name="">
            <a:extLst xmlns:a="http://schemas.openxmlformats.org/drawingml/2006/main">
              <a:ext uri="{FF2B5EF4-FFF2-40B4-BE49-F238E27FC236}">
                <a16:creationId xmlns:a16="http://schemas.microsoft.com/office/drawing/2014/main" id="{4A99FDC2-A79F-425A-BED2-C8620332E913}"/>
              </a:ext>
            </a:extLst>
          </p:cNvPr>
          <p:cNvSpPr>
            <a:spLocks xmlns:a="http://schemas.openxmlformats.org/drawingml/2006/main" noGrp="1"/>
          </p:cNvSpPr>
          <p:nvPr/>
        </p:nvSpPr>
        <p:spPr>
          <a:xfrm xmlns:a="http://schemas.openxmlformats.org/drawingml/2006/main">
            <a:off x="742950" y="2095500"/>
            <a:ext cx="10715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Reference:7 0 1 2 0 3 0 4 2 3 0 3 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Frames:3,initially empty</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Record:hit/fault,slots,victim</a:t>
            </a:r>
          </a:p>
        </p:txBody>
      </p:sp>
      <p:sp>
        <p:nvSpPr>
          <p:cNvPr id="3" name="">
            <a:extLst xmlns:a="http://schemas.openxmlformats.org/drawingml/2006/main">
              <a:ext uri="{FF2B5EF4-FFF2-40B4-BE49-F238E27FC236}">
                <a16:creationId xmlns:a16="http://schemas.microsoft.com/office/drawing/2014/main" id="{BA99BD15-8203-4929-8905-D7EC92AC7E96}"/>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İlk üç cold-start reference hit olabilir mi?</a:t>
            </a:r>
          </a:p>
        </p:txBody>
      </p:sp>
      <p:sp>
        <p:nvSpPr>
          <p:cNvPr id="4" name="">
            <a:extLst xmlns:a="http://schemas.openxmlformats.org/drawingml/2006/main">
              <a:ext uri="{FF2B5EF4-FFF2-40B4-BE49-F238E27FC236}">
                <a16:creationId xmlns:a16="http://schemas.microsoft.com/office/drawing/2014/main" id="{D66C9CB6-DDDC-48BC-9EA9-4F52007D5BB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9ABC6934-649F-44EB-9D01-9781A440D4A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28</a:t>
            </a:r>
          </a:p>
        </p:txBody>
      </p:sp>
    </p:spTree>
    <p:extLst>
      <p:ext uri="{BB962C8B-B14F-4D97-AF65-F5344CB8AC3E}">
        <p14:creationId xmlns:p14="http://schemas.microsoft.com/office/powerpoint/2010/main" val="572954680"/>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CEF78F-B90B-4710-9D74-3172AC57D41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FIFO ilk yarı: en eski yükleneni çıkar</a:t>
            </a:r>
          </a:p>
        </p:txBody>
      </p:sp>
      <p:graphicFrame>
        <p:nvGraphicFramePr>
          <p:cNvPr id="6" name=""/>
          <p:cNvGraphicFramePr/>
          <p:nvPr/>
        </p:nvGraphicFramePr>
        <p:xfrm>
          <a:off xmlns:a="http://schemas.openxmlformats.org/drawingml/2006/main" x="609600" y="1857375"/>
          <a:ext xmlns:a="http://schemas.openxmlformats.org/drawingml/2006/main" cx="10972800" cy="3886200"/>
        </p:xfrm>
        <a:graphic xmlns:a="http://schemas.openxmlformats.org/drawingml/2006/main">
          <a:graphicData uri="http://schemas.openxmlformats.org/drawingml/2006/table">
            <a:tbl>
              <a:tblPr/>
              <a:tblGrid>
                <a:gridCol w="3657600"/>
                <a:gridCol w="3657600"/>
                <a:gridCol w="3657600"/>
              </a:tblGrid>
              <a:tr h="555171">
                <a:tc>
                  <a:txBody>
                    <a:bodyPr/>
                    <a:lstStyle/>
                    <a:p>
                      <a:r>
                        <a:rPr sz="1800" b="1">
                          <a:solidFill>
                            <a:srgbClr val="FFFFFF"/>
                          </a:solidFill>
                          <a:latin typeface="Helvetica Neue"/>
                          <a:ea typeface="Helvetica Neue"/>
                          <a:cs typeface="Helvetica Neue"/>
                        </a:rPr>
                        <a:t>Step / page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Slots</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Hit / Fault</a:t>
                      </a:r>
                    </a:p>
                  </a:txBody>
                  <a:tcPr marL="114300" marR="114300" marT="47625" marB="47625" anchor="ctr">
                    <a:solidFill>
                      <a:srgbClr val="122C42"/>
                    </a:solidFill>
                  </a:tcPr>
                </a:tc>
              </a:tr>
              <a:tr h="555171">
                <a:tc>
                  <a:txBody>
                    <a:bodyPr/>
                    <a:lstStyle/>
                    <a:p>
                      <a:r>
                        <a:rPr sz="1800" b="0">
                          <a:solidFill>
                            <a:srgbClr val="122C42"/>
                          </a:solidFill>
                          <a:latin typeface="Helvetica Neue"/>
                          <a:ea typeface="Helvetica Neue"/>
                          <a:cs typeface="Helvetica Neue"/>
                        </a:rPr>
                        <a:t>1/7</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7,—,—</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FFFFFF"/>
                    </a:solidFill>
                  </a:tcPr>
                </a:tc>
              </a:tr>
              <a:tr h="555171">
                <a:tc>
                  <a:txBody>
                    <a:bodyPr/>
                    <a:lstStyle/>
                    <a:p>
                      <a:r>
                        <a:rPr sz="1800" b="0">
                          <a:solidFill>
                            <a:srgbClr val="122C42"/>
                          </a:solidFill>
                          <a:latin typeface="Helvetica Neue"/>
                          <a:ea typeface="Helvetica Neue"/>
                          <a:cs typeface="Helvetica Neue"/>
                        </a:rPr>
                        <a:t>2/0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7,0,—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ECF0EC"/>
                    </a:solidFill>
                  </a:tcPr>
                </a:tc>
              </a:tr>
              <a:tr h="555171">
                <a:tc>
                  <a:txBody>
                    <a:bodyPr/>
                    <a:lstStyle/>
                    <a:p>
                      <a:r>
                        <a:rPr sz="1800" b="0">
                          <a:solidFill>
                            <a:srgbClr val="122C42"/>
                          </a:solidFill>
                          <a:latin typeface="Helvetica Neue"/>
                          <a:ea typeface="Helvetica Neue"/>
                          <a:cs typeface="Helvetica Neue"/>
                        </a:rPr>
                        <a:t>3/1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7,0,1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FFFFFF"/>
                    </a:solidFill>
                  </a:tcPr>
                </a:tc>
              </a:tr>
              <a:tr h="555171">
                <a:tc>
                  <a:txBody>
                    <a:bodyPr/>
                    <a:lstStyle/>
                    <a:p>
                      <a:r>
                        <a:rPr sz="1800" b="0">
                          <a:solidFill>
                            <a:srgbClr val="122C42"/>
                          </a:solidFill>
                          <a:latin typeface="Helvetica Neue"/>
                          <a:ea typeface="Helvetica Neue"/>
                          <a:cs typeface="Helvetica Neue"/>
                        </a:rPr>
                        <a:t>4/2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2,0,1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ECF0EC"/>
                    </a:solidFill>
                  </a:tcPr>
                </a:tc>
              </a:tr>
              <a:tr h="555171">
                <a:tc>
                  <a:txBody>
                    <a:bodyPr/>
                    <a:lstStyle/>
                    <a:p>
                      <a:r>
                        <a:rPr sz="1800" b="0">
                          <a:solidFill>
                            <a:srgbClr val="122C42"/>
                          </a:solidFill>
                          <a:latin typeface="Helvetica Neue"/>
                          <a:ea typeface="Helvetica Neue"/>
                          <a:cs typeface="Helvetica Neue"/>
                        </a:rPr>
                        <a:t>5/0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2,0,1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H</a:t>
                      </a:r>
                    </a:p>
                  </a:txBody>
                  <a:tcPr marL="114300" marR="114300" marT="47625" marB="47625" anchor="ctr">
                    <a:solidFill>
                      <a:srgbClr val="FFFFFF"/>
                    </a:solidFill>
                  </a:tcPr>
                </a:tc>
              </a:tr>
              <a:tr h="555171">
                <a:tc>
                  <a:txBody>
                    <a:bodyPr/>
                    <a:lstStyle/>
                    <a:p>
                      <a:r>
                        <a:rPr sz="1800" b="0">
                          <a:solidFill>
                            <a:srgbClr val="122C42"/>
                          </a:solidFill>
                          <a:latin typeface="Helvetica Neue"/>
                          <a:ea typeface="Helvetica Neue"/>
                          <a:cs typeface="Helvetica Neue"/>
                        </a:rPr>
                        <a:t>6/3</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2,3,1</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CBC593FE-38E0-44C2-85B4-C596F9C03DB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4" name="">
            <a:extLst xmlns:a="http://schemas.openxmlformats.org/drawingml/2006/main">
              <a:ext uri="{FF2B5EF4-FFF2-40B4-BE49-F238E27FC236}">
                <a16:creationId xmlns:a16="http://schemas.microsoft.com/office/drawing/2014/main" id="{5DE720E2-BFD2-476F-99BB-03DCDA7FEF7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28</a:t>
            </a:r>
          </a:p>
        </p:txBody>
      </p:sp>
    </p:spTree>
    <p:extLst>
      <p:ext uri="{BB962C8B-B14F-4D97-AF65-F5344CB8AC3E}">
        <p14:creationId xmlns:p14="http://schemas.microsoft.com/office/powerpoint/2010/main" val="412127823"/>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A7A6B5-1A64-4833-A82F-E0A7DC4173E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FIFO sonu:10 fault,3 hit</a:t>
            </a:r>
          </a:p>
        </p:txBody>
      </p:sp>
      <p:graphicFrame>
        <p:nvGraphicFramePr>
          <p:cNvPr id="7" name=""/>
          <p:cNvGraphicFramePr/>
          <p:nvPr/>
        </p:nvGraphicFramePr>
        <p:xfrm>
          <a:off xmlns:a="http://schemas.openxmlformats.org/drawingml/2006/main" x="609600" y="1857375"/>
          <a:ext xmlns:a="http://schemas.openxmlformats.org/drawingml/2006/main" cx="10972800" cy="3248025"/>
        </p:xfrm>
        <a:graphic xmlns:a="http://schemas.openxmlformats.org/drawingml/2006/main">
          <a:graphicData uri="http://schemas.openxmlformats.org/drawingml/2006/table">
            <a:tbl>
              <a:tblPr/>
              <a:tblGrid>
                <a:gridCol w="3657600"/>
                <a:gridCol w="3657600"/>
                <a:gridCol w="3657600"/>
              </a:tblGrid>
              <a:tr h="464004">
                <a:tc>
                  <a:txBody>
                    <a:bodyPr/>
                    <a:lstStyle/>
                    <a:p>
                      <a:r>
                        <a:rPr sz="1800" b="1">
                          <a:solidFill>
                            <a:srgbClr val="FFFFFF"/>
                          </a:solidFill>
                          <a:latin typeface="Helvetica Neue"/>
                          <a:ea typeface="Helvetica Neue"/>
                          <a:cs typeface="Helvetica Neue"/>
                        </a:rPr>
                        <a:t>Step / page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Slots</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Hit / Fault</a:t>
                      </a:r>
                    </a:p>
                  </a:txBody>
                  <a:tcPr marL="114300" marR="114300" marT="47625" marB="47625" anchor="ctr">
                    <a:solidFill>
                      <a:srgbClr val="122C42"/>
                    </a:solidFill>
                  </a:tcPr>
                </a:tc>
              </a:tr>
              <a:tr h="464004">
                <a:tc>
                  <a:txBody>
                    <a:bodyPr/>
                    <a:lstStyle/>
                    <a:p>
                      <a:r>
                        <a:rPr sz="1800" b="0">
                          <a:solidFill>
                            <a:srgbClr val="122C42"/>
                          </a:solidFill>
                          <a:latin typeface="Helvetica Neue"/>
                          <a:ea typeface="Helvetica Neue"/>
                          <a:cs typeface="Helvetica Neue"/>
                        </a:rPr>
                        <a:t>7/0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2,3,0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FFFFFF"/>
                    </a:solidFill>
                  </a:tcPr>
                </a:tc>
              </a:tr>
              <a:tr h="464004">
                <a:tc>
                  <a:txBody>
                    <a:bodyPr/>
                    <a:lstStyle/>
                    <a:p>
                      <a:r>
                        <a:rPr sz="1800" b="0">
                          <a:solidFill>
                            <a:srgbClr val="122C42"/>
                          </a:solidFill>
                          <a:latin typeface="Helvetica Neue"/>
                          <a:ea typeface="Helvetica Neue"/>
                          <a:cs typeface="Helvetica Neue"/>
                        </a:rPr>
                        <a:t>8/4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4,3,0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ECF0EC"/>
                    </a:solidFill>
                  </a:tcPr>
                </a:tc>
              </a:tr>
              <a:tr h="464004">
                <a:tc>
                  <a:txBody>
                    <a:bodyPr/>
                    <a:lstStyle/>
                    <a:p>
                      <a:r>
                        <a:rPr sz="1800" b="0">
                          <a:solidFill>
                            <a:srgbClr val="122C42"/>
                          </a:solidFill>
                          <a:latin typeface="Helvetica Neue"/>
                          <a:ea typeface="Helvetica Neue"/>
                          <a:cs typeface="Helvetica Neue"/>
                        </a:rPr>
                        <a:t>9/2</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4,2,0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FFFFFF"/>
                    </a:solidFill>
                  </a:tcPr>
                </a:tc>
              </a:tr>
              <a:tr h="464004">
                <a:tc>
                  <a:txBody>
                    <a:bodyPr/>
                    <a:lstStyle/>
                    <a:p>
                      <a:r>
                        <a:rPr sz="1800" b="0">
                          <a:solidFill>
                            <a:srgbClr val="122C42"/>
                          </a:solidFill>
                          <a:latin typeface="Helvetica Neue"/>
                          <a:ea typeface="Helvetica Neue"/>
                          <a:cs typeface="Helvetica Neue"/>
                        </a:rPr>
                        <a:t>10/3</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4,2,3</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ECF0EC"/>
                    </a:solidFill>
                  </a:tcPr>
                </a:tc>
              </a:tr>
              <a:tr h="464004">
                <a:tc>
                  <a:txBody>
                    <a:bodyPr/>
                    <a:lstStyle/>
                    <a:p>
                      <a:r>
                        <a:rPr sz="1800" b="0">
                          <a:solidFill>
                            <a:srgbClr val="122C42"/>
                          </a:solidFill>
                          <a:latin typeface="Helvetica Neue"/>
                          <a:ea typeface="Helvetica Neue"/>
                          <a:cs typeface="Helvetica Neue"/>
                        </a:rPr>
                        <a:t>11/0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0,2,3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F</a:t>
                      </a:r>
                    </a:p>
                  </a:txBody>
                  <a:tcPr marL="114300" marR="114300" marT="47625" marB="47625" anchor="ctr">
                    <a:solidFill>
                      <a:srgbClr val="FFFFFF"/>
                    </a:solidFill>
                  </a:tcPr>
                </a:tc>
              </a:tr>
              <a:tr h="464004">
                <a:tc>
                  <a:txBody>
                    <a:bodyPr/>
                    <a:lstStyle/>
                    <a:p>
                      <a:r>
                        <a:rPr sz="1800" b="0">
                          <a:solidFill>
                            <a:srgbClr val="122C42"/>
                          </a:solidFill>
                          <a:latin typeface="Helvetica Neue"/>
                          <a:ea typeface="Helvetica Neue"/>
                          <a:cs typeface="Helvetica Neue"/>
                        </a:rPr>
                        <a:t>12/3;13/2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0,2,3</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H;H</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8720222A-1A1D-47D4-8493-C517742C209B}"/>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FIFO step6’da0 neden çıktı?</a:t>
            </a:r>
          </a:p>
        </p:txBody>
      </p:sp>
      <p:sp>
        <p:nvSpPr>
          <p:cNvPr id="4" name="">
            <a:extLst xmlns:a="http://schemas.openxmlformats.org/drawingml/2006/main">
              <a:ext uri="{FF2B5EF4-FFF2-40B4-BE49-F238E27FC236}">
                <a16:creationId xmlns:a16="http://schemas.microsoft.com/office/drawing/2014/main" id="{81058CBC-7575-4431-A568-DCA552ABB14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49A4193A-8DE4-4998-B875-0D1ADB54930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28</a:t>
            </a:r>
          </a:p>
        </p:txBody>
      </p:sp>
    </p:spTree>
    <p:extLst>
      <p:ext uri="{BB962C8B-B14F-4D97-AF65-F5344CB8AC3E}">
        <p14:creationId xmlns:p14="http://schemas.microsoft.com/office/powerpoint/2010/main" val="351882588"/>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188D9C-9853-4306-B57F-5CC328FFFE0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LRU: en uzun süredir dokunulmayan</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3657600"/>
                <a:gridCol w="3657600"/>
                <a:gridCol w="3657600"/>
              </a:tblGrid>
              <a:tr h="840581">
                <a:tc>
                  <a:txBody>
                    <a:bodyPr/>
                    <a:lstStyle/>
                    <a:p>
                      <a:r>
                        <a:rPr sz="1800" b="1">
                          <a:solidFill>
                            <a:srgbClr val="FFFFFF"/>
                          </a:solidFill>
                          <a:latin typeface="Helvetica Neue"/>
                          <a:ea typeface="Helvetica Neue"/>
                          <a:cs typeface="Helvetica Neue"/>
                        </a:rPr>
                        <a:t>Decision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FIFO</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LRU</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Step6 victim</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Step7 page0</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Fault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Hit</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Total faults</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9</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37A9727-307D-4C91-8528-92C765FCFC9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Yakın zamanda kullanılan pages</a:t>
            </a:r>
          </a:p>
        </p:txBody>
      </p:sp>
      <p:sp>
        <p:nvSpPr>
          <p:cNvPr id="4" name="">
            <a:extLst xmlns:a="http://schemas.openxmlformats.org/drawingml/2006/main">
              <a:ext uri="{FF2B5EF4-FFF2-40B4-BE49-F238E27FC236}">
                <a16:creationId xmlns:a16="http://schemas.microsoft.com/office/drawing/2014/main" id="{E0077601-3145-44A7-8683-AFE28545B4E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Hot loop aynı data’yı tekrar kullanır.</a:t>
            </a:r>
          </a:p>
        </p:txBody>
      </p:sp>
      <p:sp>
        <p:nvSpPr>
          <p:cNvPr id="5" name="">
            <a:extLst xmlns:a="http://schemas.openxmlformats.org/drawingml/2006/main">
              <a:ext uri="{FF2B5EF4-FFF2-40B4-BE49-F238E27FC236}">
                <a16:creationId xmlns:a16="http://schemas.microsoft.com/office/drawing/2014/main" id="{20C692CE-1094-4F0A-B0CF-30F635122BF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8D140C09-23E4-4821-B673-D2B8D8E33B7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28</a:t>
            </a:r>
          </a:p>
        </p:txBody>
      </p:sp>
    </p:spTree>
    <p:extLst>
      <p:ext uri="{BB962C8B-B14F-4D97-AF65-F5344CB8AC3E}">
        <p14:creationId xmlns:p14="http://schemas.microsoft.com/office/powerpoint/2010/main" val="2068213485"/>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90BF29-0631-4F5D-B684-F1B7ECAA70E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OPT: gelecek biliniyor olsaydı</a:t>
            </a:r>
          </a:p>
        </p:txBody>
      </p:sp>
      <p:sp>
        <p:nvSpPr>
          <p:cNvPr id="2" name="">
            <a:extLst xmlns:a="http://schemas.openxmlformats.org/drawingml/2006/main">
              <a:ext uri="{FF2B5EF4-FFF2-40B4-BE49-F238E27FC236}">
                <a16:creationId xmlns:a16="http://schemas.microsoft.com/office/drawing/2014/main" id="{CFB02A94-5AE5-40F1-8755-FB822D6ADBCF}"/>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OPT future trace olmayan live OS’ta aynen uygulanır mı?</a:t>
            </a:r>
          </a:p>
        </p:txBody>
      </p:sp>
      <p:sp>
        <p:nvSpPr>
          <p:cNvPr id="3" name="">
            <a:extLst xmlns:a="http://schemas.openxmlformats.org/drawingml/2006/main">
              <a:ext uri="{FF2B5EF4-FFF2-40B4-BE49-F238E27FC236}">
                <a16:creationId xmlns:a16="http://schemas.microsoft.com/office/drawing/2014/main" id="{A435E1E4-6046-4EF9-9CC2-CE273359F16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4" name="">
            <a:extLst xmlns:a="http://schemas.openxmlformats.org/drawingml/2006/main">
              <a:ext uri="{FF2B5EF4-FFF2-40B4-BE49-F238E27FC236}">
                <a16:creationId xmlns:a16="http://schemas.microsoft.com/office/drawing/2014/main" id="{202FFCDD-92BA-4132-B538-5AEB78B95B4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28</a:t>
            </a:r>
          </a:p>
        </p:txBody>
      </p:sp>
    </p:spTree>
    <p:extLst>
      <p:ext uri="{BB962C8B-B14F-4D97-AF65-F5344CB8AC3E}">
        <p14:creationId xmlns:p14="http://schemas.microsoft.com/office/powerpoint/2010/main" val="369518835"/>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9081A0-14E6-47DD-83F1-AB6D24BDC66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Aynı iz, farklı kararlar</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3657600"/>
                <a:gridCol w="3657600"/>
                <a:gridCol w="3657600"/>
              </a:tblGrid>
              <a:tr h="840581">
                <a:tc>
                  <a:txBody>
                    <a:bodyPr/>
                    <a:lstStyle/>
                    <a:p>
                      <a:r>
                        <a:rPr sz="1800" b="1">
                          <a:solidFill>
                            <a:srgbClr val="FFFFFF"/>
                          </a:solidFill>
                          <a:latin typeface="Helvetica Neue"/>
                          <a:ea typeface="Helvetica Neue"/>
                          <a:cs typeface="Helvetica Neue"/>
                        </a:rPr>
                        <a:t>Policy</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Faults</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Hits</a:t>
                      </a:r>
                    </a:p>
                  </a:txBody>
                  <a:tcPr marL="114300" marR="114300" marT="47625" marB="47625" anchor="ctr">
                    <a:solidFill>
                      <a:srgbClr val="122C42"/>
                    </a:solidFill>
                  </a:tcPr>
                </a:tc>
              </a:tr>
              <a:tr h="840581">
                <a:tc>
                  <a:txBody>
                    <a:bodyPr/>
                    <a:lstStyle/>
                    <a:p>
                      <a:r>
                        <a:rPr sz="1800" b="0">
                          <a:solidFill>
                            <a:srgbClr val="122C42"/>
                          </a:solidFill>
                          <a:latin typeface="Helvetica Neue"/>
                          <a:ea typeface="Helvetica Neue"/>
                          <a:cs typeface="Helvetica Neue"/>
                        </a:rPr>
                        <a:t>FIFO</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10</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r>
              <a:tr h="840581">
                <a:tc>
                  <a:txBody>
                    <a:bodyPr/>
                    <a:lstStyle/>
                    <a:p>
                      <a:r>
                        <a:rPr sz="1800" b="0">
                          <a:solidFill>
                            <a:srgbClr val="122C42"/>
                          </a:solidFill>
                          <a:latin typeface="Helvetica Neue"/>
                          <a:ea typeface="Helvetica Neue"/>
                          <a:cs typeface="Helvetica Neue"/>
                        </a:rPr>
                        <a:t>LRU</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9</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ECF0EC"/>
                    </a:solidFill>
                  </a:tcPr>
                </a:tc>
              </a:tr>
              <a:tr h="840581">
                <a:tc>
                  <a:txBody>
                    <a:bodyPr/>
                    <a:lstStyle/>
                    <a:p>
                      <a:r>
                        <a:rPr sz="1800" b="0">
                          <a:solidFill>
                            <a:srgbClr val="122C42"/>
                          </a:solidFill>
                          <a:latin typeface="Helvetica Neue"/>
                          <a:ea typeface="Helvetica Neue"/>
                          <a:cs typeface="Helvetica Neue"/>
                        </a:rPr>
                        <a:t>OPT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7</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6</a:t>
                      </a:r>
                    </a:p>
                  </a:txBody>
                  <a:tcPr marL="114300" marR="114300" marT="47625" marB="47625"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3F7F0C1-2E57-4362-8DB5-53C1697FE59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Policy benchmark</a:t>
            </a:r>
          </a:p>
        </p:txBody>
      </p:sp>
      <p:sp>
        <p:nvSpPr>
          <p:cNvPr id="4" name="">
            <a:extLst xmlns:a="http://schemas.openxmlformats.org/drawingml/2006/main">
              <a:ext uri="{FF2B5EF4-FFF2-40B4-BE49-F238E27FC236}">
                <a16:creationId xmlns:a16="http://schemas.microsoft.com/office/drawing/2014/main" id="{D9CA12AD-EF8B-42ED-9EB2-EC7226E40E9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Workload ve initial state değişirse kıyas şaşar.</a:t>
            </a:r>
          </a:p>
        </p:txBody>
      </p:sp>
      <p:sp>
        <p:nvSpPr>
          <p:cNvPr id="5" name="">
            <a:extLst xmlns:a="http://schemas.openxmlformats.org/drawingml/2006/main">
              <a:ext uri="{FF2B5EF4-FFF2-40B4-BE49-F238E27FC236}">
                <a16:creationId xmlns:a16="http://schemas.microsoft.com/office/drawing/2014/main" id="{BC7A1CC5-9A1F-4B58-909D-A085F48B161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398A407E-0868-47D4-AE79-7A619BE2F5D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28</a:t>
            </a:r>
          </a:p>
        </p:txBody>
      </p:sp>
    </p:spTree>
    <p:extLst>
      <p:ext uri="{BB962C8B-B14F-4D97-AF65-F5344CB8AC3E}">
        <p14:creationId xmlns:p14="http://schemas.microsoft.com/office/powerpoint/2010/main" val="22993112"/>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A76EAD-E289-49B9-828E-A84D8DBB617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Belady: daha çok frame, daha çok fault</a:t>
            </a:r>
          </a:p>
        </p:txBody>
      </p:sp>
      <p:sp>
        <p:nvSpPr>
          <p:cNvPr id="2" name="">
            <a:extLst xmlns:a="http://schemas.openxmlformats.org/drawingml/2006/main">
              <a:ext uri="{FF2B5EF4-FFF2-40B4-BE49-F238E27FC236}">
                <a16:creationId xmlns:a16="http://schemas.microsoft.com/office/drawing/2014/main" id="{C4948A39-BCB0-423B-A458-B67D3AA9E611}"/>
              </a:ext>
            </a:extLst>
          </p:cNvPr>
          <p:cNvSpPr>
            <a:spLocks xmlns:a="http://schemas.openxmlformats.org/drawingml/2006/main" noGrp="1"/>
          </p:cNvSpPr>
          <p:nvPr/>
        </p:nvSpPr>
        <p:spPr>
          <a:xfrm xmlns:a="http://schemas.openxmlformats.org/drawingml/2006/main">
            <a:off x="742950" y="2095500"/>
            <a:ext cx="10715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FIFO, frames3 →9 faults</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FIFO, frames4 →10 faults</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Same12-reference trace</a:t>
            </a:r>
          </a:p>
        </p:txBody>
      </p:sp>
      <p:sp>
        <p:nvSpPr>
          <p:cNvPr id="3" name="">
            <a:extLst xmlns:a="http://schemas.openxmlformats.org/drawingml/2006/main">
              <a:ext uri="{FF2B5EF4-FFF2-40B4-BE49-F238E27FC236}">
                <a16:creationId xmlns:a16="http://schemas.microsoft.com/office/drawing/2014/main" id="{52076917-B6A7-44B2-AAB9-047D8104D8AB}"/>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Daha fazla frame her policy’de fault azaltır mı?</a:t>
            </a:r>
          </a:p>
        </p:txBody>
      </p:sp>
      <p:sp>
        <p:nvSpPr>
          <p:cNvPr id="4" name="">
            <a:extLst xmlns:a="http://schemas.openxmlformats.org/drawingml/2006/main">
              <a:ext uri="{FF2B5EF4-FFF2-40B4-BE49-F238E27FC236}">
                <a16:creationId xmlns:a16="http://schemas.microsoft.com/office/drawing/2014/main" id="{8E2614F0-771A-4459-AA63-C52907F449B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3A03E472-047D-48CC-A7C8-65BF010CAC2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28</a:t>
            </a:r>
          </a:p>
        </p:txBody>
      </p:sp>
    </p:spTree>
    <p:extLst>
      <p:ext uri="{BB962C8B-B14F-4D97-AF65-F5344CB8AC3E}">
        <p14:creationId xmlns:p14="http://schemas.microsoft.com/office/powerpoint/2010/main" val="1105384876"/>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DD7F3E-1E46-400E-B148-0E08B349F04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Stack property: kapasite karşılaştırmasının koşulu</a:t>
            </a:r>
          </a:p>
        </p:txBody>
      </p:sp>
      <p:sp>
        <p:nvSpPr>
          <p:cNvPr id="2" name="">
            <a:extLst xmlns:a="http://schemas.openxmlformats.org/drawingml/2006/main">
              <a:ext uri="{FF2B5EF4-FFF2-40B4-BE49-F238E27FC236}">
                <a16:creationId xmlns:a16="http://schemas.microsoft.com/office/drawing/2014/main" id="{F94B5513-DEDF-426B-AC80-A9C8D91A9FB1}"/>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Clock, LRU’ya yakın: aynı stack guarantee otomatik mi?</a:t>
            </a:r>
          </a:p>
        </p:txBody>
      </p:sp>
      <p:sp>
        <p:nvSpPr>
          <p:cNvPr id="3" name="">
            <a:extLst xmlns:a="http://schemas.openxmlformats.org/drawingml/2006/main">
              <a:ext uri="{FF2B5EF4-FFF2-40B4-BE49-F238E27FC236}">
                <a16:creationId xmlns:a16="http://schemas.microsoft.com/office/drawing/2014/main" id="{D7C38D7D-E502-418B-83E1-158DB514F9E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4" name="">
            <a:extLst xmlns:a="http://schemas.openxmlformats.org/drawingml/2006/main">
              <a:ext uri="{FF2B5EF4-FFF2-40B4-BE49-F238E27FC236}">
                <a16:creationId xmlns:a16="http://schemas.microsoft.com/office/drawing/2014/main" id="{ED4336A8-4405-47AF-BD71-9A789FD97A2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28</a:t>
            </a:r>
          </a:p>
        </p:txBody>
      </p:sp>
    </p:spTree>
    <p:extLst>
      <p:ext uri="{BB962C8B-B14F-4D97-AF65-F5344CB8AC3E}">
        <p14:creationId xmlns:p14="http://schemas.microsoft.com/office/powerpoint/2010/main" val="1178631949"/>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85C80F-8110-4D82-864A-AAD5E3735D2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Dirty victim: veri nerede korunacak?</a:t>
            </a:r>
          </a:p>
        </p:txBody>
      </p:sp>
      <p:sp>
        <p:nvSpPr>
          <p:cNvPr id="2" name="">
            <a:extLst xmlns:a="http://schemas.openxmlformats.org/drawingml/2006/main">
              <a:ext uri="{FF2B5EF4-FFF2-40B4-BE49-F238E27FC236}">
                <a16:creationId xmlns:a16="http://schemas.microsoft.com/office/drawing/2014/main" id="{E9EDA89E-92AD-4BC3-82FE-9BBDB2A3EE7B}"/>
              </a:ext>
            </a:extLst>
          </p:cNvPr>
          <p:cNvSpPr>
            <a:spLocks xmlns:a="http://schemas.openxmlformats.org/drawingml/2006/main" noGrp="1"/>
          </p:cNvSpPr>
          <p:nvPr/>
        </p:nvSpPr>
        <p:spPr>
          <a:xfrm xmlns:a="http://schemas.openxmlformats.org/drawingml/2006/main">
            <a:off x="742950" y="2095500"/>
            <a:ext cx="10715625"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1W →[1*,—]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2R →[1*,2]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1R →[1*,2]hit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3R →[3,2],victim1*,writeback1</a:t>
            </a:r>
          </a:p>
        </p:txBody>
      </p:sp>
      <p:sp>
        <p:nvSpPr>
          <p:cNvPr id="3" name="">
            <a:extLst xmlns:a="http://schemas.openxmlformats.org/drawingml/2006/main">
              <a:ext uri="{FF2B5EF4-FFF2-40B4-BE49-F238E27FC236}">
                <a16:creationId xmlns:a16="http://schemas.microsoft.com/office/drawing/2014/main" id="{27A32B02-EB8B-4A01-AD1F-1DD28DF2443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Mapped dosya değişikliği</a:t>
            </a:r>
          </a:p>
        </p:txBody>
      </p:sp>
      <p:sp>
        <p:nvSpPr>
          <p:cNvPr id="4" name="">
            <a:extLst xmlns:a="http://schemas.openxmlformats.org/drawingml/2006/main">
              <a:ext uri="{FF2B5EF4-FFF2-40B4-BE49-F238E27FC236}">
                <a16:creationId xmlns:a16="http://schemas.microsoft.com/office/drawing/2014/main" id="{4A095176-83F3-4B09-A95F-BC0B1EDF8F23}"/>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Resident contents backing source’dan farklılaşır.</a:t>
            </a:r>
          </a:p>
        </p:txBody>
      </p:sp>
      <p:sp>
        <p:nvSpPr>
          <p:cNvPr id="5" name="">
            <a:extLst xmlns:a="http://schemas.openxmlformats.org/drawingml/2006/main">
              <a:ext uri="{FF2B5EF4-FFF2-40B4-BE49-F238E27FC236}">
                <a16:creationId xmlns:a16="http://schemas.microsoft.com/office/drawing/2014/main" id="{DD88F050-2659-4573-B100-F6AC32755A5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6C54DFE5-1FB7-4127-8D36-13C2DE79D74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28</a:t>
            </a:r>
          </a:p>
        </p:txBody>
      </p:sp>
    </p:spTree>
    <p:extLst>
      <p:ext uri="{BB962C8B-B14F-4D97-AF65-F5344CB8AC3E}">
        <p14:creationId xmlns:p14="http://schemas.microsoft.com/office/powerpoint/2010/main" val="1077191310"/>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B82121-F214-4889-8768-475C0A34899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Clock: ucuz yaşlanma sezgisi</a:t>
            </a:r>
          </a:p>
        </p:txBody>
      </p:sp>
      <p:sp>
        <p:nvSpPr>
          <p:cNvPr id="2" name="">
            <a:extLst xmlns:a="http://schemas.openxmlformats.org/drawingml/2006/main">
              <a:ext uri="{FF2B5EF4-FFF2-40B4-BE49-F238E27FC236}">
                <a16:creationId xmlns:a16="http://schemas.microsoft.com/office/drawing/2014/main" id="{A778F797-622F-425B-9157-D6015FCC042F}"/>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E641BB9-039A-4B02-912A-7B5CACB68AA5}"/>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Reference bit recency ipucu</a:t>
            </a:r>
          </a:p>
        </p:txBody>
      </p:sp>
      <p:sp>
        <p:nvSpPr>
          <p:cNvPr id="4" name="">
            <a:extLst xmlns:a="http://schemas.openxmlformats.org/drawingml/2006/main">
              <a:ext uri="{FF2B5EF4-FFF2-40B4-BE49-F238E27FC236}">
                <a16:creationId xmlns:a16="http://schemas.microsoft.com/office/drawing/2014/main" id="{45B7CA07-084C-4123-A8BB-D6E549190B6F}"/>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00D9732-E08D-4EFB-8E9A-DF8EAC07D194}"/>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Hand ikinci şans verir</a:t>
            </a:r>
          </a:p>
        </p:txBody>
      </p:sp>
      <p:sp>
        <p:nvSpPr>
          <p:cNvPr id="6" name="">
            <a:extLst xmlns:a="http://schemas.openxmlformats.org/drawingml/2006/main">
              <a:ext uri="{FF2B5EF4-FFF2-40B4-BE49-F238E27FC236}">
                <a16:creationId xmlns:a16="http://schemas.microsoft.com/office/drawing/2014/main" id="{74526339-87EB-4FBB-AA72-7A54DA069434}"/>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8BE1652-B3CF-4527-834D-7FED4DD33FFC}"/>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Exact LRU veya OPT değil</a:t>
            </a:r>
          </a:p>
        </p:txBody>
      </p:sp>
      <p:sp>
        <p:nvSpPr>
          <p:cNvPr id="8" name="">
            <a:extLst xmlns:a="http://schemas.openxmlformats.org/drawingml/2006/main">
              <a:ext uri="{FF2B5EF4-FFF2-40B4-BE49-F238E27FC236}">
                <a16:creationId xmlns:a16="http://schemas.microsoft.com/office/drawing/2014/main" id="{E6E91DBA-C566-4B3A-ADD9-40219E509D79}"/>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Büyük memory yönetimi</a:t>
            </a:r>
          </a:p>
        </p:txBody>
      </p:sp>
      <p:sp>
        <p:nvSpPr>
          <p:cNvPr id="9" name="">
            <a:extLst xmlns:a="http://schemas.openxmlformats.org/drawingml/2006/main">
              <a:ext uri="{FF2B5EF4-FFF2-40B4-BE49-F238E27FC236}">
                <a16:creationId xmlns:a16="http://schemas.microsoft.com/office/drawing/2014/main" id="{7C6E3A5E-5CAB-4D3D-ADED-83A5E9CDE225}"/>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Her erişimde tam ordered list update pahalı olabilir.</a:t>
            </a:r>
          </a:p>
        </p:txBody>
      </p:sp>
      <p:sp>
        <p:nvSpPr>
          <p:cNvPr id="10" name="">
            <a:extLst xmlns:a="http://schemas.openxmlformats.org/drawingml/2006/main">
              <a:ext uri="{FF2B5EF4-FFF2-40B4-BE49-F238E27FC236}">
                <a16:creationId xmlns:a16="http://schemas.microsoft.com/office/drawing/2014/main" id="{58887C12-1860-4FF6-A519-843A47EC83E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11" name="">
            <a:extLst xmlns:a="http://schemas.openxmlformats.org/drawingml/2006/main">
              <a:ext uri="{FF2B5EF4-FFF2-40B4-BE49-F238E27FC236}">
                <a16:creationId xmlns:a16="http://schemas.microsoft.com/office/drawing/2014/main" id="{623453CB-DDEA-4D0E-A7C1-A9BEC6AE517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28</a:t>
            </a:r>
          </a:p>
        </p:txBody>
      </p:sp>
    </p:spTree>
    <p:extLst>
      <p:ext uri="{BB962C8B-B14F-4D97-AF65-F5344CB8AC3E}">
        <p14:creationId xmlns:p14="http://schemas.microsoft.com/office/powerpoint/2010/main" val="14235917"/>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36E44B-5771-4E89-B69E-237E1BF2DE3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Locality: programın dokunma biçimi</a:t>
            </a:r>
          </a:p>
        </p:txBody>
      </p:sp>
      <p:sp>
        <p:nvSpPr>
          <p:cNvPr id="2" name="">
            <a:extLst xmlns:a="http://schemas.openxmlformats.org/drawingml/2006/main">
              <a:ext uri="{FF2B5EF4-FFF2-40B4-BE49-F238E27FC236}">
                <a16:creationId xmlns:a16="http://schemas.microsoft.com/office/drawing/2014/main" id="{6543A887-FBB7-494C-B424-13E6AC2E4342}"/>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Aynı altı erişim aynı fault cost mu?</a:t>
            </a:r>
          </a:p>
        </p:txBody>
      </p:sp>
      <p:sp>
        <p:nvSpPr>
          <p:cNvPr id="3" name="">
            <a:extLst xmlns:a="http://schemas.openxmlformats.org/drawingml/2006/main">
              <a:ext uri="{FF2B5EF4-FFF2-40B4-BE49-F238E27FC236}">
                <a16:creationId xmlns:a16="http://schemas.microsoft.com/office/drawing/2014/main" id="{C533892C-9FB7-411F-A43D-F98691CAE476}"/>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Row-major tarama</a:t>
            </a:r>
          </a:p>
        </p:txBody>
      </p:sp>
      <p:sp>
        <p:nvSpPr>
          <p:cNvPr id="4" name="">
            <a:extLst xmlns:a="http://schemas.openxmlformats.org/drawingml/2006/main">
              <a:ext uri="{FF2B5EF4-FFF2-40B4-BE49-F238E27FC236}">
                <a16:creationId xmlns:a16="http://schemas.microsoft.com/office/drawing/2014/main" id="{BC3D944F-D342-4E74-9903-5498ED14D31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Data layout’a uygun loop yakın reuse üretebilir.</a:t>
            </a:r>
          </a:p>
        </p:txBody>
      </p:sp>
      <p:sp>
        <p:nvSpPr>
          <p:cNvPr id="5" name="">
            <a:extLst xmlns:a="http://schemas.openxmlformats.org/drawingml/2006/main">
              <a:ext uri="{FF2B5EF4-FFF2-40B4-BE49-F238E27FC236}">
                <a16:creationId xmlns:a16="http://schemas.microsoft.com/office/drawing/2014/main" id="{F6CD62FF-5A3C-4838-8E67-FF4D2912F3E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812349B6-6929-4EF4-8B5A-A9CD0367ACB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28</a:t>
            </a:r>
          </a:p>
        </p:txBody>
      </p:sp>
    </p:spTree>
    <p:extLst>
      <p:ext uri="{BB962C8B-B14F-4D97-AF65-F5344CB8AC3E}">
        <p14:creationId xmlns:p14="http://schemas.microsoft.com/office/powerpoint/2010/main" val="482299320"/>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6043F0-2092-42C7-ADC4-73520656316D}"/>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Working set: son Δ reference içindeki sayfalar</a:t>
            </a:r>
          </a:p>
        </p:txBody>
      </p:sp>
      <p:graphicFrame>
        <p:nvGraphicFramePr>
          <p:cNvPr id="8" name=""/>
          <p:cNvGraphicFramePr/>
          <p:nvPr/>
        </p:nvGraphicFramePr>
        <p:xfrm>
          <a:off xmlns:a="http://schemas.openxmlformats.org/drawingml/2006/main" x="609600" y="1857375"/>
          <a:ext xmlns:a="http://schemas.openxmlformats.org/drawingml/2006/main" cx="10972800" cy="3362325"/>
        </p:xfrm>
        <a:graphic xmlns:a="http://schemas.openxmlformats.org/drawingml/2006/main">
          <a:graphicData uri="http://schemas.openxmlformats.org/drawingml/2006/table">
            <a:tbl>
              <a:tblPr/>
              <a:tblGrid>
                <a:gridCol w="3657600"/>
                <a:gridCol w="3657600"/>
                <a:gridCol w="3657600"/>
              </a:tblGrid>
              <a:tr h="1120775">
                <a:tc>
                  <a:txBody>
                    <a:bodyPr/>
                    <a:lstStyle/>
                    <a:p>
                      <a:r>
                        <a:rPr sz="1800" b="1">
                          <a:solidFill>
                            <a:srgbClr val="FFFFFF"/>
                          </a:solidFill>
                          <a:latin typeface="Helvetica Neue"/>
                          <a:ea typeface="Helvetica Neue"/>
                          <a:cs typeface="Helvetica Neue"/>
                        </a:rPr>
                        <a:t>Step</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Last4 references</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W size</a:t>
                      </a:r>
                    </a:p>
                  </a:txBody>
                  <a:tcPr marL="114300" marR="114300" marT="47625" marB="47625" anchor="ctr">
                    <a:solidFill>
                      <a:srgbClr val="122C42"/>
                    </a:solidFill>
                  </a:tcPr>
                </a:tc>
              </a:tr>
              <a:tr h="1120775">
                <a:tc>
                  <a:txBody>
                    <a:bodyPr/>
                    <a:lstStyle/>
                    <a:p>
                      <a:r>
                        <a:rPr sz="1800" b="0">
                          <a:solidFill>
                            <a:srgbClr val="122C42"/>
                          </a:solidFill>
                          <a:latin typeface="Helvetica Neue"/>
                          <a:ea typeface="Helvetica Neue"/>
                          <a:cs typeface="Helvetica Neue"/>
                        </a:rPr>
                        <a:t>8</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0,3,0,4</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3</a:t>
                      </a:r>
                    </a:p>
                  </a:txBody>
                  <a:tcPr marL="114300" marR="114300" marT="47625" marB="47625" anchor="ctr">
                    <a:solidFill>
                      <a:srgbClr val="FFFFFF"/>
                    </a:solidFill>
                  </a:tcPr>
                </a:tc>
              </a:tr>
              <a:tr h="1120775">
                <a:tc>
                  <a:txBody>
                    <a:bodyPr/>
                    <a:lstStyle/>
                    <a:p>
                      <a:r>
                        <a:rPr sz="1800" b="0">
                          <a:solidFill>
                            <a:srgbClr val="122C42"/>
                          </a:solidFill>
                          <a:latin typeface="Helvetica Neue"/>
                          <a:ea typeface="Helvetica Neue"/>
                          <a:cs typeface="Helvetica Neue"/>
                        </a:rPr>
                        <a:t>9</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3,0,4,2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4</a:t>
                      </a:r>
                    </a:p>
                  </a:txBody>
                  <a:tcPr marL="114300" marR="114300" marT="47625" marB="47625" anchor="ctr">
                    <a:solidFill>
                      <a:srgbClr val="ECF0EC"/>
                    </a:solidFill>
                  </a:tcPr>
                </a:tc>
              </a:tr>
            </a:tbl>
          </a:graphicData>
        </a:graphic>
      </p:graphicFrame>
      <p:sp>
        <p:nvSpPr>
          <p:cNvPr id="3" name="">
            <a:extLst xmlns:a="http://schemas.openxmlformats.org/drawingml/2006/main">
              <a:ext uri="{FF2B5EF4-FFF2-40B4-BE49-F238E27FC236}">
                <a16:creationId xmlns:a16="http://schemas.microsoft.com/office/drawing/2014/main" id="{002EF68E-8FBC-4D4E-AD51-527C77BB529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Uygulama phase’i</a:t>
            </a:r>
          </a:p>
        </p:txBody>
      </p:sp>
      <p:sp>
        <p:nvSpPr>
          <p:cNvPr id="4" name="">
            <a:extLst xmlns:a="http://schemas.openxmlformats.org/drawingml/2006/main">
              <a:ext uri="{FF2B5EF4-FFF2-40B4-BE49-F238E27FC236}">
                <a16:creationId xmlns:a16="http://schemas.microsoft.com/office/drawing/2014/main" id="{9852DD16-C437-41B4-B7D4-7736ADFD96D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Parsing ve compute farklı pages’e dokunur.</a:t>
            </a:r>
          </a:p>
        </p:txBody>
      </p:sp>
      <p:sp>
        <p:nvSpPr>
          <p:cNvPr id="5" name="">
            <a:extLst xmlns:a="http://schemas.openxmlformats.org/drawingml/2006/main">
              <a:ext uri="{FF2B5EF4-FFF2-40B4-BE49-F238E27FC236}">
                <a16:creationId xmlns:a16="http://schemas.microsoft.com/office/drawing/2014/main" id="{53D3B0DB-D0B8-4720-A2FA-ADD9AA75F12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F929864C-2990-4235-82D5-ED6912A02B4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28</a:t>
            </a:r>
          </a:p>
        </p:txBody>
      </p:sp>
    </p:spTree>
    <p:extLst>
      <p:ext uri="{BB962C8B-B14F-4D97-AF65-F5344CB8AC3E}">
        <p14:creationId xmlns:p14="http://schemas.microsoft.com/office/powerpoint/2010/main" val="1315316387"/>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153BF7-33E6-44FD-B17E-EC822EB56F3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Thrashing: yararlı iş yerine tekrar getirme</a:t>
            </a:r>
          </a:p>
        </p:txBody>
      </p:sp>
      <p:sp>
        <p:nvSpPr>
          <p:cNvPr id="2" name="">
            <a:extLst xmlns:a="http://schemas.openxmlformats.org/drawingml/2006/main">
              <a:ext uri="{FF2B5EF4-FFF2-40B4-BE49-F238E27FC236}">
                <a16:creationId xmlns:a16="http://schemas.microsoft.com/office/drawing/2014/main" id="{C16F78E6-5637-4FFA-933B-ADFE6C6AB5F2}"/>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CPU utilization düştü: daha çok job hep çözüm mü?</a:t>
            </a:r>
          </a:p>
        </p:txBody>
      </p:sp>
      <p:sp>
        <p:nvSpPr>
          <p:cNvPr id="3" name="">
            <a:extLst xmlns:a="http://schemas.openxmlformats.org/drawingml/2006/main">
              <a:ext uri="{FF2B5EF4-FFF2-40B4-BE49-F238E27FC236}">
                <a16:creationId xmlns:a16="http://schemas.microsoft.com/office/drawing/2014/main" id="{28D667D7-53EE-4588-A811-F0386FBEC44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Aynı anda çok notebook</a:t>
            </a:r>
          </a:p>
        </p:txBody>
      </p:sp>
      <p:sp>
        <p:nvSpPr>
          <p:cNvPr id="4" name="">
            <a:extLst xmlns:a="http://schemas.openxmlformats.org/drawingml/2006/main">
              <a:ext uri="{FF2B5EF4-FFF2-40B4-BE49-F238E27FC236}">
                <a16:creationId xmlns:a16="http://schemas.microsoft.com/office/drawing/2014/main" id="{06975561-6322-4A6C-9B30-961CB01F9601}"/>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Her job aktif pages’ini yeniden getiriyor olabilir.</a:t>
            </a:r>
          </a:p>
        </p:txBody>
      </p:sp>
      <p:sp>
        <p:nvSpPr>
          <p:cNvPr id="5" name="">
            <a:extLst xmlns:a="http://schemas.openxmlformats.org/drawingml/2006/main">
              <a:ext uri="{FF2B5EF4-FFF2-40B4-BE49-F238E27FC236}">
                <a16:creationId xmlns:a16="http://schemas.microsoft.com/office/drawing/2014/main" id="{9F58ACC8-0791-42A0-9164-C1D6246374B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6" name="">
            <a:extLst xmlns:a="http://schemas.openxmlformats.org/drawingml/2006/main">
              <a:ext uri="{FF2B5EF4-FFF2-40B4-BE49-F238E27FC236}">
                <a16:creationId xmlns:a16="http://schemas.microsoft.com/office/drawing/2014/main" id="{42AF302C-4003-476E-9F8C-918E31EC47D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28</a:t>
            </a:r>
          </a:p>
        </p:txBody>
      </p:sp>
    </p:spTree>
    <p:extLst>
      <p:ext uri="{BB962C8B-B14F-4D97-AF65-F5344CB8AC3E}">
        <p14:creationId xmlns:p14="http://schemas.microsoft.com/office/powerpoint/2010/main" val="239129785"/>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A585DF-D6CA-4B7B-8FF5-5F3B7CCBF5B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Frame budget: local ile global farklı</a:t>
            </a:r>
          </a:p>
        </p:txBody>
      </p:sp>
      <p:sp>
        <p:nvSpPr>
          <p:cNvPr id="2" name="">
            <a:extLst xmlns:a="http://schemas.openxmlformats.org/drawingml/2006/main">
              <a:ext uri="{FF2B5EF4-FFF2-40B4-BE49-F238E27FC236}">
                <a16:creationId xmlns:a16="http://schemas.microsoft.com/office/drawing/2014/main" id="{EA3867A8-9DA0-4FBE-937C-ED7B65D67D79}"/>
              </a:ext>
            </a:extLst>
          </p:cNvPr>
          <p:cNvSpPr>
            <a:spLocks xmlns:a="http://schemas.openxmlformats.org/drawingml/2006/main" noGrp="1"/>
          </p:cNvSpPr>
          <p:nvPr/>
        </p:nvSpPr>
        <p:spPr>
          <a:xfrm xmlns:a="http://schemas.openxmlformats.org/drawingml/2006/main">
            <a:off x="6096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Local</a:t>
            </a:r>
          </a:p>
        </p:txBody>
      </p:sp>
      <p:sp>
        <p:nvSpPr>
          <p:cNvPr id="3" name="">
            <a:extLst xmlns:a="http://schemas.openxmlformats.org/drawingml/2006/main">
              <a:ext uri="{FF2B5EF4-FFF2-40B4-BE49-F238E27FC236}">
                <a16:creationId xmlns:a16="http://schemas.microsoft.com/office/drawing/2014/main" id="{F32D6093-D929-4254-887F-DC19683A2C20}"/>
              </a:ext>
            </a:extLst>
          </p:cNvPr>
          <p:cNvSpPr>
            <a:spLocks xmlns:a="http://schemas.openxmlformats.org/drawingml/2006/main" noGrp="1"/>
          </p:cNvSpPr>
          <p:nvPr/>
        </p:nvSpPr>
        <p:spPr>
          <a:xfrm xmlns:a="http://schemas.openxmlformats.org/drawingml/2006/main">
            <a:off x="6096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Daha öngörülebilir budget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Boş kapasiteye yanıt sınırlı</a:t>
            </a:r>
          </a:p>
        </p:txBody>
      </p:sp>
      <p:sp>
        <p:nvSpPr>
          <p:cNvPr id="4" name="">
            <a:extLst xmlns:a="http://schemas.openxmlformats.org/drawingml/2006/main">
              <a:ext uri="{FF2B5EF4-FFF2-40B4-BE49-F238E27FC236}">
                <a16:creationId xmlns:a16="http://schemas.microsoft.com/office/drawing/2014/main" id="{5ECBCB67-B5C2-470C-BEF2-26658B4F199D}"/>
              </a:ext>
            </a:extLst>
          </p:cNvPr>
          <p:cNvSpPr>
            <a:spLocks xmlns:a="http://schemas.openxmlformats.org/drawingml/2006/main" noGrp="1"/>
          </p:cNvSpPr>
          <p:nvPr/>
        </p:nvSpPr>
        <p:spPr>
          <a:xfrm xmlns:a="http://schemas.openxmlformats.org/drawingml/2006/main">
            <a:off x="6286500" y="1952625"/>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E83"/>
                </a:solidFill>
                <a:latin typeface="Helvetica Neue"/>
                <a:ea typeface="Helvetica Neue"/>
                <a:cs typeface="Helvetica Neue"/>
              </a:defRPr>
            </a:pPr>
            <a:r>
              <a:rPr sz="2250" b="1">
                <a:solidFill>
                  <a:srgbClr val="087E83"/>
                </a:solidFill>
                <a:latin typeface="Helvetica Neue"/>
                <a:ea typeface="Helvetica Neue"/>
                <a:cs typeface="Helvetica Neue"/>
              </a:rPr>
              <a:t>Global</a:t>
            </a:r>
          </a:p>
        </p:txBody>
      </p:sp>
      <p:sp>
        <p:nvSpPr>
          <p:cNvPr id="5" name="">
            <a:extLst xmlns:a="http://schemas.openxmlformats.org/drawingml/2006/main">
              <a:ext uri="{FF2B5EF4-FFF2-40B4-BE49-F238E27FC236}">
                <a16:creationId xmlns:a16="http://schemas.microsoft.com/office/drawing/2014/main" id="{A93D6143-287B-49DC-848E-02EF01BD41B3}"/>
              </a:ext>
            </a:extLst>
          </p:cNvPr>
          <p:cNvSpPr>
            <a:spLocks xmlns:a="http://schemas.openxmlformats.org/drawingml/2006/main" noGrp="1"/>
          </p:cNvSpPr>
          <p:nvPr/>
        </p:nvSpPr>
        <p:spPr>
          <a:xfrm xmlns:a="http://schemas.openxmlformats.org/drawingml/2006/main">
            <a:off x="6286500" y="2714625"/>
            <a:ext cx="52959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Esnek paylaşım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Jobs arasında interference</a:t>
            </a:r>
          </a:p>
        </p:txBody>
      </p:sp>
      <p:sp>
        <p:nvSpPr>
          <p:cNvPr id="6" name="">
            <a:extLst xmlns:a="http://schemas.openxmlformats.org/drawingml/2006/main">
              <a:ext uri="{FF2B5EF4-FFF2-40B4-BE49-F238E27FC236}">
                <a16:creationId xmlns:a16="http://schemas.microsoft.com/office/drawing/2014/main" id="{58A67EA5-66C8-4CB6-B384-EB44729929D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Memory pressure komşuları</a:t>
            </a:r>
          </a:p>
        </p:txBody>
      </p:sp>
      <p:sp>
        <p:nvSpPr>
          <p:cNvPr id="7" name="">
            <a:extLst xmlns:a="http://schemas.openxmlformats.org/drawingml/2006/main">
              <a:ext uri="{FF2B5EF4-FFF2-40B4-BE49-F238E27FC236}">
                <a16:creationId xmlns:a16="http://schemas.microsoft.com/office/drawing/2014/main" id="{2E76F1D8-5226-4B0D-8011-C48E9A829A2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Büyük batch interactive job’ın pages’ini etkiler.</a:t>
            </a:r>
          </a:p>
        </p:txBody>
      </p:sp>
      <p:sp>
        <p:nvSpPr>
          <p:cNvPr id="8" name="">
            <a:extLst xmlns:a="http://schemas.openxmlformats.org/drawingml/2006/main">
              <a:ext uri="{FF2B5EF4-FFF2-40B4-BE49-F238E27FC236}">
                <a16:creationId xmlns:a16="http://schemas.microsoft.com/office/drawing/2014/main" id="{0013BE09-038B-46E0-9684-E9ED7EF3AE4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9" name="">
            <a:extLst xmlns:a="http://schemas.openxmlformats.org/drawingml/2006/main">
              <a:ext uri="{FF2B5EF4-FFF2-40B4-BE49-F238E27FC236}">
                <a16:creationId xmlns:a16="http://schemas.microsoft.com/office/drawing/2014/main" id="{488B4443-1BFA-4D21-BBA3-836F8A370C6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28</a:t>
            </a:r>
          </a:p>
        </p:txBody>
      </p:sp>
    </p:spTree>
    <p:extLst>
      <p:ext uri="{BB962C8B-B14F-4D97-AF65-F5344CB8AC3E}">
        <p14:creationId xmlns:p14="http://schemas.microsoft.com/office/powerpoint/2010/main" val="1273300246"/>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5A919A-C08A-4D08-B612-3EFFE84F2F92}"/>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Prefetch ve writeback: fault sayısından ötesi</a:t>
            </a:r>
          </a:p>
        </p:txBody>
      </p:sp>
      <p:sp>
        <p:nvSpPr>
          <p:cNvPr id="2" name="">
            <a:extLst xmlns:a="http://schemas.openxmlformats.org/drawingml/2006/main">
              <a:ext uri="{FF2B5EF4-FFF2-40B4-BE49-F238E27FC236}">
                <a16:creationId xmlns:a16="http://schemas.microsoft.com/office/drawing/2014/main" id="{05E22F9D-802A-4E7B-B14E-0A60D3496A7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Streaming video</a:t>
            </a:r>
          </a:p>
        </p:txBody>
      </p:sp>
      <p:sp>
        <p:nvSpPr>
          <p:cNvPr id="3" name="">
            <a:extLst xmlns:a="http://schemas.openxmlformats.org/drawingml/2006/main">
              <a:ext uri="{FF2B5EF4-FFF2-40B4-BE49-F238E27FC236}">
                <a16:creationId xmlns:a16="http://schemas.microsoft.com/office/drawing/2014/main" id="{A9744458-6558-4B7A-9631-898961EC8FAA}"/>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Predictable reads gelecekteki data’yı getirme fırsatı verir.</a:t>
            </a:r>
          </a:p>
        </p:txBody>
      </p:sp>
      <p:sp>
        <p:nvSpPr>
          <p:cNvPr id="4" name="">
            <a:extLst xmlns:a="http://schemas.openxmlformats.org/drawingml/2006/main">
              <a:ext uri="{FF2B5EF4-FFF2-40B4-BE49-F238E27FC236}">
                <a16:creationId xmlns:a16="http://schemas.microsoft.com/office/drawing/2014/main" id="{5BFCF2E7-345C-4CB4-9EAE-FA3C3D2648F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5" name="">
            <a:extLst xmlns:a="http://schemas.openxmlformats.org/drawingml/2006/main">
              <a:ext uri="{FF2B5EF4-FFF2-40B4-BE49-F238E27FC236}">
                <a16:creationId xmlns:a16="http://schemas.microsoft.com/office/drawing/2014/main" id="{6E6839ED-29F2-44E0-B66C-843AB03A985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28</a:t>
            </a:r>
          </a:p>
        </p:txBody>
      </p:sp>
    </p:spTree>
    <p:extLst>
      <p:ext uri="{BB962C8B-B14F-4D97-AF65-F5344CB8AC3E}">
        <p14:creationId xmlns:p14="http://schemas.microsoft.com/office/powerpoint/2010/main" val="360245665"/>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BD8BC9-BAC1-4F61-9D8D-ED52FD2BFA7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Offline lab: fault, victim, dirty, window</a:t>
            </a:r>
          </a:p>
        </p:txBody>
      </p:sp>
      <p:sp>
        <p:nvSpPr>
          <p:cNvPr id="2" name="">
            <a:extLst xmlns:a="http://schemas.openxmlformats.org/drawingml/2006/main">
              <a:ext uri="{FF2B5EF4-FFF2-40B4-BE49-F238E27FC236}">
                <a16:creationId xmlns:a16="http://schemas.microsoft.com/office/drawing/2014/main" id="{51DFDBFE-79AF-473E-AC14-74A81DF36932}"/>
              </a:ext>
            </a:extLst>
          </p:cNvPr>
          <p:cNvSpPr>
            <a:spLocks xmlns:a="http://schemas.openxmlformats.org/drawingml/2006/main" noGrp="1"/>
          </p:cNvSpPr>
          <p:nvPr/>
        </p:nvSpPr>
        <p:spPr>
          <a:xfrm xmlns:a="http://schemas.openxmlformats.org/drawingml/2006/main">
            <a:off x="742950" y="2095500"/>
            <a:ext cx="10715625" cy="3648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lab/replacement.py --policy fifo</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lab/replacement.py --policy lru</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lab/replacement.py --policy opt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lab/replacement.py --belady --frames 4</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lab/replacement.py --dirty --frames 2</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lab/test_replacement.py</a:t>
            </a:r>
          </a:p>
        </p:txBody>
      </p:sp>
      <p:sp>
        <p:nvSpPr>
          <p:cNvPr id="3" name="">
            <a:extLst xmlns:a="http://schemas.openxmlformats.org/drawingml/2006/main">
              <a:ext uri="{FF2B5EF4-FFF2-40B4-BE49-F238E27FC236}">
                <a16:creationId xmlns:a16="http://schemas.microsoft.com/office/drawing/2014/main" id="{0F3864E8-5134-4AA6-813C-42DB02D5FF7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4" name="">
            <a:extLst xmlns:a="http://schemas.openxmlformats.org/drawingml/2006/main">
              <a:ext uri="{FF2B5EF4-FFF2-40B4-BE49-F238E27FC236}">
                <a16:creationId xmlns:a16="http://schemas.microsoft.com/office/drawing/2014/main" id="{6FEF28FC-AF69-476E-AC69-D990D5629F0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28</a:t>
            </a:r>
          </a:p>
        </p:txBody>
      </p:sp>
    </p:spTree>
    <p:extLst>
      <p:ext uri="{BB962C8B-B14F-4D97-AF65-F5344CB8AC3E}">
        <p14:creationId xmlns:p14="http://schemas.microsoft.com/office/powerpoint/2010/main" val="1621952635"/>
      </p:ext>
    </p:extLst>
  </p:cSld>
</p:sld>
</file>

<file path=ppt/slides/slide2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E34781-4C07-4AF4-94E6-045A3F75A5C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eksik olan varsayım ne?</a:t>
            </a:r>
          </a:p>
        </p:txBody>
      </p:sp>
      <p:sp>
        <p:nvSpPr>
          <p:cNvPr id="2" name="">
            <a:extLst xmlns:a="http://schemas.openxmlformats.org/drawingml/2006/main">
              <a:ext uri="{FF2B5EF4-FFF2-40B4-BE49-F238E27FC236}">
                <a16:creationId xmlns:a16="http://schemas.microsoft.com/office/drawing/2014/main" id="{302AB0F0-1299-42A4-AC87-731BA169986E}"/>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ABA15A5-3A22-4033-9817-24694A3B5811}"/>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 page fault disk I/O mu; COW shared memory mi?</a:t>
            </a:r>
          </a:p>
        </p:txBody>
      </p:sp>
      <p:sp>
        <p:nvSpPr>
          <p:cNvPr id="4" name="">
            <a:extLst xmlns:a="http://schemas.openxmlformats.org/drawingml/2006/main">
              <a:ext uri="{FF2B5EF4-FFF2-40B4-BE49-F238E27FC236}">
                <a16:creationId xmlns:a16="http://schemas.microsoft.com/office/drawing/2014/main" id="{F91A4836-C083-469D-B44B-45734CFA06D4}"/>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4E3EE06-7C84-4980-BC0E-A5B77121C405}"/>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FIFO10/LRU9/OPT7: hangi initial state?</a:t>
            </a:r>
          </a:p>
        </p:txBody>
      </p:sp>
      <p:sp>
        <p:nvSpPr>
          <p:cNvPr id="6" name="">
            <a:extLst xmlns:a="http://schemas.openxmlformats.org/drawingml/2006/main">
              <a:ext uri="{FF2B5EF4-FFF2-40B4-BE49-F238E27FC236}">
                <a16:creationId xmlns:a16="http://schemas.microsoft.com/office/drawing/2014/main" id="{8C38152B-026A-46B9-BF52-F728824B459E}"/>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1628E09-51E9-45A5-96D6-DD94A14AF17A}"/>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Daha fazla frame her policy’de faults azaltır mı?</a:t>
            </a:r>
          </a:p>
        </p:txBody>
      </p:sp>
      <p:sp>
        <p:nvSpPr>
          <p:cNvPr id="8" name="">
            <a:extLst xmlns:a="http://schemas.openxmlformats.org/drawingml/2006/main">
              <a:ext uri="{FF2B5EF4-FFF2-40B4-BE49-F238E27FC236}">
                <a16:creationId xmlns:a16="http://schemas.microsoft.com/office/drawing/2014/main" id="{770FA802-DF06-4172-AEDA-0329B5E778D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6</a:t>
            </a:r>
          </a:p>
        </p:txBody>
      </p:sp>
      <p:sp>
        <p:nvSpPr>
          <p:cNvPr id="9" name="">
            <a:extLst xmlns:a="http://schemas.openxmlformats.org/drawingml/2006/main">
              <a:ext uri="{FF2B5EF4-FFF2-40B4-BE49-F238E27FC236}">
                <a16:creationId xmlns:a16="http://schemas.microsoft.com/office/drawing/2014/main" id="{8D44FBC3-7526-4EA9-AD75-5B4E76D8FA6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28 / 28</a:t>
            </a:r>
          </a:p>
        </p:txBody>
      </p:sp>
    </p:spTree>
    <p:extLst>
      <p:ext uri="{BB962C8B-B14F-4D97-AF65-F5344CB8AC3E}">
        <p14:creationId xmlns:p14="http://schemas.microsoft.com/office/powerpoint/2010/main" val="558186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2026-10-07T20:20:58.6030000Z</dcterms:created>
  <dcterms:modified xsi:type="dcterms:W3CDTF">2026-10-07T20:20:58.6030000Z</dcterms:modified>
</coreProperties>
</file>