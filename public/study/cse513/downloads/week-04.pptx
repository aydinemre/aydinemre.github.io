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9b4122decf4852" /><Relationship Type="http://schemas.openxmlformats.org/officeDocument/2006/relationships/extended-properties" Target="/docProps/app.xml" Id="Rbe1992985b844da6" /><Relationship Type="http://schemas.openxmlformats.org/officeDocument/2006/relationships/officeDocument" Target="/ppt/presentation.xml" Id="Re863afbf9890430d" /></Relationships>
</file>

<file path=ppt/presentation.xml><?xml version="1.0" encoding="utf-8"?>
<p:presentation xmlns:p="http://schemas.openxmlformats.org/presentationml/2006/main">
  <p:sldMasterIdLst>
    <p:sldMasterId xmlns:r="http://schemas.openxmlformats.org/officeDocument/2006/relationships" id="2147483648" r:id="R12f054e64b9f4c35"/>
  </p:sldMasterIdLst>
  <p:notesMasterIdLst>
    <p:notesMasterId xmlns:r="http://schemas.openxmlformats.org/officeDocument/2006/relationships" r:id="R8e09a9cb20ad4dd7"/>
  </p:notesMasterIdLst>
  <p:sldIdLst>
    <p:sldId xmlns:r="http://schemas.openxmlformats.org/officeDocument/2006/relationships" id="256" r:id="R56468c19037b4496"/>
    <p:sldId xmlns:r="http://schemas.openxmlformats.org/officeDocument/2006/relationships" id="257" r:id="R94d8cc1633884edc"/>
    <p:sldId xmlns:r="http://schemas.openxmlformats.org/officeDocument/2006/relationships" id="258" r:id="Rd9a1e44e43de48dc"/>
    <p:sldId xmlns:r="http://schemas.openxmlformats.org/officeDocument/2006/relationships" id="259" r:id="Rc49db6ada3c94512"/>
    <p:sldId xmlns:r="http://schemas.openxmlformats.org/officeDocument/2006/relationships" id="260" r:id="Raece7f4d16c04050"/>
    <p:sldId xmlns:r="http://schemas.openxmlformats.org/officeDocument/2006/relationships" id="261" r:id="Re70c5fed02c54c25"/>
    <p:sldId xmlns:r="http://schemas.openxmlformats.org/officeDocument/2006/relationships" id="262" r:id="R93b7cbc51ce5444b"/>
    <p:sldId xmlns:r="http://schemas.openxmlformats.org/officeDocument/2006/relationships" id="263" r:id="R05074c8b1b2542e9"/>
    <p:sldId xmlns:r="http://schemas.openxmlformats.org/officeDocument/2006/relationships" id="264" r:id="R10cf9a7a2401466a"/>
    <p:sldId xmlns:r="http://schemas.openxmlformats.org/officeDocument/2006/relationships" id="265" r:id="R71441209cf474d85"/>
    <p:sldId xmlns:r="http://schemas.openxmlformats.org/officeDocument/2006/relationships" id="266" r:id="R1c8272baa6604804"/>
    <p:sldId xmlns:r="http://schemas.openxmlformats.org/officeDocument/2006/relationships" id="267" r:id="Re4d9fe321da64fb0"/>
    <p:sldId xmlns:r="http://schemas.openxmlformats.org/officeDocument/2006/relationships" id="268" r:id="R3eec863fea6a4bb7"/>
    <p:sldId xmlns:r="http://schemas.openxmlformats.org/officeDocument/2006/relationships" id="269" r:id="R3abc34f6cdc34681"/>
    <p:sldId xmlns:r="http://schemas.openxmlformats.org/officeDocument/2006/relationships" id="270" r:id="R059aa691774e4424"/>
    <p:sldId xmlns:r="http://schemas.openxmlformats.org/officeDocument/2006/relationships" id="271" r:id="R18df7bd771f7437f"/>
    <p:sldId xmlns:r="http://schemas.openxmlformats.org/officeDocument/2006/relationships" id="272" r:id="R5a851fc15d554164"/>
    <p:sldId xmlns:r="http://schemas.openxmlformats.org/officeDocument/2006/relationships" id="273" r:id="Rd8678d8555cc47cc"/>
    <p:sldId xmlns:r="http://schemas.openxmlformats.org/officeDocument/2006/relationships" id="274" r:id="R5f60bf466ec744ca"/>
    <p:sldId xmlns:r="http://schemas.openxmlformats.org/officeDocument/2006/relationships" id="275" r:id="Rf68629e3b7a14529"/>
    <p:sldId xmlns:r="http://schemas.openxmlformats.org/officeDocument/2006/relationships" id="276" r:id="R55327f14cdab4960"/>
    <p:sldId xmlns:r="http://schemas.openxmlformats.org/officeDocument/2006/relationships" id="277" r:id="Rf7a0244d2d584fb9"/>
    <p:sldId xmlns:r="http://schemas.openxmlformats.org/officeDocument/2006/relationships" id="278" r:id="R1181f25d1096480f"/>
    <p:sldId xmlns:r="http://schemas.openxmlformats.org/officeDocument/2006/relationships" id="279" r:id="R22c36e6c3c184339"/>
    <p:sldId xmlns:r="http://schemas.openxmlformats.org/officeDocument/2006/relationships" id="280" r:id="R496eea0c2e594a34"/>
    <p:sldId xmlns:r="http://schemas.openxmlformats.org/officeDocument/2006/relationships" id="281" r:id="Rd239dba5bb6e4815"/>
    <p:sldId xmlns:r="http://schemas.openxmlformats.org/officeDocument/2006/relationships" id="282" r:id="Rf4f696811d7843ba"/>
    <p:sldId xmlns:r="http://schemas.openxmlformats.org/officeDocument/2006/relationships" id="283" r:id="R5008b758721846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a371fb68934c8c" /><Relationship Type="http://schemas.openxmlformats.org/officeDocument/2006/relationships/slideMaster" Target="/ppt/slideMasters/slideMaster1.xml" Id="R12f054e64b9f4c35" /><Relationship Type="http://schemas.openxmlformats.org/officeDocument/2006/relationships/notesMaster" Target="/ppt/notesMasters/notesMaster1.xml" Id="R8e09a9cb20ad4dd7" /><Relationship Type="http://schemas.openxmlformats.org/officeDocument/2006/relationships/presProps" Target="/ppt/presProps.xml" Id="R0871adbbb258441c" /><Relationship Type="http://schemas.openxmlformats.org/officeDocument/2006/relationships/tableStyles" Target="/ppt/tableStyles.xml" Id="R9666779e66494657" /><Relationship Type="http://schemas.openxmlformats.org/officeDocument/2006/relationships/slide" Target="/ppt/slides/slide1.xml" Id="R56468c19037b4496" /><Relationship Type="http://schemas.openxmlformats.org/officeDocument/2006/relationships/slide" Target="/ppt/slides/slide2.xml" Id="R94d8cc1633884edc" /><Relationship Type="http://schemas.openxmlformats.org/officeDocument/2006/relationships/slide" Target="/ppt/slides/slide3.xml" Id="Rd9a1e44e43de48dc" /><Relationship Type="http://schemas.openxmlformats.org/officeDocument/2006/relationships/slide" Target="/ppt/slides/slide4.xml" Id="Rc49db6ada3c94512" /><Relationship Type="http://schemas.openxmlformats.org/officeDocument/2006/relationships/slide" Target="/ppt/slides/slide5.xml" Id="Raece7f4d16c04050" /><Relationship Type="http://schemas.openxmlformats.org/officeDocument/2006/relationships/slide" Target="/ppt/slides/slide6.xml" Id="Re70c5fed02c54c25" /><Relationship Type="http://schemas.openxmlformats.org/officeDocument/2006/relationships/slide" Target="/ppt/slides/slide7.xml" Id="R93b7cbc51ce5444b" /><Relationship Type="http://schemas.openxmlformats.org/officeDocument/2006/relationships/slide" Target="/ppt/slides/slide8.xml" Id="R05074c8b1b2542e9" /><Relationship Type="http://schemas.openxmlformats.org/officeDocument/2006/relationships/slide" Target="/ppt/slides/slide9.xml" Id="R10cf9a7a2401466a" /><Relationship Type="http://schemas.openxmlformats.org/officeDocument/2006/relationships/slide" Target="/ppt/slides/slide10.xml" Id="R71441209cf474d85" /><Relationship Type="http://schemas.openxmlformats.org/officeDocument/2006/relationships/slide" Target="/ppt/slides/slide11.xml" Id="R1c8272baa6604804" /><Relationship Type="http://schemas.openxmlformats.org/officeDocument/2006/relationships/slide" Target="/ppt/slides/slide12.xml" Id="Re4d9fe321da64fb0" /><Relationship Type="http://schemas.openxmlformats.org/officeDocument/2006/relationships/slide" Target="/ppt/slides/slide13.xml" Id="R3eec863fea6a4bb7" /><Relationship Type="http://schemas.openxmlformats.org/officeDocument/2006/relationships/slide" Target="/ppt/slides/slide14.xml" Id="R3abc34f6cdc34681" /><Relationship Type="http://schemas.openxmlformats.org/officeDocument/2006/relationships/slide" Target="/ppt/slides/slide15.xml" Id="R059aa691774e4424" /><Relationship Type="http://schemas.openxmlformats.org/officeDocument/2006/relationships/slide" Target="/ppt/slides/slide16.xml" Id="R18df7bd771f7437f" /><Relationship Type="http://schemas.openxmlformats.org/officeDocument/2006/relationships/slide" Target="/ppt/slides/slide17.xml" Id="R5a851fc15d554164" /><Relationship Type="http://schemas.openxmlformats.org/officeDocument/2006/relationships/slide" Target="/ppt/slides/slide18.xml" Id="Rd8678d8555cc47cc" /><Relationship Type="http://schemas.openxmlformats.org/officeDocument/2006/relationships/slide" Target="/ppt/slides/slide19.xml" Id="R5f60bf466ec744ca" /><Relationship Type="http://schemas.openxmlformats.org/officeDocument/2006/relationships/slide" Target="/ppt/slides/slide20.xml" Id="Rf68629e3b7a14529" /><Relationship Type="http://schemas.openxmlformats.org/officeDocument/2006/relationships/slide" Target="/ppt/slides/slide21.xml" Id="R55327f14cdab4960" /><Relationship Type="http://schemas.openxmlformats.org/officeDocument/2006/relationships/slide" Target="/ppt/slides/slide22.xml" Id="Rf7a0244d2d584fb9" /><Relationship Type="http://schemas.openxmlformats.org/officeDocument/2006/relationships/slide" Target="/ppt/slides/slide23.xml" Id="R1181f25d1096480f" /><Relationship Type="http://schemas.openxmlformats.org/officeDocument/2006/relationships/slide" Target="/ppt/slides/slide24.xml" Id="R22c36e6c3c184339" /><Relationship Type="http://schemas.openxmlformats.org/officeDocument/2006/relationships/slide" Target="/ppt/slides/slide25.xml" Id="R496eea0c2e594a34" /><Relationship Type="http://schemas.openxmlformats.org/officeDocument/2006/relationships/slide" Target="/ppt/slides/slide26.xml" Id="Rd239dba5bb6e4815" /><Relationship Type="http://schemas.openxmlformats.org/officeDocument/2006/relationships/slide" Target="/ppt/slides/slide27.xml" Id="Rf4f696811d7843ba" /><Relationship Type="http://schemas.openxmlformats.org/officeDocument/2006/relationships/slide" Target="/ppt/slides/slide28.xml" Id="R5008b758721846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5adb18b67246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d7bf87660c4ba8" /><Relationship Type="http://schemas.openxmlformats.org/officeDocument/2006/relationships/notesMaster" Target="/ppt/notesMasters/notesMaster1.xml" Id="R5c4d8d209c794c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976229aec64911" /><Relationship Type="http://schemas.openxmlformats.org/officeDocument/2006/relationships/notesMaster" Target="/ppt/notesMasters/notesMaster1.xml" Id="R9b34c534e8f34a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0a4ffd765d4476" /><Relationship Type="http://schemas.openxmlformats.org/officeDocument/2006/relationships/notesMaster" Target="/ppt/notesMasters/notesMaster1.xml" Id="R19213920b5a943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c84ac338844432" /><Relationship Type="http://schemas.openxmlformats.org/officeDocument/2006/relationships/notesMaster" Target="/ppt/notesMasters/notesMaster1.xml" Id="Rc820ff2341b94d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e0f5cd30564c29" /><Relationship Type="http://schemas.openxmlformats.org/officeDocument/2006/relationships/notesMaster" Target="/ppt/notesMasters/notesMaster1.xml" Id="Rabb63f1e7e6b4b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5db534cb0f45c3" /><Relationship Type="http://schemas.openxmlformats.org/officeDocument/2006/relationships/notesMaster" Target="/ppt/notesMasters/notesMaster1.xml" Id="R08e077ce5bbd45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7961e5b0634034" /><Relationship Type="http://schemas.openxmlformats.org/officeDocument/2006/relationships/notesMaster" Target="/ppt/notesMasters/notesMaster1.xml" Id="Rcb39d50e82074d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af07c3ef114903" /><Relationship Type="http://schemas.openxmlformats.org/officeDocument/2006/relationships/notesMaster" Target="/ppt/notesMasters/notesMaster1.xml" Id="R1ddff07f3f0c45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959f296eb24505" /><Relationship Type="http://schemas.openxmlformats.org/officeDocument/2006/relationships/notesMaster" Target="/ppt/notesMasters/notesMaster1.xml" Id="R1dd0ee80329c4b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569b7805e04a5a" /><Relationship Type="http://schemas.openxmlformats.org/officeDocument/2006/relationships/notesMaster" Target="/ppt/notesMasters/notesMaster1.xml" Id="Rba418518545047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e69701b25647d5" /><Relationship Type="http://schemas.openxmlformats.org/officeDocument/2006/relationships/notesMaster" Target="/ppt/notesMasters/notesMaster1.xml" Id="Re269ff2dad7646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11e259d8fe470c" /><Relationship Type="http://schemas.openxmlformats.org/officeDocument/2006/relationships/notesMaster" Target="/ppt/notesMasters/notesMaster1.xml" Id="R78036fe3521d4e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a23b3201934fe3" /><Relationship Type="http://schemas.openxmlformats.org/officeDocument/2006/relationships/notesMaster" Target="/ppt/notesMasters/notesMaster1.xml" Id="R29655b71b5104e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2876fceec74948" /><Relationship Type="http://schemas.openxmlformats.org/officeDocument/2006/relationships/notesMaster" Target="/ppt/notesMasters/notesMaster1.xml" Id="R585ff0faae4441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ca75b38e88420d" /><Relationship Type="http://schemas.openxmlformats.org/officeDocument/2006/relationships/notesMaster" Target="/ppt/notesMasters/notesMaster1.xml" Id="R13afa0b0acbf4e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9ed833da0d4a8b" /><Relationship Type="http://schemas.openxmlformats.org/officeDocument/2006/relationships/notesMaster" Target="/ppt/notesMasters/notesMaster1.xml" Id="Rdac3f12dc4d94f6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2cb4bdd5224d75" /><Relationship Type="http://schemas.openxmlformats.org/officeDocument/2006/relationships/notesMaster" Target="/ppt/notesMasters/notesMaster1.xml" Id="R3d6beb45dab84e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b2ba7b18594ff5" /><Relationship Type="http://schemas.openxmlformats.org/officeDocument/2006/relationships/notesMaster" Target="/ppt/notesMasters/notesMaster1.xml" Id="R6584c0bdaf404b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92e4018d044181" /><Relationship Type="http://schemas.openxmlformats.org/officeDocument/2006/relationships/notesMaster" Target="/ppt/notesMasters/notesMaster1.xml" Id="R3d0a5a14ec4f41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241ce599c34f16" /><Relationship Type="http://schemas.openxmlformats.org/officeDocument/2006/relationships/notesMaster" Target="/ppt/notesMasters/notesMaster1.xml" Id="Rd1235b366eb24ae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5c8cf7daf74c86" /><Relationship Type="http://schemas.openxmlformats.org/officeDocument/2006/relationships/notesMaster" Target="/ppt/notesMasters/notesMaster1.xml" Id="R7a4a4ccea54343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0a390eba7a43de" /><Relationship Type="http://schemas.openxmlformats.org/officeDocument/2006/relationships/notesMaster" Target="/ppt/notesMasters/notesMaster1.xml" Id="R909e1293a02c41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cc42734b73453a" /><Relationship Type="http://schemas.openxmlformats.org/officeDocument/2006/relationships/notesMaster" Target="/ppt/notesMasters/notesMaster1.xml" Id="R3df001d4ed85487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80da9428af9431d" /><Relationship Type="http://schemas.openxmlformats.org/officeDocument/2006/relationships/notesMaster" Target="/ppt/notesMasters/notesMaster1.xml" Id="Rcad2ed7822af49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c561cfdb5ca43d1" /><Relationship Type="http://schemas.openxmlformats.org/officeDocument/2006/relationships/notesMaster" Target="/ppt/notesMasters/notesMaster1.xml" Id="R5c6d77ba611f4e3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97c4e41199444fa" /><Relationship Type="http://schemas.openxmlformats.org/officeDocument/2006/relationships/notesMaster" Target="/ppt/notesMasters/notesMaster1.xml" Id="Rff144c46f02b4ea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5ecd9563cc84d9e" /><Relationship Type="http://schemas.openxmlformats.org/officeDocument/2006/relationships/notesMaster" Target="/ppt/notesMasters/notesMaster1.xml" Id="Rf38b7f10ad45415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c4323f70c74b89" /><Relationship Type="http://schemas.openxmlformats.org/officeDocument/2006/relationships/notesMaster" Target="/ppt/notesMasters/notesMaster1.xml" Id="Rb95c35eee5a84e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CSE513 · Hafta 4</a:t>
            </a:r>
          </a:p>
          <a:p xmlns:a="http://schemas.openxmlformats.org/drawingml/2006/main">
            <a:r>
              <a:t>Deadlock ve kaynak tahsisi</a:t>
            </a:r>
          </a:p>
          <a:p xmlns:a="http://schemas.openxmlformats.org/drawingml/2006/main">
            <a:r>
              <a:t/>
            </a:r>
          </a:p>
          <a:p xmlns:a="http://schemas.openxmlformats.org/drawingml/2006/main">
            <a:r>
              <a:t>Bu çalışma, resmî Hafta 4 sayfasındaki kapsamın bağımsız öğrenme uyarlamasıdır. Kaynak sayfa slayt PDF’si ve illustrated reading’in hazırlandığını belirtiyor; yayımlanmış bir Hafta 4 PDF’sini yeniden düzenlemedik. Bu nedenle özgün slayt numarası kullanmıyoruz. Sayısal örnekler ve laboratuvarlar bu paket için tasarlanmıştır. Önce üçüncü haftadan şu ayrımı hatırla: paylaşılan veriyi korumak, bütün işlerin sonunda ilerleyeceği garantisi değildir.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a:p xmlns:a="http://schemas.openxmlformats.org/drawingml/2006/main">
            <a:r>
              <a:t/>
            </a:r>
          </a:p>
          <a:p xmlns:a="http://schemas.openxmlformats.org/drawingml/2006/main">
            <a:r>
              <a:t>Kapak: AI üretimi kavramsal mutfak analojisi. Köken ve istem: 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Dört deadlock koşulunu tanı</a:t>
            </a:r>
          </a:p>
          <a:p xmlns:a="http://schemas.openxmlformats.org/drawingml/2006/main">
            <a:r>
              <a:t>Kaynak grafiğini doğru yorumla</a:t>
            </a:r>
          </a:p>
          <a:p xmlns:a="http://schemas.openxmlformats.org/drawingml/2006/main">
            <a:r>
              <a:t>Safe ile unsafe durumu ayır</a:t>
            </a:r>
          </a:p>
          <a:p xmlns:a="http://schemas.openxmlformats.org/drawingml/2006/main">
            <a:r>
              <a:t>Çözümün maliyetini ve sınırını açıkla</a:t>
            </a:r>
          </a:p>
          <a:p xmlns:a="http://schemas.openxmlformats.org/drawingml/2006/main">
            <a:r>
              <a:t/>
            </a:r>
          </a:p>
          <a:p xmlns:a="http://schemas.openxmlformats.org/drawingml/2006/main">
            <a:r>
              <a:t>İlk yarı durumu teşhis eder: deadlock, starvation, livelock ve grafikler. İkinci yarı tasarımı değerlendirir: prevention, avoidance, detection ve recovery. Bir sorun gördüğünde hangi işin hangi olayı beklediğini belirt. Grafikteki her okun anlamını yaz. Sonra çözümünün hangi koşulu değiştirdiğini göster. Bir uygulamanın CPU kullanımı veya sessiz görünmesi tek başına yeterli teşhis değildir.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thread bıçağı tutup tahtayı beklerken diğeri tahtayı tutup bıçağı bekliyor. Her iki kaynak birer adet, tekrar kullanılıyor ve bırakılmadan diğerine geçilemiyor. Benzetmedeki aktör yürütme akışıdır; bu hafta onları CPU sayısıyla eşleştirmiyoruz. Daha çok CPU, tutulmuş bıçağı serbest bırakmaz. Hikâyeden sonra teknik karşılığına dön: iki mutex, iki holder, iki blocking acquisition.</a:t>
            </a:r>
          </a:p>
          <a:p xmlns:a="http://schemas.openxmlformats.org/drawingml/2006/main">
            <a:r>
              <a:t/>
            </a:r>
          </a:p>
          <a:p xmlns:a="http://schemas.openxmlformats.org/drawingml/2006/main">
            <a:r>
              <a:t>SORUNUN YANITI: Hayır. İlerleme için kaynak serbest bırakılması gerekir; zamanlayıcı seçimi tek başına yetmez.</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sözde kod özel bir interleaving’de A’nın L1’i, B’nin L2’yi almasını mümkün kılar. Sonra her biri diğerinin tuttuğu kilidi ister. Her çalıştırma deadlock üretmek zorunda değildir; önce A iki kilidi de alıp bırakırsa B ilerleyebilir. Hata potansiyelini görmek için uyku ekleyip şansa güvenmek yerine izin verilen interleaving’i kur. Bu pakette gerçek process’i sonsuza dek kilitlemeyen grafik modeli kullanıyoruz.</a:t>
            </a:r>
          </a:p>
          <a:p xmlns:a="http://schemas.openxmlformats.org/drawingml/2006/main">
            <a:r>
              <a:t/>
            </a:r>
          </a:p>
          <a:p xmlns:a="http://schemas.openxmlformats.org/drawingml/2006/main">
            <a:r>
              <a:t>GERÇEK HAYAT: İki cache kilidi</a:t>
            </a:r>
          </a:p>
          <a:p xmlns:a="http://schemas.openxmlformats.org/drawingml/2006/main">
            <a:r>
              <a:t>İki worker farklı cache’leri güncelliyor.</a:t>
            </a:r>
          </a:p>
          <a:p xmlns:a="http://schemas.openxmlformats.org/drawingml/2006/main">
            <a:r>
              <a:t>Mekanizma: İki yönlü güncelleme ters kilit sırası yaratabilir.</a:t>
            </a:r>
          </a:p>
          <a:p xmlns:a="http://schemas.openxmlformats.org/drawingml/2006/main">
            <a:r>
              <a:t>Ne zaman işe yarar: Lock ownership ve istek sırasını birlikte incele.</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https://pages.cs.wisc.edu/~remzi/OSTEP/threads-bugs.pdf</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Klasik yeniden kullanılabilir kaynak modelinde deadlock için bu dört koşul birlikte gerekir. Bir koşulu protokol gereği ortadan kaldırmak bu modelde deadlock’u önler. Koşulların uygulamada mümkün olması ise her çalışmanın mutlaka deadlock olacağı anlamına gelmez. Mutual exclusion her kaynağa uygulanmak zorunda değildir; salt okunur veriyi paylaşmak mümkün olabilir. No preemption CPU’nun preempt edilmesi değil, elde tutulan kaynağın zorla geri alınamamasıdır.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https://pages.cs.wisc.edu/~remzi/OSTEP/threads-bugs.pdf</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Tüm araçları birlikte ayırt</a:t>
            </a:r>
          </a:p>
          <a:p xmlns:a="http://schemas.openxmlformats.org/drawingml/2006/main">
            <a:r>
              <a:t>Herkes araçları aynı sırayla alsın</a:t>
            </a:r>
          </a:p>
          <a:p xmlns:a="http://schemas.openxmlformats.org/drawingml/2006/main">
            <a:r>
              <a:t>İkinci araç yoksa ilkini bırak</a:t>
            </a:r>
          </a:p>
          <a:p xmlns:a="http://schemas.openxmlformats.org/drawingml/2006/main">
            <a:r>
              <a:t/>
            </a:r>
          </a:p>
          <a:p xmlns:a="http://schemas.openxmlformats.org/drawingml/2006/main">
            <a:r>
              <a:t>Kuralın adını değil, etkisini göster. Bir atomik all-or-none rezervasyon, iş başlamadan bütün kaynakları ayırabilirse hold-and-wait’i kırar. Global sıra circular wait’i kırar. Try-and-release elde tutarak beklemeyi azaltır fakat sürekli simetrik tekrar livelock üretebilir. Kaynağı bırakma güvenli olmalıdır: kısmen değiştirilmiş ortak veriyi invariants bozulmuş halde bırakma.</a:t>
            </a:r>
          </a:p>
          <a:p xmlns:a="http://schemas.openxmlformats.org/drawingml/2006/main">
            <a:r>
              <a:t/>
            </a:r>
          </a:p>
          <a:p xmlns:a="http://schemas.openxmlformats.org/drawingml/2006/main">
            <a:r>
              <a:t>SORUNUN YANITI: Sırasıyla hold-and-wait, circular wait ve beklerken kaynak tutma davranışı değişir. Son seçenek tek başına fairness/ilerleme garantisi değildir.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Process/task düğümü P, resource type düğümü R olarak gösterilir. R içindeki her nokta bir instance’tır. P→R henüz karşılanmamış istek, R→P atanmış instance’tır. Tek-instance L1 ve L2 örneğinde çevrim L1→A→L2→B→L1 olur. Grafik çizmeden önce modelin tekil mi çoklu mu olduğunu söyle. Claim edge, normal request edge ile aynı anlamı taşımaz; burada claim edge kullanmıyoruz.</a:t>
            </a:r>
          </a:p>
          <a:p xmlns:a="http://schemas.openxmlformats.org/drawingml/2006/main">
            <a:r>
              <a:t/>
            </a:r>
          </a:p>
          <a:p xmlns:a="http://schemas.openxmlformats.org/drawingml/2006/main">
            <a:r>
              <a:t>GERÇEK HAYAT: Bağlantı havuzu</a:t>
            </a:r>
          </a:p>
          <a:p xmlns:a="http://schemas.openxmlformats.org/drawingml/2006/main">
            <a:r>
              <a:t>Bir istek ikinci bağlantıyı bekliyor.</a:t>
            </a:r>
          </a:p>
          <a:p xmlns:a="http://schemas.openxmlformats.org/drawingml/2006/main">
            <a:r>
              <a:t>Mekanizma: Havuz capacity’si kaynak instance sayısıdır.</a:t>
            </a:r>
          </a:p>
          <a:p xmlns:a="http://schemas.openxmlformats.org/drawingml/2006/main">
            <a:r>
              <a:t>Ne zaman işe yarar: Graph yorumundan önce capacity ve holder’ları yaz.</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Klasik tek-instance kaynak modelinde çevrim deadlock için gerekli ve yeterlidir. Çok-instance modelde çevrim gereklidir fakat yeterli değildir; başka bir instance serbest kalıp çevrimi çözebilir. Bu kural snapshot’taki gerçekten bekleyen request edges içindir. Tüm olası gelecek lock acquisition sıralarından oluşan statik grafik, potansiyel sorunu gösterebilir; mevcut deadlock’un kanıtı değildir. Event/message beklemeleri ayrıca modellenmelidir.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 türünde iki instance, S türünde bir instance var. P1 bir R tutup S ister. P2 S tutup R ister. P3 ikinci R’yi tutar ve başka kaynak istemeden bitirebilir. P3 R’yi bırakınca P2 ilerler ve S’yi bırakır, ardından P1 ilerler. R→P1→S→P2→R çevrimi vardı, ancak sistem deadlocked değildi. Bu nedenle type düzeyinde basit çevrim testini bir bağlantı havuzuna koşulsuz uygulama.</a:t>
            </a:r>
          </a:p>
          <a:p xmlns:a="http://schemas.openxmlformats.org/drawingml/2006/main">
            <a:r>
              <a:t/>
            </a:r>
          </a:p>
          <a:p xmlns:a="http://schemas.openxmlformats.org/drawingml/2006/main">
            <a:r>
              <a:t>SORUNUN YANITI: P3; sonra P2; sonra P1. Çevrim tek başına yeterli değildi.</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Single-instance exclusive lock modelinde resource düğümlerini kaldırabiliriz. A, B’nin tuttuğu kilidi bekliyorsa A→B yaz. A→B→A mevcut circular wait’i gösterir. Kenar yalnız gerçekten bloklanmış acquisition için kurulmalı; her fonksiyon çağrısını kenara dönüştürme. Gerçek lock manager’larda lock modes, compatibility ve queue sırası ek bilgi gerektirebilir. Laboratuvar yalnız verilen single-instance exclusive waiting ilişkilerini inceler.</a:t>
            </a:r>
          </a:p>
          <a:p xmlns:a="http://schemas.openxmlformats.org/drawingml/2006/main">
            <a:r>
              <a:t/>
            </a:r>
          </a:p>
          <a:p xmlns:a="http://schemas.openxmlformats.org/drawingml/2006/main">
            <a:r>
              <a:t>SORUNUN YANITI: C çevrim üyesi değil, fakat deadlocked A’yı beklediği için dolaylı olarak bloklanır. Çevrim üyeleri ile etkilenen tüm işler aynı küme değildir.</a:t>
            </a:r>
          </a:p>
          <a:p xmlns:a="http://schemas.openxmlformats.org/drawingml/2006/main">
            <a:r>
              <a:t/>
            </a:r>
          </a:p>
          <a:p xmlns:a="http://schemas.openxmlformats.org/drawingml/2006/main">
            <a:r>
              <a:t>GERÇEK HAYAT: Servis isteği zinciri</a:t>
            </a:r>
          </a:p>
          <a:p xmlns:a="http://schemas.openxmlformats.org/drawingml/2006/main">
            <a:r>
              <a:t>Bir üçüncü istek kilitlenmiş worker’ı bekler.</a:t>
            </a:r>
          </a:p>
          <a:p xmlns:a="http://schemas.openxmlformats.org/drawingml/2006/main">
            <a:r>
              <a:t>Mekanizma: Çevrim dışı işler deadlock etkisini devralabilir.</a:t>
            </a:r>
          </a:p>
          <a:p xmlns:a="http://schemas.openxmlformats.org/drawingml/2006/main">
            <a:r>
              <a:t>Ne zaman işe yarar: Root cause ile etkilenen istekleri ayır.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Deadlock’ta bir küme birbirinin sağlayamadığı olayları bekler. Starvation’da belirli iş sürekli ertelenir; sistemin diğer işleri ilerleyebilir. Livelock’ta katılımcılar aktif biçimde yeniden dener ama yararlı işi tamamlayamaz. CPU’nun dolu veya boş olması tanımı belirlemez. Spin ile circular dependency birlikte bulunabilir. Bir timeout, yavaşlık, starvation ve deadlock arasında kendi başına ayrım yapmaz.</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İki task birer kilit alır, ikinciyi trylock ile alamaz, ilkini bırakır ve tam aynı anda tekrarlar. Blocking deadlock kaldırılmış olabilir ama sonsuz simetrik tekrar livelock’a izin verir. Rastgele backoff simetriyi azaltabilir; sınırsız adversarial schedule karşısında kesin ilerleme garantisi olarak sunma. Starvation özgürlüğü için fairness veya queueing gibi ayrı bir politika gerekir.</a:t>
            </a:r>
          </a:p>
          <a:p xmlns:a="http://schemas.openxmlformats.org/drawingml/2006/main">
            <a:r>
              <a:t/>
            </a:r>
          </a:p>
          <a:p xmlns:a="http://schemas.openxmlformats.org/drawingml/2006/main">
            <a:r>
              <a:t>GERÇEK HAYAT: Aynı anda retry yapan istemciler</a:t>
            </a:r>
          </a:p>
          <a:p xmlns:a="http://schemas.openxmlformats.org/drawingml/2006/main">
            <a:r>
              <a:t>Çakışan istekler birlikte yeniden geliyor.</a:t>
            </a:r>
          </a:p>
          <a:p xmlns:a="http://schemas.openxmlformats.org/drawingml/2006/main">
            <a:r>
              <a:t>Mekanizma: Senkron tekrar çakışmayı sürdürebilir.</a:t>
            </a:r>
          </a:p>
          <a:p xmlns:a="http://schemas.openxmlformats.org/drawingml/2006/main">
            <a:r>
              <a:t>Ne zaman işe yarar: Backoff ve fairness hedeflerini ayrı değerlendir.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çevrim her kaynak modelinde deadlock mu?</a:t>
            </a:r>
          </a:p>
          <a:p xmlns:a="http://schemas.openxmlformats.org/drawingml/2006/main">
            <a:r>
              <a:t>Deadlock olmaması starvation’ı önler mi?</a:t>
            </a:r>
          </a:p>
          <a:p xmlns:a="http://schemas.openxmlformats.org/drawingml/2006/main">
            <a:r>
              <a:t>Üçüncü bekleyen task çevrimde olmak zorunda mı?</a:t>
            </a:r>
          </a:p>
          <a:p xmlns:a="http://schemas.openxmlformats.org/drawingml/2006/main">
            <a:r>
              <a:t/>
            </a:r>
          </a:p>
          <a:p xmlns:a="http://schemas.openxmlformats.org/drawingml/2006/main">
            <a:r>
              <a:t>Tanımı ezberlemekten çok karşı örnek kur. İlk soruda iki-instance R ve ilerleyebilen P3 örneğini yeniden anlat. İkinci soruda sıraya hiç alınmayan düşük öncelikli bir işi düşün. Üçüncü soruda C→A bağımlılığını çiz. Sonuç doğruysa bile hangi modelde konuştuğunu belirtmezsen graph analizi eksik kalır. Burada ilk bölümü bitirip kısa ara verebilirsin.</a:t>
            </a:r>
          </a:p>
          <a:p xmlns:a="http://schemas.openxmlformats.org/drawingml/2006/main">
            <a:r>
              <a:t/>
            </a:r>
          </a:p>
          <a:p xmlns:a="http://schemas.openxmlformats.org/drawingml/2006/main">
            <a:r>
              <a:t>SORUNUN YANITI: 1 Hayır; çok instance durumunda yeterli değil. 2 Hayır; ayrı fairness sorunu. 3 Hayır; çevrime dışarıdan bağımlı olabilir.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Prevention protokolü bir gerekli koşulu yapısal biçimde kırar. Avoidance, talebi güvenli durum korunuyorsa kabul eder ve gelecekteki üst sınırlar gibi bilgi ister. Detection mevcut bağımlılıkları inceleyip deadlock’u saptar. Recovery saptanan sorunu kaynak veya iş durumunu değiştirerek giderir. Her kaynak için aynı strateji gerekmez. Küçük mutex kümesinde sıra kuralı, dinamik kaynak kapasitesinde farklı bir politika seçilebilir.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Uygunsa kaynağı paylaşılabilir yap</a:t>
            </a:r>
          </a:p>
          <a:p xmlns:a="http://schemas.openxmlformats.org/drawingml/2006/main">
            <a:r>
              <a:t>Tüm gerekli kaynakları birlikte ayır</a:t>
            </a:r>
          </a:p>
          <a:p xmlns:a="http://schemas.openxmlformats.org/drawingml/2006/main">
            <a:r>
              <a:t>Güvenliyse tutulan kaynakları geri al</a:t>
            </a:r>
          </a:p>
          <a:p xmlns:a="http://schemas.openxmlformats.org/drawingml/2006/main">
            <a:r>
              <a:t>Global kaynak sırası uygula</a:t>
            </a:r>
          </a:p>
          <a:p xmlns:a="http://schemas.openxmlformats.org/drawingml/2006/main">
            <a:r>
              <a:t/>
            </a:r>
          </a:p>
          <a:p xmlns:a="http://schemas.openxmlformats.org/drawingml/2006/main">
            <a:r>
              <a:t>Salt okunur veri paylaşılabilir; kritik veri güncellemesine mutual exclusion gerekebilir. All-or-none rezervasyon gereksiz uzun tutma ve utilization kaybı yaratabilir. CPU state’i saklanabilir diye mutex korumasındaki kısmi güncellemeyi zorla geri almak güvenli olmaz. Global sıra yaygın ve anlaşılırdır fakat dinamik çağrı yollarının aynı sıraya uyması gerekir. Her çözüm için iki soru: doğruluk korunuyor mu ve hangi concurrency fırsatı kaybediliyor?</a:t>
            </a:r>
          </a:p>
          <a:p xmlns:a="http://schemas.openxmlformats.org/drawingml/2006/main">
            <a:r>
              <a:t/>
            </a:r>
          </a:p>
          <a:p xmlns:a="http://schemas.openxmlformats.org/drawingml/2006/main">
            <a:r>
              <a:t>GERÇEK HAYAT: Yazıcı rezervasyonu</a:t>
            </a:r>
          </a:p>
          <a:p xmlns:a="http://schemas.openxmlformats.org/drawingml/2006/main">
            <a:r>
              <a:t>İş hem yazıcı hem başka aygıt istiyor.</a:t>
            </a:r>
          </a:p>
          <a:p xmlns:a="http://schemas.openxmlformats.org/drawingml/2006/main">
            <a:r>
              <a:t>Mekanizma: Hepsini baştan ayırmak beklerken tutmayı kaldırabilir.</a:t>
            </a:r>
          </a:p>
          <a:p xmlns:a="http://schemas.openxmlformats.org/drawingml/2006/main">
            <a:r>
              <a:t>Ne zaman işe yarar: Boşta tutulan kaynak maliyetini de ölç.</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Bütün ilgili yollar L1’den önce L2’yi alırsa L2 tutarken L1’i isteyen ters halka oluşamaz. Daha genel kuralda her kilit için değişmeyen bir rank belirle ve artan rank ile al. Aynı nesneyi iki kez kilitleme durumunu ayrıca ele al; nonrecursive lock tekrar acquisition’da kendini bekleyebilir. Yardımcı işlevlerin zaten tutulmuş kilitleri ve callbacks’in aldığı kilitler envantere dahil edilmelidir. Sırayı unlock sırasında tersine uygulamak takip etmeyi kolaylaştırır.</a:t>
            </a:r>
          </a:p>
          <a:p xmlns:a="http://schemas.openxmlformats.org/drawingml/2006/main">
            <a:r>
              <a:t/>
            </a:r>
          </a:p>
          <a:p xmlns:a="http://schemas.openxmlformats.org/drawingml/2006/main">
            <a:r>
              <a:t>GERÇEK HAYAT: İki hesap aktarımı</a:t>
            </a:r>
          </a:p>
          <a:p xmlns:a="http://schemas.openxmlformats.org/drawingml/2006/main">
            <a:r>
              <a:t>A→B ve B→A eşzamanlı aktarılıyor.</a:t>
            </a:r>
          </a:p>
          <a:p xmlns:a="http://schemas.openxmlformats.org/drawingml/2006/main">
            <a:r>
              <a:t>Mekanizma: Yön yerine hesap kimliğiyle lock sırası kurulur.</a:t>
            </a:r>
          </a:p>
          <a:p xmlns:a="http://schemas.openxmlformats.org/drawingml/2006/main">
            <a:r>
              <a:t>Ne zaman işe yarar: Bütün update yollarının aynı kurala uyduğunu kontrol et.</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https://pages.cs.wisc.edu/~remzi/OSTEP/threads-bugs.pdf</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bölüm özgün bir sayısal öğretim modelidir. Üç process ve iki yeniden kullanılabilir resource type A,B kullanıyoruz. Kaynak instance’ları aynı tür içinde birbirinin yerine geçer. Max her process’in eşzamanlı tutabileceği kaynakların ilan edilen üst sınırıdır; gelecekte mutlaka isteyeceği miktar değildir. Need=Max−Allocation. Process kalan üst sınırını alırsa sonlu sürede bitirip tuttuğunu bırakabilir varsayımı vardır. Tüm işleri aynı anda maksimuma ulaştırmak gerekmez.</a:t>
            </a:r>
          </a:p>
          <a:p xmlns:a="http://schemas.openxmlformats.org/drawingml/2006/main">
            <a:r>
              <a:t/>
            </a:r>
          </a:p>
          <a:p xmlns:a="http://schemas.openxmlformats.org/drawingml/2006/main">
            <a:r>
              <a:t>GERÇEK HAYAT: Bounded job kabulü</a:t>
            </a:r>
          </a:p>
          <a:p xmlns:a="http://schemas.openxmlformats.org/drawingml/2006/main">
            <a:r>
              <a:t>İşler üst kaynak gereksinimlerini bildiriyor.</a:t>
            </a:r>
          </a:p>
          <a:p xmlns:a="http://schemas.openxmlformats.org/drawingml/2006/main">
            <a:r>
              <a:t>Mekanizma: İlan edilen bound kabul kararına bilgi verir.</a:t>
            </a:r>
          </a:p>
          <a:p xmlns:a="http://schemas.openxmlformats.org/drawingml/2006/main">
            <a:r>
              <a:t>Ne zaman işe yarar: Banker’ı bilinmeyen Max ile sihirli çözüm sayma.</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 (4,3) · Available = (1,1)</a:t>
            </a:r>
          </a:p>
          <a:p xmlns:a="http://schemas.openxmlformats.org/drawingml/2006/main">
            <a:r>
              <a:t>Vektör sırası her yerde (A,B)</a:t>
            </a:r>
          </a:p>
          <a:p xmlns:a="http://schemas.openxmlformats.org/drawingml/2006/main">
            <a:r>
              <a:t/>
            </a:r>
          </a:p>
          <a:p xmlns:a="http://schemas.openxmlformats.org/drawingml/2006/main">
            <a:r>
              <a:t>Allocation toplamı (3,2), Available (1,1): toplamları Total (4,3) eder. P0’ın Need’i (3,2)−(1,0)=(2,2). P1’in Need’i (2,1)−(1,1)=(1,0). P2’nin Need’i (2,2)−(1,1)=(1,1). Karşılaştırma bileşen bazlıdır; A fazlalığı B açığını kapatmaz. Süreç indeksleri küçük örnek isimleridir, canlı işletim sisteminden ölçülmüş PID değildir.</a:t>
            </a:r>
          </a:p>
          <a:p xmlns:a="http://schemas.openxmlformats.org/drawingml/2006/main">
            <a:r>
              <a:t/>
            </a:r>
          </a:p>
          <a:p xmlns:a="http://schemas.openxmlformats.org/drawingml/2006/main">
            <a:r>
              <a:t>SORUNUN YANITI: P1 veya P2. P0 Need(2,2), Work(1,1)’den büyük.</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başlangıçta Available’dır. Need[i]≤Work ise i’nin tamamlanmasını varsayabiliriz, ardından Work’e Allocation[i] ekleriz. Need’i de ayrıca eklemeyiz: geçici verilen Need kaynakları geri gelir, net artış elde tutulan eski Allocation’dır. Her process bitmiş sayılabiliyorsa safe state’tir. Bu bir güvenlik kanıtı sıralamasıdır; işletim sistemi gerçek scheduler’ının bu sırayı seçmek zorunda olduğu anlamına gelmez. Alternatif geçerli sequence’ler olabilir.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Önce request’in negatif olmadığını, Need’i aşmadığını ve Available içinde olduğunu kontrol et. Geçici grant sonrası safety algorithm’i çalıştır. Safe ise commit; değilse gerçek state’i değiştirmeden talebi ertele. Request&gt;Need sözleşmeyi ihlal eder; Request&gt;Available şu anda karşılanamaz. Bu ikisini safety test başarısızlığıyla tek bir hata gibi açıklama. State güncelleme ve kabul testi gerçek eşzamanlı sistemde atomik bir karar protokolü gerektirir.</a:t>
            </a:r>
          </a:p>
          <a:p xmlns:a="http://schemas.openxmlformats.org/drawingml/2006/main">
            <a:r>
              <a:t/>
            </a:r>
          </a:p>
          <a:p xmlns:a="http://schemas.openxmlformats.org/drawingml/2006/main">
            <a:r>
              <a:t>GERÇEK HAYAT: İki kaynaklı iş kabulü</a:t>
            </a:r>
          </a:p>
          <a:p xmlns:a="http://schemas.openxmlformats.org/drawingml/2006/main">
            <a:r>
              <a:t>Boş kapasite görünse de talep erteleniyor.</a:t>
            </a:r>
          </a:p>
          <a:p xmlns:a="http://schemas.openxmlformats.org/drawingml/2006/main">
            <a:r>
              <a:t>Mekanizma: Grant kalan işler için tamamlama garantisini yok edebilir.</a:t>
            </a:r>
          </a:p>
          <a:p xmlns:a="http://schemas.openxmlformats.org/drawingml/2006/main">
            <a:r>
              <a:t>Ne zaman işe yarar: Available kontrolü ile safety kontrolünü ayır.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İki talebi aynı başlangıç state’inden ayrı ayrı değerlendir; peş peşe uygulanmış sayma. P1(1,0) alırsa Available=(0,1), NeedP1=(0,0), AllocationP1=(2,1). P1 bitince Work=(2,2), P0 ve P2 tamamlanabilir. P0(1,1) alırsa Available=(0,0), NeedP0=(1,1), NeedP1=(1,0), NeedP2=(1,1). Hiçbir Need Work’e sığmaz; safety witness bulunamaz. Kaynak korunumu her iki denemede de sürer.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 gelecekteki üst sınırdır</a:t>
            </a:r>
          </a:p>
          <a:p xmlns:a="http://schemas.openxmlformats.org/drawingml/2006/main">
            <a:r>
              <a:t>Current request şu anda beklenen miktardır</a:t>
            </a:r>
          </a:p>
          <a:p xmlns:a="http://schemas.openxmlformats.org/drawingml/2006/main">
            <a:r>
              <a:t>Bu iki vektörü karıştırma</a:t>
            </a:r>
          </a:p>
          <a:p xmlns:a="http://schemas.openxmlformats.org/drawingml/2006/main">
            <a:r>
              <a:t/>
            </a:r>
          </a:p>
          <a:p xmlns:a="http://schemas.openxmlformats.org/drawingml/2006/main">
            <a:r>
              <a:t>P0’a unsafe grant yaptığımız state’te process’ler henüz başka kaynak istemeden hesaplama yapıyor olabilir. Hatta gerçek ihtiyaçları Max’ten düşük kalıp bitirebilirler. Safety testi tüm ilan edilmiş en kötü talepler için tamamlama garantisi arar. Bulamaması mevcut deadlock saptamak değildir. Ancak bu unsafe state’te bütün process’ler ellerindeki kaynakları bırakmadan kalan ihtiyaçlarını beklerse deadlock mümkün olur. Avoidance bilinmeyen gelecek karşısında muhafazakâr davranır.</a:t>
            </a:r>
          </a:p>
          <a:p xmlns:a="http://schemas.openxmlformats.org/drawingml/2006/main">
            <a:r>
              <a:t/>
            </a:r>
          </a:p>
          <a:p xmlns:a="http://schemas.openxmlformats.org/drawingml/2006/main">
            <a:r>
              <a:t>SORUNUN YANITI: Evet. Max üst sınırdır; kesin gelecek talep değildir. Unsafe, worst-case safety garantisinin yokluğudur.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Single-instance exclusive wait-for graph çevrimi detection için uygundur. Multiple-instance detection Available, Allocation ve mevcut outstanding Request matrix kullanır. Banker’ın Need=Max−Allocation matrisiyle aynı amaç değildir. Work’e sığan mevcut request karşılanıp process’in bitirebildiği varsayımsal eliminasyon yapılır. Bitirilemeyen kaynak holder’ları incelenir; onlara bağlı diğer blocked işler de etkilenebilir. Lab grafiğinin bu çoklu instance tespitini gerçekleştirmediğini açıkça belirt.</a:t>
            </a:r>
          </a:p>
          <a:p xmlns:a="http://schemas.openxmlformats.org/drawingml/2006/main">
            <a:r>
              <a:t/>
            </a:r>
          </a:p>
          <a:p xmlns:a="http://schemas.openxmlformats.org/drawingml/2006/main">
            <a:r>
              <a:t>GERÇEK HAYAT: Thread dump incelemesi</a:t>
            </a:r>
          </a:p>
          <a:p xmlns:a="http://schemas.openxmlformats.org/drawingml/2006/main">
            <a:r>
              <a:t>Worker’ların hangi holder’ı beklediği toplanır.</a:t>
            </a:r>
          </a:p>
          <a:p xmlns:a="http://schemas.openxmlformats.org/drawingml/2006/main">
            <a:r>
              <a:t>Mekanizma: Canlı ownership ilişkisi potential lock-order grafiğinden farklıdır.</a:t>
            </a:r>
          </a:p>
          <a:p xmlns:a="http://schemas.openxmlformats.org/drawingml/2006/main">
            <a:r>
              <a:t>Ne zaman işe yarar: Snapshot zamanını ve eksik ilişkileri kaydet.</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veya daha fazla işi sonlandır</a:t>
            </a:r>
          </a:p>
          <a:p xmlns:a="http://schemas.openxmlformats.org/drawingml/2006/main">
            <a:r>
              <a:t>Güvenli kaynak geri alma / rollback uygula</a:t>
            </a:r>
          </a:p>
          <a:p xmlns:a="http://schemas.openxmlformats.org/drawingml/2006/main">
            <a:r>
              <a:t>Victim seçiminin maliyetini değerlendir</a:t>
            </a:r>
          </a:p>
          <a:p xmlns:a="http://schemas.openxmlformats.org/drawingml/2006/main">
            <a:r>
              <a:t>Tekrar deneme ve tutarlılığı birlikte tasarla</a:t>
            </a:r>
          </a:p>
          <a:p xmlns:a="http://schemas.openxmlformats.org/drawingml/2006/main">
            <a:r>
              <a:t/>
            </a:r>
          </a:p>
          <a:p xmlns:a="http://schemas.openxmlformats.org/drawingml/2006/main">
            <a:r>
              <a:t>Bir task’i sonlandırmak kaynakları serbest bırakabilir ama dış yan etkilerini otomatik geri almaz. Bir e-posta veya ödeme isteği gönderildiyse process kill bunu yok etmez. Recovery hedefi yalnız bir çevrimi kırmak değil, sistem invariant’larını ve iş sonucunu korumaktır. Aynı ucuz işi sürekli victim seçmek starvation yaratabilir. Kaynak preemption yalnız kaynağın state’i güvenle geri yüklenebiliyorsa uygundur.</a:t>
            </a:r>
          </a:p>
          <a:p xmlns:a="http://schemas.openxmlformats.org/drawingml/2006/main">
            <a:r>
              <a:t/>
            </a:r>
          </a:p>
          <a:p xmlns:a="http://schemas.openxmlformats.org/drawingml/2006/main">
            <a:r>
              <a:t>GERÇEK HAYAT: İş kuyruğunda iptal</a:t>
            </a:r>
          </a:p>
          <a:p xmlns:a="http://schemas.openxmlformats.org/drawingml/2006/main">
            <a:r>
              <a:t>Çevrim bir worker iptaliyle kırılıyor.</a:t>
            </a:r>
          </a:p>
          <a:p xmlns:a="http://schemas.openxmlformats.org/drawingml/2006/main">
            <a:r>
              <a:t>Mekanizma: Kaynakların bırakılması tamamlanmış dış etkileri geri almaz.</a:t>
            </a:r>
          </a:p>
          <a:p xmlns:a="http://schemas.openxmlformats.org/drawingml/2006/main">
            <a:r>
              <a:t>Ne zaman işe yarar: Retry için idempotency ve cleanup sözleşmesi belirle.</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özgün iki-session öğretim senaryosunda her session önce bir hesabı kilitler, sonra ötekini ister. PostgreSQL row-level locking sırasında da deadlock yaşayabilir; motor deadlock tespit ettiğinde ilgili transaction’lardan birini abort eder. Hangi victim seçileceğini varsayma. Örneği canlı veritabanında çalıştırmak bu paketin lab gereği değildir. SQL modelinin amacı programın işi doğru olsa bile kilit alma sırasının bağımlılık yaratmasını göstermektir.</a:t>
            </a:r>
          </a:p>
          <a:p xmlns:a="http://schemas.openxmlformats.org/drawingml/2006/main">
            <a:r>
              <a:t/>
            </a:r>
          </a:p>
          <a:p xmlns:a="http://schemas.openxmlformats.org/drawingml/2006/main">
            <a:r>
              <a:t>GERÇEK HAYAT: Ters yönlü DB işlemleri</a:t>
            </a:r>
          </a:p>
          <a:p xmlns:a="http://schemas.openxmlformats.org/drawingml/2006/main">
            <a:r>
              <a:t>İki transaction birbirini bekler.</a:t>
            </a:r>
          </a:p>
          <a:p xmlns:a="http://schemas.openxmlformats.org/drawingml/2006/main">
            <a:r>
              <a:t>Mekanizma: Row lock sırası circular wait oluşturabilir.</a:t>
            </a:r>
          </a:p>
          <a:p xmlns:a="http://schemas.openxmlformats.org/drawingml/2006/main">
            <a:r>
              <a:t>Ne zaman işe yarar: Tutarlı sıra ve transaction-level retry uygula.</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https://www.postgresql.org/docs/18/explicit-locking.html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İlgili bütün yollar aynı lock sırasını kullansın</a:t>
            </a:r>
          </a:p>
          <a:p xmlns:a="http://schemas.openxmlformats.org/drawingml/2006/main">
            <a:r>
              <a:t>Gerekli en güçlü lock mode’u önce planla</a:t>
            </a:r>
          </a:p>
          <a:p xmlns:a="http://schemas.openxmlformats.org/drawingml/2006/main">
            <a:r>
              <a:t>Transaction açıkken kullanıcı girdisi bekleme</a:t>
            </a:r>
          </a:p>
          <a:p xmlns:a="http://schemas.openxmlformats.org/drawingml/2006/main">
            <a:r>
              <a:t>Abort edilen transaction için kontrollü retry</a:t>
            </a:r>
          </a:p>
          <a:p xmlns:a="http://schemas.openxmlformats.org/drawingml/2006/main">
            <a:r>
              <a:t/>
            </a:r>
          </a:p>
          <a:p xmlns:a="http://schemas.openxmlformats.org/drawingml/2006/main">
            <a:r>
              <a:t>PostgreSQL belgesi tutarlı acquisition sırasını ve bir nesne için gerekli en kısıtlayıcı lock mode’un başta alınmasını önerir. Retry işlem düzeyinde olmalıdır. Bu paketin tasarım eklemesi olarak dış yan etkiler için idempotency düşün: DB rollback harici bir HTTP işlemini geri almaz. Tutarlı sıra bu örneğin çevrimini önler; tüm olası servis bağımlılıklarını tek başına çözmüş sayma. Uzun transaction’ların beklemeyi uzattığını gözlemle.</a:t>
            </a:r>
          </a:p>
          <a:p xmlns:a="http://schemas.openxmlformats.org/drawingml/2006/main">
            <a:r>
              <a:t/>
            </a:r>
          </a:p>
          <a:p xmlns:a="http://schemas.openxmlformats.org/drawingml/2006/main">
            <a:r>
              <a:t>GERÇEK HAYAT: Kullanıcı onayı bekleyen ekran</a:t>
            </a:r>
          </a:p>
          <a:p xmlns:a="http://schemas.openxmlformats.org/drawingml/2006/main">
            <a:r>
              <a:t>Onay penceresi açıkken diğer update’ler gecikir.</a:t>
            </a:r>
          </a:p>
          <a:p xmlns:a="http://schemas.openxmlformats.org/drawingml/2006/main">
            <a:r>
              <a:t>Mekanizma: Transaction’ı UI beklemesi boyunca açık tutmak lock ömrünü uzatır.</a:t>
            </a:r>
          </a:p>
          <a:p xmlns:a="http://schemas.openxmlformats.org/drawingml/2006/main">
            <a:r>
              <a:t>Ne zaman işe yarar: Kullanıcı akışı ile kısa DB transaction sınırlarını tasarla.</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https://www.postgresql.org/docs/18/explicit-locking.html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Önce tahmin: safe sequence var mı?</a:t>
            </a:r>
          </a:p>
          <a:p xmlns:a="http://schemas.openxmlformats.org/drawingml/2006/main">
            <a:r>
              <a:t>Sonra gözlem: hangi çevrim bulundu?</a:t>
            </a:r>
          </a:p>
          <a:p xmlns:a="http://schemas.openxmlformats.org/drawingml/2006/main">
            <a:r>
              <a:t>Ardından açıklama: modelin sınırı ne?</a:t>
            </a:r>
          </a:p>
          <a:p xmlns:a="http://schemas.openxmlformats.org/drawingml/2006/main">
            <a:r>
              <a:t/>
            </a:r>
          </a:p>
          <a:p xmlns:a="http://schemas.openxmlformats.org/drawingml/2006/main">
            <a:r>
              <a:t>safe_state.py baseline, safe-request ve unsafe-request durumlarını gösterir. Her talep aynı başlangıçtan değerlendirilir. wait_graph.py cycle, chain ve dependent örneklerini inceler. Kod gerçek thread oluşturmaz ve sonsuz bekleme yaratmaz. --self-test sınır durumlarını da doğrular. Graph lab yalnız single-instance exclusive wait-for modeli içindir; Banker lab canlı OS scheduler veya üretim lock manager değildir. README ve README.en komutlarla beklenen sonuçları açıklar.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Çok-instance grafikte çevrim yeterli mi?</a:t>
            </a:r>
          </a:p>
          <a:p xmlns:a="http://schemas.openxmlformats.org/drawingml/2006/main">
            <a:r>
              <a:t>2 Unsafe durum mutlaka deadlocked mı?</a:t>
            </a:r>
          </a:p>
          <a:p xmlns:a="http://schemas.openxmlformats.org/drawingml/2006/main">
            <a:r>
              <a:t>3 Global lock sırası hangi koşulu kırar?</a:t>
            </a:r>
          </a:p>
          <a:p xmlns:a="http://schemas.openxmlformats.org/drawingml/2006/main">
            <a:r>
              <a:t>4 Trylock tekrarları ilerlemeyi garanti eder mi?</a:t>
            </a:r>
          </a:p>
          <a:p xmlns:a="http://schemas.openxmlformats.org/drawingml/2006/main">
            <a:r>
              <a:t>5 Recovery dış yan etkiyi otomatik geri alır mı?</a:t>
            </a:r>
          </a:p>
          <a:p xmlns:a="http://schemas.openxmlformats.org/drawingml/2006/main">
            <a:r>
              <a:t>6 Banker ve detection aynı Request bilgisini mi kullanır?</a:t>
            </a:r>
          </a:p>
          <a:p xmlns:a="http://schemas.openxmlformats.org/drawingml/2006/main">
            <a:r>
              <a:t/>
            </a:r>
          </a:p>
          <a:p xmlns:a="http://schemas.openxmlformats.org/drawingml/2006/main">
            <a:r>
              <a:t>Her soru için doğru sonuca 1, model ve mekanizma açıklamasına 1 puan ver: toplam 12. 9/12 bir çalışma hedefi olabilir; 1,2 ve6’da gerekçe eksikse örneğe dön. Bu resmî not veya ölçülmüş öğrenme başarısı iddiası değildir. En iyi anladığın gerçek hayat bağlantısını ve hâlâ karışan ayrımı seç. Hafta 5’e köprü: process’lere ayrı bellek görünümü nasıl sağlanır? Bu haftanın içerik kaynağı resmî kapsam sayfasıdır; yayımlanmamış PDF için slayt atfı yoktur.</a:t>
            </a:r>
          </a:p>
          <a:p xmlns:a="http://schemas.openxmlformats.org/drawingml/2006/main">
            <a:r>
              <a:t/>
            </a:r>
          </a:p>
          <a:p xmlns:a="http://schemas.openxmlformats.org/drawingml/2006/main">
            <a:r>
              <a:t>SORUNUN YANITI: 1 Hayır. 2 Hayır. 3 Circular wait. 4 Hayır; livelock/starvation mümkün. 5 Hayır. 6 Hayır; Banker, Need = Max − Allocation vektörünü; detection, mevcut outstanding Request vektörünü kullanır.</a:t>
            </a:r>
          </a:p>
          <a:p xmlns:a="http://schemas.openxmlformats.org/drawingml/2006/main">
            <a:r>
              <a:t/>
            </a:r>
          </a:p>
          <a:p xmlns:a="http://schemas.openxmlformats.org/drawingml/2006/main">
            <a:r>
              <a:t>Bu hafta, yayımlanan resmî ders kapsamından özgün olarak geliştirilmiştir. Kontrol tarihinde Lecture04 PDF yayımlanmamıştır.</a:t>
            </a:r>
          </a:p>
          <a:p xmlns:a="http://schemas.openxmlformats.org/drawingml/2006/main">
            <a:r>
              <a:t/>
            </a:r>
          </a:p>
          <a:p xmlns:a="http://schemas.openxmlformats.org/drawingml/2006/main">
            <a:r>
              <a:t>https://mehmetgokturk.com/cse513/lecture-04.html</a:t>
            </a:r>
          </a:p>
          <a:p xmlns:a="http://schemas.openxmlformats.org/drawingml/2006/main">
            <a:r>
              <a:t/>
            </a:r>
          </a:p>
          <a:p xmlns:a="http://schemas.openxmlformats.org/drawingml/2006/main">
            <a:r>
              <a:t>https://os-book.com/OS10/slide-dir/index.html</a:t>
            </a:r>
          </a:p>
          <a:p xmlns:a="http://schemas.openxmlformats.org/drawingml/2006/main">
            <a:r>
              <a:t/>
            </a:r>
          </a:p>
          <a:p xmlns:a="http://schemas.openxmlformats.org/drawingml/2006/main">
            <a:r>
              <a:t>https://mehmetgokturk.com/cse513/materials/lecture04/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e5239bbffb45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a389e09bc54d2e" /><Relationship Type="http://schemas.openxmlformats.org/officeDocument/2006/relationships/slideLayout" Target="/ppt/slideLayouts/slideLayout1.xml" Id="Rb9cf54aa274e47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cf54aa274e47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0b0e4fee634153" /><Relationship Type="http://schemas.openxmlformats.org/officeDocument/2006/relationships/image" Target="/ppt/media/image.png" Id="R2bebfc9ebfa34dd8" /><Relationship Type="http://schemas.openxmlformats.org/officeDocument/2006/relationships/notesSlide" Target="/ppt/notesSlides/notesSlide1.xml" Id="R65dc59a50adc42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aa58fe50fb489e" /><Relationship Type="http://schemas.openxmlformats.org/officeDocument/2006/relationships/notesSlide" Target="/ppt/notesSlides/notesSlide2.xml" Id="R59060216804143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aceaa2694b4a23" /><Relationship Type="http://schemas.openxmlformats.org/officeDocument/2006/relationships/notesSlide" Target="/ppt/notesSlides/notesSlide3.xml" Id="R1b193b77b19243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2b0537504248f2" /><Relationship Type="http://schemas.openxmlformats.org/officeDocument/2006/relationships/notesSlide" Target="/ppt/notesSlides/notesSlide4.xml" Id="R01cb6707af214a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d5d578e6324533" /><Relationship Type="http://schemas.openxmlformats.org/officeDocument/2006/relationships/notesSlide" Target="/ppt/notesSlides/notesSlide5.xml" Id="R18d83d4470b247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5353b56fd34d4c" /><Relationship Type="http://schemas.openxmlformats.org/officeDocument/2006/relationships/notesSlide" Target="/ppt/notesSlides/notesSlide6.xml" Id="Ra064f95475ac46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84d18a43164ae0" /><Relationship Type="http://schemas.openxmlformats.org/officeDocument/2006/relationships/notesSlide" Target="/ppt/notesSlides/notesSlide7.xml" Id="R314286dd11e54f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25328c28454ce7" /><Relationship Type="http://schemas.openxmlformats.org/officeDocument/2006/relationships/notesSlide" Target="/ppt/notesSlides/notesSlide8.xml" Id="R47584715a62d43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97648344904e0f" /><Relationship Type="http://schemas.openxmlformats.org/officeDocument/2006/relationships/notesSlide" Target="/ppt/notesSlides/notesSlide9.xml" Id="R4a3f906caca840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ca992626684d6f" /><Relationship Type="http://schemas.openxmlformats.org/officeDocument/2006/relationships/notesSlide" Target="/ppt/notesSlides/notesSlide10.xml" Id="Rfffad7d5d63f45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fa719fe9cd04540" /><Relationship Type="http://schemas.openxmlformats.org/officeDocument/2006/relationships/notesSlide" Target="/ppt/notesSlides/notesSlide11.xml" Id="R86eb87c08e4043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799dc8b3a054abc" /><Relationship Type="http://schemas.openxmlformats.org/officeDocument/2006/relationships/notesSlide" Target="/ppt/notesSlides/notesSlide12.xml" Id="R8d2b200dcd0e41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947f9fd6c3e4a96" /><Relationship Type="http://schemas.openxmlformats.org/officeDocument/2006/relationships/notesSlide" Target="/ppt/notesSlides/notesSlide13.xml" Id="Re888968cf3c245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4bacccf461245ec" /><Relationship Type="http://schemas.openxmlformats.org/officeDocument/2006/relationships/notesSlide" Target="/ppt/notesSlides/notesSlide14.xml" Id="Raf45517b47c94ef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711f8cff26347e4" /><Relationship Type="http://schemas.openxmlformats.org/officeDocument/2006/relationships/notesSlide" Target="/ppt/notesSlides/notesSlide15.xml" Id="R54befd8586fd42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1b66cbc29f34caa" /><Relationship Type="http://schemas.openxmlformats.org/officeDocument/2006/relationships/notesSlide" Target="/ppt/notesSlides/notesSlide16.xml" Id="R9f4d4537835d49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41bb83d6f504fab" /><Relationship Type="http://schemas.openxmlformats.org/officeDocument/2006/relationships/notesSlide" Target="/ppt/notesSlides/notesSlide17.xml" Id="R785e8c7daf6d4f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6578d3b150c4350" /><Relationship Type="http://schemas.openxmlformats.org/officeDocument/2006/relationships/notesSlide" Target="/ppt/notesSlides/notesSlide18.xml" Id="R595f0585b60d473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f8c78ff3c4c4f79" /><Relationship Type="http://schemas.openxmlformats.org/officeDocument/2006/relationships/notesSlide" Target="/ppt/notesSlides/notesSlide19.xml" Id="R60c91134d4824dc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29e04a555f345b8" /><Relationship Type="http://schemas.openxmlformats.org/officeDocument/2006/relationships/notesSlide" Target="/ppt/notesSlides/notesSlide20.xml" Id="R44c427f34577453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639af105cb64907" /><Relationship Type="http://schemas.openxmlformats.org/officeDocument/2006/relationships/notesSlide" Target="/ppt/notesSlides/notesSlide21.xml" Id="Raa074baaed65409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70c53dc59954d6d" /><Relationship Type="http://schemas.openxmlformats.org/officeDocument/2006/relationships/notesSlide" Target="/ppt/notesSlides/notesSlide22.xml" Id="Rc6d86d7bac2c49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28bc67b448c44a2" /><Relationship Type="http://schemas.openxmlformats.org/officeDocument/2006/relationships/notesSlide" Target="/ppt/notesSlides/notesSlide23.xml" Id="Re7cc395defbe403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e09b40afe94464d" /><Relationship Type="http://schemas.openxmlformats.org/officeDocument/2006/relationships/notesSlide" Target="/ppt/notesSlides/notesSlide24.xml" Id="R0f12220190ef41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c9182ab5ec14f04" /><Relationship Type="http://schemas.openxmlformats.org/officeDocument/2006/relationships/notesSlide" Target="/ppt/notesSlides/notesSlide25.xml" Id="Ra5964733bb8643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deb1eed11544caf" /><Relationship Type="http://schemas.openxmlformats.org/officeDocument/2006/relationships/notesSlide" Target="/ppt/notesSlides/notesSlide26.xml" Id="Rd2035e126d8b43d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52c28ad72374d13" /><Relationship Type="http://schemas.openxmlformats.org/officeDocument/2006/relationships/notesSlide" Target="/ppt/notesSlides/notesSlide27.xml" Id="R8843c4ad421c475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601374096084d89" /><Relationship Type="http://schemas.openxmlformats.org/officeDocument/2006/relationships/notesSlide" Target="/ppt/notesSlides/notesSlide28.xml" Id="R7ac2aeb63585441f"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bebfc9ebfa34dd8"/>
          <a:stretch xmlns:a="http://schemas.openxmlformats.org/drawingml/2006/main"/>
        </p:blipFill>
        <p:spPr>
          <a:xfrm xmlns:a="http://schemas.openxmlformats.org/drawingml/2006/main">
            <a:off x="6667500" y="0"/>
            <a:ext cx="5143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E76546D-E08E-43B5-9816-B8864312622E}"/>
              </a:ext>
            </a:extLst>
          </p:cNvPr>
          <p:cNvSpPr>
            <a:spLocks xmlns:a="http://schemas.openxmlformats.org/drawingml/2006/main" noGrp="1"/>
          </p:cNvSpPr>
          <p:nvPr/>
        </p:nvSpPr>
        <p:spPr>
          <a:xfrm xmlns:a="http://schemas.openxmlformats.org/drawingml/2006/main">
            <a:off x="571500" y="619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87E83"/>
                </a:solidFill>
                <a:latin typeface="Helvetica Neue"/>
                <a:ea typeface="Helvetica Neue"/>
                <a:cs typeface="Helvetica Neue"/>
              </a:defRPr>
            </a:pPr>
            <a:r>
              <a:rPr sz="1725" b="1">
                <a:solidFill>
                  <a:srgbClr val="087E83"/>
                </a:solidFill>
                <a:latin typeface="Helvetica Neue"/>
                <a:ea typeface="Helvetica Neue"/>
                <a:cs typeface="Helvetica Neue"/>
              </a:rPr>
              <a:t>CSE513 · HAFTA 4</a:t>
            </a:r>
          </a:p>
        </p:txBody>
      </p:sp>
      <p:sp>
        <p:nvSpPr>
          <p:cNvPr id="3" name="">
            <a:extLst xmlns:a="http://schemas.openxmlformats.org/drawingml/2006/main">
              <a:ext uri="{FF2B5EF4-FFF2-40B4-BE49-F238E27FC236}">
                <a16:creationId xmlns:a16="http://schemas.microsoft.com/office/drawing/2014/main" id="{DFF4DAEE-29E4-4454-BB4A-9B7F7E71F49B}"/>
              </a:ext>
            </a:extLst>
          </p:cNvPr>
          <p:cNvSpPr>
            <a:spLocks xmlns:a="http://schemas.openxmlformats.org/drawingml/2006/main" noGrp="1"/>
          </p:cNvSpPr>
          <p:nvPr/>
        </p:nvSpPr>
        <p:spPr>
          <a:xfrm xmlns:a="http://schemas.openxmlformats.org/drawingml/2006/main">
            <a:off x="571500" y="1476375"/>
            <a:ext cx="5476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Herkes bekliyorsa</a:t>
            </a:r>
          </a:p>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kim ilerleyecek?</a:t>
            </a:r>
          </a:p>
        </p:txBody>
      </p:sp>
      <p:sp>
        <p:nvSpPr>
          <p:cNvPr id="4" name="">
            <a:extLst xmlns:a="http://schemas.openxmlformats.org/drawingml/2006/main">
              <a:ext uri="{FF2B5EF4-FFF2-40B4-BE49-F238E27FC236}">
                <a16:creationId xmlns:a16="http://schemas.microsoft.com/office/drawing/2014/main" id="{EE35C92B-3894-43C3-A6C9-7CB9E7110B32}"/>
              </a:ext>
            </a:extLst>
          </p:cNvPr>
          <p:cNvSpPr>
            <a:spLocks xmlns:a="http://schemas.openxmlformats.org/drawingml/2006/main" noGrp="1"/>
          </p:cNvSpPr>
          <p:nvPr/>
        </p:nvSpPr>
        <p:spPr>
          <a:xfrm xmlns:a="http://schemas.openxmlformats.org/drawingml/2006/main">
            <a:off x="571500" y="361950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22C42"/>
                </a:solidFill>
                <a:latin typeface="Helvetica Neue"/>
                <a:ea typeface="Helvetica Neue"/>
                <a:cs typeface="Helvetica Neue"/>
              </a:defRPr>
            </a:pPr>
            <a:r>
              <a:rPr sz="2175" b="0">
                <a:solidFill>
                  <a:srgbClr val="122C42"/>
                </a:solidFill>
                <a:latin typeface="Helvetica Neue"/>
                <a:ea typeface="Helvetica Neue"/>
                <a:cs typeface="Helvetica Neue"/>
              </a:rPr>
              <a:t>Deadlock ve kaynak tahsisi: ilerlemeyi kim mümkün kılar?</a:t>
            </a:r>
          </a:p>
        </p:txBody>
      </p:sp>
      <p:sp>
        <p:nvSpPr>
          <p:cNvPr id="5" name="">
            <a:extLst xmlns:a="http://schemas.openxmlformats.org/drawingml/2006/main">
              <a:ext uri="{FF2B5EF4-FFF2-40B4-BE49-F238E27FC236}">
                <a16:creationId xmlns:a16="http://schemas.microsoft.com/office/drawing/2014/main" id="{7D8DD5CF-AD70-4D18-B108-C90B86D01B20}"/>
              </a:ext>
            </a:extLst>
          </p:cNvPr>
          <p:cNvSpPr>
            <a:spLocks xmlns:a="http://schemas.openxmlformats.org/drawingml/2006/main" noGrp="1"/>
          </p:cNvSpPr>
          <p:nvPr/>
        </p:nvSpPr>
        <p:spPr>
          <a:xfrm xmlns:a="http://schemas.openxmlformats.org/drawingml/2006/main">
            <a:off x="571500" y="561975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46225"/>
                </a:solidFill>
                <a:latin typeface="Helvetica Neue"/>
                <a:ea typeface="Helvetica Neue"/>
                <a:cs typeface="Helvetica Neue"/>
              </a:defRPr>
            </a:pPr>
            <a:r>
              <a:rPr sz="1800" b="1">
                <a:solidFill>
                  <a:srgbClr val="C46225"/>
                </a:solidFill>
                <a:latin typeface="Helvetica Neue"/>
                <a:ea typeface="Helvetica Neue"/>
                <a:cs typeface="Helvetica Neue"/>
              </a:rPr>
              <a:t>Tahmin et · dene · gerekçelendir</a:t>
            </a:r>
          </a:p>
        </p:txBody>
      </p:sp>
      <p:sp>
        <p:nvSpPr>
          <p:cNvPr id="6" name="">
            <a:extLst xmlns:a="http://schemas.openxmlformats.org/drawingml/2006/main">
              <a:ext uri="{FF2B5EF4-FFF2-40B4-BE49-F238E27FC236}">
                <a16:creationId xmlns:a16="http://schemas.microsoft.com/office/drawing/2014/main" id="{B017CAEC-A1FD-4BA0-AF38-086869551559}"/>
              </a:ext>
            </a:extLst>
          </p:cNvPr>
          <p:cNvSpPr>
            <a:spLocks xmlns:a="http://schemas.openxmlformats.org/drawingml/2006/main" noGrp="1"/>
          </p:cNvSpPr>
          <p:nvPr/>
        </p:nvSpPr>
        <p:spPr>
          <a:xfrm xmlns:a="http://schemas.openxmlformats.org/drawingml/2006/main">
            <a:off x="571500" y="6200775"/>
            <a:ext cx="557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4D606A"/>
                </a:solidFill>
                <a:latin typeface="Helvetica Neue"/>
                <a:ea typeface="Helvetica Neue"/>
                <a:cs typeface="Helvetica Neue"/>
              </a:defRPr>
            </a:pPr>
            <a:r>
              <a:rPr sz="1350" b="0">
                <a:solidFill>
                  <a:srgbClr val="4D606A"/>
                </a:solidFill>
                <a:latin typeface="Helvetica Neue"/>
                <a:ea typeface="Helvetica Neue"/>
                <a:cs typeface="Helvetica Neue"/>
              </a:rPr>
              <a:t>Yayımlanan haftalık kapsamın özgün uyarlaması</a:t>
            </a:r>
          </a:p>
        </p:txBody>
      </p:sp>
    </p:spTree>
    <p:extLst>
      <p:ext uri="{BB962C8B-B14F-4D97-AF65-F5344CB8AC3E}">
        <p14:creationId xmlns:p14="http://schemas.microsoft.com/office/powerpoint/2010/main" val="554622692"/>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F1B0E4-2B68-43F7-A2EE-E4F5D94AF59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Bu haftanın hedefi: ilerlemeyi açıklamak</a:t>
            </a:r>
          </a:p>
        </p:txBody>
      </p:sp>
      <p:sp>
        <p:nvSpPr>
          <p:cNvPr id="2" name="">
            <a:extLst xmlns:a="http://schemas.openxmlformats.org/drawingml/2006/main">
              <a:ext uri="{FF2B5EF4-FFF2-40B4-BE49-F238E27FC236}">
                <a16:creationId xmlns:a16="http://schemas.microsoft.com/office/drawing/2014/main" id="{417094B4-C418-4626-AC46-F523BFD533BB}"/>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A0ED2FF-B9BF-407E-B343-26D1E506AA6C}"/>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Dört deadlock koşulunu tanı</a:t>
            </a:r>
          </a:p>
        </p:txBody>
      </p:sp>
      <p:sp>
        <p:nvSpPr>
          <p:cNvPr id="4" name="">
            <a:extLst xmlns:a="http://schemas.openxmlformats.org/drawingml/2006/main">
              <a:ext uri="{FF2B5EF4-FFF2-40B4-BE49-F238E27FC236}">
                <a16:creationId xmlns:a16="http://schemas.microsoft.com/office/drawing/2014/main" id="{767E3290-7F68-4283-9ADA-55B006C6529C}"/>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D0F718C-F69D-4293-9007-FD9C9542EA8F}"/>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Kaynak grafiğini doğru yorumla</a:t>
            </a:r>
          </a:p>
        </p:txBody>
      </p:sp>
      <p:sp>
        <p:nvSpPr>
          <p:cNvPr id="6" name="">
            <a:extLst xmlns:a="http://schemas.openxmlformats.org/drawingml/2006/main">
              <a:ext uri="{FF2B5EF4-FFF2-40B4-BE49-F238E27FC236}">
                <a16:creationId xmlns:a16="http://schemas.microsoft.com/office/drawing/2014/main" id="{C2BB234F-7CC2-4A06-A30F-F341165DE6E5}"/>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81F868A-7AE5-40A6-AEF9-98C45210CA12}"/>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Safe ile unsafe durumu ayır</a:t>
            </a:r>
          </a:p>
        </p:txBody>
      </p:sp>
      <p:sp>
        <p:nvSpPr>
          <p:cNvPr id="8" name="">
            <a:extLst xmlns:a="http://schemas.openxmlformats.org/drawingml/2006/main">
              <a:ext uri="{FF2B5EF4-FFF2-40B4-BE49-F238E27FC236}">
                <a16:creationId xmlns:a16="http://schemas.microsoft.com/office/drawing/2014/main" id="{3960528F-CA65-45E1-9C85-1EA112E20544}"/>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6090982C-FF6B-4810-9600-947C70E65B61}"/>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Çözümün maliyetini ve sınırını açıkla</a:t>
            </a:r>
          </a:p>
        </p:txBody>
      </p:sp>
      <p:sp>
        <p:nvSpPr>
          <p:cNvPr id="10" name="">
            <a:extLst xmlns:a="http://schemas.openxmlformats.org/drawingml/2006/main">
              <a:ext uri="{FF2B5EF4-FFF2-40B4-BE49-F238E27FC236}">
                <a16:creationId xmlns:a16="http://schemas.microsoft.com/office/drawing/2014/main" id="{0BB022A8-D8F7-4072-85D7-734F124F928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11" name="">
            <a:extLst xmlns:a="http://schemas.openxmlformats.org/drawingml/2006/main">
              <a:ext uri="{FF2B5EF4-FFF2-40B4-BE49-F238E27FC236}">
                <a16:creationId xmlns:a16="http://schemas.microsoft.com/office/drawing/2014/main" id="{D7391570-5416-46C0-8004-D9D4A578CC3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28</a:t>
            </a:r>
          </a:p>
        </p:txBody>
      </p:sp>
    </p:spTree>
    <p:extLst>
      <p:ext uri="{BB962C8B-B14F-4D97-AF65-F5344CB8AC3E}">
        <p14:creationId xmlns:p14="http://schemas.microsoft.com/office/powerpoint/2010/main" val="617030939"/>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AF3F71-C7BD-4B12-B597-F38EF0EADFD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Mutfakta iki araç, iki iş akışı</a:t>
            </a:r>
          </a:p>
        </p:txBody>
      </p:sp>
      <p:sp>
        <p:nvSpPr>
          <p:cNvPr id="2" name="">
            <a:extLst xmlns:a="http://schemas.openxmlformats.org/drawingml/2006/main">
              <a:ext uri="{FF2B5EF4-FFF2-40B4-BE49-F238E27FC236}">
                <a16:creationId xmlns:a16="http://schemas.microsoft.com/office/drawing/2014/main" id="{02559320-2E9A-4FB1-BBF8-5282D58D8DBB}"/>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A akışı</a:t>
            </a:r>
          </a:p>
        </p:txBody>
      </p:sp>
      <p:sp>
        <p:nvSpPr>
          <p:cNvPr id="3" name="">
            <a:extLst xmlns:a="http://schemas.openxmlformats.org/drawingml/2006/main">
              <a:ext uri="{FF2B5EF4-FFF2-40B4-BE49-F238E27FC236}">
                <a16:creationId xmlns:a16="http://schemas.microsoft.com/office/drawing/2014/main" id="{37B1F0EF-F469-45CC-B61D-F89CC15DAC5F}"/>
              </a:ext>
            </a:extLst>
          </p:cNvPr>
          <p:cNvSpPr>
            <a:spLocks xmlns:a="http://schemas.openxmlformats.org/drawingml/2006/main" noGrp="1"/>
          </p:cNvSpPr>
          <p:nvPr/>
        </p:nvSpPr>
        <p:spPr>
          <a:xfrm xmlns:a="http://schemas.openxmlformats.org/drawingml/2006/main">
            <a:off x="609600" y="2714625"/>
            <a:ext cx="52959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Bıçağı tutar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Tahtayı bekler</a:t>
            </a:r>
          </a:p>
        </p:txBody>
      </p:sp>
      <p:sp>
        <p:nvSpPr>
          <p:cNvPr id="4" name="">
            <a:extLst xmlns:a="http://schemas.openxmlformats.org/drawingml/2006/main">
              <a:ext uri="{FF2B5EF4-FFF2-40B4-BE49-F238E27FC236}">
                <a16:creationId xmlns:a16="http://schemas.microsoft.com/office/drawing/2014/main" id="{1B4C0ABD-476C-4CC4-B33B-B68DE78E98DA}"/>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B akışı</a:t>
            </a:r>
          </a:p>
        </p:txBody>
      </p:sp>
      <p:sp>
        <p:nvSpPr>
          <p:cNvPr id="5" name="">
            <a:extLst xmlns:a="http://schemas.openxmlformats.org/drawingml/2006/main">
              <a:ext uri="{FF2B5EF4-FFF2-40B4-BE49-F238E27FC236}">
                <a16:creationId xmlns:a16="http://schemas.microsoft.com/office/drawing/2014/main" id="{30DEBD1D-0D7B-4C4D-A5F2-F66C75E9B774}"/>
              </a:ext>
            </a:extLst>
          </p:cNvPr>
          <p:cNvSpPr>
            <a:spLocks xmlns:a="http://schemas.openxmlformats.org/drawingml/2006/main" noGrp="1"/>
          </p:cNvSpPr>
          <p:nvPr/>
        </p:nvSpPr>
        <p:spPr>
          <a:xfrm xmlns:a="http://schemas.openxmlformats.org/drawingml/2006/main">
            <a:off x="6286500" y="2714625"/>
            <a:ext cx="52959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Tahtayı tutar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Bıçağı bekler</a:t>
            </a:r>
          </a:p>
        </p:txBody>
      </p:sp>
      <p:sp>
        <p:nvSpPr>
          <p:cNvPr id="6" name="">
            <a:extLst xmlns:a="http://schemas.openxmlformats.org/drawingml/2006/main">
              <a:ext uri="{FF2B5EF4-FFF2-40B4-BE49-F238E27FC236}">
                <a16:creationId xmlns:a16="http://schemas.microsoft.com/office/drawing/2014/main" id="{B3A785DD-0D75-4448-9B7A-8A9B293EFAD5}"/>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CPU sayısını artırmak sorunu çözer mi?</a:t>
            </a:r>
          </a:p>
        </p:txBody>
      </p:sp>
      <p:sp>
        <p:nvSpPr>
          <p:cNvPr id="7" name="">
            <a:extLst xmlns:a="http://schemas.openxmlformats.org/drawingml/2006/main">
              <a:ext uri="{FF2B5EF4-FFF2-40B4-BE49-F238E27FC236}">
                <a16:creationId xmlns:a16="http://schemas.microsoft.com/office/drawing/2014/main" id="{9DCD3273-609A-4FAB-A4F1-BAF74DABBB5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8" name="">
            <a:extLst xmlns:a="http://schemas.openxmlformats.org/drawingml/2006/main">
              <a:ext uri="{FF2B5EF4-FFF2-40B4-BE49-F238E27FC236}">
                <a16:creationId xmlns:a16="http://schemas.microsoft.com/office/drawing/2014/main" id="{4FB21947-0EB9-4E4A-9F98-4D2329E6869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28</a:t>
            </a:r>
          </a:p>
        </p:txBody>
      </p:sp>
    </p:spTree>
    <p:extLst>
      <p:ext uri="{BB962C8B-B14F-4D97-AF65-F5344CB8AC3E}">
        <p14:creationId xmlns:p14="http://schemas.microsoft.com/office/powerpoint/2010/main" val="1607033011"/>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3603AB-F139-4936-8D21-EA6E4F6E5CF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Kilitleme doğru, sıra tehlikeli</a:t>
            </a:r>
          </a:p>
        </p:txBody>
      </p:sp>
      <p:sp>
        <p:nvSpPr>
          <p:cNvPr id="2" name="">
            <a:extLst xmlns:a="http://schemas.openxmlformats.org/drawingml/2006/main">
              <a:ext uri="{FF2B5EF4-FFF2-40B4-BE49-F238E27FC236}">
                <a16:creationId xmlns:a16="http://schemas.microsoft.com/office/drawing/2014/main" id="{CA07A73A-DDDE-4F38-98E8-D67BF4674512}"/>
              </a:ext>
            </a:extLst>
          </p:cNvPr>
          <p:cNvSpPr>
            <a:spLocks xmlns:a="http://schemas.openxmlformats.org/drawingml/2006/main" noGrp="1"/>
          </p:cNvSpPr>
          <p:nvPr/>
        </p:nvSpPr>
        <p:spPr>
          <a:xfrm xmlns:a="http://schemas.openxmlformats.org/drawingml/2006/main">
            <a:off x="742950" y="2095500"/>
            <a:ext cx="10715625"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 lock(L1); lock(L2); work(); unlock(L2); unlock(L1)</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 lock(L2); lock(L1); work(); unlock(L1); unlock(L2)</a:t>
            </a:r>
          </a:p>
        </p:txBody>
      </p:sp>
      <p:sp>
        <p:nvSpPr>
          <p:cNvPr id="3" name="">
            <a:extLst xmlns:a="http://schemas.openxmlformats.org/drawingml/2006/main">
              <a:ext uri="{FF2B5EF4-FFF2-40B4-BE49-F238E27FC236}">
                <a16:creationId xmlns:a16="http://schemas.microsoft.com/office/drawing/2014/main" id="{D182638F-B2E9-470E-AFA8-8D01A09AAF0D}"/>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İki cache kilidi</a:t>
            </a:r>
          </a:p>
        </p:txBody>
      </p:sp>
      <p:sp>
        <p:nvSpPr>
          <p:cNvPr id="4" name="">
            <a:extLst xmlns:a="http://schemas.openxmlformats.org/drawingml/2006/main">
              <a:ext uri="{FF2B5EF4-FFF2-40B4-BE49-F238E27FC236}">
                <a16:creationId xmlns:a16="http://schemas.microsoft.com/office/drawing/2014/main" id="{5EFC2B24-3F6E-46A8-A51C-B34225084995}"/>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İki worker farklı cache’leri güncelliyor.</a:t>
            </a:r>
          </a:p>
        </p:txBody>
      </p:sp>
      <p:sp>
        <p:nvSpPr>
          <p:cNvPr id="5" name="">
            <a:extLst xmlns:a="http://schemas.openxmlformats.org/drawingml/2006/main">
              <a:ext uri="{FF2B5EF4-FFF2-40B4-BE49-F238E27FC236}">
                <a16:creationId xmlns:a16="http://schemas.microsoft.com/office/drawing/2014/main" id="{373485D7-B11A-4970-83B5-B359A54C445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6" name="">
            <a:extLst xmlns:a="http://schemas.openxmlformats.org/drawingml/2006/main">
              <a:ext uri="{FF2B5EF4-FFF2-40B4-BE49-F238E27FC236}">
                <a16:creationId xmlns:a16="http://schemas.microsoft.com/office/drawing/2014/main" id="{62E0DE15-AED4-42D6-8B6E-5C803863596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28</a:t>
            </a:r>
          </a:p>
        </p:txBody>
      </p:sp>
    </p:spTree>
    <p:extLst>
      <p:ext uri="{BB962C8B-B14F-4D97-AF65-F5344CB8AC3E}">
        <p14:creationId xmlns:p14="http://schemas.microsoft.com/office/powerpoint/2010/main" val="748386478"/>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B55C76-52B7-45AF-BB3B-0FA6DB2ABDA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Deadlock için dört gerekli koşul</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5486400"/>
                <a:gridCol w="5486400"/>
              </a:tblGrid>
              <a:tr h="777240">
                <a:tc>
                  <a:txBody>
                    <a:bodyPr/>
                    <a:lstStyle/>
                    <a:p>
                      <a:r>
                        <a:rPr sz="1800" b="1">
                          <a:solidFill>
                            <a:srgbClr val="FFFFFF"/>
                          </a:solidFill>
                          <a:latin typeface="Helvetica Neue"/>
                          <a:ea typeface="Helvetica Neue"/>
                          <a:cs typeface="Helvetica Neue"/>
                        </a:rPr>
                        <a:t>Koşul</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Bu örnekte</a:t>
                      </a:r>
                    </a:p>
                  </a:txBody>
                  <a:tcPr marL="114300" marR="114300" marT="47625" marB="47625" anchor="ctr">
                    <a:solidFill>
                      <a:srgbClr val="122C42"/>
                    </a:solidFill>
                  </a:tcPr>
                </a:tc>
              </a:tr>
              <a:tr h="777240">
                <a:tc>
                  <a:txBody>
                    <a:bodyPr/>
                    <a:lstStyle/>
                    <a:p>
                      <a:r>
                        <a:rPr sz="1800" b="0">
                          <a:solidFill>
                            <a:srgbClr val="122C42"/>
                          </a:solidFill>
                          <a:latin typeface="Helvetica Neue"/>
                          <a:ea typeface="Helvetica Neue"/>
                          <a:cs typeface="Helvetica Neue"/>
                        </a:rPr>
                        <a:t>Mutual exclusion</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Bıçak ve tahta tek holder</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Hold and wait</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Birini tutarken diğerini ister</a:t>
                      </a:r>
                    </a:p>
                  </a:txBody>
                  <a:tcPr marL="114300" marR="114300" marT="47625" marB="47625" anchor="ctr">
                    <a:solidFill>
                      <a:srgbClr val="ECF0EC"/>
                    </a:solidFill>
                  </a:tcPr>
                </a:tc>
              </a:tr>
              <a:tr h="777240">
                <a:tc>
                  <a:txBody>
                    <a:bodyPr/>
                    <a:lstStyle/>
                    <a:p>
                      <a:r>
                        <a:rPr sz="1800" b="0">
                          <a:solidFill>
                            <a:srgbClr val="122C42"/>
                          </a:solidFill>
                          <a:latin typeface="Helvetica Neue"/>
                          <a:ea typeface="Helvetica Neue"/>
                          <a:cs typeface="Helvetica Neue"/>
                        </a:rPr>
                        <a:t>No preemption</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Araç zorla geri alınmaz</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Circular wait</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A → B → A bekleme halkası</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1B6AE2C7-AC26-4C2A-92CA-A34C9306733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4" name="">
            <a:extLst xmlns:a="http://schemas.openxmlformats.org/drawingml/2006/main">
              <a:ext uri="{FF2B5EF4-FFF2-40B4-BE49-F238E27FC236}">
                <a16:creationId xmlns:a16="http://schemas.microsoft.com/office/drawing/2014/main" id="{F30D24F4-29DA-481A-9D8B-33CD839587C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28</a:t>
            </a:r>
          </a:p>
        </p:txBody>
      </p:sp>
    </p:spTree>
    <p:extLst>
      <p:ext uri="{BB962C8B-B14F-4D97-AF65-F5344CB8AC3E}">
        <p14:creationId xmlns:p14="http://schemas.microsoft.com/office/powerpoint/2010/main" val="501815773"/>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16271D-3AAE-46B5-B12A-D9258A9D8F4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Dört koşul: hangisini değiştirdin?</a:t>
            </a:r>
          </a:p>
        </p:txBody>
      </p:sp>
      <p:sp>
        <p:nvSpPr>
          <p:cNvPr id="2" name="">
            <a:extLst xmlns:a="http://schemas.openxmlformats.org/drawingml/2006/main">
              <a:ext uri="{FF2B5EF4-FFF2-40B4-BE49-F238E27FC236}">
                <a16:creationId xmlns:a16="http://schemas.microsoft.com/office/drawing/2014/main" id="{6A96196D-8B78-4B7D-BD22-D82CF8BE68D3}"/>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C8AF3387-A36C-47E2-BC4C-3DC552345C0B}"/>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Tüm araçları birlikte ayırt</a:t>
            </a:r>
          </a:p>
        </p:txBody>
      </p:sp>
      <p:sp>
        <p:nvSpPr>
          <p:cNvPr id="4" name="">
            <a:extLst xmlns:a="http://schemas.openxmlformats.org/drawingml/2006/main">
              <a:ext uri="{FF2B5EF4-FFF2-40B4-BE49-F238E27FC236}">
                <a16:creationId xmlns:a16="http://schemas.microsoft.com/office/drawing/2014/main" id="{2D894161-C9F2-47B0-B3A7-326DB3786C69}"/>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D2232779-094E-4A01-B709-45A8F6925FCF}"/>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Herkes araçları aynı sırayla alsın</a:t>
            </a:r>
          </a:p>
        </p:txBody>
      </p:sp>
      <p:sp>
        <p:nvSpPr>
          <p:cNvPr id="6" name="">
            <a:extLst xmlns:a="http://schemas.openxmlformats.org/drawingml/2006/main">
              <a:ext uri="{FF2B5EF4-FFF2-40B4-BE49-F238E27FC236}">
                <a16:creationId xmlns:a16="http://schemas.microsoft.com/office/drawing/2014/main" id="{929376D1-D7C0-4082-8C36-658FE1B4FA7E}"/>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009507F-360B-42E0-95F1-E4533A0370CD}"/>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İkinci araç yoksa ilkini bırak</a:t>
            </a:r>
          </a:p>
        </p:txBody>
      </p:sp>
      <p:sp>
        <p:nvSpPr>
          <p:cNvPr id="8" name="">
            <a:extLst xmlns:a="http://schemas.openxmlformats.org/drawingml/2006/main">
              <a:ext uri="{FF2B5EF4-FFF2-40B4-BE49-F238E27FC236}">
                <a16:creationId xmlns:a16="http://schemas.microsoft.com/office/drawing/2014/main" id="{BD85E656-229C-4B88-9938-748F2AA2AC3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9" name="">
            <a:extLst xmlns:a="http://schemas.openxmlformats.org/drawingml/2006/main">
              <a:ext uri="{FF2B5EF4-FFF2-40B4-BE49-F238E27FC236}">
                <a16:creationId xmlns:a16="http://schemas.microsoft.com/office/drawing/2014/main" id="{B520834B-42B8-4A9A-A1BE-77AA549BD80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28</a:t>
            </a:r>
          </a:p>
        </p:txBody>
      </p:sp>
    </p:spTree>
    <p:extLst>
      <p:ext uri="{BB962C8B-B14F-4D97-AF65-F5344CB8AC3E}">
        <p14:creationId xmlns:p14="http://schemas.microsoft.com/office/powerpoint/2010/main" val="807784706"/>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496D86-A0DF-4ECC-8375-6F067AF527B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Kaynak tahsis grafiğinin sözlüğü</a:t>
            </a:r>
          </a:p>
        </p:txBody>
      </p:sp>
      <p:graphicFrame>
        <p:nvGraphicFramePr>
          <p:cNvPr id="8" name=""/>
          <p:cNvGraphicFramePr/>
          <p:nvPr/>
        </p:nvGraphicFramePr>
        <p:xfrm>
          <a:off xmlns:a="http://schemas.openxmlformats.org/drawingml/2006/main" x="609600" y="1857375"/>
          <a:ext xmlns:a="http://schemas.openxmlformats.org/drawingml/2006/main" cx="10972800" cy="3362325"/>
        </p:xfrm>
        <a:graphic xmlns:a="http://schemas.openxmlformats.org/drawingml/2006/main">
          <a:graphicData uri="http://schemas.openxmlformats.org/drawingml/2006/table">
            <a:tbl>
              <a:tblPr/>
              <a:tblGrid>
                <a:gridCol w="5486400"/>
                <a:gridCol w="5486400"/>
              </a:tblGrid>
              <a:tr h="840581">
                <a:tc>
                  <a:txBody>
                    <a:bodyPr/>
                    <a:lstStyle/>
                    <a:p>
                      <a:r>
                        <a:rPr sz="1800" b="1">
                          <a:solidFill>
                            <a:srgbClr val="FFFFFF"/>
                          </a:solidFill>
                          <a:latin typeface="Helvetica Neue"/>
                          <a:ea typeface="Helvetica Neue"/>
                          <a:cs typeface="Helvetica Neue"/>
                        </a:rPr>
                        <a:t>Gösterim</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Anlam</a:t>
                      </a:r>
                    </a:p>
                  </a:txBody>
                  <a:tcPr marL="114300" marR="114300" marT="47625" marB="47625" anchor="ctr">
                    <a:solidFill>
                      <a:srgbClr val="122C42"/>
                    </a:solidFill>
                  </a:tcPr>
                </a:tc>
              </a:tr>
              <a:tr h="840581">
                <a:tc>
                  <a:txBody>
                    <a:bodyPr/>
                    <a:lstStyle/>
                    <a:p>
                      <a:r>
                        <a:rPr sz="1800" b="0">
                          <a:solidFill>
                            <a:srgbClr val="122C42"/>
                          </a:solidFill>
                          <a:latin typeface="Helvetica Neue"/>
                          <a:ea typeface="Helvetica Neue"/>
                          <a:cs typeface="Helvetica Neue"/>
                        </a:rPr>
                        <a:t>P → R</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 R instance’ı ister</a:t>
                      </a:r>
                    </a:p>
                  </a:txBody>
                  <a:tcPr marL="114300" marR="114300" marT="47625" marB="47625" anchor="ctr">
                    <a:solidFill>
                      <a:srgbClr val="FFFFFF"/>
                    </a:solidFill>
                  </a:tcPr>
                </a:tc>
              </a:tr>
              <a:tr h="840581">
                <a:tc>
                  <a:txBody>
                    <a:bodyPr/>
                    <a:lstStyle/>
                    <a:p>
                      <a:r>
                        <a:rPr sz="1800" b="0">
                          <a:solidFill>
                            <a:srgbClr val="122C42"/>
                          </a:solidFill>
                          <a:latin typeface="Helvetica Neue"/>
                          <a:ea typeface="Helvetica Neue"/>
                          <a:cs typeface="Helvetica Neue"/>
                        </a:rPr>
                        <a:t>R → P</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R instance’ı P’ye atanmış</a:t>
                      </a:r>
                    </a:p>
                  </a:txBody>
                  <a:tcPr marL="114300" marR="114300" marT="47625" marB="47625" anchor="ctr">
                    <a:solidFill>
                      <a:srgbClr val="ECF0EC"/>
                    </a:solidFill>
                  </a:tcPr>
                </a:tc>
              </a:tr>
              <a:tr h="840581">
                <a:tc>
                  <a:txBody>
                    <a:bodyPr/>
                    <a:lstStyle/>
                    <a:p>
                      <a:r>
                        <a:rPr sz="1800" b="0">
                          <a:solidFill>
                            <a:srgbClr val="122C42"/>
                          </a:solidFill>
                          <a:latin typeface="Helvetica Neue"/>
                          <a:ea typeface="Helvetica Neue"/>
                          <a:cs typeface="Helvetica Neue"/>
                        </a:rPr>
                        <a:t>R içinde iki nokta</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Aynı türden iki instance</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8EE59BA-FA4D-4F78-803D-AA79B666FB25}"/>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Bağlantı havuzu</a:t>
            </a:r>
          </a:p>
        </p:txBody>
      </p:sp>
      <p:sp>
        <p:nvSpPr>
          <p:cNvPr id="4" name="">
            <a:extLst xmlns:a="http://schemas.openxmlformats.org/drawingml/2006/main">
              <a:ext uri="{FF2B5EF4-FFF2-40B4-BE49-F238E27FC236}">
                <a16:creationId xmlns:a16="http://schemas.microsoft.com/office/drawing/2014/main" id="{01386EE3-9D84-4D68-A7D0-F346DB69EEF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Bir istek ikinci bağlantıyı bekliyor.</a:t>
            </a:r>
          </a:p>
        </p:txBody>
      </p:sp>
      <p:sp>
        <p:nvSpPr>
          <p:cNvPr id="5" name="">
            <a:extLst xmlns:a="http://schemas.openxmlformats.org/drawingml/2006/main">
              <a:ext uri="{FF2B5EF4-FFF2-40B4-BE49-F238E27FC236}">
                <a16:creationId xmlns:a16="http://schemas.microsoft.com/office/drawing/2014/main" id="{3EDF386F-1EC9-47DE-91DC-B819E5441F2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6" name="">
            <a:extLst xmlns:a="http://schemas.openxmlformats.org/drawingml/2006/main">
              <a:ext uri="{FF2B5EF4-FFF2-40B4-BE49-F238E27FC236}">
                <a16:creationId xmlns:a16="http://schemas.microsoft.com/office/drawing/2014/main" id="{DA333FC9-4808-45D4-AC42-3DC1AE326F6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28</a:t>
            </a:r>
          </a:p>
        </p:txBody>
      </p:sp>
    </p:spTree>
    <p:extLst>
      <p:ext uri="{BB962C8B-B14F-4D97-AF65-F5344CB8AC3E}">
        <p14:creationId xmlns:p14="http://schemas.microsoft.com/office/powerpoint/2010/main" val="1170151888"/>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11F5C9-6D05-43BB-BE5C-9C4CCAB25A9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Çevrim var: model hangisi?</a:t>
            </a:r>
          </a:p>
        </p:txBody>
      </p:sp>
      <p:sp>
        <p:nvSpPr>
          <p:cNvPr id="2" name="">
            <a:extLst xmlns:a="http://schemas.openxmlformats.org/drawingml/2006/main">
              <a:ext uri="{FF2B5EF4-FFF2-40B4-BE49-F238E27FC236}">
                <a16:creationId xmlns:a16="http://schemas.microsoft.com/office/drawing/2014/main" id="{F83AA38E-C0BE-4518-9E95-E91573C2995E}"/>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Her türde tek instance</a:t>
            </a:r>
          </a:p>
        </p:txBody>
      </p:sp>
      <p:sp>
        <p:nvSpPr>
          <p:cNvPr id="3" name="">
            <a:extLst xmlns:a="http://schemas.openxmlformats.org/drawingml/2006/main">
              <a:ext uri="{FF2B5EF4-FFF2-40B4-BE49-F238E27FC236}">
                <a16:creationId xmlns:a16="http://schemas.microsoft.com/office/drawing/2014/main" id="{BF6AD01E-E5C7-4C3C-96D6-48F669C1A9BC}"/>
              </a:ext>
            </a:extLst>
          </p:cNvPr>
          <p:cNvSpPr>
            <a:spLocks xmlns:a="http://schemas.openxmlformats.org/drawingml/2006/main" noGrp="1"/>
          </p:cNvSpPr>
          <p:nvPr/>
        </p:nvSpPr>
        <p:spPr>
          <a:xfrm xmlns:a="http://schemas.openxmlformats.org/drawingml/2006/main">
            <a:off x="609600" y="2714625"/>
            <a:ext cx="52959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Çevrim ⇒ deadlock</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Model varsayımlarını belirt</a:t>
            </a:r>
          </a:p>
        </p:txBody>
      </p:sp>
      <p:sp>
        <p:nvSpPr>
          <p:cNvPr id="4" name="">
            <a:extLst xmlns:a="http://schemas.openxmlformats.org/drawingml/2006/main">
              <a:ext uri="{FF2B5EF4-FFF2-40B4-BE49-F238E27FC236}">
                <a16:creationId xmlns:a16="http://schemas.microsoft.com/office/drawing/2014/main" id="{8D2F2A9D-AFA6-4FC4-85AC-8A0BFBA24F64}"/>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Bir türde çok instance</a:t>
            </a:r>
          </a:p>
        </p:txBody>
      </p:sp>
      <p:sp>
        <p:nvSpPr>
          <p:cNvPr id="5" name="">
            <a:extLst xmlns:a="http://schemas.openxmlformats.org/drawingml/2006/main">
              <a:ext uri="{FF2B5EF4-FFF2-40B4-BE49-F238E27FC236}">
                <a16:creationId xmlns:a16="http://schemas.microsoft.com/office/drawing/2014/main" id="{B2E62F16-A0FA-45E2-8100-5DEAE1B32AEF}"/>
              </a:ext>
            </a:extLst>
          </p:cNvPr>
          <p:cNvSpPr>
            <a:spLocks xmlns:a="http://schemas.openxmlformats.org/drawingml/2006/main" noGrp="1"/>
          </p:cNvSpPr>
          <p:nvPr/>
        </p:nvSpPr>
        <p:spPr>
          <a:xfrm xmlns:a="http://schemas.openxmlformats.org/drawingml/2006/main">
            <a:off x="6286500" y="2714625"/>
            <a:ext cx="52959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Çevrim ⇒ incelemeye devam</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Tek başına deadlock kanıtı değil</a:t>
            </a:r>
          </a:p>
        </p:txBody>
      </p:sp>
      <p:sp>
        <p:nvSpPr>
          <p:cNvPr id="6" name="">
            <a:extLst xmlns:a="http://schemas.openxmlformats.org/drawingml/2006/main">
              <a:ext uri="{FF2B5EF4-FFF2-40B4-BE49-F238E27FC236}">
                <a16:creationId xmlns:a16="http://schemas.microsoft.com/office/drawing/2014/main" id="{29FFD91A-38A4-4180-A25B-228A8EB7774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7" name="">
            <a:extLst xmlns:a="http://schemas.openxmlformats.org/drawingml/2006/main">
              <a:ext uri="{FF2B5EF4-FFF2-40B4-BE49-F238E27FC236}">
                <a16:creationId xmlns:a16="http://schemas.microsoft.com/office/drawing/2014/main" id="{E64044FE-0AD3-4ABF-B437-3B6A4CEC029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28</a:t>
            </a:r>
          </a:p>
        </p:txBody>
      </p:sp>
    </p:spTree>
    <p:extLst>
      <p:ext uri="{BB962C8B-B14F-4D97-AF65-F5344CB8AC3E}">
        <p14:creationId xmlns:p14="http://schemas.microsoft.com/office/powerpoint/2010/main" val="831446407"/>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D985D9-0E48-498D-B861-6800E5DC5A5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Çok-instance karşı örneği</a:t>
            </a:r>
          </a:p>
        </p:txBody>
      </p:sp>
      <p:graphicFrame>
        <p:nvGraphicFramePr>
          <p:cNvPr id="7" name=""/>
          <p:cNvGraphicFramePr/>
          <p:nvPr/>
        </p:nvGraphicFramePr>
        <p:xfrm>
          <a:off xmlns:a="http://schemas.openxmlformats.org/drawingml/2006/main" x="609600" y="1857375"/>
          <a:ext xmlns:a="http://schemas.openxmlformats.org/drawingml/2006/main" cx="10972800" cy="3248025"/>
        </p:xfrm>
        <a:graphic xmlns:a="http://schemas.openxmlformats.org/drawingml/2006/main">
          <a:graphicData uri="http://schemas.openxmlformats.org/drawingml/2006/table">
            <a:tbl>
              <a:tblPr/>
              <a:tblGrid>
                <a:gridCol w="3657600"/>
                <a:gridCol w="3657600"/>
                <a:gridCol w="3657600"/>
              </a:tblGrid>
              <a:tr h="812006">
                <a:tc>
                  <a:txBody>
                    <a:bodyPr/>
                    <a:lstStyle/>
                    <a:p>
                      <a:r>
                        <a:rPr sz="1800" b="1">
                          <a:solidFill>
                            <a:srgbClr val="FFFFFF"/>
                          </a:solidFill>
                          <a:latin typeface="Helvetica Neue"/>
                          <a:ea typeface="Helvetica Neue"/>
                          <a:cs typeface="Helvetica Neue"/>
                        </a:rPr>
                        <a:t>Task</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Tutuyor</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İstiyor</a:t>
                      </a:r>
                    </a:p>
                  </a:txBody>
                  <a:tcPr marL="114300" marR="114300" marT="47625" marB="47625" anchor="ctr">
                    <a:solidFill>
                      <a:srgbClr val="122C42"/>
                    </a:solidFill>
                  </a:tcPr>
                </a:tc>
              </a:tr>
              <a:tr h="812006">
                <a:tc>
                  <a:txBody>
                    <a:bodyPr/>
                    <a:lstStyle/>
                    <a:p>
                      <a:r>
                        <a:rPr sz="1800" b="0">
                          <a:solidFill>
                            <a:srgbClr val="122C42"/>
                          </a:solidFill>
                          <a:latin typeface="Helvetica Neue"/>
                          <a:ea typeface="Helvetica Neue"/>
                          <a:cs typeface="Helvetica Neue"/>
                        </a:rPr>
                        <a:t>P1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R instance 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S</a:t>
                      </a:r>
                    </a:p>
                  </a:txBody>
                  <a:tcPr marL="114300" marR="114300" marT="47625" marB="47625" anchor="ctr">
                    <a:solidFill>
                      <a:srgbClr val="FFFFFF"/>
                    </a:solidFill>
                  </a:tcPr>
                </a:tc>
              </a:tr>
              <a:tr h="812006">
                <a:tc>
                  <a:txBody>
                    <a:bodyPr/>
                    <a:lstStyle/>
                    <a:p>
                      <a:r>
                        <a:rPr sz="1800" b="0">
                          <a:solidFill>
                            <a:srgbClr val="122C42"/>
                          </a:solidFill>
                          <a:latin typeface="Helvetica Neue"/>
                          <a:ea typeface="Helvetica Neue"/>
                          <a:cs typeface="Helvetica Neue"/>
                        </a:rPr>
                        <a:t>P2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S</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R</a:t>
                      </a:r>
                    </a:p>
                  </a:txBody>
                  <a:tcPr marL="114300" marR="114300" marT="47625" marB="47625" anchor="ctr">
                    <a:solidFill>
                      <a:srgbClr val="ECF0EC"/>
                    </a:solidFill>
                  </a:tcPr>
                </a:tc>
              </a:tr>
              <a:tr h="812006">
                <a:tc>
                  <a:txBody>
                    <a:bodyPr/>
                    <a:lstStyle/>
                    <a:p>
                      <a:r>
                        <a:rPr sz="1800" b="0">
                          <a:solidFill>
                            <a:srgbClr val="122C42"/>
                          </a:solidFill>
                          <a:latin typeface="Helvetica Neue"/>
                          <a:ea typeface="Helvetica Neue"/>
                          <a:cs typeface="Helvetica Neue"/>
                        </a:rPr>
                        <a:t>P3</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R instance 2</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Hiçbiri</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6FAF1B7-4F9A-4CA7-8AB1-4B8BDB97A32C}"/>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İlk kim bitirebilir?</a:t>
            </a:r>
          </a:p>
        </p:txBody>
      </p:sp>
      <p:sp>
        <p:nvSpPr>
          <p:cNvPr id="4" name="">
            <a:extLst xmlns:a="http://schemas.openxmlformats.org/drawingml/2006/main">
              <a:ext uri="{FF2B5EF4-FFF2-40B4-BE49-F238E27FC236}">
                <a16:creationId xmlns:a16="http://schemas.microsoft.com/office/drawing/2014/main" id="{0EA6221C-D816-43E2-987E-28FB1E3ADAB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5" name="">
            <a:extLst xmlns:a="http://schemas.openxmlformats.org/drawingml/2006/main">
              <a:ext uri="{FF2B5EF4-FFF2-40B4-BE49-F238E27FC236}">
                <a16:creationId xmlns:a16="http://schemas.microsoft.com/office/drawing/2014/main" id="{0997FC4A-1768-4D40-AE7A-5430271D0A3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28</a:t>
            </a:r>
          </a:p>
        </p:txBody>
      </p:sp>
    </p:spTree>
    <p:extLst>
      <p:ext uri="{BB962C8B-B14F-4D97-AF65-F5344CB8AC3E}">
        <p14:creationId xmlns:p14="http://schemas.microsoft.com/office/powerpoint/2010/main" val="828751498"/>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D76D6C-F88F-4510-89A1-CA65432FDF5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Wait-for graph: kime bağımlı?</a:t>
            </a:r>
          </a:p>
        </p:txBody>
      </p:sp>
      <p:sp>
        <p:nvSpPr>
          <p:cNvPr id="2" name="">
            <a:extLst xmlns:a="http://schemas.openxmlformats.org/drawingml/2006/main">
              <a:ext uri="{FF2B5EF4-FFF2-40B4-BE49-F238E27FC236}">
                <a16:creationId xmlns:a16="http://schemas.microsoft.com/office/drawing/2014/main" id="{DCF3987B-8619-4556-8A93-55802A547924}"/>
              </a:ext>
            </a:extLst>
          </p:cNvPr>
          <p:cNvSpPr>
            <a:spLocks xmlns:a="http://schemas.openxmlformats.org/drawingml/2006/main" noGrp="1"/>
          </p:cNvSpPr>
          <p:nvPr/>
        </p:nvSpPr>
        <p:spPr>
          <a:xfrm xmlns:a="http://schemas.openxmlformats.org/drawingml/2006/main">
            <a:off x="742950" y="2095500"/>
            <a:ext cx="10715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 → B</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 → A</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 → A</a:t>
            </a:r>
          </a:p>
        </p:txBody>
      </p:sp>
      <p:sp>
        <p:nvSpPr>
          <p:cNvPr id="3" name="">
            <a:extLst xmlns:a="http://schemas.openxmlformats.org/drawingml/2006/main">
              <a:ext uri="{FF2B5EF4-FFF2-40B4-BE49-F238E27FC236}">
                <a16:creationId xmlns:a16="http://schemas.microsoft.com/office/drawing/2014/main" id="{FE210F84-ECD5-4CFD-A162-089FED334A58}"/>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 çevrimde mi? C’nin ilerlemesi engellenebilir mi?</a:t>
            </a:r>
          </a:p>
        </p:txBody>
      </p:sp>
      <p:sp>
        <p:nvSpPr>
          <p:cNvPr id="4" name="">
            <a:extLst xmlns:a="http://schemas.openxmlformats.org/drawingml/2006/main">
              <a:ext uri="{FF2B5EF4-FFF2-40B4-BE49-F238E27FC236}">
                <a16:creationId xmlns:a16="http://schemas.microsoft.com/office/drawing/2014/main" id="{C59C5E1E-C02B-4DB5-8CE8-DA3C9F7EDE98}"/>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Servis isteği zinciri</a:t>
            </a:r>
          </a:p>
        </p:txBody>
      </p:sp>
      <p:sp>
        <p:nvSpPr>
          <p:cNvPr id="5" name="">
            <a:extLst xmlns:a="http://schemas.openxmlformats.org/drawingml/2006/main">
              <a:ext uri="{FF2B5EF4-FFF2-40B4-BE49-F238E27FC236}">
                <a16:creationId xmlns:a16="http://schemas.microsoft.com/office/drawing/2014/main" id="{F08F61DB-1F87-4842-8D9F-54926BDBF4AE}"/>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Bir üçüncü istek kilitlenmiş worker’ı bekler.</a:t>
            </a:r>
          </a:p>
        </p:txBody>
      </p:sp>
      <p:sp>
        <p:nvSpPr>
          <p:cNvPr id="6" name="">
            <a:extLst xmlns:a="http://schemas.openxmlformats.org/drawingml/2006/main">
              <a:ext uri="{FF2B5EF4-FFF2-40B4-BE49-F238E27FC236}">
                <a16:creationId xmlns:a16="http://schemas.microsoft.com/office/drawing/2014/main" id="{E3A359E6-9766-43A0-8DFD-CEA291F463A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7" name="">
            <a:extLst xmlns:a="http://schemas.openxmlformats.org/drawingml/2006/main">
              <a:ext uri="{FF2B5EF4-FFF2-40B4-BE49-F238E27FC236}">
                <a16:creationId xmlns:a16="http://schemas.microsoft.com/office/drawing/2014/main" id="{C170B726-0B48-4A4B-9B9B-48C948609B1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28</a:t>
            </a:r>
          </a:p>
        </p:txBody>
      </p:sp>
    </p:spTree>
    <p:extLst>
      <p:ext uri="{BB962C8B-B14F-4D97-AF65-F5344CB8AC3E}">
        <p14:creationId xmlns:p14="http://schemas.microsoft.com/office/powerpoint/2010/main" val="414360880"/>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523363-2342-4D81-8C2F-4C6162E76CA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Üç farklı ilerleme sorunu</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5486400"/>
                <a:gridCol w="5486400"/>
              </a:tblGrid>
              <a:tr h="971550">
                <a:tc>
                  <a:txBody>
                    <a:bodyPr/>
                    <a:lstStyle/>
                    <a:p>
                      <a:r>
                        <a:rPr sz="1800" b="1">
                          <a:solidFill>
                            <a:srgbClr val="FFFFFF"/>
                          </a:solidFill>
                          <a:latin typeface="Helvetica Neue"/>
                          <a:ea typeface="Helvetica Neue"/>
                          <a:cs typeface="Helvetica Neue"/>
                        </a:rPr>
                        <a:t>Sorun</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Gözlenecek mekanizma</a:t>
                      </a:r>
                    </a:p>
                  </a:txBody>
                  <a:tcPr marL="114300" marR="114300" marT="47625" marB="47625" anchor="ctr">
                    <a:solidFill>
                      <a:srgbClr val="122C42"/>
                    </a:solidFill>
                  </a:tcPr>
                </a:tc>
              </a:tr>
              <a:tr h="971550">
                <a:tc>
                  <a:txBody>
                    <a:bodyPr/>
                    <a:lstStyle/>
                    <a:p>
                      <a:r>
                        <a:rPr sz="1800" b="0">
                          <a:solidFill>
                            <a:srgbClr val="122C42"/>
                          </a:solidFill>
                          <a:latin typeface="Helvetica Neue"/>
                          <a:ea typeface="Helvetica Neue"/>
                          <a:cs typeface="Helvetica Neue"/>
                        </a:rPr>
                        <a:t>Deadlock</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Karşılıklı çözülemeyen bekleme</a:t>
                      </a:r>
                    </a:p>
                  </a:txBody>
                  <a:tcPr marL="114300" marR="114300" marT="47625" marB="47625" anchor="ctr">
                    <a:solidFill>
                      <a:srgbClr val="FFFFFF"/>
                    </a:solidFill>
                  </a:tcPr>
                </a:tc>
              </a:tr>
              <a:tr h="971550">
                <a:tc>
                  <a:txBody>
                    <a:bodyPr/>
                    <a:lstStyle/>
                    <a:p>
                      <a:r>
                        <a:rPr sz="1800" b="0">
                          <a:solidFill>
                            <a:srgbClr val="122C42"/>
                          </a:solidFill>
                          <a:latin typeface="Helvetica Neue"/>
                          <a:ea typeface="Helvetica Neue"/>
                          <a:cs typeface="Helvetica Neue"/>
                        </a:rPr>
                        <a:t>Starvation</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Bir iş sürekli fırsat kaybediyor</a:t>
                      </a:r>
                    </a:p>
                  </a:txBody>
                  <a:tcPr marL="114300" marR="114300" marT="47625" marB="47625" anchor="ctr">
                    <a:solidFill>
                      <a:srgbClr val="ECF0EC"/>
                    </a:solidFill>
                  </a:tcPr>
                </a:tc>
              </a:tr>
              <a:tr h="971550">
                <a:tc>
                  <a:txBody>
                    <a:bodyPr/>
                    <a:lstStyle/>
                    <a:p>
                      <a:r>
                        <a:rPr sz="1800" b="0">
                          <a:solidFill>
                            <a:srgbClr val="122C42"/>
                          </a:solidFill>
                          <a:latin typeface="Helvetica Neue"/>
                          <a:ea typeface="Helvetica Neue"/>
                          <a:cs typeface="Helvetica Neue"/>
                        </a:rPr>
                        <a:t>Livelock</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Durum değişiyor, yararlı ilerleme yok</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84E1FA5-C579-451A-88B6-9F3F608708E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4" name="">
            <a:extLst xmlns:a="http://schemas.openxmlformats.org/drawingml/2006/main">
              <a:ext uri="{FF2B5EF4-FFF2-40B4-BE49-F238E27FC236}">
                <a16:creationId xmlns:a16="http://schemas.microsoft.com/office/drawing/2014/main" id="{49DC07D8-DA2C-4DB6-99D0-DE347111247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28</a:t>
            </a:r>
          </a:p>
        </p:txBody>
      </p:sp>
    </p:spTree>
    <p:extLst>
      <p:ext uri="{BB962C8B-B14F-4D97-AF65-F5344CB8AC3E}">
        <p14:creationId xmlns:p14="http://schemas.microsoft.com/office/powerpoint/2010/main" val="1637214351"/>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37CF00-AF7B-4B98-A4A9-7C6CB26930A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Nazik tekrar da sistemi durdurabilir</a:t>
            </a:r>
          </a:p>
        </p:txBody>
      </p:sp>
      <p:sp>
        <p:nvSpPr>
          <p:cNvPr id="2" name="">
            <a:extLst xmlns:a="http://schemas.openxmlformats.org/drawingml/2006/main">
              <a:ext uri="{FF2B5EF4-FFF2-40B4-BE49-F238E27FC236}">
                <a16:creationId xmlns:a16="http://schemas.microsoft.com/office/drawing/2014/main" id="{93012728-EEF1-4472-BA8C-31471B036D56}"/>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Tasarım değişikliği</a:t>
            </a:r>
          </a:p>
        </p:txBody>
      </p:sp>
      <p:sp>
        <p:nvSpPr>
          <p:cNvPr id="3" name="">
            <a:extLst xmlns:a="http://schemas.openxmlformats.org/drawingml/2006/main">
              <a:ext uri="{FF2B5EF4-FFF2-40B4-BE49-F238E27FC236}">
                <a16:creationId xmlns:a16="http://schemas.microsoft.com/office/drawing/2014/main" id="{5BC180A9-D6BC-466D-B623-049CC0F754AC}"/>
              </a:ext>
            </a:extLst>
          </p:cNvPr>
          <p:cNvSpPr>
            <a:spLocks xmlns:a="http://schemas.openxmlformats.org/drawingml/2006/main" noGrp="1"/>
          </p:cNvSpPr>
          <p:nvPr/>
        </p:nvSpPr>
        <p:spPr>
          <a:xfrm xmlns:a="http://schemas.openxmlformats.org/drawingml/2006/main">
            <a:off x="6096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Bloklanma yerine tekrar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Simetriyi değerlendir</a:t>
            </a:r>
          </a:p>
        </p:txBody>
      </p:sp>
      <p:sp>
        <p:nvSpPr>
          <p:cNvPr id="4" name="">
            <a:extLst xmlns:a="http://schemas.openxmlformats.org/drawingml/2006/main">
              <a:ext uri="{FF2B5EF4-FFF2-40B4-BE49-F238E27FC236}">
                <a16:creationId xmlns:a16="http://schemas.microsoft.com/office/drawing/2014/main" id="{4D7EE0DE-CFCC-4AC5-BBED-580B9EF22DDD}"/>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Eksik garanti</a:t>
            </a:r>
          </a:p>
        </p:txBody>
      </p:sp>
      <p:sp>
        <p:nvSpPr>
          <p:cNvPr id="5" name="">
            <a:extLst xmlns:a="http://schemas.openxmlformats.org/drawingml/2006/main">
              <a:ext uri="{FF2B5EF4-FFF2-40B4-BE49-F238E27FC236}">
                <a16:creationId xmlns:a16="http://schemas.microsoft.com/office/drawing/2014/main" id="{FCBE5A9A-4889-48B5-BCA8-BE6D027307EF}"/>
              </a:ext>
            </a:extLst>
          </p:cNvPr>
          <p:cNvSpPr>
            <a:spLocks xmlns:a="http://schemas.openxmlformats.org/drawingml/2006/main" noGrp="1"/>
          </p:cNvSpPr>
          <p:nvPr/>
        </p:nvSpPr>
        <p:spPr>
          <a:xfrm xmlns:a="http://schemas.openxmlformats.org/drawingml/2006/main">
            <a:off x="62865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Tek task’in fırsatı</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Bounded wait / fairness</a:t>
            </a:r>
          </a:p>
        </p:txBody>
      </p:sp>
      <p:sp>
        <p:nvSpPr>
          <p:cNvPr id="6" name="">
            <a:extLst xmlns:a="http://schemas.openxmlformats.org/drawingml/2006/main">
              <a:ext uri="{FF2B5EF4-FFF2-40B4-BE49-F238E27FC236}">
                <a16:creationId xmlns:a16="http://schemas.microsoft.com/office/drawing/2014/main" id="{7E19A1FD-0F74-424B-AB18-6462341BAB88}"/>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Aynı anda retry yapan istemciler</a:t>
            </a:r>
          </a:p>
        </p:txBody>
      </p:sp>
      <p:sp>
        <p:nvSpPr>
          <p:cNvPr id="7" name="">
            <a:extLst xmlns:a="http://schemas.openxmlformats.org/drawingml/2006/main">
              <a:ext uri="{FF2B5EF4-FFF2-40B4-BE49-F238E27FC236}">
                <a16:creationId xmlns:a16="http://schemas.microsoft.com/office/drawing/2014/main" id="{5B8C7E51-360A-44F6-8DA1-35C06D817A6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Çakışan istekler birlikte yeniden geliyor.</a:t>
            </a:r>
          </a:p>
        </p:txBody>
      </p:sp>
      <p:sp>
        <p:nvSpPr>
          <p:cNvPr id="8" name="">
            <a:extLst xmlns:a="http://schemas.openxmlformats.org/drawingml/2006/main">
              <a:ext uri="{FF2B5EF4-FFF2-40B4-BE49-F238E27FC236}">
                <a16:creationId xmlns:a16="http://schemas.microsoft.com/office/drawing/2014/main" id="{7842F694-B13D-44C7-8A2A-1029A171F2F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9" name="">
            <a:extLst xmlns:a="http://schemas.openxmlformats.org/drawingml/2006/main">
              <a:ext uri="{FF2B5EF4-FFF2-40B4-BE49-F238E27FC236}">
                <a16:creationId xmlns:a16="http://schemas.microsoft.com/office/drawing/2014/main" id="{670BF948-C890-4407-AB78-BDE5427B174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28</a:t>
            </a:r>
          </a:p>
        </p:txBody>
      </p:sp>
    </p:spTree>
    <p:extLst>
      <p:ext uri="{BB962C8B-B14F-4D97-AF65-F5344CB8AC3E}">
        <p14:creationId xmlns:p14="http://schemas.microsoft.com/office/powerpoint/2010/main" val="1591232335"/>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0F4D1E-B2CA-4F6C-ADC2-377EBC2AB91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İlk kontrol noktası</a:t>
            </a:r>
          </a:p>
        </p:txBody>
      </p:sp>
      <p:sp>
        <p:nvSpPr>
          <p:cNvPr id="2" name="">
            <a:extLst xmlns:a="http://schemas.openxmlformats.org/drawingml/2006/main">
              <a:ext uri="{FF2B5EF4-FFF2-40B4-BE49-F238E27FC236}">
                <a16:creationId xmlns:a16="http://schemas.microsoft.com/office/drawing/2014/main" id="{69FCBE31-B6AD-42A4-870E-32D7A28C6BC8}"/>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68F776E-25D5-4E34-86C4-41DF8F3BC47D}"/>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Bir çevrim her kaynak modelinde deadlock mu?</a:t>
            </a:r>
          </a:p>
        </p:txBody>
      </p:sp>
      <p:sp>
        <p:nvSpPr>
          <p:cNvPr id="4" name="">
            <a:extLst xmlns:a="http://schemas.openxmlformats.org/drawingml/2006/main">
              <a:ext uri="{FF2B5EF4-FFF2-40B4-BE49-F238E27FC236}">
                <a16:creationId xmlns:a16="http://schemas.microsoft.com/office/drawing/2014/main" id="{C41E8FAA-2B5D-4C94-B976-2B33D598E5E3}"/>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927E3F4-9FEA-44BC-8B0A-15429B4A379B}"/>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Deadlock olmaması starvation’ı önler mi?</a:t>
            </a:r>
          </a:p>
        </p:txBody>
      </p:sp>
      <p:sp>
        <p:nvSpPr>
          <p:cNvPr id="6" name="">
            <a:extLst xmlns:a="http://schemas.openxmlformats.org/drawingml/2006/main">
              <a:ext uri="{FF2B5EF4-FFF2-40B4-BE49-F238E27FC236}">
                <a16:creationId xmlns:a16="http://schemas.microsoft.com/office/drawing/2014/main" id="{EC12DAC0-BE12-44FD-AEBF-DAA20160D7D4}"/>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64B34841-2CD2-480C-B4FB-ADB057B50A57}"/>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Üçüncü bekleyen task çevrimde olmak zorunda mı?</a:t>
            </a:r>
          </a:p>
        </p:txBody>
      </p:sp>
      <p:sp>
        <p:nvSpPr>
          <p:cNvPr id="8" name="">
            <a:extLst xmlns:a="http://schemas.openxmlformats.org/drawingml/2006/main">
              <a:ext uri="{FF2B5EF4-FFF2-40B4-BE49-F238E27FC236}">
                <a16:creationId xmlns:a16="http://schemas.microsoft.com/office/drawing/2014/main" id="{19525288-492B-4442-8C0E-A74CF08C307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9" name="">
            <a:extLst xmlns:a="http://schemas.openxmlformats.org/drawingml/2006/main">
              <a:ext uri="{FF2B5EF4-FFF2-40B4-BE49-F238E27FC236}">
                <a16:creationId xmlns:a16="http://schemas.microsoft.com/office/drawing/2014/main" id="{F0874BC7-7382-43E2-9CD6-80026069CD2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28</a:t>
            </a:r>
          </a:p>
        </p:txBody>
      </p:sp>
    </p:spTree>
    <p:extLst>
      <p:ext uri="{BB962C8B-B14F-4D97-AF65-F5344CB8AC3E}">
        <p14:creationId xmlns:p14="http://schemas.microsoft.com/office/powerpoint/2010/main" val="1872245408"/>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C8FC47-D9F6-4D92-8549-84AF0989563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Dört yaklaşım, dört farklı karar</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5486400"/>
                <a:gridCol w="5486400"/>
              </a:tblGrid>
              <a:tr h="777240">
                <a:tc>
                  <a:txBody>
                    <a:bodyPr/>
                    <a:lstStyle/>
                    <a:p>
                      <a:r>
                        <a:rPr sz="1800" b="1">
                          <a:solidFill>
                            <a:srgbClr val="FFFFFF"/>
                          </a:solidFill>
                          <a:latin typeface="Helvetica Neue"/>
                          <a:ea typeface="Helvetica Neue"/>
                          <a:cs typeface="Helvetica Neue"/>
                        </a:rPr>
                        <a:t>Yaklaşım</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Ne zaman / neyi sorar?</a:t>
                      </a:r>
                    </a:p>
                  </a:txBody>
                  <a:tcPr marL="114300" marR="114300" marT="47625" marB="47625" anchor="ctr">
                    <a:solidFill>
                      <a:srgbClr val="122C42"/>
                    </a:solidFill>
                  </a:tcPr>
                </a:tc>
              </a:tr>
              <a:tr h="777240">
                <a:tc>
                  <a:txBody>
                    <a:bodyPr/>
                    <a:lstStyle/>
                    <a:p>
                      <a:r>
                        <a:rPr sz="1800" b="0">
                          <a:solidFill>
                            <a:srgbClr val="122C42"/>
                          </a:solidFill>
                          <a:latin typeface="Helvetica Neue"/>
                          <a:ea typeface="Helvetica Neue"/>
                          <a:cs typeface="Helvetica Neue"/>
                        </a:rPr>
                        <a:t>Prevention</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Protokol çevrimi mümkün kılıyor mu?</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Avoidance</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Bu talep sonrası safe sequence var mı?</a:t>
                      </a:r>
                    </a:p>
                  </a:txBody>
                  <a:tcPr marL="114300" marR="114300" marT="47625" marB="47625" anchor="ctr">
                    <a:solidFill>
                      <a:srgbClr val="ECF0EC"/>
                    </a:solidFill>
                  </a:tcPr>
                </a:tc>
              </a:tr>
              <a:tr h="777240">
                <a:tc>
                  <a:txBody>
                    <a:bodyPr/>
                    <a:lstStyle/>
                    <a:p>
                      <a:r>
                        <a:rPr sz="1800" b="0">
                          <a:solidFill>
                            <a:srgbClr val="122C42"/>
                          </a:solidFill>
                          <a:latin typeface="Helvetica Neue"/>
                          <a:ea typeface="Helvetica Neue"/>
                          <a:cs typeface="Helvetica Neue"/>
                        </a:rPr>
                        <a:t>Detection</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Şu anda deadlock var mı?</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Recovery</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Hangi iş/atama geri alınacak?</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84246E2A-9217-4BEB-9859-B411A9B417F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4" name="">
            <a:extLst xmlns:a="http://schemas.openxmlformats.org/drawingml/2006/main">
              <a:ext uri="{FF2B5EF4-FFF2-40B4-BE49-F238E27FC236}">
                <a16:creationId xmlns:a16="http://schemas.microsoft.com/office/drawing/2014/main" id="{0AAEEF74-924D-426F-9C8A-2DA105DF555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28</a:t>
            </a:r>
          </a:p>
        </p:txBody>
      </p:sp>
    </p:spTree>
    <p:extLst>
      <p:ext uri="{BB962C8B-B14F-4D97-AF65-F5344CB8AC3E}">
        <p14:creationId xmlns:p14="http://schemas.microsoft.com/office/powerpoint/2010/main" val="1425304266"/>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EE8506F-61A2-4B86-A4C0-2264251B48C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Prevention: koşulu kır, maliyeti gör</a:t>
            </a:r>
          </a:p>
        </p:txBody>
      </p:sp>
      <p:sp>
        <p:nvSpPr>
          <p:cNvPr id="2" name="">
            <a:extLst xmlns:a="http://schemas.openxmlformats.org/drawingml/2006/main">
              <a:ext uri="{FF2B5EF4-FFF2-40B4-BE49-F238E27FC236}">
                <a16:creationId xmlns:a16="http://schemas.microsoft.com/office/drawing/2014/main" id="{5F91A4D5-5BA6-4949-9611-DEE631C59195}"/>
              </a:ext>
            </a:extLst>
          </p:cNvPr>
          <p:cNvSpPr>
            <a:spLocks xmlns:a="http://schemas.openxmlformats.org/drawingml/2006/main" noGrp="1"/>
          </p:cNvSpPr>
          <p:nvPr/>
        </p:nvSpPr>
        <p:spPr>
          <a:xfrm xmlns:a="http://schemas.openxmlformats.org/drawingml/2006/main">
            <a:off x="609600" y="1952625"/>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D4D969D-5CB4-408E-8AA4-EC4A3886E221}"/>
              </a:ext>
            </a:extLst>
          </p:cNvPr>
          <p:cNvSpPr>
            <a:spLocks xmlns:a="http://schemas.openxmlformats.org/drawingml/2006/main" noGrp="1"/>
          </p:cNvSpPr>
          <p:nvPr/>
        </p:nvSpPr>
        <p:spPr>
          <a:xfrm xmlns:a="http://schemas.openxmlformats.org/drawingml/2006/main">
            <a:off x="1333500" y="1952625"/>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Uygunsa kaynağı paylaşılabilir yap</a:t>
            </a:r>
          </a:p>
        </p:txBody>
      </p:sp>
      <p:sp>
        <p:nvSpPr>
          <p:cNvPr id="4" name="">
            <a:extLst xmlns:a="http://schemas.openxmlformats.org/drawingml/2006/main">
              <a:ext uri="{FF2B5EF4-FFF2-40B4-BE49-F238E27FC236}">
                <a16:creationId xmlns:a16="http://schemas.microsoft.com/office/drawing/2014/main" id="{84BB29AA-7DD5-4A04-8B2D-AF4E84B66DC0}"/>
              </a:ext>
            </a:extLst>
          </p:cNvPr>
          <p:cNvSpPr>
            <a:spLocks xmlns:a="http://schemas.openxmlformats.org/drawingml/2006/main" noGrp="1"/>
          </p:cNvSpPr>
          <p:nvPr/>
        </p:nvSpPr>
        <p:spPr>
          <a:xfrm xmlns:a="http://schemas.openxmlformats.org/drawingml/2006/main">
            <a:off x="609600" y="2769394"/>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7F5095E-9AD2-477A-B634-33502A5B99DF}"/>
              </a:ext>
            </a:extLst>
          </p:cNvPr>
          <p:cNvSpPr>
            <a:spLocks xmlns:a="http://schemas.openxmlformats.org/drawingml/2006/main" noGrp="1"/>
          </p:cNvSpPr>
          <p:nvPr/>
        </p:nvSpPr>
        <p:spPr>
          <a:xfrm xmlns:a="http://schemas.openxmlformats.org/drawingml/2006/main">
            <a:off x="1333500" y="2769394"/>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Tüm gerekli kaynakları birlikte ayır</a:t>
            </a:r>
          </a:p>
        </p:txBody>
      </p:sp>
      <p:sp>
        <p:nvSpPr>
          <p:cNvPr id="6" name="">
            <a:extLst xmlns:a="http://schemas.openxmlformats.org/drawingml/2006/main">
              <a:ext uri="{FF2B5EF4-FFF2-40B4-BE49-F238E27FC236}">
                <a16:creationId xmlns:a16="http://schemas.microsoft.com/office/drawing/2014/main" id="{127A0CE5-AD93-4DAA-B053-9AFA75D075D5}"/>
              </a:ext>
            </a:extLst>
          </p:cNvPr>
          <p:cNvSpPr>
            <a:spLocks xmlns:a="http://schemas.openxmlformats.org/drawingml/2006/main" noGrp="1"/>
          </p:cNvSpPr>
          <p:nvPr/>
        </p:nvSpPr>
        <p:spPr>
          <a:xfrm xmlns:a="http://schemas.openxmlformats.org/drawingml/2006/main">
            <a:off x="609600" y="3586163"/>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7CCD285-AFB6-4B53-89D9-64903CC21C0B}"/>
              </a:ext>
            </a:extLst>
          </p:cNvPr>
          <p:cNvSpPr>
            <a:spLocks xmlns:a="http://schemas.openxmlformats.org/drawingml/2006/main" noGrp="1"/>
          </p:cNvSpPr>
          <p:nvPr/>
        </p:nvSpPr>
        <p:spPr>
          <a:xfrm xmlns:a="http://schemas.openxmlformats.org/drawingml/2006/main">
            <a:off x="1333500" y="3586163"/>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Güvenliyse tutulan kaynakları geri al</a:t>
            </a:r>
          </a:p>
        </p:txBody>
      </p:sp>
      <p:sp>
        <p:nvSpPr>
          <p:cNvPr id="8" name="">
            <a:extLst xmlns:a="http://schemas.openxmlformats.org/drawingml/2006/main">
              <a:ext uri="{FF2B5EF4-FFF2-40B4-BE49-F238E27FC236}">
                <a16:creationId xmlns:a16="http://schemas.microsoft.com/office/drawing/2014/main" id="{F6160741-B57D-4D8A-918A-A4AACBA05753}"/>
              </a:ext>
            </a:extLst>
          </p:cNvPr>
          <p:cNvSpPr>
            <a:spLocks xmlns:a="http://schemas.openxmlformats.org/drawingml/2006/main" noGrp="1"/>
          </p:cNvSpPr>
          <p:nvPr/>
        </p:nvSpPr>
        <p:spPr>
          <a:xfrm xmlns:a="http://schemas.openxmlformats.org/drawingml/2006/main">
            <a:off x="609600" y="4402931"/>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4F30962F-BF3A-437A-84DD-92BC93438851}"/>
              </a:ext>
            </a:extLst>
          </p:cNvPr>
          <p:cNvSpPr>
            <a:spLocks xmlns:a="http://schemas.openxmlformats.org/drawingml/2006/main" noGrp="1"/>
          </p:cNvSpPr>
          <p:nvPr/>
        </p:nvSpPr>
        <p:spPr>
          <a:xfrm xmlns:a="http://schemas.openxmlformats.org/drawingml/2006/main">
            <a:off x="1333500" y="4402931"/>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Global kaynak sırası uygula</a:t>
            </a:r>
          </a:p>
        </p:txBody>
      </p:sp>
      <p:sp>
        <p:nvSpPr>
          <p:cNvPr id="10" name="">
            <a:extLst xmlns:a="http://schemas.openxmlformats.org/drawingml/2006/main">
              <a:ext uri="{FF2B5EF4-FFF2-40B4-BE49-F238E27FC236}">
                <a16:creationId xmlns:a16="http://schemas.microsoft.com/office/drawing/2014/main" id="{F7E79537-6BB1-416C-94CA-FAEF29ABBA7C}"/>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Yazıcı rezervasyonu</a:t>
            </a:r>
          </a:p>
        </p:txBody>
      </p:sp>
      <p:sp>
        <p:nvSpPr>
          <p:cNvPr id="11" name="">
            <a:extLst xmlns:a="http://schemas.openxmlformats.org/drawingml/2006/main">
              <a:ext uri="{FF2B5EF4-FFF2-40B4-BE49-F238E27FC236}">
                <a16:creationId xmlns:a16="http://schemas.microsoft.com/office/drawing/2014/main" id="{BB22BC14-A108-4DCF-B225-083D8138C621}"/>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İş hem yazıcı hem başka aygıt istiyor.</a:t>
            </a:r>
          </a:p>
        </p:txBody>
      </p:sp>
      <p:sp>
        <p:nvSpPr>
          <p:cNvPr id="12" name="">
            <a:extLst xmlns:a="http://schemas.openxmlformats.org/drawingml/2006/main">
              <a:ext uri="{FF2B5EF4-FFF2-40B4-BE49-F238E27FC236}">
                <a16:creationId xmlns:a16="http://schemas.microsoft.com/office/drawing/2014/main" id="{35A37358-FBF7-4BEE-A82C-561F65F35AF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13" name="">
            <a:extLst xmlns:a="http://schemas.openxmlformats.org/drawingml/2006/main">
              <a:ext uri="{FF2B5EF4-FFF2-40B4-BE49-F238E27FC236}">
                <a16:creationId xmlns:a16="http://schemas.microsoft.com/office/drawing/2014/main" id="{611FD32E-2528-40EE-8EF4-E6270CDB349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15 / 28</a:t>
            </a:r>
          </a:p>
        </p:txBody>
      </p:sp>
    </p:spTree>
    <p:extLst>
      <p:ext uri="{BB962C8B-B14F-4D97-AF65-F5344CB8AC3E}">
        <p14:creationId xmlns:p14="http://schemas.microsoft.com/office/powerpoint/2010/main" val="1610850230"/>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040820-F6AB-4F56-B38A-2210519B9E2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Sıra kuralı: küçük kimlik önce</a:t>
            </a:r>
          </a:p>
        </p:txBody>
      </p:sp>
      <p:sp>
        <p:nvSpPr>
          <p:cNvPr id="2" name="">
            <a:extLst xmlns:a="http://schemas.openxmlformats.org/drawingml/2006/main">
              <a:ext uri="{FF2B5EF4-FFF2-40B4-BE49-F238E27FC236}">
                <a16:creationId xmlns:a16="http://schemas.microsoft.com/office/drawing/2014/main" id="{0C5D8A74-6DCB-4EF9-B797-E0B66F2E3BBA}"/>
              </a:ext>
            </a:extLst>
          </p:cNvPr>
          <p:cNvSpPr>
            <a:spLocks xmlns:a="http://schemas.openxmlformats.org/drawingml/2006/main" noGrp="1"/>
          </p:cNvSpPr>
          <p:nvPr/>
        </p:nvSpPr>
        <p:spPr>
          <a:xfrm xmlns:a="http://schemas.openxmlformats.org/drawingml/2006/main">
            <a:off x="742950" y="2095500"/>
            <a:ext cx="10715625"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first, second = sort_by_stable_rank(lock_a, lock_b)</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lock(first)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lock(second)</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update_both()</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unlock(second)</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unlock(first)</a:t>
            </a:r>
          </a:p>
        </p:txBody>
      </p:sp>
      <p:sp>
        <p:nvSpPr>
          <p:cNvPr id="3" name="">
            <a:extLst xmlns:a="http://schemas.openxmlformats.org/drawingml/2006/main">
              <a:ext uri="{FF2B5EF4-FFF2-40B4-BE49-F238E27FC236}">
                <a16:creationId xmlns:a16="http://schemas.microsoft.com/office/drawing/2014/main" id="{C04F95A0-16F4-431E-B6AF-193494C06364}"/>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İki hesap aktarımı</a:t>
            </a:r>
          </a:p>
        </p:txBody>
      </p:sp>
      <p:sp>
        <p:nvSpPr>
          <p:cNvPr id="4" name="">
            <a:extLst xmlns:a="http://schemas.openxmlformats.org/drawingml/2006/main">
              <a:ext uri="{FF2B5EF4-FFF2-40B4-BE49-F238E27FC236}">
                <a16:creationId xmlns:a16="http://schemas.microsoft.com/office/drawing/2014/main" id="{BF4E105B-CC72-47DE-B649-33BAD70E40E6}"/>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A→B ve B→A eşzamanlı aktarılıyor.</a:t>
            </a:r>
          </a:p>
        </p:txBody>
      </p:sp>
      <p:sp>
        <p:nvSpPr>
          <p:cNvPr id="5" name="">
            <a:extLst xmlns:a="http://schemas.openxmlformats.org/drawingml/2006/main">
              <a:ext uri="{FF2B5EF4-FFF2-40B4-BE49-F238E27FC236}">
                <a16:creationId xmlns:a16="http://schemas.microsoft.com/office/drawing/2014/main" id="{DE1AD0A4-F8D0-409E-89D3-30C671F4D37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6" name="">
            <a:extLst xmlns:a="http://schemas.openxmlformats.org/drawingml/2006/main">
              <a:ext uri="{FF2B5EF4-FFF2-40B4-BE49-F238E27FC236}">
                <a16:creationId xmlns:a16="http://schemas.microsoft.com/office/drawing/2014/main" id="{69DF184A-355A-4883-83C7-77F1FA81A6E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16 / 28</a:t>
            </a:r>
          </a:p>
        </p:txBody>
      </p:sp>
    </p:spTree>
    <p:extLst>
      <p:ext uri="{BB962C8B-B14F-4D97-AF65-F5344CB8AC3E}">
        <p14:creationId xmlns:p14="http://schemas.microsoft.com/office/powerpoint/2010/main" val="2018985624"/>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62E531-9D1C-4D96-9059-0D7439DDA84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Banker modeli: üst sınırı bilmek</a:t>
            </a:r>
          </a:p>
        </p:txBody>
      </p:sp>
      <p:graphicFrame>
        <p:nvGraphicFramePr>
          <p:cNvPr id="8" name=""/>
          <p:cNvGraphicFramePr/>
          <p:nvPr/>
        </p:nvGraphicFramePr>
        <p:xfrm>
          <a:off xmlns:a="http://schemas.openxmlformats.org/drawingml/2006/main" x="609600" y="1857375"/>
          <a:ext xmlns:a="http://schemas.openxmlformats.org/drawingml/2006/main" cx="10972800" cy="3362325"/>
        </p:xfrm>
        <a:graphic xmlns:a="http://schemas.openxmlformats.org/drawingml/2006/main">
          <a:graphicData uri="http://schemas.openxmlformats.org/drawingml/2006/table">
            <a:tbl>
              <a:tblPr/>
              <a:tblGrid>
                <a:gridCol w="5486400"/>
                <a:gridCol w="5486400"/>
              </a:tblGrid>
              <a:tr h="560388">
                <a:tc>
                  <a:txBody>
                    <a:bodyPr/>
                    <a:lstStyle/>
                    <a:p>
                      <a:r>
                        <a:rPr sz="1800" b="1">
                          <a:solidFill>
                            <a:srgbClr val="FFFFFF"/>
                          </a:solidFill>
                          <a:latin typeface="Helvetica Neue"/>
                          <a:ea typeface="Helvetica Neue"/>
                          <a:cs typeface="Helvetica Neue"/>
                        </a:rPr>
                        <a:t>Terim</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Anlam</a:t>
                      </a:r>
                    </a:p>
                  </a:txBody>
                  <a:tcPr marL="114300" marR="114300" marT="47625" marB="47625" anchor="ctr">
                    <a:solidFill>
                      <a:srgbClr val="122C42"/>
                    </a:solidFill>
                  </a:tcPr>
                </a:tc>
              </a:tr>
              <a:tr h="560388">
                <a:tc>
                  <a:txBody>
                    <a:bodyPr/>
                    <a:lstStyle/>
                    <a:p>
                      <a:r>
                        <a:rPr sz="1800" b="0">
                          <a:solidFill>
                            <a:srgbClr val="122C42"/>
                          </a:solidFill>
                          <a:latin typeface="Helvetica Neue"/>
                          <a:ea typeface="Helvetica Neue"/>
                          <a:cs typeface="Helvetica Neue"/>
                        </a:rPr>
                        <a:t>Total</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Sistemin toplam capacity’si</a:t>
                      </a:r>
                    </a:p>
                  </a:txBody>
                  <a:tcPr marL="114300" marR="114300" marT="47625" marB="47625" anchor="ctr">
                    <a:solidFill>
                      <a:srgbClr val="FFFFFF"/>
                    </a:solidFill>
                  </a:tcPr>
                </a:tc>
              </a:tr>
              <a:tr h="560388">
                <a:tc>
                  <a:txBody>
                    <a:bodyPr/>
                    <a:lstStyle/>
                    <a:p>
                      <a:r>
                        <a:rPr sz="1800" b="0">
                          <a:solidFill>
                            <a:srgbClr val="122C42"/>
                          </a:solidFill>
                          <a:latin typeface="Helvetica Neue"/>
                          <a:ea typeface="Helvetica Neue"/>
                          <a:cs typeface="Helvetica Neue"/>
                        </a:rPr>
                        <a:t>Available</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Henüz atanmamış instance’lar</a:t>
                      </a:r>
                    </a:p>
                  </a:txBody>
                  <a:tcPr marL="114300" marR="114300" marT="47625" marB="47625" anchor="ctr">
                    <a:solidFill>
                      <a:srgbClr val="ECF0EC"/>
                    </a:solidFill>
                  </a:tcPr>
                </a:tc>
              </a:tr>
              <a:tr h="560388">
                <a:tc>
                  <a:txBody>
                    <a:bodyPr/>
                    <a:lstStyle/>
                    <a:p>
                      <a:r>
                        <a:rPr sz="1800" b="0">
                          <a:solidFill>
                            <a:srgbClr val="122C42"/>
                          </a:solidFill>
                          <a:latin typeface="Helvetica Neue"/>
                          <a:ea typeface="Helvetica Neue"/>
                          <a:cs typeface="Helvetica Neue"/>
                        </a:rPr>
                        <a:t>Allocation[i]</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i’nin şu an tuttuğu</a:t>
                      </a:r>
                    </a:p>
                  </a:txBody>
                  <a:tcPr marL="114300" marR="114300" marT="47625" marB="47625" anchor="ctr">
                    <a:solidFill>
                      <a:srgbClr val="FFFFFF"/>
                    </a:solidFill>
                  </a:tcPr>
                </a:tc>
              </a:tr>
              <a:tr h="560388">
                <a:tc>
                  <a:txBody>
                    <a:bodyPr/>
                    <a:lstStyle/>
                    <a:p>
                      <a:r>
                        <a:rPr sz="1800" b="0">
                          <a:solidFill>
                            <a:srgbClr val="122C42"/>
                          </a:solidFill>
                          <a:latin typeface="Helvetica Neue"/>
                          <a:ea typeface="Helvetica Neue"/>
                          <a:cs typeface="Helvetica Neue"/>
                        </a:rPr>
                        <a:t>Max[i]</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İlan edilen üst sınır</a:t>
                      </a:r>
                    </a:p>
                  </a:txBody>
                  <a:tcPr marL="114300" marR="114300" marT="47625" marB="47625" anchor="ctr">
                    <a:solidFill>
                      <a:srgbClr val="ECF0EC"/>
                    </a:solidFill>
                  </a:tcPr>
                </a:tc>
              </a:tr>
              <a:tr h="560388">
                <a:tc>
                  <a:txBody>
                    <a:bodyPr/>
                    <a:lstStyle/>
                    <a:p>
                      <a:r>
                        <a:rPr sz="1800" b="0">
                          <a:solidFill>
                            <a:srgbClr val="122C42"/>
                          </a:solidFill>
                          <a:latin typeface="Helvetica Neue"/>
                          <a:ea typeface="Helvetica Neue"/>
                          <a:cs typeface="Helvetica Neue"/>
                        </a:rPr>
                        <a:t>Need[i]</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Max[i] − Allocation[i]</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A2D849D-709B-4DCA-A0CD-A45F5C80F03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Bounded job kabulü</a:t>
            </a:r>
          </a:p>
        </p:txBody>
      </p:sp>
      <p:sp>
        <p:nvSpPr>
          <p:cNvPr id="4" name="">
            <a:extLst xmlns:a="http://schemas.openxmlformats.org/drawingml/2006/main">
              <a:ext uri="{FF2B5EF4-FFF2-40B4-BE49-F238E27FC236}">
                <a16:creationId xmlns:a16="http://schemas.microsoft.com/office/drawing/2014/main" id="{2D60DDF7-FAF2-437F-9389-EA649F6ED313}"/>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İşler üst kaynak gereksinimlerini bildiriyor.</a:t>
            </a:r>
          </a:p>
        </p:txBody>
      </p:sp>
      <p:sp>
        <p:nvSpPr>
          <p:cNvPr id="5" name="">
            <a:extLst xmlns:a="http://schemas.openxmlformats.org/drawingml/2006/main">
              <a:ext uri="{FF2B5EF4-FFF2-40B4-BE49-F238E27FC236}">
                <a16:creationId xmlns:a16="http://schemas.microsoft.com/office/drawing/2014/main" id="{A66ACD8D-A2D8-4190-9574-3088B9C1300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6" name="">
            <a:extLst xmlns:a="http://schemas.openxmlformats.org/drawingml/2006/main">
              <a:ext uri="{FF2B5EF4-FFF2-40B4-BE49-F238E27FC236}">
                <a16:creationId xmlns:a16="http://schemas.microsoft.com/office/drawing/2014/main" id="{D48E4FF5-464A-4E26-B4D2-274D03EA413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17 / 28</a:t>
            </a:r>
          </a:p>
        </p:txBody>
      </p:sp>
    </p:spTree>
    <p:extLst>
      <p:ext uri="{BB962C8B-B14F-4D97-AF65-F5344CB8AC3E}">
        <p14:creationId xmlns:p14="http://schemas.microsoft.com/office/powerpoint/2010/main" val="2080770247"/>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7D84AD-944E-4954-8382-ED63B819093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Tam veri: üç process, iki kaynak</a:t>
            </a:r>
          </a:p>
        </p:txBody>
      </p:sp>
      <p:sp>
        <p:nvSpPr>
          <p:cNvPr id="2" name="">
            <a:extLst xmlns:a="http://schemas.openxmlformats.org/drawingml/2006/main">
              <a:ext uri="{FF2B5EF4-FFF2-40B4-BE49-F238E27FC236}">
                <a16:creationId xmlns:a16="http://schemas.microsoft.com/office/drawing/2014/main" id="{4CDAA07F-0526-4564-B02D-5F992CEA551F}"/>
              </a:ext>
            </a:extLst>
          </p:cNvPr>
          <p:cNvSpPr>
            <a:spLocks xmlns:a="http://schemas.openxmlformats.org/drawingml/2006/main" noGrp="1"/>
          </p:cNvSpPr>
          <p:nvPr/>
        </p:nvSpPr>
        <p:spPr>
          <a:xfrm xmlns:a="http://schemas.openxmlformats.org/drawingml/2006/main">
            <a:off x="609600" y="17145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Total = (4,3) · Available = (1,1)</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Vektör sırası her yerde (A,B)</a:t>
            </a:r>
          </a:p>
        </p:txBody>
      </p:sp>
      <p:graphicFrame>
        <p:nvGraphicFramePr>
          <p:cNvPr id="9" name=""/>
          <p:cNvGraphicFramePr/>
          <p:nvPr/>
        </p:nvGraphicFramePr>
        <p:xfrm>
          <a:off xmlns:a="http://schemas.openxmlformats.org/drawingml/2006/main" x="609600" y="2486025"/>
          <a:ext xmlns:a="http://schemas.openxmlformats.org/drawingml/2006/main" cx="10972800" cy="2619375"/>
        </p:xfrm>
        <a:graphic xmlns:a="http://schemas.openxmlformats.org/drawingml/2006/main">
          <a:graphicData uri="http://schemas.openxmlformats.org/drawingml/2006/table">
            <a:tbl>
              <a:tblPr/>
              <a:tblGrid>
                <a:gridCol w="2743200"/>
                <a:gridCol w="2743200"/>
                <a:gridCol w="2743200"/>
                <a:gridCol w="2743200"/>
              </a:tblGrid>
              <a:tr h="654844">
                <a:tc>
                  <a:txBody>
                    <a:bodyPr/>
                    <a:lstStyle/>
                    <a:p>
                      <a:r>
                        <a:rPr sz="1800" b="1">
                          <a:solidFill>
                            <a:srgbClr val="FFFFFF"/>
                          </a:solidFill>
                          <a:latin typeface="Helvetica Neue"/>
                          <a:ea typeface="Helvetica Neue"/>
                          <a:cs typeface="Helvetica Neue"/>
                        </a:rPr>
                        <a:t>Process</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Allocation</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Max</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Need</a:t>
                      </a:r>
                    </a:p>
                  </a:txBody>
                  <a:tcPr marL="114300" marR="114300" marT="47625" marB="47625" anchor="ctr">
                    <a:solidFill>
                      <a:srgbClr val="122C42"/>
                    </a:solidFill>
                  </a:tcPr>
                </a:tc>
              </a:tr>
              <a:tr h="654844">
                <a:tc>
                  <a:txBody>
                    <a:bodyPr/>
                    <a:lstStyle/>
                    <a:p>
                      <a:r>
                        <a:rPr sz="1800" b="0">
                          <a:solidFill>
                            <a:srgbClr val="122C42"/>
                          </a:solidFill>
                          <a:latin typeface="Helvetica Neue"/>
                          <a:ea typeface="Helvetica Neue"/>
                          <a:cs typeface="Helvetica Neue"/>
                        </a:rPr>
                        <a:t>P0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(3,2)</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(2,2)</a:t>
                      </a:r>
                    </a:p>
                  </a:txBody>
                  <a:tcPr marL="114300" marR="114300" marT="47625" marB="47625" anchor="ctr">
                    <a:solidFill>
                      <a:srgbClr val="FFFFFF"/>
                    </a:solidFill>
                  </a:tcPr>
                </a:tc>
              </a:tr>
              <a:tr h="654844">
                <a:tc>
                  <a:txBody>
                    <a:bodyPr/>
                    <a:lstStyle/>
                    <a:p>
                      <a:r>
                        <a:rPr sz="1800" b="0">
                          <a:solidFill>
                            <a:srgbClr val="122C42"/>
                          </a:solidFill>
                          <a:latin typeface="Helvetica Neue"/>
                          <a:ea typeface="Helvetica Neue"/>
                          <a:cs typeface="Helvetica Neue"/>
                        </a:rPr>
                        <a:t>P1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(2,1)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(1,0)</a:t>
                      </a:r>
                    </a:p>
                  </a:txBody>
                  <a:tcPr marL="114300" marR="114300" marT="47625" marB="47625" anchor="ctr">
                    <a:solidFill>
                      <a:srgbClr val="ECF0EC"/>
                    </a:solidFill>
                  </a:tcPr>
                </a:tc>
              </a:tr>
              <a:tr h="654844">
                <a:tc>
                  <a:txBody>
                    <a:bodyPr/>
                    <a:lstStyle/>
                    <a:p>
                      <a:r>
                        <a:rPr sz="1800" b="0">
                          <a:solidFill>
                            <a:srgbClr val="122C42"/>
                          </a:solidFill>
                          <a:latin typeface="Helvetica Neue"/>
                          <a:ea typeface="Helvetica Neue"/>
                          <a:cs typeface="Helvetica Neue"/>
                        </a:rPr>
                        <a:t>P2</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(2,2)</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(1,1)</a:t>
                      </a:r>
                    </a:p>
                  </a:txBody>
                  <a:tcPr marL="114300" marR="11430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573F82F-A404-47E1-9362-51D9BBA7BEB4}"/>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İlk kim bitirebilir? P0 neden ilk seçilemiyor?</a:t>
            </a:r>
          </a:p>
        </p:txBody>
      </p:sp>
      <p:sp>
        <p:nvSpPr>
          <p:cNvPr id="5" name="">
            <a:extLst xmlns:a="http://schemas.openxmlformats.org/drawingml/2006/main">
              <a:ext uri="{FF2B5EF4-FFF2-40B4-BE49-F238E27FC236}">
                <a16:creationId xmlns:a16="http://schemas.microsoft.com/office/drawing/2014/main" id="{AFEB1A2C-063D-4461-95C2-439152BFEE9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6" name="">
            <a:extLst xmlns:a="http://schemas.openxmlformats.org/drawingml/2006/main">
              <a:ext uri="{FF2B5EF4-FFF2-40B4-BE49-F238E27FC236}">
                <a16:creationId xmlns:a16="http://schemas.microsoft.com/office/drawing/2014/main" id="{8F7448F8-6CD6-4618-9898-F74CE5109B7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18 / 28</a:t>
            </a:r>
          </a:p>
        </p:txBody>
      </p:sp>
    </p:spTree>
    <p:extLst>
      <p:ext uri="{BB962C8B-B14F-4D97-AF65-F5344CB8AC3E}">
        <p14:creationId xmlns:p14="http://schemas.microsoft.com/office/powerpoint/2010/main" val="1504919739"/>
      </p:ext>
    </p:extLst>
  </p:cSld>
</p:sld>
</file>

<file path=ppt/slides/slide1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C61A85-4D60-4795-8BC2-59D7C5FF25C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Safe sequence’i adım adım kanıtla</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2743200"/>
                <a:gridCol w="2743200"/>
                <a:gridCol w="2743200"/>
                <a:gridCol w="2743200"/>
              </a:tblGrid>
              <a:tr h="971550">
                <a:tc>
                  <a:txBody>
                    <a:bodyPr/>
                    <a:lstStyle/>
                    <a:p>
                      <a:r>
                        <a:rPr sz="1800" b="1">
                          <a:solidFill>
                            <a:srgbClr val="FFFFFF"/>
                          </a:solidFill>
                          <a:latin typeface="Helvetica Neue"/>
                          <a:ea typeface="Helvetica Neue"/>
                          <a:cs typeface="Helvetica Neue"/>
                        </a:rPr>
                        <a:t>Adım</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Work önce</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Seçilen / Need</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Work sonra</a:t>
                      </a:r>
                    </a:p>
                  </a:txBody>
                  <a:tcPr marL="114300" marR="114300" marT="47625" marB="47625" anchor="ctr">
                    <a:solidFill>
                      <a:srgbClr val="122C42"/>
                    </a:solidFill>
                  </a:tcPr>
                </a:tc>
              </a:tr>
              <a:tr h="971550">
                <a:tc>
                  <a:txBody>
                    <a:bodyPr/>
                    <a:lstStyle/>
                    <a:p>
                      <a:r>
                        <a:rPr sz="1800" b="0">
                          <a:solidFill>
                            <a:srgbClr val="122C42"/>
                          </a:solidFill>
                          <a:latin typeface="Helvetica Neue"/>
                          <a:ea typeface="Helvetica Neue"/>
                          <a:cs typeface="Helvetica Neue"/>
                        </a:rPr>
                        <a:t>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P1 / (1,0)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(2,2)</a:t>
                      </a:r>
                    </a:p>
                  </a:txBody>
                  <a:tcPr marL="114300" marR="114300" marT="47625" marB="47625" anchor="ctr">
                    <a:solidFill>
                      <a:srgbClr val="FFFFFF"/>
                    </a:solidFill>
                  </a:tcPr>
                </a:tc>
              </a:tr>
              <a:tr h="971550">
                <a:tc>
                  <a:txBody>
                    <a:bodyPr/>
                    <a:lstStyle/>
                    <a:p>
                      <a:r>
                        <a:rPr sz="1800" b="0">
                          <a:solidFill>
                            <a:srgbClr val="122C42"/>
                          </a:solidFill>
                          <a:latin typeface="Helvetica Neue"/>
                          <a:ea typeface="Helvetica Neue"/>
                          <a:cs typeface="Helvetica Neue"/>
                        </a:rPr>
                        <a:t>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(2,2)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P0 / (2,2)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(3,2)</a:t>
                      </a:r>
                    </a:p>
                  </a:txBody>
                  <a:tcPr marL="114300" marR="114300" marT="47625" marB="47625" anchor="ctr">
                    <a:solidFill>
                      <a:srgbClr val="ECF0EC"/>
                    </a:solidFill>
                  </a:tcPr>
                </a:tc>
              </a:tr>
              <a:tr h="971550">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(3,2)</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P2 / (1,1)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(4,3)</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A40D06B-91D7-4628-8A58-A3039D1A027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4" name="">
            <a:extLst xmlns:a="http://schemas.openxmlformats.org/drawingml/2006/main">
              <a:ext uri="{FF2B5EF4-FFF2-40B4-BE49-F238E27FC236}">
                <a16:creationId xmlns:a16="http://schemas.microsoft.com/office/drawing/2014/main" id="{209EDF10-1359-4AE1-A0B8-E0E45E51134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19 / 28</a:t>
            </a:r>
          </a:p>
        </p:txBody>
      </p:sp>
    </p:spTree>
    <p:extLst>
      <p:ext uri="{BB962C8B-B14F-4D97-AF65-F5344CB8AC3E}">
        <p14:creationId xmlns:p14="http://schemas.microsoft.com/office/powerpoint/2010/main" val="45943886"/>
      </p:ext>
    </p:extLst>
  </p:cSld>
</p:sld>
</file>

<file path=ppt/slides/slide2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8CBFF9-F493-4136-8E88-C21FD9628BB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Avoidance: talebi geçici olarak uygula</a:t>
            </a:r>
          </a:p>
        </p:txBody>
      </p:sp>
      <p:sp>
        <p:nvSpPr>
          <p:cNvPr id="2" name="">
            <a:extLst xmlns:a="http://schemas.openxmlformats.org/drawingml/2006/main">
              <a:ext uri="{FF2B5EF4-FFF2-40B4-BE49-F238E27FC236}">
                <a16:creationId xmlns:a16="http://schemas.microsoft.com/office/drawing/2014/main" id="{132D30E9-0091-40F4-B79E-AF6D94E021F2}"/>
              </a:ext>
            </a:extLst>
          </p:cNvPr>
          <p:cNvSpPr>
            <a:spLocks xmlns:a="http://schemas.openxmlformats.org/drawingml/2006/main" noGrp="1"/>
          </p:cNvSpPr>
          <p:nvPr/>
        </p:nvSpPr>
        <p:spPr>
          <a:xfrm xmlns:a="http://schemas.openxmlformats.org/drawingml/2006/main">
            <a:off x="742950" y="2095500"/>
            <a:ext cx="10715625"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check Request &lt;= Need[i]</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check Request &lt;= Available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trial.Available -= Request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trial.Allocation[i] += Request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trial.Need[i] -= Request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if safety(trial): commit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else: defer</a:t>
            </a:r>
          </a:p>
        </p:txBody>
      </p:sp>
      <p:sp>
        <p:nvSpPr>
          <p:cNvPr id="3" name="">
            <a:extLst xmlns:a="http://schemas.openxmlformats.org/drawingml/2006/main">
              <a:ext uri="{FF2B5EF4-FFF2-40B4-BE49-F238E27FC236}">
                <a16:creationId xmlns:a16="http://schemas.microsoft.com/office/drawing/2014/main" id="{C1BC3102-4991-4BAE-9E10-F67F3E6B911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İki kaynaklı iş kabulü</a:t>
            </a:r>
          </a:p>
        </p:txBody>
      </p:sp>
      <p:sp>
        <p:nvSpPr>
          <p:cNvPr id="4" name="">
            <a:extLst xmlns:a="http://schemas.openxmlformats.org/drawingml/2006/main">
              <a:ext uri="{FF2B5EF4-FFF2-40B4-BE49-F238E27FC236}">
                <a16:creationId xmlns:a16="http://schemas.microsoft.com/office/drawing/2014/main" id="{647F0AB5-5FA9-409D-9D04-FDFF9356CE27}"/>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Boş kapasite görünse de talep erteleniyor.</a:t>
            </a:r>
          </a:p>
        </p:txBody>
      </p:sp>
      <p:sp>
        <p:nvSpPr>
          <p:cNvPr id="5" name="">
            <a:extLst xmlns:a="http://schemas.openxmlformats.org/drawingml/2006/main">
              <a:ext uri="{FF2B5EF4-FFF2-40B4-BE49-F238E27FC236}">
                <a16:creationId xmlns:a16="http://schemas.microsoft.com/office/drawing/2014/main" id="{97E427BF-AECC-48E4-8A05-F0F5F39B255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6" name="">
            <a:extLst xmlns:a="http://schemas.openxmlformats.org/drawingml/2006/main">
              <a:ext uri="{FF2B5EF4-FFF2-40B4-BE49-F238E27FC236}">
                <a16:creationId xmlns:a16="http://schemas.microsoft.com/office/drawing/2014/main" id="{63683A80-9722-4E5E-9A23-2D27D996BE8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20 / 28</a:t>
            </a:r>
          </a:p>
        </p:txBody>
      </p:sp>
    </p:spTree>
    <p:extLst>
      <p:ext uri="{BB962C8B-B14F-4D97-AF65-F5344CB8AC3E}">
        <p14:creationId xmlns:p14="http://schemas.microsoft.com/office/powerpoint/2010/main" val="2042160708"/>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E9798D-3ECE-491B-A605-4CD589A7BB2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İki talep: biri safe, diğeri unsafe</a:t>
            </a:r>
          </a:p>
        </p:txBody>
      </p:sp>
      <p:sp>
        <p:nvSpPr>
          <p:cNvPr id="2" name="">
            <a:extLst xmlns:a="http://schemas.openxmlformats.org/drawingml/2006/main">
              <a:ext uri="{FF2B5EF4-FFF2-40B4-BE49-F238E27FC236}">
                <a16:creationId xmlns:a16="http://schemas.microsoft.com/office/drawing/2014/main" id="{6EA0B805-C8F1-4ADF-997D-5FA0D7DFE0CA}"/>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P1 talebi (1,0)</a:t>
            </a:r>
          </a:p>
        </p:txBody>
      </p:sp>
      <p:sp>
        <p:nvSpPr>
          <p:cNvPr id="3" name="">
            <a:extLst xmlns:a="http://schemas.openxmlformats.org/drawingml/2006/main">
              <a:ext uri="{FF2B5EF4-FFF2-40B4-BE49-F238E27FC236}">
                <a16:creationId xmlns:a16="http://schemas.microsoft.com/office/drawing/2014/main" id="{F60ED72A-54EA-4776-86BE-BC711D7784C0}"/>
              </a:ext>
            </a:extLst>
          </p:cNvPr>
          <p:cNvSpPr>
            <a:spLocks xmlns:a="http://schemas.openxmlformats.org/drawingml/2006/main" noGrp="1"/>
          </p:cNvSpPr>
          <p:nvPr/>
        </p:nvSpPr>
        <p:spPr>
          <a:xfrm xmlns:a="http://schemas.openxmlformats.org/drawingml/2006/main">
            <a:off x="609600" y="2714625"/>
            <a:ext cx="52959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Available → (0,1)</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P1 Need → (0,0)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Safe: P1 → P0 → P2</a:t>
            </a:r>
          </a:p>
        </p:txBody>
      </p:sp>
      <p:sp>
        <p:nvSpPr>
          <p:cNvPr id="4" name="">
            <a:extLst xmlns:a="http://schemas.openxmlformats.org/drawingml/2006/main">
              <a:ext uri="{FF2B5EF4-FFF2-40B4-BE49-F238E27FC236}">
                <a16:creationId xmlns:a16="http://schemas.microsoft.com/office/drawing/2014/main" id="{DA0A033A-363A-42B8-9222-83565C05C70D}"/>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P0 talebi (1,1)</a:t>
            </a:r>
          </a:p>
        </p:txBody>
      </p:sp>
      <p:sp>
        <p:nvSpPr>
          <p:cNvPr id="5" name="">
            <a:extLst xmlns:a="http://schemas.openxmlformats.org/drawingml/2006/main">
              <a:ext uri="{FF2B5EF4-FFF2-40B4-BE49-F238E27FC236}">
                <a16:creationId xmlns:a16="http://schemas.microsoft.com/office/drawing/2014/main" id="{5A09D6B8-FF6D-4A34-9817-D633C18582C6}"/>
              </a:ext>
            </a:extLst>
          </p:cNvPr>
          <p:cNvSpPr>
            <a:spLocks xmlns:a="http://schemas.openxmlformats.org/drawingml/2006/main" noGrp="1"/>
          </p:cNvSpPr>
          <p:nvPr/>
        </p:nvSpPr>
        <p:spPr>
          <a:xfrm xmlns:a="http://schemas.openxmlformats.org/drawingml/2006/main">
            <a:off x="6286500" y="2714625"/>
            <a:ext cx="52959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Available → (0,0)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Hiçbir Need sığmaz</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Unsafe: grant ertelenir</a:t>
            </a:r>
          </a:p>
        </p:txBody>
      </p:sp>
      <p:sp>
        <p:nvSpPr>
          <p:cNvPr id="6" name="">
            <a:extLst xmlns:a="http://schemas.openxmlformats.org/drawingml/2006/main">
              <a:ext uri="{FF2B5EF4-FFF2-40B4-BE49-F238E27FC236}">
                <a16:creationId xmlns:a16="http://schemas.microsoft.com/office/drawing/2014/main" id="{929397C9-66D8-461C-A257-B38053D73B5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7" name="">
            <a:extLst xmlns:a="http://schemas.openxmlformats.org/drawingml/2006/main">
              <a:ext uri="{FF2B5EF4-FFF2-40B4-BE49-F238E27FC236}">
                <a16:creationId xmlns:a16="http://schemas.microsoft.com/office/drawing/2014/main" id="{14976F54-ACB6-4E34-A70E-2958031DA84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21 / 28</a:t>
            </a:r>
          </a:p>
        </p:txBody>
      </p:sp>
    </p:spTree>
    <p:extLst>
      <p:ext uri="{BB962C8B-B14F-4D97-AF65-F5344CB8AC3E}">
        <p14:creationId xmlns:p14="http://schemas.microsoft.com/office/powerpoint/2010/main" val="1223589735"/>
      </p:ext>
    </p:extLst>
  </p:cSld>
</p:sld>
</file>

<file path=ppt/slides/slide2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855BD6-FCE7-4B1F-9EE4-C5AEE8BAC46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Unsafe = şu anda deadlock mu?</a:t>
            </a:r>
          </a:p>
        </p:txBody>
      </p:sp>
      <p:sp>
        <p:nvSpPr>
          <p:cNvPr id="2" name="">
            <a:extLst xmlns:a="http://schemas.openxmlformats.org/drawingml/2006/main">
              <a:ext uri="{FF2B5EF4-FFF2-40B4-BE49-F238E27FC236}">
                <a16:creationId xmlns:a16="http://schemas.microsoft.com/office/drawing/2014/main" id="{5D8A8FE5-17DC-4368-AD99-6582418961E1}"/>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ABD4A60-DCA7-42E4-B683-F630B9CE6816}"/>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Max gelecekteki üst sınırdır</a:t>
            </a:r>
          </a:p>
        </p:txBody>
      </p:sp>
      <p:sp>
        <p:nvSpPr>
          <p:cNvPr id="4" name="">
            <a:extLst xmlns:a="http://schemas.openxmlformats.org/drawingml/2006/main">
              <a:ext uri="{FF2B5EF4-FFF2-40B4-BE49-F238E27FC236}">
                <a16:creationId xmlns:a16="http://schemas.microsoft.com/office/drawing/2014/main" id="{63DAEBD9-BE4A-4793-A0CB-90795E5EBE2F}"/>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7194E8B-B045-4CC0-93B4-295F1375610A}"/>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Current request şu anda beklenen miktardır</a:t>
            </a:r>
          </a:p>
        </p:txBody>
      </p:sp>
      <p:sp>
        <p:nvSpPr>
          <p:cNvPr id="6" name="">
            <a:extLst xmlns:a="http://schemas.openxmlformats.org/drawingml/2006/main">
              <a:ext uri="{FF2B5EF4-FFF2-40B4-BE49-F238E27FC236}">
                <a16:creationId xmlns:a16="http://schemas.microsoft.com/office/drawing/2014/main" id="{4D3BE0BA-F0F7-4564-81C6-66B96CB7AF29}"/>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06E9B47-BC48-4286-8A26-723AED9AAC2E}"/>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Bu iki vektörü karıştırma</a:t>
            </a:r>
          </a:p>
        </p:txBody>
      </p:sp>
      <p:sp>
        <p:nvSpPr>
          <p:cNvPr id="8" name="">
            <a:extLst xmlns:a="http://schemas.openxmlformats.org/drawingml/2006/main">
              <a:ext uri="{FF2B5EF4-FFF2-40B4-BE49-F238E27FC236}">
                <a16:creationId xmlns:a16="http://schemas.microsoft.com/office/drawing/2014/main" id="{CB54FD98-7F77-4973-AEAB-7607A1C102FC}"/>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P1 daha fazla A istemeden bitirirse unsafe state’te ilerleme olabilir mi?</a:t>
            </a:r>
          </a:p>
        </p:txBody>
      </p:sp>
      <p:sp>
        <p:nvSpPr>
          <p:cNvPr id="9" name="">
            <a:extLst xmlns:a="http://schemas.openxmlformats.org/drawingml/2006/main">
              <a:ext uri="{FF2B5EF4-FFF2-40B4-BE49-F238E27FC236}">
                <a16:creationId xmlns:a16="http://schemas.microsoft.com/office/drawing/2014/main" id="{9B679157-B64C-415D-9385-96CC3000C2D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10" name="">
            <a:extLst xmlns:a="http://schemas.openxmlformats.org/drawingml/2006/main">
              <a:ext uri="{FF2B5EF4-FFF2-40B4-BE49-F238E27FC236}">
                <a16:creationId xmlns:a16="http://schemas.microsoft.com/office/drawing/2014/main" id="{FB051317-2481-4C5B-899F-9CDD1A5CF35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22 / 28</a:t>
            </a:r>
          </a:p>
        </p:txBody>
      </p:sp>
    </p:spTree>
    <p:extLst>
      <p:ext uri="{BB962C8B-B14F-4D97-AF65-F5344CB8AC3E}">
        <p14:creationId xmlns:p14="http://schemas.microsoft.com/office/powerpoint/2010/main" val="292448064"/>
      </p:ext>
    </p:extLst>
  </p:cSld>
</p:sld>
</file>

<file path=ppt/slides/slide2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5359DE-3537-4F24-8677-CBA1F75638CD}"/>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Detection: bugün kim ne bekliyor?</a:t>
            </a:r>
          </a:p>
        </p:txBody>
      </p:sp>
      <p:graphicFrame>
        <p:nvGraphicFramePr>
          <p:cNvPr id="8" name=""/>
          <p:cNvGraphicFramePr/>
          <p:nvPr/>
        </p:nvGraphicFramePr>
        <p:xfrm>
          <a:off xmlns:a="http://schemas.openxmlformats.org/drawingml/2006/main" x="609600" y="1857375"/>
          <a:ext xmlns:a="http://schemas.openxmlformats.org/drawingml/2006/main" cx="10972800" cy="3362325"/>
        </p:xfrm>
        <a:graphic xmlns:a="http://schemas.openxmlformats.org/drawingml/2006/main">
          <a:graphicData uri="http://schemas.openxmlformats.org/drawingml/2006/table">
            <a:tbl>
              <a:tblPr/>
              <a:tblGrid>
                <a:gridCol w="5486400"/>
                <a:gridCol w="5486400"/>
              </a:tblGrid>
              <a:tr h="840581">
                <a:tc>
                  <a:txBody>
                    <a:bodyPr/>
                    <a:lstStyle/>
                    <a:p>
                      <a:r>
                        <a:rPr sz="1800" b="1">
                          <a:solidFill>
                            <a:srgbClr val="FFFFFF"/>
                          </a:solidFill>
                          <a:latin typeface="Helvetica Neue"/>
                          <a:ea typeface="Helvetica Neue"/>
                          <a:cs typeface="Helvetica Neue"/>
                        </a:rPr>
                        <a:t>Algoritma</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Talep bilgisi</a:t>
                      </a:r>
                    </a:p>
                  </a:txBody>
                  <a:tcPr marL="114300" marR="114300" marT="47625" marB="47625" anchor="ctr">
                    <a:solidFill>
                      <a:srgbClr val="122C42"/>
                    </a:solidFill>
                  </a:tcPr>
                </a:tc>
              </a:tr>
              <a:tr h="840581">
                <a:tc>
                  <a:txBody>
                    <a:bodyPr/>
                    <a:lstStyle/>
                    <a:p>
                      <a:r>
                        <a:rPr sz="1800" b="0">
                          <a:solidFill>
                            <a:srgbClr val="122C42"/>
                          </a:solidFill>
                          <a:latin typeface="Helvetica Neue"/>
                          <a:ea typeface="Helvetica Neue"/>
                          <a:cs typeface="Helvetica Neue"/>
                        </a:rPr>
                        <a:t>Safety / Banker</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Kalan ilan edilen maksimum Need</a:t>
                      </a:r>
                    </a:p>
                  </a:txBody>
                  <a:tcPr marL="114300" marR="114300" marT="47625" marB="47625" anchor="ctr">
                    <a:solidFill>
                      <a:srgbClr val="FFFFFF"/>
                    </a:solidFill>
                  </a:tcPr>
                </a:tc>
              </a:tr>
              <a:tr h="840581">
                <a:tc>
                  <a:txBody>
                    <a:bodyPr/>
                    <a:lstStyle/>
                    <a:p>
                      <a:r>
                        <a:rPr sz="1800" b="0">
                          <a:solidFill>
                            <a:srgbClr val="122C42"/>
                          </a:solidFill>
                          <a:latin typeface="Helvetica Neue"/>
                          <a:ea typeface="Helvetica Neue"/>
                          <a:cs typeface="Helvetica Neue"/>
                        </a:rPr>
                        <a:t>Deadlock detection</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Mevcut beklenen Request</a:t>
                      </a:r>
                    </a:p>
                  </a:txBody>
                  <a:tcPr marL="114300" marR="114300" marT="47625" marB="47625" anchor="ctr">
                    <a:solidFill>
                      <a:srgbClr val="ECF0EC"/>
                    </a:solidFill>
                  </a:tcPr>
                </a:tc>
              </a:tr>
              <a:tr h="840581">
                <a:tc>
                  <a:txBody>
                    <a:bodyPr/>
                    <a:lstStyle/>
                    <a:p>
                      <a:r>
                        <a:rPr sz="1800" b="0">
                          <a:solidFill>
                            <a:srgbClr val="122C42"/>
                          </a:solidFill>
                          <a:latin typeface="Helvetica Neue"/>
                          <a:ea typeface="Helvetica Neue"/>
                          <a:cs typeface="Helvetica Neue"/>
                        </a:rPr>
                        <a:t>Single-instance graph lab</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Mevcut task → holder ilişkisi</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B4C6F6D-B22E-48E3-AA87-BF89D4FA3528}"/>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Thread dump incelemesi</a:t>
            </a:r>
          </a:p>
        </p:txBody>
      </p:sp>
      <p:sp>
        <p:nvSpPr>
          <p:cNvPr id="4" name="">
            <a:extLst xmlns:a="http://schemas.openxmlformats.org/drawingml/2006/main">
              <a:ext uri="{FF2B5EF4-FFF2-40B4-BE49-F238E27FC236}">
                <a16:creationId xmlns:a16="http://schemas.microsoft.com/office/drawing/2014/main" id="{0197D1E4-8AC8-4B76-8E38-4BAB64D87C5F}"/>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Worker’ların hangi holder’ı beklediği toplanır.</a:t>
            </a:r>
          </a:p>
        </p:txBody>
      </p:sp>
      <p:sp>
        <p:nvSpPr>
          <p:cNvPr id="5" name="">
            <a:extLst xmlns:a="http://schemas.openxmlformats.org/drawingml/2006/main">
              <a:ext uri="{FF2B5EF4-FFF2-40B4-BE49-F238E27FC236}">
                <a16:creationId xmlns:a16="http://schemas.microsoft.com/office/drawing/2014/main" id="{0083326D-D913-4D91-AA35-DC898751228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6" name="">
            <a:extLst xmlns:a="http://schemas.openxmlformats.org/drawingml/2006/main">
              <a:ext uri="{FF2B5EF4-FFF2-40B4-BE49-F238E27FC236}">
                <a16:creationId xmlns:a16="http://schemas.microsoft.com/office/drawing/2014/main" id="{96389097-21A3-4E62-8D75-FA86D176FCA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23 / 28</a:t>
            </a:r>
          </a:p>
        </p:txBody>
      </p:sp>
    </p:spTree>
    <p:extLst>
      <p:ext uri="{BB962C8B-B14F-4D97-AF65-F5344CB8AC3E}">
        <p14:creationId xmlns:p14="http://schemas.microsoft.com/office/powerpoint/2010/main" val="894824153"/>
      </p:ext>
    </p:extLst>
  </p:cSld>
</p:sld>
</file>

<file path=ppt/slides/slide2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150F502-444D-462D-959E-571B6008B6E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Recovery: çözmek veri kaybını gizlemez</a:t>
            </a:r>
          </a:p>
        </p:txBody>
      </p:sp>
      <p:sp>
        <p:nvSpPr>
          <p:cNvPr id="2" name="">
            <a:extLst xmlns:a="http://schemas.openxmlformats.org/drawingml/2006/main">
              <a:ext uri="{FF2B5EF4-FFF2-40B4-BE49-F238E27FC236}">
                <a16:creationId xmlns:a16="http://schemas.microsoft.com/office/drawing/2014/main" id="{E53A2292-225B-4BB8-9EA1-D7CF1AD1DE6A}"/>
              </a:ext>
            </a:extLst>
          </p:cNvPr>
          <p:cNvSpPr>
            <a:spLocks xmlns:a="http://schemas.openxmlformats.org/drawingml/2006/main" noGrp="1"/>
          </p:cNvSpPr>
          <p:nvPr/>
        </p:nvSpPr>
        <p:spPr>
          <a:xfrm xmlns:a="http://schemas.openxmlformats.org/drawingml/2006/main">
            <a:off x="609600" y="1952625"/>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A9D6479-3CF0-42B8-A6C2-7C83385101EF}"/>
              </a:ext>
            </a:extLst>
          </p:cNvPr>
          <p:cNvSpPr>
            <a:spLocks xmlns:a="http://schemas.openxmlformats.org/drawingml/2006/main" noGrp="1"/>
          </p:cNvSpPr>
          <p:nvPr/>
        </p:nvSpPr>
        <p:spPr>
          <a:xfrm xmlns:a="http://schemas.openxmlformats.org/drawingml/2006/main">
            <a:off x="1333500" y="1952625"/>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Bir veya daha fazla işi sonlandır</a:t>
            </a:r>
          </a:p>
        </p:txBody>
      </p:sp>
      <p:sp>
        <p:nvSpPr>
          <p:cNvPr id="4" name="">
            <a:extLst xmlns:a="http://schemas.openxmlformats.org/drawingml/2006/main">
              <a:ext uri="{FF2B5EF4-FFF2-40B4-BE49-F238E27FC236}">
                <a16:creationId xmlns:a16="http://schemas.microsoft.com/office/drawing/2014/main" id="{AB793234-CECF-419B-9BFA-8E22E0EF4002}"/>
              </a:ext>
            </a:extLst>
          </p:cNvPr>
          <p:cNvSpPr>
            <a:spLocks xmlns:a="http://schemas.openxmlformats.org/drawingml/2006/main" noGrp="1"/>
          </p:cNvSpPr>
          <p:nvPr/>
        </p:nvSpPr>
        <p:spPr>
          <a:xfrm xmlns:a="http://schemas.openxmlformats.org/drawingml/2006/main">
            <a:off x="609600" y="2769394"/>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9EE5F49-DF2D-45F6-8DB8-9F6FE66345DE}"/>
              </a:ext>
            </a:extLst>
          </p:cNvPr>
          <p:cNvSpPr>
            <a:spLocks xmlns:a="http://schemas.openxmlformats.org/drawingml/2006/main" noGrp="1"/>
          </p:cNvSpPr>
          <p:nvPr/>
        </p:nvSpPr>
        <p:spPr>
          <a:xfrm xmlns:a="http://schemas.openxmlformats.org/drawingml/2006/main">
            <a:off x="1333500" y="2769394"/>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Güvenli kaynak geri alma / rollback uygula</a:t>
            </a:r>
          </a:p>
        </p:txBody>
      </p:sp>
      <p:sp>
        <p:nvSpPr>
          <p:cNvPr id="6" name="">
            <a:extLst xmlns:a="http://schemas.openxmlformats.org/drawingml/2006/main">
              <a:ext uri="{FF2B5EF4-FFF2-40B4-BE49-F238E27FC236}">
                <a16:creationId xmlns:a16="http://schemas.microsoft.com/office/drawing/2014/main" id="{C45B2ABB-2F33-48B5-B51A-9FE7D398523F}"/>
              </a:ext>
            </a:extLst>
          </p:cNvPr>
          <p:cNvSpPr>
            <a:spLocks xmlns:a="http://schemas.openxmlformats.org/drawingml/2006/main" noGrp="1"/>
          </p:cNvSpPr>
          <p:nvPr/>
        </p:nvSpPr>
        <p:spPr>
          <a:xfrm xmlns:a="http://schemas.openxmlformats.org/drawingml/2006/main">
            <a:off x="609600" y="3586163"/>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5CA37AB-962E-432C-9001-1FE3F520FDE3}"/>
              </a:ext>
            </a:extLst>
          </p:cNvPr>
          <p:cNvSpPr>
            <a:spLocks xmlns:a="http://schemas.openxmlformats.org/drawingml/2006/main" noGrp="1"/>
          </p:cNvSpPr>
          <p:nvPr/>
        </p:nvSpPr>
        <p:spPr>
          <a:xfrm xmlns:a="http://schemas.openxmlformats.org/drawingml/2006/main">
            <a:off x="1333500" y="3586163"/>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Victim seçiminin maliyetini değerlendir</a:t>
            </a:r>
          </a:p>
        </p:txBody>
      </p:sp>
      <p:sp>
        <p:nvSpPr>
          <p:cNvPr id="8" name="">
            <a:extLst xmlns:a="http://schemas.openxmlformats.org/drawingml/2006/main">
              <a:ext uri="{FF2B5EF4-FFF2-40B4-BE49-F238E27FC236}">
                <a16:creationId xmlns:a16="http://schemas.microsoft.com/office/drawing/2014/main" id="{6869FD10-AA8A-4371-A38F-8A1540DA4DB6}"/>
              </a:ext>
            </a:extLst>
          </p:cNvPr>
          <p:cNvSpPr>
            <a:spLocks xmlns:a="http://schemas.openxmlformats.org/drawingml/2006/main" noGrp="1"/>
          </p:cNvSpPr>
          <p:nvPr/>
        </p:nvSpPr>
        <p:spPr>
          <a:xfrm xmlns:a="http://schemas.openxmlformats.org/drawingml/2006/main">
            <a:off x="609600" y="4402931"/>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71DF3C78-04B4-4C00-969F-7B6C3D4B2A87}"/>
              </a:ext>
            </a:extLst>
          </p:cNvPr>
          <p:cNvSpPr>
            <a:spLocks xmlns:a="http://schemas.openxmlformats.org/drawingml/2006/main" noGrp="1"/>
          </p:cNvSpPr>
          <p:nvPr/>
        </p:nvSpPr>
        <p:spPr>
          <a:xfrm xmlns:a="http://schemas.openxmlformats.org/drawingml/2006/main">
            <a:off x="1333500" y="4402931"/>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Tekrar deneme ve tutarlılığı birlikte tasarla</a:t>
            </a:r>
          </a:p>
        </p:txBody>
      </p:sp>
      <p:sp>
        <p:nvSpPr>
          <p:cNvPr id="10" name="">
            <a:extLst xmlns:a="http://schemas.openxmlformats.org/drawingml/2006/main">
              <a:ext uri="{FF2B5EF4-FFF2-40B4-BE49-F238E27FC236}">
                <a16:creationId xmlns:a16="http://schemas.microsoft.com/office/drawing/2014/main" id="{FABA1F41-15E8-4514-88AC-239CE766AD69}"/>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İş kuyruğunda iptal</a:t>
            </a:r>
          </a:p>
        </p:txBody>
      </p:sp>
      <p:sp>
        <p:nvSpPr>
          <p:cNvPr id="11" name="">
            <a:extLst xmlns:a="http://schemas.openxmlformats.org/drawingml/2006/main">
              <a:ext uri="{FF2B5EF4-FFF2-40B4-BE49-F238E27FC236}">
                <a16:creationId xmlns:a16="http://schemas.microsoft.com/office/drawing/2014/main" id="{689EEA86-3B63-4786-BA0B-E9771FDBCC75}"/>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Çevrim bir worker iptaliyle kırılıyor.</a:t>
            </a:r>
          </a:p>
        </p:txBody>
      </p:sp>
      <p:sp>
        <p:nvSpPr>
          <p:cNvPr id="12" name="">
            <a:extLst xmlns:a="http://schemas.openxmlformats.org/drawingml/2006/main">
              <a:ext uri="{FF2B5EF4-FFF2-40B4-BE49-F238E27FC236}">
                <a16:creationId xmlns:a16="http://schemas.microsoft.com/office/drawing/2014/main" id="{9F939C2C-629F-4E6A-A7C2-62C5AEC3FD7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13" name="">
            <a:extLst xmlns:a="http://schemas.openxmlformats.org/drawingml/2006/main">
              <a:ext uri="{FF2B5EF4-FFF2-40B4-BE49-F238E27FC236}">
                <a16:creationId xmlns:a16="http://schemas.microsoft.com/office/drawing/2014/main" id="{0D1153EA-70A5-4922-9C67-9CC5BF5CD2B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24 / 28</a:t>
            </a:r>
          </a:p>
        </p:txBody>
      </p:sp>
    </p:spTree>
    <p:extLst>
      <p:ext uri="{BB962C8B-B14F-4D97-AF65-F5344CB8AC3E}">
        <p14:creationId xmlns:p14="http://schemas.microsoft.com/office/powerpoint/2010/main" val="1436981474"/>
      </p:ext>
    </p:extLst>
  </p:cSld>
</p:sld>
</file>

<file path=ppt/slides/slide2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D2E1C1-B14B-4B83-8A8F-EE6342AA68F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Veritabanında sıra tersine dönerse</a:t>
            </a:r>
          </a:p>
        </p:txBody>
      </p:sp>
      <p:sp>
        <p:nvSpPr>
          <p:cNvPr id="2" name="">
            <a:extLst xmlns:a="http://schemas.openxmlformats.org/drawingml/2006/main">
              <a:ext uri="{FF2B5EF4-FFF2-40B4-BE49-F238E27FC236}">
                <a16:creationId xmlns:a16="http://schemas.microsoft.com/office/drawing/2014/main" id="{E12FAE88-9303-42EC-B408-0723D184EF08}"/>
              </a:ext>
            </a:extLst>
          </p:cNvPr>
          <p:cNvSpPr>
            <a:spLocks xmlns:a="http://schemas.openxmlformats.org/drawingml/2006/main" noGrp="1"/>
          </p:cNvSpPr>
          <p:nvPr/>
        </p:nvSpPr>
        <p:spPr>
          <a:xfrm xmlns:a="http://schemas.openxmlformats.org/drawingml/2006/main">
            <a:off x="742950" y="2095500"/>
            <a:ext cx="10715625"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Session A: BEGIN;</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SELECT * FROM accounts WHERE id = 10 FOR UPDATE;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then requests id = 20</a:t>
            </a:r>
          </a:p>
          <a:p xmlns:a="http://schemas.openxmlformats.org/drawingml/2006/main">
            <a:r>
              <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Session B: BEGIN;</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SELECT * FROM accounts WHERE id = 20 FOR UPDATE;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then requests id = 10</a:t>
            </a:r>
          </a:p>
        </p:txBody>
      </p:sp>
      <p:sp>
        <p:nvSpPr>
          <p:cNvPr id="3" name="">
            <a:extLst xmlns:a="http://schemas.openxmlformats.org/drawingml/2006/main">
              <a:ext uri="{FF2B5EF4-FFF2-40B4-BE49-F238E27FC236}">
                <a16:creationId xmlns:a16="http://schemas.microsoft.com/office/drawing/2014/main" id="{6B8A3284-A12C-42EB-B55C-AF8491B00D09}"/>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Ters yönlü DB işlemleri</a:t>
            </a:r>
          </a:p>
        </p:txBody>
      </p:sp>
      <p:sp>
        <p:nvSpPr>
          <p:cNvPr id="4" name="">
            <a:extLst xmlns:a="http://schemas.openxmlformats.org/drawingml/2006/main">
              <a:ext uri="{FF2B5EF4-FFF2-40B4-BE49-F238E27FC236}">
                <a16:creationId xmlns:a16="http://schemas.microsoft.com/office/drawing/2014/main" id="{6BF0B9F7-5C8D-4E58-8878-336FE059B6C8}"/>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İki transaction birbirini bekler.</a:t>
            </a:r>
          </a:p>
        </p:txBody>
      </p:sp>
      <p:sp>
        <p:nvSpPr>
          <p:cNvPr id="5" name="">
            <a:extLst xmlns:a="http://schemas.openxmlformats.org/drawingml/2006/main">
              <a:ext uri="{FF2B5EF4-FFF2-40B4-BE49-F238E27FC236}">
                <a16:creationId xmlns:a16="http://schemas.microsoft.com/office/drawing/2014/main" id="{2BE21B39-19CB-4800-A4EB-51C2F7A282C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6" name="">
            <a:extLst xmlns:a="http://schemas.openxmlformats.org/drawingml/2006/main">
              <a:ext uri="{FF2B5EF4-FFF2-40B4-BE49-F238E27FC236}">
                <a16:creationId xmlns:a16="http://schemas.microsoft.com/office/drawing/2014/main" id="{A8A5E8CC-010E-4E33-8365-9E517B831A6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25 / 28</a:t>
            </a:r>
          </a:p>
        </p:txBody>
      </p:sp>
    </p:spTree>
    <p:extLst>
      <p:ext uri="{BB962C8B-B14F-4D97-AF65-F5344CB8AC3E}">
        <p14:creationId xmlns:p14="http://schemas.microsoft.com/office/powerpoint/2010/main" val="647010700"/>
      </p:ext>
    </p:extLst>
  </p:cSld>
</p:sld>
</file>

<file path=ppt/slides/slide2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DA8CF31-A818-4EA0-A73B-7A4EFA5D448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DB örneğinin uygulanabilir kuralları</a:t>
            </a:r>
          </a:p>
        </p:txBody>
      </p:sp>
      <p:sp>
        <p:nvSpPr>
          <p:cNvPr id="2" name="">
            <a:extLst xmlns:a="http://schemas.openxmlformats.org/drawingml/2006/main">
              <a:ext uri="{FF2B5EF4-FFF2-40B4-BE49-F238E27FC236}">
                <a16:creationId xmlns:a16="http://schemas.microsoft.com/office/drawing/2014/main" id="{83443DD9-1643-4BB3-AB65-78BC753FF390}"/>
              </a:ext>
            </a:extLst>
          </p:cNvPr>
          <p:cNvSpPr>
            <a:spLocks xmlns:a="http://schemas.openxmlformats.org/drawingml/2006/main" noGrp="1"/>
          </p:cNvSpPr>
          <p:nvPr/>
        </p:nvSpPr>
        <p:spPr>
          <a:xfrm xmlns:a="http://schemas.openxmlformats.org/drawingml/2006/main">
            <a:off x="609600" y="1952625"/>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1D48735-0C99-4D6C-9760-1B16DE2DDAE5}"/>
              </a:ext>
            </a:extLst>
          </p:cNvPr>
          <p:cNvSpPr>
            <a:spLocks xmlns:a="http://schemas.openxmlformats.org/drawingml/2006/main" noGrp="1"/>
          </p:cNvSpPr>
          <p:nvPr/>
        </p:nvSpPr>
        <p:spPr>
          <a:xfrm xmlns:a="http://schemas.openxmlformats.org/drawingml/2006/main">
            <a:off x="1333500" y="1952625"/>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İlgili bütün yollar aynı lock sırasını kullansın</a:t>
            </a:r>
          </a:p>
        </p:txBody>
      </p:sp>
      <p:sp>
        <p:nvSpPr>
          <p:cNvPr id="4" name="">
            <a:extLst xmlns:a="http://schemas.openxmlformats.org/drawingml/2006/main">
              <a:ext uri="{FF2B5EF4-FFF2-40B4-BE49-F238E27FC236}">
                <a16:creationId xmlns:a16="http://schemas.microsoft.com/office/drawing/2014/main" id="{8166EB33-8279-460B-968E-719BBC138CF9}"/>
              </a:ext>
            </a:extLst>
          </p:cNvPr>
          <p:cNvSpPr>
            <a:spLocks xmlns:a="http://schemas.openxmlformats.org/drawingml/2006/main" noGrp="1"/>
          </p:cNvSpPr>
          <p:nvPr/>
        </p:nvSpPr>
        <p:spPr>
          <a:xfrm xmlns:a="http://schemas.openxmlformats.org/drawingml/2006/main">
            <a:off x="609600" y="2769394"/>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C10A957-C3EE-44A7-8275-45262BAE2806}"/>
              </a:ext>
            </a:extLst>
          </p:cNvPr>
          <p:cNvSpPr>
            <a:spLocks xmlns:a="http://schemas.openxmlformats.org/drawingml/2006/main" noGrp="1"/>
          </p:cNvSpPr>
          <p:nvPr/>
        </p:nvSpPr>
        <p:spPr>
          <a:xfrm xmlns:a="http://schemas.openxmlformats.org/drawingml/2006/main">
            <a:off x="1333500" y="2769394"/>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Gerekli en güçlü lock mode’u önce planla</a:t>
            </a:r>
          </a:p>
        </p:txBody>
      </p:sp>
      <p:sp>
        <p:nvSpPr>
          <p:cNvPr id="6" name="">
            <a:extLst xmlns:a="http://schemas.openxmlformats.org/drawingml/2006/main">
              <a:ext uri="{FF2B5EF4-FFF2-40B4-BE49-F238E27FC236}">
                <a16:creationId xmlns:a16="http://schemas.microsoft.com/office/drawing/2014/main" id="{A49778DA-6748-43FA-96A9-2FD29E448465}"/>
              </a:ext>
            </a:extLst>
          </p:cNvPr>
          <p:cNvSpPr>
            <a:spLocks xmlns:a="http://schemas.openxmlformats.org/drawingml/2006/main" noGrp="1"/>
          </p:cNvSpPr>
          <p:nvPr/>
        </p:nvSpPr>
        <p:spPr>
          <a:xfrm xmlns:a="http://schemas.openxmlformats.org/drawingml/2006/main">
            <a:off x="609600" y="3586163"/>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0A6EB22-A758-4464-A938-8C23F5DF2A3F}"/>
              </a:ext>
            </a:extLst>
          </p:cNvPr>
          <p:cNvSpPr>
            <a:spLocks xmlns:a="http://schemas.openxmlformats.org/drawingml/2006/main" noGrp="1"/>
          </p:cNvSpPr>
          <p:nvPr/>
        </p:nvSpPr>
        <p:spPr>
          <a:xfrm xmlns:a="http://schemas.openxmlformats.org/drawingml/2006/main">
            <a:off x="1333500" y="3586163"/>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Transaction açıkken kullanıcı girdisi bekleme</a:t>
            </a:r>
          </a:p>
        </p:txBody>
      </p:sp>
      <p:sp>
        <p:nvSpPr>
          <p:cNvPr id="8" name="">
            <a:extLst xmlns:a="http://schemas.openxmlformats.org/drawingml/2006/main">
              <a:ext uri="{FF2B5EF4-FFF2-40B4-BE49-F238E27FC236}">
                <a16:creationId xmlns:a16="http://schemas.microsoft.com/office/drawing/2014/main" id="{5E21B51F-4732-4184-B9EB-7FBF879B021E}"/>
              </a:ext>
            </a:extLst>
          </p:cNvPr>
          <p:cNvSpPr>
            <a:spLocks xmlns:a="http://schemas.openxmlformats.org/drawingml/2006/main" noGrp="1"/>
          </p:cNvSpPr>
          <p:nvPr/>
        </p:nvSpPr>
        <p:spPr>
          <a:xfrm xmlns:a="http://schemas.openxmlformats.org/drawingml/2006/main">
            <a:off x="609600" y="4402931"/>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F17DB13C-BC88-4463-BCE1-7A03DDF247D6}"/>
              </a:ext>
            </a:extLst>
          </p:cNvPr>
          <p:cNvSpPr>
            <a:spLocks xmlns:a="http://schemas.openxmlformats.org/drawingml/2006/main" noGrp="1"/>
          </p:cNvSpPr>
          <p:nvPr/>
        </p:nvSpPr>
        <p:spPr>
          <a:xfrm xmlns:a="http://schemas.openxmlformats.org/drawingml/2006/main">
            <a:off x="1333500" y="4402931"/>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Abort edilen transaction için kontrollü retry</a:t>
            </a:r>
          </a:p>
        </p:txBody>
      </p:sp>
      <p:sp>
        <p:nvSpPr>
          <p:cNvPr id="10" name="">
            <a:extLst xmlns:a="http://schemas.openxmlformats.org/drawingml/2006/main">
              <a:ext uri="{FF2B5EF4-FFF2-40B4-BE49-F238E27FC236}">
                <a16:creationId xmlns:a16="http://schemas.microsoft.com/office/drawing/2014/main" id="{62F5BCC7-868D-4883-AF7B-E0C4498C2FE0}"/>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Kullanıcı onayı bekleyen ekran</a:t>
            </a:r>
          </a:p>
        </p:txBody>
      </p:sp>
      <p:sp>
        <p:nvSpPr>
          <p:cNvPr id="11" name="">
            <a:extLst xmlns:a="http://schemas.openxmlformats.org/drawingml/2006/main">
              <a:ext uri="{FF2B5EF4-FFF2-40B4-BE49-F238E27FC236}">
                <a16:creationId xmlns:a16="http://schemas.microsoft.com/office/drawing/2014/main" id="{15F3DA16-1E0D-47D7-8328-9E4DF907E1D9}"/>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Onay penceresi açıkken diğer update’ler gecikir.</a:t>
            </a:r>
          </a:p>
        </p:txBody>
      </p:sp>
      <p:sp>
        <p:nvSpPr>
          <p:cNvPr id="12" name="">
            <a:extLst xmlns:a="http://schemas.openxmlformats.org/drawingml/2006/main">
              <a:ext uri="{FF2B5EF4-FFF2-40B4-BE49-F238E27FC236}">
                <a16:creationId xmlns:a16="http://schemas.microsoft.com/office/drawing/2014/main" id="{C1BD756E-164F-449B-9A0A-F1D7B007440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13" name="">
            <a:extLst xmlns:a="http://schemas.openxmlformats.org/drawingml/2006/main">
              <a:ext uri="{FF2B5EF4-FFF2-40B4-BE49-F238E27FC236}">
                <a16:creationId xmlns:a16="http://schemas.microsoft.com/office/drawing/2014/main" id="{CF85AC06-5B1C-4B41-8A10-627A8833EFC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26 / 28</a:t>
            </a:r>
          </a:p>
        </p:txBody>
      </p:sp>
    </p:spTree>
    <p:extLst>
      <p:ext uri="{BB962C8B-B14F-4D97-AF65-F5344CB8AC3E}">
        <p14:creationId xmlns:p14="http://schemas.microsoft.com/office/powerpoint/2010/main" val="1704372268"/>
      </p:ext>
    </p:extLst>
  </p:cSld>
</p:sld>
</file>

<file path=ppt/slides/slide2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82B53D-22F2-40D4-BFEB-1C9DBBFEA4A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İki çevrimdışı deney</a:t>
            </a:r>
          </a:p>
        </p:txBody>
      </p:sp>
      <p:sp>
        <p:nvSpPr>
          <p:cNvPr id="2" name="">
            <a:extLst xmlns:a="http://schemas.openxmlformats.org/drawingml/2006/main">
              <a:ext uri="{FF2B5EF4-FFF2-40B4-BE49-F238E27FC236}">
                <a16:creationId xmlns:a16="http://schemas.microsoft.com/office/drawing/2014/main" id="{A9704690-9D02-443D-9B8D-F32020E5DD36}"/>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Önce tahmin: safe sequence var mı?</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Sonra gözlem: hangi çevrim bulundu?</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Ardından açıklama: modelin sınırı ne?</a:t>
            </a:r>
          </a:p>
        </p:txBody>
      </p:sp>
      <p:sp>
        <p:nvSpPr>
          <p:cNvPr id="3" name="">
            <a:extLst xmlns:a="http://schemas.openxmlformats.org/drawingml/2006/main">
              <a:ext uri="{FF2B5EF4-FFF2-40B4-BE49-F238E27FC236}">
                <a16:creationId xmlns:a16="http://schemas.microsoft.com/office/drawing/2014/main" id="{1BF16C30-F051-49FD-900F-403055CB6B4E}"/>
              </a:ext>
            </a:extLst>
          </p:cNvPr>
          <p:cNvSpPr>
            <a:spLocks xmlns:a="http://schemas.openxmlformats.org/drawingml/2006/main" noGrp="1"/>
          </p:cNvSpPr>
          <p:nvPr/>
        </p:nvSpPr>
        <p:spPr>
          <a:xfrm xmlns:a="http://schemas.openxmlformats.org/drawingml/2006/main">
            <a:off x="742950" y="2809875"/>
            <a:ext cx="10715625"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../lab/safe_state.py --case baseline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../lab/safe_state.py --case unsafe-request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../lab/wait_graph.py --case dependent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../lab/safe_state.py --self-test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../lab/wait_graph.py --self-test</a:t>
            </a:r>
          </a:p>
        </p:txBody>
      </p:sp>
      <p:sp>
        <p:nvSpPr>
          <p:cNvPr id="4" name="">
            <a:extLst xmlns:a="http://schemas.openxmlformats.org/drawingml/2006/main">
              <a:ext uri="{FF2B5EF4-FFF2-40B4-BE49-F238E27FC236}">
                <a16:creationId xmlns:a16="http://schemas.microsoft.com/office/drawing/2014/main" id="{93AAD434-1C94-46B0-A131-9084F151EC8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5" name="">
            <a:extLst xmlns:a="http://schemas.openxmlformats.org/drawingml/2006/main">
              <a:ext uri="{FF2B5EF4-FFF2-40B4-BE49-F238E27FC236}">
                <a16:creationId xmlns:a16="http://schemas.microsoft.com/office/drawing/2014/main" id="{C00DE785-0A8A-4613-A32B-AC60AC401B0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27 / 28</a:t>
            </a:r>
          </a:p>
        </p:txBody>
      </p:sp>
    </p:spTree>
    <p:extLst>
      <p:ext uri="{BB962C8B-B14F-4D97-AF65-F5344CB8AC3E}">
        <p14:creationId xmlns:p14="http://schemas.microsoft.com/office/powerpoint/2010/main" val="604931277"/>
      </p:ext>
    </p:extLst>
  </p:cSld>
</p:sld>
</file>

<file path=ppt/slides/slide2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9C65942-2352-4E3B-B412-67FD3568559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Çıkış bileti: sonucu ve sınırı söyle</a:t>
            </a:r>
          </a:p>
        </p:txBody>
      </p:sp>
      <p:sp>
        <p:nvSpPr>
          <p:cNvPr id="2" name="">
            <a:extLst xmlns:a="http://schemas.openxmlformats.org/drawingml/2006/main">
              <a:ext uri="{FF2B5EF4-FFF2-40B4-BE49-F238E27FC236}">
                <a16:creationId xmlns:a16="http://schemas.microsoft.com/office/drawing/2014/main" id="{AB331C54-DA27-48BB-B56A-8E72BDD0D156}"/>
              </a:ext>
            </a:extLst>
          </p:cNvPr>
          <p:cNvSpPr>
            <a:spLocks xmlns:a="http://schemas.openxmlformats.org/drawingml/2006/main" noGrp="1"/>
          </p:cNvSpPr>
          <p:nvPr/>
        </p:nvSpPr>
        <p:spPr>
          <a:xfrm xmlns:a="http://schemas.openxmlformats.org/drawingml/2006/main">
            <a:off x="609600" y="195262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11D274B-745E-4C16-A372-5A4F5C9D62BF}"/>
              </a:ext>
            </a:extLst>
          </p:cNvPr>
          <p:cNvSpPr>
            <a:spLocks xmlns:a="http://schemas.openxmlformats.org/drawingml/2006/main" noGrp="1"/>
          </p:cNvSpPr>
          <p:nvPr/>
        </p:nvSpPr>
        <p:spPr>
          <a:xfrm xmlns:a="http://schemas.openxmlformats.org/drawingml/2006/main">
            <a:off x="1333500" y="195262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Çok-instance grafikte çevrim yeterli mi?</a:t>
            </a:r>
          </a:p>
        </p:txBody>
      </p:sp>
      <p:sp>
        <p:nvSpPr>
          <p:cNvPr id="4" name="">
            <a:extLst xmlns:a="http://schemas.openxmlformats.org/drawingml/2006/main">
              <a:ext uri="{FF2B5EF4-FFF2-40B4-BE49-F238E27FC236}">
                <a16:creationId xmlns:a16="http://schemas.microsoft.com/office/drawing/2014/main" id="{357A19B1-862A-48A3-AA70-062F5A1C7EF2}"/>
              </a:ext>
            </a:extLst>
          </p:cNvPr>
          <p:cNvSpPr>
            <a:spLocks xmlns:a="http://schemas.openxmlformats.org/drawingml/2006/main" noGrp="1"/>
          </p:cNvSpPr>
          <p:nvPr/>
        </p:nvSpPr>
        <p:spPr>
          <a:xfrm xmlns:a="http://schemas.openxmlformats.org/drawingml/2006/main">
            <a:off x="609600" y="258445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E19FD14-6D74-4177-B879-CBED97F1E073}"/>
              </a:ext>
            </a:extLst>
          </p:cNvPr>
          <p:cNvSpPr>
            <a:spLocks xmlns:a="http://schemas.openxmlformats.org/drawingml/2006/main" noGrp="1"/>
          </p:cNvSpPr>
          <p:nvPr/>
        </p:nvSpPr>
        <p:spPr>
          <a:xfrm xmlns:a="http://schemas.openxmlformats.org/drawingml/2006/main">
            <a:off x="1333500" y="258445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Unsafe durum mutlaka deadlocked mı?</a:t>
            </a:r>
          </a:p>
        </p:txBody>
      </p:sp>
      <p:sp>
        <p:nvSpPr>
          <p:cNvPr id="6" name="">
            <a:extLst xmlns:a="http://schemas.openxmlformats.org/drawingml/2006/main">
              <a:ext uri="{FF2B5EF4-FFF2-40B4-BE49-F238E27FC236}">
                <a16:creationId xmlns:a16="http://schemas.microsoft.com/office/drawing/2014/main" id="{70DAE42B-65BA-4547-A0A3-A46B39B26730}"/>
              </a:ext>
            </a:extLst>
          </p:cNvPr>
          <p:cNvSpPr>
            <a:spLocks xmlns:a="http://schemas.openxmlformats.org/drawingml/2006/main" noGrp="1"/>
          </p:cNvSpPr>
          <p:nvPr/>
        </p:nvSpPr>
        <p:spPr>
          <a:xfrm xmlns:a="http://schemas.openxmlformats.org/drawingml/2006/main">
            <a:off x="609600" y="321627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F5FF5F3-5EC1-498E-870F-B55F5773B9C8}"/>
              </a:ext>
            </a:extLst>
          </p:cNvPr>
          <p:cNvSpPr>
            <a:spLocks xmlns:a="http://schemas.openxmlformats.org/drawingml/2006/main" noGrp="1"/>
          </p:cNvSpPr>
          <p:nvPr/>
        </p:nvSpPr>
        <p:spPr>
          <a:xfrm xmlns:a="http://schemas.openxmlformats.org/drawingml/2006/main">
            <a:off x="1333500" y="321627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Global lock sırası hangi koşulu kırar?</a:t>
            </a:r>
          </a:p>
        </p:txBody>
      </p:sp>
      <p:sp>
        <p:nvSpPr>
          <p:cNvPr id="8" name="">
            <a:extLst xmlns:a="http://schemas.openxmlformats.org/drawingml/2006/main">
              <a:ext uri="{FF2B5EF4-FFF2-40B4-BE49-F238E27FC236}">
                <a16:creationId xmlns:a16="http://schemas.microsoft.com/office/drawing/2014/main" id="{10EC77AB-A9BC-4A7B-8A76-CECE29674C75}"/>
              </a:ext>
            </a:extLst>
          </p:cNvPr>
          <p:cNvSpPr>
            <a:spLocks xmlns:a="http://schemas.openxmlformats.org/drawingml/2006/main" noGrp="1"/>
          </p:cNvSpPr>
          <p:nvPr/>
        </p:nvSpPr>
        <p:spPr>
          <a:xfrm xmlns:a="http://schemas.openxmlformats.org/drawingml/2006/main">
            <a:off x="609600" y="384810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40146B6B-12CF-46F1-9718-50DF94BC911E}"/>
              </a:ext>
            </a:extLst>
          </p:cNvPr>
          <p:cNvSpPr>
            <a:spLocks xmlns:a="http://schemas.openxmlformats.org/drawingml/2006/main" noGrp="1"/>
          </p:cNvSpPr>
          <p:nvPr/>
        </p:nvSpPr>
        <p:spPr>
          <a:xfrm xmlns:a="http://schemas.openxmlformats.org/drawingml/2006/main">
            <a:off x="1333500" y="384810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Trylock tekrarları ilerlemeyi garanti eder mi?</a:t>
            </a:r>
          </a:p>
        </p:txBody>
      </p:sp>
      <p:sp>
        <p:nvSpPr>
          <p:cNvPr id="10" name="">
            <a:extLst xmlns:a="http://schemas.openxmlformats.org/drawingml/2006/main">
              <a:ext uri="{FF2B5EF4-FFF2-40B4-BE49-F238E27FC236}">
                <a16:creationId xmlns:a16="http://schemas.microsoft.com/office/drawing/2014/main" id="{8C8F2B3C-3D5E-4D77-9B31-2F97190F9D0B}"/>
              </a:ext>
            </a:extLst>
          </p:cNvPr>
          <p:cNvSpPr>
            <a:spLocks xmlns:a="http://schemas.openxmlformats.org/drawingml/2006/main" noGrp="1"/>
          </p:cNvSpPr>
          <p:nvPr/>
        </p:nvSpPr>
        <p:spPr>
          <a:xfrm xmlns:a="http://schemas.openxmlformats.org/drawingml/2006/main">
            <a:off x="609600" y="447992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05</a:t>
            </a:r>
          </a:p>
        </p:txBody>
      </p:sp>
      <p:sp>
        <p:nvSpPr>
          <p:cNvPr id="11" name="">
            <a:extLst xmlns:a="http://schemas.openxmlformats.org/drawingml/2006/main">
              <a:ext uri="{FF2B5EF4-FFF2-40B4-BE49-F238E27FC236}">
                <a16:creationId xmlns:a16="http://schemas.microsoft.com/office/drawing/2014/main" id="{A226B71F-1A2B-4E6F-A3DC-0B279E3418A8}"/>
              </a:ext>
            </a:extLst>
          </p:cNvPr>
          <p:cNvSpPr>
            <a:spLocks xmlns:a="http://schemas.openxmlformats.org/drawingml/2006/main" noGrp="1"/>
          </p:cNvSpPr>
          <p:nvPr/>
        </p:nvSpPr>
        <p:spPr>
          <a:xfrm xmlns:a="http://schemas.openxmlformats.org/drawingml/2006/main">
            <a:off x="1333500" y="447992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Recovery dış yan etkiyi otomatik geri alır mı?</a:t>
            </a:r>
          </a:p>
        </p:txBody>
      </p:sp>
      <p:sp>
        <p:nvSpPr>
          <p:cNvPr id="12" name="">
            <a:extLst xmlns:a="http://schemas.openxmlformats.org/drawingml/2006/main">
              <a:ext uri="{FF2B5EF4-FFF2-40B4-BE49-F238E27FC236}">
                <a16:creationId xmlns:a16="http://schemas.microsoft.com/office/drawing/2014/main" id="{12FEC714-550C-403C-898A-85ECE59DCDC6}"/>
              </a:ext>
            </a:extLst>
          </p:cNvPr>
          <p:cNvSpPr>
            <a:spLocks xmlns:a="http://schemas.openxmlformats.org/drawingml/2006/main" noGrp="1"/>
          </p:cNvSpPr>
          <p:nvPr/>
        </p:nvSpPr>
        <p:spPr>
          <a:xfrm xmlns:a="http://schemas.openxmlformats.org/drawingml/2006/main">
            <a:off x="609600" y="511175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06</a:t>
            </a:r>
          </a:p>
        </p:txBody>
      </p:sp>
      <p:sp>
        <p:nvSpPr>
          <p:cNvPr id="13" name="">
            <a:extLst xmlns:a="http://schemas.openxmlformats.org/drawingml/2006/main">
              <a:ext uri="{FF2B5EF4-FFF2-40B4-BE49-F238E27FC236}">
                <a16:creationId xmlns:a16="http://schemas.microsoft.com/office/drawing/2014/main" id="{F73288EA-BCB7-444D-8B45-688F2EAD752D}"/>
              </a:ext>
            </a:extLst>
          </p:cNvPr>
          <p:cNvSpPr>
            <a:spLocks xmlns:a="http://schemas.openxmlformats.org/drawingml/2006/main" noGrp="1"/>
          </p:cNvSpPr>
          <p:nvPr/>
        </p:nvSpPr>
        <p:spPr>
          <a:xfrm xmlns:a="http://schemas.openxmlformats.org/drawingml/2006/main">
            <a:off x="1333500" y="511175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Banker ve detection aynı Request bilgisini mi kullanır?</a:t>
            </a:r>
          </a:p>
        </p:txBody>
      </p:sp>
      <p:sp>
        <p:nvSpPr>
          <p:cNvPr id="14" name="">
            <a:extLst xmlns:a="http://schemas.openxmlformats.org/drawingml/2006/main">
              <a:ext uri="{FF2B5EF4-FFF2-40B4-BE49-F238E27FC236}">
                <a16:creationId xmlns:a16="http://schemas.microsoft.com/office/drawing/2014/main" id="{409C6083-899F-4C69-A844-79EFC419497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4</a:t>
            </a:r>
          </a:p>
        </p:txBody>
      </p:sp>
      <p:sp>
        <p:nvSpPr>
          <p:cNvPr id="15" name="">
            <a:extLst xmlns:a="http://schemas.openxmlformats.org/drawingml/2006/main">
              <a:ext uri="{FF2B5EF4-FFF2-40B4-BE49-F238E27FC236}">
                <a16:creationId xmlns:a16="http://schemas.microsoft.com/office/drawing/2014/main" id="{3A89B7EC-D29E-4582-9946-83FA96C3FA6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28 / 28</a:t>
            </a:r>
          </a:p>
        </p:txBody>
      </p:sp>
    </p:spTree>
    <p:extLst>
      <p:ext uri="{BB962C8B-B14F-4D97-AF65-F5344CB8AC3E}">
        <p14:creationId xmlns:p14="http://schemas.microsoft.com/office/powerpoint/2010/main" val="11762363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2026-10-07T19:46:17.2590000Z</dcterms:created>
  <dcterms:modified xsi:type="dcterms:W3CDTF">2026-10-07T19:46:17.2590000Z</dcterms:modified>
</coreProperties>
</file>