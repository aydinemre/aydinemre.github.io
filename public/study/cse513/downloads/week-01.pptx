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f0f587830a14d98" /><Relationship Type="http://schemas.openxmlformats.org/officeDocument/2006/relationships/extended-properties" Target="/docProps/app.xml" Id="Rc566021a3de94f9e" /><Relationship Type="http://schemas.openxmlformats.org/officeDocument/2006/relationships/officeDocument" Target="/ppt/presentation.xml" Id="R3f72bc5bd0e345aa" /></Relationships>
</file>

<file path=ppt/presentation.xml><?xml version="1.0" encoding="utf-8"?>
<p:presentation xmlns:p="http://schemas.openxmlformats.org/presentationml/2006/main">
  <p:sldMasterIdLst>
    <p:sldMasterId xmlns:r="http://schemas.openxmlformats.org/officeDocument/2006/relationships" id="2147483648" r:id="Radb053d9c4474206"/>
  </p:sldMasterIdLst>
  <p:notesMasterIdLst>
    <p:notesMasterId xmlns:r="http://schemas.openxmlformats.org/officeDocument/2006/relationships" r:id="Rced1d7c670d444ee"/>
  </p:notesMasterIdLst>
  <p:sldIdLst>
    <p:sldId xmlns:r="http://schemas.openxmlformats.org/officeDocument/2006/relationships" id="256" r:id="Ra96aa1f78fd047e7"/>
    <p:sldId xmlns:r="http://schemas.openxmlformats.org/officeDocument/2006/relationships" id="257" r:id="R7e0f0c4aead14222"/>
    <p:sldId xmlns:r="http://schemas.openxmlformats.org/officeDocument/2006/relationships" id="258" r:id="R7496bedb56884af5"/>
    <p:sldId xmlns:r="http://schemas.openxmlformats.org/officeDocument/2006/relationships" id="259" r:id="Rccf815eaecd641d1"/>
    <p:sldId xmlns:r="http://schemas.openxmlformats.org/officeDocument/2006/relationships" id="260" r:id="Rbc0a3149693644bd"/>
    <p:sldId xmlns:r="http://schemas.openxmlformats.org/officeDocument/2006/relationships" id="261" r:id="R334a4d031c094718"/>
    <p:sldId xmlns:r="http://schemas.openxmlformats.org/officeDocument/2006/relationships" id="262" r:id="R9aadb002bdbc4a66"/>
    <p:sldId xmlns:r="http://schemas.openxmlformats.org/officeDocument/2006/relationships" id="263" r:id="R5502d65f6d1b40ed"/>
    <p:sldId xmlns:r="http://schemas.openxmlformats.org/officeDocument/2006/relationships" id="264" r:id="R23be5dcee12c4bf1"/>
    <p:sldId xmlns:r="http://schemas.openxmlformats.org/officeDocument/2006/relationships" id="265" r:id="Ra55a701d304c4d0e"/>
    <p:sldId xmlns:r="http://schemas.openxmlformats.org/officeDocument/2006/relationships" id="266" r:id="Rf27b6430c92349f3"/>
    <p:sldId xmlns:r="http://schemas.openxmlformats.org/officeDocument/2006/relationships" id="267" r:id="R5724da12962640db"/>
    <p:sldId xmlns:r="http://schemas.openxmlformats.org/officeDocument/2006/relationships" id="268" r:id="Rd984a48e5b2e40fd"/>
    <p:sldId xmlns:r="http://schemas.openxmlformats.org/officeDocument/2006/relationships" id="269" r:id="R8d468d8853c0459a"/>
    <p:sldId xmlns:r="http://schemas.openxmlformats.org/officeDocument/2006/relationships" id="270" r:id="R9ce961e68bd9437f"/>
    <p:sldId xmlns:r="http://schemas.openxmlformats.org/officeDocument/2006/relationships" id="271" r:id="R4319c28e91754942"/>
    <p:sldId xmlns:r="http://schemas.openxmlformats.org/officeDocument/2006/relationships" id="272" r:id="R22c6987bd4a043ba"/>
    <p:sldId xmlns:r="http://schemas.openxmlformats.org/officeDocument/2006/relationships" id="273" r:id="R02a59b128d0842fe"/>
    <p:sldId xmlns:r="http://schemas.openxmlformats.org/officeDocument/2006/relationships" id="274" r:id="R44d8da5a51d44cc0"/>
    <p:sldId xmlns:r="http://schemas.openxmlformats.org/officeDocument/2006/relationships" id="275" r:id="Rfb9b7ad512334fdc"/>
    <p:sldId xmlns:r="http://schemas.openxmlformats.org/officeDocument/2006/relationships" id="276" r:id="R6c371156c02c457c"/>
    <p:sldId xmlns:r="http://schemas.openxmlformats.org/officeDocument/2006/relationships" id="277" r:id="R77ebebff0e1a4f53"/>
    <p:sldId xmlns:r="http://schemas.openxmlformats.org/officeDocument/2006/relationships" id="278" r:id="Rca504974112f49a5"/>
    <p:sldId xmlns:r="http://schemas.openxmlformats.org/officeDocument/2006/relationships" id="279" r:id="R343e6f00d9fe48c8"/>
    <p:sldId xmlns:r="http://schemas.openxmlformats.org/officeDocument/2006/relationships" id="280" r:id="Ra70ffa1de31a48ca"/>
    <p:sldId xmlns:r="http://schemas.openxmlformats.org/officeDocument/2006/relationships" id="281" r:id="Rc9b7fe59732e4825"/>
    <p:sldId xmlns:r="http://schemas.openxmlformats.org/officeDocument/2006/relationships" id="282" r:id="Rf4edc61d8a964700"/>
    <p:sldId xmlns:r="http://schemas.openxmlformats.org/officeDocument/2006/relationships" id="283" r:id="R4583f8ed56c7492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6476f19519a466e" /><Relationship Type="http://schemas.openxmlformats.org/officeDocument/2006/relationships/slideMaster" Target="/ppt/slideMasters/slideMaster1.xml" Id="Radb053d9c4474206" /><Relationship Type="http://schemas.openxmlformats.org/officeDocument/2006/relationships/notesMaster" Target="/ppt/notesMasters/notesMaster1.xml" Id="Rced1d7c670d444ee" /><Relationship Type="http://schemas.openxmlformats.org/officeDocument/2006/relationships/presProps" Target="/ppt/presProps.xml" Id="Rcf938626577d420d" /><Relationship Type="http://schemas.openxmlformats.org/officeDocument/2006/relationships/tableStyles" Target="/ppt/tableStyles.xml" Id="Rfa54bad44f5745de" /><Relationship Type="http://schemas.openxmlformats.org/officeDocument/2006/relationships/slide" Target="/ppt/slides/slide1.xml" Id="Ra96aa1f78fd047e7" /><Relationship Type="http://schemas.openxmlformats.org/officeDocument/2006/relationships/slide" Target="/ppt/slides/slide2.xml" Id="R7e0f0c4aead14222" /><Relationship Type="http://schemas.openxmlformats.org/officeDocument/2006/relationships/slide" Target="/ppt/slides/slide3.xml" Id="R7496bedb56884af5" /><Relationship Type="http://schemas.openxmlformats.org/officeDocument/2006/relationships/slide" Target="/ppt/slides/slide4.xml" Id="Rccf815eaecd641d1" /><Relationship Type="http://schemas.openxmlformats.org/officeDocument/2006/relationships/slide" Target="/ppt/slides/slide5.xml" Id="Rbc0a3149693644bd" /><Relationship Type="http://schemas.openxmlformats.org/officeDocument/2006/relationships/slide" Target="/ppt/slides/slide6.xml" Id="R334a4d031c094718" /><Relationship Type="http://schemas.openxmlformats.org/officeDocument/2006/relationships/slide" Target="/ppt/slides/slide7.xml" Id="R9aadb002bdbc4a66" /><Relationship Type="http://schemas.openxmlformats.org/officeDocument/2006/relationships/slide" Target="/ppt/slides/slide8.xml" Id="R5502d65f6d1b40ed" /><Relationship Type="http://schemas.openxmlformats.org/officeDocument/2006/relationships/slide" Target="/ppt/slides/slide9.xml" Id="R23be5dcee12c4bf1" /><Relationship Type="http://schemas.openxmlformats.org/officeDocument/2006/relationships/slide" Target="/ppt/slides/slide10.xml" Id="Ra55a701d304c4d0e" /><Relationship Type="http://schemas.openxmlformats.org/officeDocument/2006/relationships/slide" Target="/ppt/slides/slide11.xml" Id="Rf27b6430c92349f3" /><Relationship Type="http://schemas.openxmlformats.org/officeDocument/2006/relationships/slide" Target="/ppt/slides/slide12.xml" Id="R5724da12962640db" /><Relationship Type="http://schemas.openxmlformats.org/officeDocument/2006/relationships/slide" Target="/ppt/slides/slide13.xml" Id="Rd984a48e5b2e40fd" /><Relationship Type="http://schemas.openxmlformats.org/officeDocument/2006/relationships/slide" Target="/ppt/slides/slide14.xml" Id="R8d468d8853c0459a" /><Relationship Type="http://schemas.openxmlformats.org/officeDocument/2006/relationships/slide" Target="/ppt/slides/slide15.xml" Id="R9ce961e68bd9437f" /><Relationship Type="http://schemas.openxmlformats.org/officeDocument/2006/relationships/slide" Target="/ppt/slides/slide16.xml" Id="R4319c28e91754942" /><Relationship Type="http://schemas.openxmlformats.org/officeDocument/2006/relationships/slide" Target="/ppt/slides/slide17.xml" Id="R22c6987bd4a043ba" /><Relationship Type="http://schemas.openxmlformats.org/officeDocument/2006/relationships/slide" Target="/ppt/slides/slide18.xml" Id="R02a59b128d0842fe" /><Relationship Type="http://schemas.openxmlformats.org/officeDocument/2006/relationships/slide" Target="/ppt/slides/slide19.xml" Id="R44d8da5a51d44cc0" /><Relationship Type="http://schemas.openxmlformats.org/officeDocument/2006/relationships/slide" Target="/ppt/slides/slide20.xml" Id="Rfb9b7ad512334fdc" /><Relationship Type="http://schemas.openxmlformats.org/officeDocument/2006/relationships/slide" Target="/ppt/slides/slide21.xml" Id="R6c371156c02c457c" /><Relationship Type="http://schemas.openxmlformats.org/officeDocument/2006/relationships/slide" Target="/ppt/slides/slide22.xml" Id="R77ebebff0e1a4f53" /><Relationship Type="http://schemas.openxmlformats.org/officeDocument/2006/relationships/slide" Target="/ppt/slides/slide23.xml" Id="Rca504974112f49a5" /><Relationship Type="http://schemas.openxmlformats.org/officeDocument/2006/relationships/slide" Target="/ppt/slides/slide24.xml" Id="R343e6f00d9fe48c8" /><Relationship Type="http://schemas.openxmlformats.org/officeDocument/2006/relationships/slide" Target="/ppt/slides/slide25.xml" Id="Ra70ffa1de31a48ca" /><Relationship Type="http://schemas.openxmlformats.org/officeDocument/2006/relationships/slide" Target="/ppt/slides/slide26.xml" Id="Rc9b7fe59732e4825" /><Relationship Type="http://schemas.openxmlformats.org/officeDocument/2006/relationships/slide" Target="/ppt/slides/slide27.xml" Id="Rf4edc61d8a964700" /><Relationship Type="http://schemas.openxmlformats.org/officeDocument/2006/relationships/slide" Target="/ppt/slides/slide28.xml" Id="R4583f8ed56c7492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f35c5b67a9541e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d2467515bd8408c" /><Relationship Type="http://schemas.openxmlformats.org/officeDocument/2006/relationships/notesMaster" Target="/ppt/notesMasters/notesMaster1.xml" Id="R8b8fad63c6c14457" /></Relationships>
</file>

<file path=ppt/notesSlides/_rels/notesSlide2.xml.rels>&#65279;<?xml version="1.0" encoding="utf-8"?><Relationships xmlns="http://schemas.openxmlformats.org/package/2006/relationships"><Relationship Type="http://schemas.openxmlformats.org/officeDocument/2006/relationships/slide" Target="/ppt/slides/slide2.xml" Id="R8ac0a073e2ea46a0" /><Relationship Type="http://schemas.openxmlformats.org/officeDocument/2006/relationships/notesMaster" Target="/ppt/notesMasters/notesMaster1.xml" Id="Rf2281f0376d64d65" /></Relationships>
</file>

<file path=ppt/notesSlides/_rels/notesSlide3.xml.rels>&#65279;<?xml version="1.0" encoding="utf-8"?><Relationships xmlns="http://schemas.openxmlformats.org/package/2006/relationships"><Relationship Type="http://schemas.openxmlformats.org/officeDocument/2006/relationships/slide" Target="/ppt/slides/slide3.xml" Id="R8f3ab1c664c34b93" /><Relationship Type="http://schemas.openxmlformats.org/officeDocument/2006/relationships/notesMaster" Target="/ppt/notesMasters/notesMaster1.xml" Id="R7139a3f84c3940e7" /></Relationships>
</file>

<file path=ppt/notesSlides/_rels/notesSlide4.xml.rels>&#65279;<?xml version="1.0" encoding="utf-8"?><Relationships xmlns="http://schemas.openxmlformats.org/package/2006/relationships"><Relationship Type="http://schemas.openxmlformats.org/officeDocument/2006/relationships/slide" Target="/ppt/slides/slide4.xml" Id="Rfe983feb44944fd1" /><Relationship Type="http://schemas.openxmlformats.org/officeDocument/2006/relationships/notesMaster" Target="/ppt/notesMasters/notesMaster1.xml" Id="R28610160a0824c3f" /></Relationships>
</file>

<file path=ppt/notesSlides/_rels/notesSlide5.xml.rels>&#65279;<?xml version="1.0" encoding="utf-8"?><Relationships xmlns="http://schemas.openxmlformats.org/package/2006/relationships"><Relationship Type="http://schemas.openxmlformats.org/officeDocument/2006/relationships/slide" Target="/ppt/slides/slide5.xml" Id="R9e41b8def8264fbb" /><Relationship Type="http://schemas.openxmlformats.org/officeDocument/2006/relationships/notesMaster" Target="/ppt/notesMasters/notesMaster1.xml" Id="R3431ffff1c2d4bf4" /></Relationships>
</file>

<file path=ppt/notesSlides/_rels/notesSlide6.xml.rels>&#65279;<?xml version="1.0" encoding="utf-8"?><Relationships xmlns="http://schemas.openxmlformats.org/package/2006/relationships"><Relationship Type="http://schemas.openxmlformats.org/officeDocument/2006/relationships/slide" Target="/ppt/slides/slide6.xml" Id="R12bd1eff251d474f" /><Relationship Type="http://schemas.openxmlformats.org/officeDocument/2006/relationships/notesMaster" Target="/ppt/notesMasters/notesMaster1.xml" Id="R56759a887c514e18" /></Relationships>
</file>

<file path=ppt/notesSlides/_rels/notesSlide7.xml.rels>&#65279;<?xml version="1.0" encoding="utf-8"?><Relationships xmlns="http://schemas.openxmlformats.org/package/2006/relationships"><Relationship Type="http://schemas.openxmlformats.org/officeDocument/2006/relationships/slide" Target="/ppt/slides/slide7.xml" Id="R10e5e4983b2e4f71" /><Relationship Type="http://schemas.openxmlformats.org/officeDocument/2006/relationships/notesMaster" Target="/ppt/notesMasters/notesMaster1.xml" Id="R4cce3f5c8cf04c68" /></Relationships>
</file>

<file path=ppt/notesSlides/_rels/notesSlide8.xml.rels>&#65279;<?xml version="1.0" encoding="utf-8"?><Relationships xmlns="http://schemas.openxmlformats.org/package/2006/relationships"><Relationship Type="http://schemas.openxmlformats.org/officeDocument/2006/relationships/slide" Target="/ppt/slides/slide8.xml" Id="R51960bc27ca74d57" /><Relationship Type="http://schemas.openxmlformats.org/officeDocument/2006/relationships/notesMaster" Target="/ppt/notesMasters/notesMaster1.xml" Id="R7fd92e70266f4422" /></Relationships>
</file>

<file path=ppt/notesSlides/_rels/notesSlide9.xml.rels>&#65279;<?xml version="1.0" encoding="utf-8"?><Relationships xmlns="http://schemas.openxmlformats.org/package/2006/relationships"><Relationship Type="http://schemas.openxmlformats.org/officeDocument/2006/relationships/slide" Target="/ppt/slides/slide9.xml" Id="R277bf42036e84bcc" /><Relationship Type="http://schemas.openxmlformats.org/officeDocument/2006/relationships/notesMaster" Target="/ppt/notesMasters/notesMaster1.xml" Id="Rf04353f6dc3d4d9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58ff2c2d2924fff" /><Relationship Type="http://schemas.openxmlformats.org/officeDocument/2006/relationships/notesMaster" Target="/ppt/notesMasters/notesMaster1.xml" Id="Rdfc87c321399445b"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311f960b5aa4245" /><Relationship Type="http://schemas.openxmlformats.org/officeDocument/2006/relationships/notesMaster" Target="/ppt/notesMasters/notesMaster1.xml" Id="Rb1099c55497c488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31d30ccc9e0e494a" /><Relationship Type="http://schemas.openxmlformats.org/officeDocument/2006/relationships/notesMaster" Target="/ppt/notesMasters/notesMaster1.xml" Id="Rda9631b08bc948a3"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1d4b11a6c5074c8b" /><Relationship Type="http://schemas.openxmlformats.org/officeDocument/2006/relationships/notesMaster" Target="/ppt/notesMasters/notesMaster1.xml" Id="R35eeee07fc584d74"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4d6040cc11a14045" /><Relationship Type="http://schemas.openxmlformats.org/officeDocument/2006/relationships/notesMaster" Target="/ppt/notesMasters/notesMaster1.xml" Id="R221002b6e31e4b54"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0db518d8161945f6" /><Relationship Type="http://schemas.openxmlformats.org/officeDocument/2006/relationships/notesMaster" Target="/ppt/notesMasters/notesMaster1.xml" Id="R9541009c85d84413"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bcc7746518d8434b" /><Relationship Type="http://schemas.openxmlformats.org/officeDocument/2006/relationships/notesMaster" Target="/ppt/notesMasters/notesMaster1.xml" Id="Rfb15a96ea548467d"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fcf14220268244ea" /><Relationship Type="http://schemas.openxmlformats.org/officeDocument/2006/relationships/notesMaster" Target="/ppt/notesMasters/notesMaster1.xml" Id="Rc6b45d43b4404384"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073876df13064739" /><Relationship Type="http://schemas.openxmlformats.org/officeDocument/2006/relationships/notesMaster" Target="/ppt/notesMasters/notesMaster1.xml" Id="R1abf20f482964f2e"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a06e08fff93444cb" /><Relationship Type="http://schemas.openxmlformats.org/officeDocument/2006/relationships/notesMaster" Target="/ppt/notesMasters/notesMaster1.xml" Id="Re32074270fd0408d"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2464566349ce472e" /><Relationship Type="http://schemas.openxmlformats.org/officeDocument/2006/relationships/notesMaster" Target="/ppt/notesMasters/notesMaster1.xml" Id="R1507125eacca4b77"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bb3abdcfd57f49c4" /><Relationship Type="http://schemas.openxmlformats.org/officeDocument/2006/relationships/notesMaster" Target="/ppt/notesMasters/notesMaster1.xml" Id="R6fcfe1ee166948fe"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f0777546fb5845b0" /><Relationship Type="http://schemas.openxmlformats.org/officeDocument/2006/relationships/notesMaster" Target="/ppt/notesMasters/notesMaster1.xml" Id="R93f52631ab454de5"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5d79ff7550564228" /><Relationship Type="http://schemas.openxmlformats.org/officeDocument/2006/relationships/notesMaster" Target="/ppt/notesMasters/notesMaster1.xml" Id="Rd3a6e1db42694a87"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c6ee3d0e244b49cb" /><Relationship Type="http://schemas.openxmlformats.org/officeDocument/2006/relationships/notesMaster" Target="/ppt/notesMasters/notesMaster1.xml" Id="R3022a1f8d20245b6"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75eb8592e9c644ec" /><Relationship Type="http://schemas.openxmlformats.org/officeDocument/2006/relationships/notesMaster" Target="/ppt/notesMasters/notesMaster1.xml" Id="Reb64508dc59248d0"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b6c7665482504bb4" /><Relationship Type="http://schemas.openxmlformats.org/officeDocument/2006/relationships/notesMaster" Target="/ppt/notesMasters/notesMaster1.xml" Id="R6a05678cc52a433d"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ddca0ec182a446ab" /><Relationship Type="http://schemas.openxmlformats.org/officeDocument/2006/relationships/notesMaster" Target="/ppt/notesMasters/notesMaster1.xml" Id="R579cd35286274cd9"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70cc1839a6a84a7a" /><Relationship Type="http://schemas.openxmlformats.org/officeDocument/2006/relationships/notesMaster" Target="/ppt/notesMasters/notesMaster1.xml" Id="Rb31beee73c1e4c1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 pilot, Prof. Mehmet Göktürk’ün ilk hafta dersinin öğrenme amaçlı yeniden anlatımıdır. Resmî ders materyalinin yerini almaz. Türkçe açıklamalarla İngilizce terimleri birlikte kullanır. İlk bölüm yürütme, kaynaklar ve bekleme üzerinedir. İkinci bölüm süreç oluşturma, thread ve iletişimi işler. Soruyu önce sezginle yanıtla: Bir komut başladığında kimlik, bellek, CPU sahipliği ve tamamlanma nasıl değişir?</a:t>
            </a:r>
          </a:p>
          <a:p xmlns:a="http://schemas.openxmlformats.org/drawingml/2006/main">
            <a:r>
              <a:t/>
            </a:r>
          </a:p>
          <a:p xmlns:a="http://schemas.openxmlformats.org/drawingml/2006/main">
            <a:r>
              <a:t>Kaynak: Mehmet Göktürk, CSE513 Lecture01, özgün slayt 1–5. https://mehmetgokturk.com/cse513/materials/lecture01/CSE513-Lecture01.pdf</a:t>
            </a:r>
          </a:p>
          <a:p xmlns:a="http://schemas.openxmlformats.org/drawingml/2006/main">
            <a:r>
              <a:t/>
            </a:r>
          </a:p>
          <a:p xmlns:a="http://schemas.openxmlformats.org/drawingml/2006/main">
            <a:r>
              <a:t>Doğrulama başvuruları: https://man7.org/linux/man-pages/man2/fork.2.html ; https://man7.org/linux/man-pages/man2/execve.2.html ; https://man7.org/linux/man-pages/man7/pipe.7.html ; https://pages.cs.wisc.edu/~remzi/OSTEP/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Kendini tanımları ezberleyerek değil, küçük bir yürütme izini açıklayarak değerlendir. Her adımda dört soru sor: Hangi görev? Hangi kaynak? Hangi durum? Hangi olay ilerlemeyi mümkün kılar? Ana slaytlar kısa tutulmuştur. Bu çalışma sayfasındaki ayrıntılar ve cevaplar daha yavaş okumaya uygundur.</a:t>
            </a:r>
          </a:p>
          <a:p xmlns:a="http://schemas.openxmlformats.org/drawingml/2006/main">
            <a:r>
              <a:t/>
            </a:r>
          </a:p>
          <a:p xmlns:a="http://schemas.openxmlformats.org/drawingml/2006/main">
            <a:r>
              <a:t>Kaynak: Mehmet Göktürk, CSE513 Lecture01, özgün slayt 2, 64. https://mehmetgokturk.com/cse513/materials/lecture01/CSE513-Lecture01.pdf</a:t>
            </a:r>
          </a:p>
          <a:p xmlns:a="http://schemas.openxmlformats.org/drawingml/2006/main">
            <a:r>
              <a:t/>
            </a:r>
          </a:p>
          <a:p xmlns:a="http://schemas.openxmlformats.org/drawingml/2006/main">
            <a:r>
              <a:t>Doğrulama başvuruları: https://man7.org/linux/man-pages/man2/fork.2.html ; https://man7.org/linux/man-pages/man2/execve.2.html ; https://man7.org/linux/man-pages/man7/pipe.7.html ; https://pages.cs.wisc.edu/~remzi/OSTEP/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Benzetmede tek aşçı bir mantıksal CPU’dur. Thread, aşçı değil, o CPU’nun yürüttüğü ve kaldığı adımı tuttuğumuz iş akışıdır. Program tarifi statiktir. Process ise kimliği ve kaynaklarıyla çalışan örnektir. İki thread oluşturmak iki CPU yaratmaz. Malzeme bekleyen kart bekleyen görevi temsil eder. Gerçek sistemde belleğin korunmasını tezgâhlar sağlamaz, işletim sistemi ve donanımın adres çevirme/koruma mekanizmaları sağlar. Bu nedenle bellek, fork ve privilege için teknik modele döneceğiz.</a:t>
            </a:r>
          </a:p>
          <a:p xmlns:a="http://schemas.openxmlformats.org/drawingml/2006/main">
            <a:r>
              <a:t/>
            </a:r>
          </a:p>
          <a:p xmlns:a="http://schemas.openxmlformats.org/drawingml/2006/main">
            <a:r>
              <a:t>Kaynak: Mehmet Göktürk, CSE513 Lecture01, özgün slayt 10–11, 42–45. https://mehmetgokturk.com/cse513/materials/lecture01/CSE513-Lecture01.pdf</a:t>
            </a:r>
          </a:p>
          <a:p xmlns:a="http://schemas.openxmlformats.org/drawingml/2006/main">
            <a:r>
              <a:t/>
            </a:r>
          </a:p>
          <a:p xmlns:a="http://schemas.openxmlformats.org/drawingml/2006/main">
            <a:r>
              <a:t>Doğrulama başvuruları: https://man7.org/linux/man-pages/man2/fork.2.html ; https://man7.org/linux/man-pages/man2/execve.2.html ; https://man7.org/linux/man-pages/man7/pipe.7.html ; https://pages.cs.wisc.edu/~remzi/OSTEP/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Soyutlama, uygulamanın her donanım ayrıntısını doğrudan yönetmek zorunda kalmamasını sağlar. Process bir yürütme bağlamı, sanal bellek bir adres alanı sunar. Dosya ve socket arayüzleri uygulamanın veri ve iletişim işlerini ifade etmesini sağlar. Kernel kaynakları paylaştırır ve koruma kurallarını uygular. Kaynak paylaşımı, güvenli paylaşım anlamına kendiliğinden gelmez.</a:t>
            </a:r>
          </a:p>
          <a:p xmlns:a="http://schemas.openxmlformats.org/drawingml/2006/main">
            <a:r>
              <a:t/>
            </a:r>
          </a:p>
          <a:p xmlns:a="http://schemas.openxmlformats.org/drawingml/2006/main">
            <a:r>
              <a:t>GERÇEK HAYATTA — Dosya kaydetmek</a:t>
            </a:r>
          </a:p>
          <a:p xmlns:a="http://schemas.openxmlformats.org/drawingml/2006/main">
            <a:r>
              <a:t>Gördüğün: Editörde Kaydet düğmesine basarsın.</a:t>
            </a:r>
          </a:p>
          <a:p xmlns:a="http://schemas.openxmlformats.org/drawingml/2006/main">
            <a:r>
              <a:t>Sistemde: Uygulama dosya arayüzünü kullanır; kernel dosya sistemi ve aygıt erişimini yönetir. Tamponlama yüzünden her UI eylemi tek bir system call ile bire bir eşleşmez.</a:t>
            </a:r>
          </a:p>
          <a:p xmlns:a="http://schemas.openxmlformats.org/drawingml/2006/main">
            <a:r>
              <a:t>İşe yaradığı yer: Hata ararken uygulama, dosya izinleri ve depolama katmanını ayırabilirsin.</a:t>
            </a:r>
          </a:p>
          <a:p xmlns:a="http://schemas.openxmlformats.org/drawingml/2006/main">
            <a:r>
              <a:t>Bu örnek kavramsal uygulama senaryosudur.</a:t>
            </a:r>
          </a:p>
          <a:p xmlns:a="http://schemas.openxmlformats.org/drawingml/2006/main">
            <a:r>
              <a:t/>
            </a:r>
          </a:p>
          <a:p xmlns:a="http://schemas.openxmlformats.org/drawingml/2006/main">
            <a:r>
              <a:t>SORUYA YANIT: Shell bir user-space programıdır. İsteklerini gerekli olduğunda kernel’a iletir. Bir kütüphane işini tamamen user space’te de yapabilir.</a:t>
            </a:r>
          </a:p>
          <a:p xmlns:a="http://schemas.openxmlformats.org/drawingml/2006/main">
            <a:r>
              <a:t/>
            </a:r>
          </a:p>
          <a:p xmlns:a="http://schemas.openxmlformats.org/drawingml/2006/main">
            <a:r>
              <a:t>Kaynak: Mehmet Göktürk, CSE513 Lecture01, özgün slayt 6. https://mehmetgokturk.com/cse513/materials/lecture01/CSE513-Lecture01.pdf</a:t>
            </a:r>
          </a:p>
          <a:p xmlns:a="http://schemas.openxmlformats.org/drawingml/2006/main">
            <a:r>
              <a:t/>
            </a:r>
          </a:p>
          <a:p xmlns:a="http://schemas.openxmlformats.org/drawingml/2006/main">
            <a:r>
              <a:t>Doğrulama başvuruları: https://man7.org/linux/man-pages/man2/fork.2.html ; https://man7.org/linux/man-pages/man2/execve.2.html ; https://man7.org/linux/man-pages/man7/pipe.7.html ; https://pages.cs.wisc.edu/~remzi/OSTEP/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User mode uygulamayı sınırlı ayrıcalıklarla çalıştırır. System call kontrollü bir kernel girişidir. Kernel işini bitirip aynı göreve dönebilir. Bir kesme de mutlaka başka görevi seçtirmez. printf gibi bir kütüphane çağrısı her çağrıda ayrı system call üretmek zorunda değildir: stdio tamponlaması birkaç çıktıyı tek write ile birleştirebilir. API adı ile tracer’ın gösterdiği sistem çağrısı farklı olabilir. root yetkisine sahip program da normal uygulama komutlarını user mode’da yürütür.</a:t>
            </a:r>
          </a:p>
          <a:p xmlns:a="http://schemas.openxmlformats.org/drawingml/2006/main">
            <a:r>
              <a:t/>
            </a:r>
          </a:p>
          <a:p xmlns:a="http://schemas.openxmlformats.org/drawingml/2006/main">
            <a:r>
              <a:t>Kaynak: Mehmet Göktürk, CSE513 Lecture01, özgün slayt 7–9, 24. https://mehmetgokturk.com/cse513/materials/lecture01/CSE513-Lecture01.pdf</a:t>
            </a:r>
          </a:p>
          <a:p xmlns:a="http://schemas.openxmlformats.org/drawingml/2006/main">
            <a:r>
              <a:t/>
            </a:r>
          </a:p>
          <a:p xmlns:a="http://schemas.openxmlformats.org/drawingml/2006/main">
            <a:r>
              <a:t>Doğrulama başvuruları: https://man7.org/linux/man-pages/man2/fork.2.html ; https://man7.org/linux/man-pages/man2/execve.2.html ; https://man7.org/linux/man-pages/man7/pipe.7.html ; https://pages.cs.wisc.edu/~remzi/OSTEP/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Program dosyası ile çalışan örneği ayır. Aynı editörü iki kez açmak farklı PID’li process’ler oluşturabilir. Birinin girdi beklemesi, diğerinin dosya kaydetmesini engellemek zorunda değildir. Birinin çökmesi diğerinin zorunlu olarak bitmesi demek değildir. Yine de dış dosya, hizmet veya makine arızası ortak etki yaratabilir. Process ağacı ebeveyn-çocuk ilişkilerini gösterir, yürütme sırası veya iletişim yollarını tek başına göstermez. Buradaki PID’ler ölçüm değil, örnektir.</a:t>
            </a:r>
          </a:p>
          <a:p xmlns:a="http://schemas.openxmlformats.org/drawingml/2006/main">
            <a:r>
              <a:t/>
            </a:r>
          </a:p>
          <a:p xmlns:a="http://schemas.openxmlformats.org/drawingml/2006/main">
            <a:r>
              <a:t>GERÇEK HAYATTA — Tarayıcıdaki sekme çökmesi</a:t>
            </a:r>
          </a:p>
          <a:p xmlns:a="http://schemas.openxmlformats.org/drawingml/2006/main">
            <a:r>
              <a:t>Gördüğün: Bir sayfa çökerken tarayıcının başka bölümleri kullanılabilir kalabilir.</a:t>
            </a:r>
          </a:p>
          <a:p xmlns:a="http://schemas.openxmlformats.org/drawingml/2006/main">
            <a:r>
              <a:t>Sistemde: Chromium farklı görevler için birden fazla process kullanır. Renderer process’lerinin ayrılması hata etkisini sınırlamaya yardımcı olur. Sekme ile process bire bir değildir: sekmeler bir renderer paylaşabilir; bir sekme birden fazla process ile ilişkili olabilir.</a:t>
            </a:r>
          </a:p>
          <a:p xmlns:a="http://schemas.openxmlformats.org/drawingml/2006/main">
            <a:r>
              <a:t>İşe yaradığı yer: Görev yöneticisindeki çok sayıdaki tarayıcı process’ini anlamlandırırsın. İzolasyon ortak hizmet veya makine arızalarını ortadan kaldırmaz.</a:t>
            </a:r>
          </a:p>
          <a:p xmlns:a="http://schemas.openxmlformats.org/drawingml/2006/main">
            <a:r>
              <a:t>Başvuru: https://www.chromium.org/developers/design-documents/multi-process-architecture/</a:t>
            </a:r>
          </a:p>
          <a:p xmlns:a="http://schemas.openxmlformats.org/drawingml/2006/main">
            <a:r>
              <a:t/>
            </a:r>
          </a:p>
          <a:p xmlns:a="http://schemas.openxmlformats.org/drawingml/2006/main">
            <a:r>
              <a:t>SORUYA YANIT: Olağan özel değişkenler için hayır. Ayrı sanal adres alanları vardır. Aynı executable’ın salt okunur kod sayfaları fiziksel olarak paylaşılabilir, bu durum özel writable veriyi ortak değişkene dönüştürmez.</a:t>
            </a:r>
          </a:p>
          <a:p xmlns:a="http://schemas.openxmlformats.org/drawingml/2006/main">
            <a:r>
              <a:t/>
            </a:r>
          </a:p>
          <a:p xmlns:a="http://schemas.openxmlformats.org/drawingml/2006/main">
            <a:r>
              <a:t>Kaynak: Mehmet Göktürk, CSE513 Lecture01, özgün slayt 10–11. https://mehmetgokturk.com/cse513/materials/lecture01/CSE513-Lecture01.pdf</a:t>
            </a:r>
          </a:p>
          <a:p xmlns:a="http://schemas.openxmlformats.org/drawingml/2006/main">
            <a:r>
              <a:t/>
            </a:r>
          </a:p>
          <a:p xmlns:a="http://schemas.openxmlformats.org/drawingml/2006/main">
            <a:r>
              <a:t>Doğrulama başvuruları: https://man7.org/linux/man-pages/man2/fork.2.html ; https://man7.org/linux/man-pages/man2/execve.2.html ; https://man7.org/linux/man-pages/man7/pipe.7.html ; https://pages.cs.wisc.edu/~remzi/OSTEP/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Stack ve heap kavramsal bölgelerdir. Gerçek adres alanında kütüphaneler, mapped files ve guard bölgeleri de olabilir. Adresler ile büyüme yönleri evrensel değildir. Yerel bir nesnenin ömrü dilin kurallarıyla biter. Dinamik nesne uygun şekilde serbest bırakılana kadar yaşayabilir. Pointer, adres değeridir, tek başına sahiplik veya izin değildir. Ömrü biten nesnenin pointer’ını tutmak nesneyi canlı tutmaz. Pointer’ı başka process’e göndermek de shared memory kurmaz.</a:t>
            </a:r>
          </a:p>
          <a:p xmlns:a="http://schemas.openxmlformats.org/drawingml/2006/main">
            <a:r>
              <a:t/>
            </a:r>
          </a:p>
          <a:p xmlns:a="http://schemas.openxmlformats.org/drawingml/2006/main">
            <a:r>
              <a:t>GERÇEK HAYATTA — Arka planda dosya işleyen uygulama</a:t>
            </a:r>
          </a:p>
          <a:p xmlns:a="http://schemas.openxmlformats.org/drawingml/2006/main">
            <a:r>
              <a:t>Gördüğün: Bir fonksiyon işi worker’a verir, sonra kendi yerel nesnesinin ömrü biter.</a:t>
            </a:r>
          </a:p>
          <a:p xmlns:a="http://schemas.openxmlformats.org/drawingml/2006/main">
            <a:r>
              <a:t>Sistemde: Worker’a nesnenin pointer’ını göndermek nesneyi canlı tutmaz. İş bitene kadar uygun sahiplik ve ömür garantisi gerekir. Bu bir tasarım senaryosudur; belirli bir uygulamanın davranışı iddiası değildir.</a:t>
            </a:r>
          </a:p>
          <a:p xmlns:a="http://schemas.openxmlformats.org/drawingml/2006/main">
            <a:r>
              <a:t>İşe yaradığı yer: Bazen geç ortaya çıkan çökme veya bozuk sonuçları nesne ömrü açısından inceleyebilirsin.</a:t>
            </a:r>
          </a:p>
          <a:p xmlns:a="http://schemas.openxmlformats.org/drawingml/2006/main">
            <a:r>
              <a:t>Bu örnek kavramsal uygulama senaryosudur.</a:t>
            </a:r>
          </a:p>
          <a:p xmlns:a="http://schemas.openxmlformats.org/drawingml/2006/main">
            <a:r>
              <a:t>Hatırlatma: PC ve registers, heap/stack yanında yeni bellek bölgeleri değildir.</a:t>
            </a:r>
          </a:p>
          <a:p xmlns:a="http://schemas.openxmlformats.org/drawingml/2006/main">
            <a:r>
              <a:t/>
            </a:r>
          </a:p>
          <a:p xmlns:a="http://schemas.openxmlformats.org/drawingml/2006/main">
            <a:r>
              <a:t>Kaynak: Mehmet Göktürk, CSE513 Lecture01, özgün slayt 12–13. https://mehmetgokturk.com/cse513/materials/lecture01/CSE513-Lecture01.pdf</a:t>
            </a:r>
          </a:p>
          <a:p xmlns:a="http://schemas.openxmlformats.org/drawingml/2006/main">
            <a:r>
              <a:t/>
            </a:r>
          </a:p>
          <a:p xmlns:a="http://schemas.openxmlformats.org/drawingml/2006/main">
            <a:r>
              <a:t>Doğrulama başvuruları: https://man7.org/linux/man-pages/man2/fork.2.html ; https://man7.org/linux/man-pages/man2/execve.2.html ; https://man7.org/linux/man-pages/man7/pipe.7.html ; https://pages.cs.wisc.edu/~remzi/OSTEP/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PCB, işletim sisteminin sorumluluklarını özetleyen kavramsal process control block modelidir. Gerçek kernel bu bilgileri birden fazla ilişkili yapıda tutabilir. Process kaynakları ile per-thread yürütme durumu ayrılmalıdır. Devam etmek için komut konumunun ve canlı register değerlerinin geri yüklenebilmesi gerekir. Bellek içerikleri her geçişte baştan taşınmaz.</a:t>
            </a:r>
          </a:p>
          <a:p xmlns:a="http://schemas.openxmlformats.org/drawingml/2006/main">
            <a:r>
              <a:t/>
            </a:r>
          </a:p>
          <a:p xmlns:a="http://schemas.openxmlformats.org/drawingml/2006/main">
            <a:r>
              <a:t>SORUYA YANIT: Hayır. Yürütme bağlamı saklanır. Adres alanı eşlemeler ve bellekte ya da backing storage’da duran içerikle temsil edilir. PCB bütün RAM’in kopyası değildir.</a:t>
            </a:r>
          </a:p>
          <a:p xmlns:a="http://schemas.openxmlformats.org/drawingml/2006/main">
            <a:r>
              <a:t/>
            </a:r>
          </a:p>
          <a:p xmlns:a="http://schemas.openxmlformats.org/drawingml/2006/main">
            <a:r>
              <a:t>Kaynak: Mehmet Göktürk, CSE513 Lecture01, özgün slayt 14–15. https://mehmetgokturk.com/cse513/materials/lecture01/CSE513-Lecture01.pdf</a:t>
            </a:r>
          </a:p>
          <a:p xmlns:a="http://schemas.openxmlformats.org/drawingml/2006/main">
            <a:r>
              <a:t/>
            </a:r>
          </a:p>
          <a:p xmlns:a="http://schemas.openxmlformats.org/drawingml/2006/main">
            <a:r>
              <a:t>Doğrulama başvuruları: https://man7.org/linux/man-pages/man2/fork.2.html ; https://man7.org/linux/man-pages/man2/execve.2.html ; https://man7.org/linux/man-pages/man7/pipe.7.html ; https://pages.cs.wisc.edu/~remzi/OSTEP/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Mutfak modelinde ready kartının malzemesi vardır, ancak aşçı başka karttadır. Waiting kartının eksik malzemesi gelmelidir. Aşçının boş kalması bu malzemeyi yaratmaz. Gerçek görev için I/O tamamlanması waiting’den ready’ye geçişe izin verir. Scheduler sonra görevi seçer. Diagram basitleştirilmiş modeldir: new ve terminated durumları dahil edilmemiştir. Gerçek kernel daha çok durum kullanabilir ve thread/task planlayabilir. dispatch=seçim, preempt=CPU’dan alma, block=bekleme, event=beklenen olayın gerçekleşmesi.</a:t>
            </a:r>
          </a:p>
          <a:p xmlns:a="http://schemas.openxmlformats.org/drawingml/2006/main">
            <a:r>
              <a:t/>
            </a:r>
          </a:p>
          <a:p xmlns:a="http://schemas.openxmlformats.org/drawingml/2006/main">
            <a:r>
              <a:t>GERÇEK HAYATTA — İndirme sırasında başka iş yapmak</a:t>
            </a:r>
          </a:p>
          <a:p xmlns:a="http://schemas.openxmlformats.org/drawingml/2006/main">
            <a:r>
              <a:t>Gördüğün: Dosya indirme ağ verisini beklerken başka bir uygulamada yazı yazarsın.</a:t>
            </a:r>
          </a:p>
          <a:p xmlns:a="http://schemas.openxmlformats.org/drawingml/2006/main">
            <a:r>
              <a:t>Sistemde: Blocking ağ okuması yapan görev waiting olabilir. Çalışabilir başka bir görev CPU’yu kullanabilir. Ağ olayı ilk görevi ready yapar; yeniden çalışması scheduler seçimine bağlıdır. Async uygulamalar beklemeyi başka biçimde düzenleyebilir.</a:t>
            </a:r>
          </a:p>
          <a:p xmlns:a="http://schemas.openxmlformats.org/drawingml/2006/main">
            <a:r>
              <a:t>İşe yaradığı yer: Waiting ile ready ayrımı, neden bütün uygulamaların birlikte durmadığını açıklamaya yardım eder.</a:t>
            </a:r>
          </a:p>
          <a:p xmlns:a="http://schemas.openxmlformats.org/drawingml/2006/main">
            <a:r>
              <a:t>Bu örnek kavramsal uygulama senaryosudur.</a:t>
            </a:r>
          </a:p>
          <a:p xmlns:a="http://schemas.openxmlformats.org/drawingml/2006/main">
            <a:r>
              <a:t/>
            </a:r>
          </a:p>
          <a:p xmlns:a="http://schemas.openxmlformats.org/drawingml/2006/main">
            <a:r>
              <a:t>Kaynak: Mehmet Göktürk, CSE513 Lecture01, özgün slayt 16–20. https://mehmetgokturk.com/cse513/materials/lecture01/CSE513-Lecture01.pdf</a:t>
            </a:r>
          </a:p>
          <a:p xmlns:a="http://schemas.openxmlformats.org/drawingml/2006/main">
            <a:r>
              <a:t/>
            </a:r>
          </a:p>
          <a:p xmlns:a="http://schemas.openxmlformats.org/drawingml/2006/main">
            <a:r>
              <a:t>Doğrulama başvuruları: https://man7.org/linux/man-pages/man2/fork.2.html ; https://man7.org/linux/man-pages/man2/execve.2.html ; https://man7.org/linux/man-pages/man7/pipe.7.html ; https://pages.cs.wisc.edu/~remzi/OSTEP/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t1 ve t2’yi ayrı satırlar halinde tutmak, block ile scheduler seçiminin farklı olaylar olduğunu görünür kılar. Bu öğretici iz, gerçek makinede ölçülmüş zaman çizelgesi değildir. t3’te scheduler A’yı seçseydi A running, B ready ve CPU A olurdu. Ready ile waiting ayrımını CPU sahibi üzerinden değil, görevin CPU verilirse ilerleyip ilerleyemeyeceği üzerinden kur.</a:t>
            </a:r>
          </a:p>
          <a:p xmlns:a="http://schemas.openxmlformats.org/drawingml/2006/main">
            <a:r>
              <a:t/>
            </a:r>
          </a:p>
          <a:p xmlns:a="http://schemas.openxmlformats.org/drawingml/2006/main">
            <a:r>
              <a:t>SORUYA YANIT: t3: A ready, B running, CPU B. t4: A running, B waiting, CPU A. I/O bitişi A’yı çalışabilir hale getirir. Buradaki varsayıma göre scheduler B’yi devam ettirir. Başka bir seçim verilse farklı geçerli iz oluşabilir.</a:t>
            </a:r>
          </a:p>
          <a:p xmlns:a="http://schemas.openxmlformats.org/drawingml/2006/main">
            <a:r>
              <a:t/>
            </a:r>
          </a:p>
          <a:p xmlns:a="http://schemas.openxmlformats.org/drawingml/2006/main">
            <a:r>
              <a:t>Kaynak: Mehmet Göktürk, CSE513 Lecture01, özgün slayt 18–20. https://mehmetgokturk.com/cse513/materials/lecture01/CSE513-Lecture01.pdf</a:t>
            </a:r>
          </a:p>
          <a:p xmlns:a="http://schemas.openxmlformats.org/drawingml/2006/main">
            <a:r>
              <a:t/>
            </a:r>
          </a:p>
          <a:p xmlns:a="http://schemas.openxmlformats.org/drawingml/2006/main">
            <a:r>
              <a:t>Doğrulama başvuruları: https://man7.org/linux/man-pages/man2/fork.2.html ; https://man7.org/linux/man-pages/man2/execve.2.html ; https://man7.org/linux/man-pages/man7/pipe.7.html ; https://pages.cs.wisc.edu/~remzi/OSTEP/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CPU-bound ve I/O-bound tanımları iş yükü ve sistem bağlamına bağlıdır. Bir uygulama bir aşamada CPU ağırlıklı, başka aşamada I/O ağırlıklı olabilir. Bir executable’a kalıcı etiket yapıştırma. Multiprogramming, bir görev beklerken başka hazır işin CPU’yu kullanabilmesine dayanır. Hangi ready işin seçileceği ikinci haftanın konusudur. Bu hafta politika hesaplaması yapmadan mekanizmayı kuruyoruz.</a:t>
            </a:r>
          </a:p>
          <a:p xmlns:a="http://schemas.openxmlformats.org/drawingml/2006/main">
            <a:r>
              <a:t/>
            </a:r>
          </a:p>
          <a:p xmlns:a="http://schemas.openxmlformats.org/drawingml/2006/main">
            <a:r>
              <a:t>GERÇEK HAYATTA — Yavaş indirme, düşük CPU kullanımı</a:t>
            </a:r>
          </a:p>
          <a:p xmlns:a="http://schemas.openxmlformats.org/drawingml/2006/main">
            <a:r>
              <a:t>Gördüğün: İndirme yavaştır; CPU kullanımının düşük olduğunu görürsün.</a:t>
            </a:r>
          </a:p>
          <a:p xmlns:a="http://schemas.openxmlformats.org/drawingml/2006/main">
            <a:r>
              <a:t>Sistemde: Darboğaz ağ veya uzak sunucuysa ek CPU kaynağı eksik baytları üretmez. Tek başına düşük CPU ölçümü darboğazın nerede olduğunu kanıtlamaz; ağ, storage ve uygulama beklemelerini birlikte incelemek gerekir.</a:t>
            </a:r>
          </a:p>
          <a:p xmlns:a="http://schemas.openxmlformats.org/drawingml/2006/main">
            <a:r>
              <a:t>İşe yaradığı yer: Performans sorununda önce hangi kaynağın veya olayın beklendiğini sorarsın.</a:t>
            </a:r>
          </a:p>
          <a:p xmlns:a="http://schemas.openxmlformats.org/drawingml/2006/main">
            <a:r>
              <a:t>Bu örnek kavramsal uygulama senaryosudur.</a:t>
            </a:r>
          </a:p>
          <a:p xmlns:a="http://schemas.openxmlformats.org/drawingml/2006/main">
            <a:r>
              <a:t/>
            </a:r>
          </a:p>
          <a:p xmlns:a="http://schemas.openxmlformats.org/drawingml/2006/main">
            <a:r>
              <a:t>SORUYA YANIT: Tek başına hayır. Başka ready işin çalışması CPU kullanımını iyileştirebilir, ama A’nın dış olayını zorunlu olarak kısaltmaz.</a:t>
            </a:r>
          </a:p>
          <a:p xmlns:a="http://schemas.openxmlformats.org/drawingml/2006/main">
            <a:r>
              <a:t/>
            </a:r>
          </a:p>
          <a:p xmlns:a="http://schemas.openxmlformats.org/drawingml/2006/main">
            <a:r>
              <a:t>Kaynak: Mehmet Göktürk, CSE513 Lecture01, özgün slayt 21. https://mehmetgokturk.com/cse513/materials/lecture01/CSE513-Lecture01.pdf</a:t>
            </a:r>
          </a:p>
          <a:p xmlns:a="http://schemas.openxmlformats.org/drawingml/2006/main">
            <a:r>
              <a:t/>
            </a:r>
          </a:p>
          <a:p xmlns:a="http://schemas.openxmlformats.org/drawingml/2006/main">
            <a:r>
              <a:t>Doğrulama başvuruları: https://man7.org/linux/man-pages/man2/fork.2.html ; https://man7.org/linux/man-pages/man2/execve.2.html ; https://man7.org/linux/man-pages/man7/pipe.7.html ; https://pages.cs.wisc.edu/~remzi/OSTEP/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Mutfakta kartın adımını ve geçici notlarını saklayıp diğer kartı almak sezgiyi destekler. Bütün mutfağı kopyalamak gerekmez. Gerçek sistemde farklı adres alanları arasında geçiliyorsa uygun memory mapping seçilir. Bu tüm cache’leri mutlaka boşaltmak veya tüm belleği kopyalamak anlamına gelmez. Ayrıntı donanım ve kernel’a bağlıdır. Switching overhead yalnız doğrudan save/restore süresi değil, sonraki cache ve address translation davranışlarını da içerebilir. Her küçük zaman dilimine sabit bir maliyet uydurmayacağız.</a:t>
            </a:r>
          </a:p>
          <a:p xmlns:a="http://schemas.openxmlformats.org/drawingml/2006/main">
            <a:r>
              <a:t/>
            </a:r>
          </a:p>
          <a:p xmlns:a="http://schemas.openxmlformats.org/drawingml/2006/main">
            <a:r>
              <a:t>GERÇEK HAYATTA — Müzik dinlerken yazı yazmak</a:t>
            </a:r>
          </a:p>
          <a:p xmlns:a="http://schemas.openxmlformats.org/drawingml/2006/main">
            <a:r>
              <a:t>Gördüğün: Müzik oynarken başka bir uygulamada metin girersin.</a:t>
            </a:r>
          </a:p>
          <a:p xmlns:a="http://schemas.openxmlformats.org/drawingml/2006/main">
            <a:r>
              <a:t>Sistemde: Yürütme akışları CPU kaynaklarını zaman içinde paylaşabilir. Kernel gerekli bağlamları saklayıp geri yükler. Çok çekirdek ve ses tamponları da bu deneyimde rol oynar; kullanıcı deneyimi tek başına kaç context switch olduğunu göstermez.</a:t>
            </a:r>
          </a:p>
          <a:p xmlns:a="http://schemas.openxmlformats.org/drawingml/2006/main">
            <a:r>
              <a:t>İşe yaradığı yer: Aynı anda açık uygulamaları, aynı anda yürütülen komutlardan ayırırsın.</a:t>
            </a:r>
          </a:p>
          <a:p xmlns:a="http://schemas.openxmlformats.org/drawingml/2006/main">
            <a:r>
              <a:t>Bu örnek kavramsal uygulama senaryosudur.</a:t>
            </a:r>
          </a:p>
          <a:p xmlns:a="http://schemas.openxmlformats.org/drawingml/2006/main">
            <a:r>
              <a:t>Hatırlatma: Maliyet: save/restore işi ve cache / translation etkileri.</a:t>
            </a:r>
          </a:p>
          <a:p xmlns:a="http://schemas.openxmlformats.org/drawingml/2006/main">
            <a:r>
              <a:t/>
            </a:r>
          </a:p>
          <a:p xmlns:a="http://schemas.openxmlformats.org/drawingml/2006/main">
            <a:r>
              <a:t>Kaynak: Mehmet Göktürk, CSE513 Lecture01, özgün slayt 22–23. https://mehmetgokturk.com/cse513/materials/lecture01/CSE513-Lecture01.pdf</a:t>
            </a:r>
          </a:p>
          <a:p xmlns:a="http://schemas.openxmlformats.org/drawingml/2006/main">
            <a:r>
              <a:t/>
            </a:r>
          </a:p>
          <a:p xmlns:a="http://schemas.openxmlformats.org/drawingml/2006/main">
            <a:r>
              <a:t>Doğrulama başvuruları: https://man7.org/linux/man-pages/man2/fork.2.html ; https://man7.org/linux/man-pages/man2/execve.2.html ; https://man7.org/linux/man-pages/man7/pipe.7.html ; https://pages.cs.wisc.edu/~remzi/OSTEP/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Read’in syscall yolu varsayılmıştır. Bir kütüphane API’sini görüp kernel’a giriş olduğu çıkarımını koşulsuz yapma. Kernel P adına hizmet verirken P’nin task kimliği sürer. Bir görev bloklanırsa runnable olmaktan çıkar ve uygun başka görevi çalıştırmak mümkün olur. Kernel entry ve context switch kavramlarını birbiri yerine kullanmak iz analizini bozar.</a:t>
            </a:r>
          </a:p>
          <a:p xmlns:a="http://schemas.openxmlformats.org/drawingml/2006/main">
            <a:r>
              <a:t/>
            </a:r>
          </a:p>
          <a:p xmlns:a="http://schemas.openxmlformats.org/drawingml/2006/main">
            <a:r>
              <a:t>SORUYA YANIT: 1: Evet / hayır. 2: Evet / bu senaryoda Q seçildi. 3: Evet / hayır. Kernel’a giriş yetki modu değişimidir. Task switch, yürütülen görevin değişmesidir. Timer geldiğinde başka task seçmek zorunlu değildir.</a:t>
            </a:r>
          </a:p>
          <a:p xmlns:a="http://schemas.openxmlformats.org/drawingml/2006/main">
            <a:r>
              <a:t/>
            </a:r>
          </a:p>
          <a:p xmlns:a="http://schemas.openxmlformats.org/drawingml/2006/main">
            <a:r>
              <a:t>Kaynak: Mehmet Göktürk, CSE513 Lecture01, özgün slayt 8, 24–25. https://mehmetgokturk.com/cse513/materials/lecture01/CSE513-Lecture01.pdf</a:t>
            </a:r>
          </a:p>
          <a:p xmlns:a="http://schemas.openxmlformats.org/drawingml/2006/main">
            <a:r>
              <a:t/>
            </a:r>
          </a:p>
          <a:p xmlns:a="http://schemas.openxmlformats.org/drawingml/2006/main">
            <a:r>
              <a:t>Doğrulama başvuruları: https://man7.org/linux/man-pages/man2/fork.2.html ; https://man7.org/linux/man-pages/man2/execve.2.html ; https://man7.org/linux/man-pages/man7/pipe.7.html ; https://pages.cs.wisc.edu/~remzi/OSTEP/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İlk bölüm burada biter. Kısa bir ara ver. Tanımlar yerine ilişkileri hatırlamak için bu üç cevabı kendi cümlenle söyle. Ağ yanıtı hazır olduğunda görev önce runnable hale gelir, sonra seçilmesi gerekir. Paralellik iddiası için aynı anda birden çok yürütme kaynağı üzerinde çalışmaya ilişkin kanıt gerekir.</a:t>
            </a:r>
          </a:p>
          <a:p xmlns:a="http://schemas.openxmlformats.org/drawingml/2006/main">
            <a:r>
              <a:t/>
            </a:r>
          </a:p>
          <a:p xmlns:a="http://schemas.openxmlformats.org/drawingml/2006/main">
            <a:r>
              <a:t>SORUYA YANIT: 1: Eksik ağ yanıtını CPU üretmez. 2: Başka process çalışmak zorunda değildir. 3: Benzer bitiş zamanları parallelism kanıtı değildir, tek CPU işleri interleave edebilir. Her yanıtta state, mode veya CPU sahipliğini adlandır.</a:t>
            </a:r>
          </a:p>
          <a:p xmlns:a="http://schemas.openxmlformats.org/drawingml/2006/main">
            <a:r>
              <a:t/>
            </a:r>
          </a:p>
          <a:p xmlns:a="http://schemas.openxmlformats.org/drawingml/2006/main">
            <a:r>
              <a:t>Kaynak: Mehmet Göktürk, CSE513 Lecture01, özgün slayt 26–27. https://mehmetgokturk.com/cse513/materials/lecture01/CSE513-Lecture01.pdf</a:t>
            </a:r>
          </a:p>
          <a:p xmlns:a="http://schemas.openxmlformats.org/drawingml/2006/main">
            <a:r>
              <a:t/>
            </a:r>
          </a:p>
          <a:p xmlns:a="http://schemas.openxmlformats.org/drawingml/2006/main">
            <a:r>
              <a:t>Doğrulama başvuruları: https://man7.org/linux/man-pages/man2/fork.2.html ; https://man7.org/linux/man-pages/man2/execve.2.html ; https://man7.org/linux/man-pages/man7/pipe.7.html ; https://pages.cs.wisc.edu/~remzi/OSTEP/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Shell yeni program için bağlantıları düzenleyebilir, çocuk oluşturabilir ve çocuk kendi imajını değiştirebilir. Process tree ebeveyn-çocuk ilişkisini verir, kimin o anda çalıştığını vermez. Parent çocuklarıyla aynı anda başka iş yapabilir. fork, exec ve wait kavramları kaynak API semantiğini açıklamak için ayrılmıştır. Bir pipeline’daki komut metni tek başına kaç yeni external process oluşturulduğunu söylemez, çünkü built-in komutlar olabilir.</a:t>
            </a:r>
          </a:p>
          <a:p xmlns:a="http://schemas.openxmlformats.org/drawingml/2006/main">
            <a:r>
              <a:t/>
            </a:r>
          </a:p>
          <a:p xmlns:a="http://schemas.openxmlformats.org/drawingml/2006/main">
            <a:r>
              <a:t>GERÇEK HAYATTA — Terminalden bir araç başlatmak</a:t>
            </a:r>
          </a:p>
          <a:p xmlns:a="http://schemas.openxmlformats.org/drawingml/2006/main">
            <a:r>
              <a:t>Gördüğün: Terminalde haricî bir programı çalıştırır, sonucunu beklersin.</a:t>
            </a:r>
          </a:p>
          <a:p xmlns:a="http://schemas.openxmlformats.org/drawingml/2006/main">
            <a:r>
              <a:t>Sistemde: Unix için öğrettiğimiz modelde shell child oluşturur, child exec ile araç programına dönüşür ve shell sonucu toplar. Gerçek shell posix_spawn gibi başka yollar kullanabilir; built-in komutlar farklı davranır.</a:t>
            </a:r>
          </a:p>
          <a:p xmlns:a="http://schemas.openxmlformats.org/drawingml/2006/main">
            <a:r>
              <a:t>İşe yaradığı yer: PID, program adı ve parent ilişkisini aynı şey sanmadan ps çıktısını yorumlarsın.</a:t>
            </a:r>
          </a:p>
          <a:p xmlns:a="http://schemas.openxmlformats.org/drawingml/2006/main">
            <a:r>
              <a:t>Bu örnek kavramsal uygulama senaryosudur.</a:t>
            </a:r>
          </a:p>
          <a:p xmlns:a="http://schemas.openxmlformats.org/drawingml/2006/main">
            <a:r>
              <a:t>Hatırlatma: Bu kavramsal modeldir. Gerçek shell başka başlatma yolları kullanabilir.</a:t>
            </a:r>
          </a:p>
          <a:p xmlns:a="http://schemas.openxmlformats.org/drawingml/2006/main">
            <a:r>
              <a:t/>
            </a:r>
          </a:p>
          <a:p xmlns:a="http://schemas.openxmlformats.org/drawingml/2006/main">
            <a:r>
              <a:t>Kaynak: Mehmet Göktürk, CSE513 Lecture01, özgün slayt 28–29, 59. https://mehmetgokturk.com/cse513/materials/lecture01/CSE513-Lecture01.pdf</a:t>
            </a:r>
          </a:p>
          <a:p xmlns:a="http://schemas.openxmlformats.org/drawingml/2006/main">
            <a:r>
              <a:t/>
            </a:r>
          </a:p>
          <a:p xmlns:a="http://schemas.openxmlformats.org/drawingml/2006/main">
            <a:r>
              <a:t>Doğrulama başvuruları: https://man7.org/linux/man-pages/man2/fork.2.html ; https://man7.org/linux/man-pages/man2/execve.2.html ; https://man7.org/linux/man-pages/man7/pipe.7.html ; https://pages.cs.wisc.edu/~remzi/OSTEP/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Örneklerimiz single-threaded process’ten fork eder. Multithreaded fork sonrası child’ın hangi işlevleri güvenle çağırabileceği ek kısıtlara tabidir. Hafta 1’de o ayrıntıyı yeni bir laboratuvara çevirmiyoruz. Ordinary private memory parent ve child için mantıksal olarak ayrıdır. Fork edilen dosya tanımlayıcıları aynı underlying open file description’a başvurabilir. Bu nedenle her kaynak tamamen bağımsız diye genelleme yapma.</a:t>
            </a:r>
          </a:p>
          <a:p xmlns:a="http://schemas.openxmlformats.org/drawingml/2006/main">
            <a:r>
              <a:t/>
            </a:r>
          </a:p>
          <a:p xmlns:a="http://schemas.openxmlformats.org/drawingml/2006/main">
            <a:r>
              <a:t>SORUYA YANIT: Genel bir sıra garantisi yoktur. Başarılı fork sonrası ikisi de çağrıdan sonraki noktada farklı dönüş değeriyle ilerler. Sıra gerekiyorsa açık senkronizasyon gerekir.</a:t>
            </a:r>
          </a:p>
          <a:p xmlns:a="http://schemas.openxmlformats.org/drawingml/2006/main">
            <a:r>
              <a:t/>
            </a:r>
          </a:p>
          <a:p xmlns:a="http://schemas.openxmlformats.org/drawingml/2006/main">
            <a:r>
              <a:t>Kaynak: Mehmet Göktürk, CSE513 Lecture01, özgün slayt 30–31. https://mehmetgokturk.com/cse513/materials/lecture01/CSE513-Lecture01.pdf</a:t>
            </a:r>
          </a:p>
          <a:p xmlns:a="http://schemas.openxmlformats.org/drawingml/2006/main">
            <a:r>
              <a:t/>
            </a:r>
          </a:p>
          <a:p xmlns:a="http://schemas.openxmlformats.org/drawingml/2006/main">
            <a:r>
              <a:t>Doğrulama başvuruları: https://man7.org/linux/man-pages/man2/fork.2.html ; https://man7.org/linux/man-pages/man2/execve.2.html ; https://man7.org/linux/man-pages/man7/pipe.7.html ; https://pages.cs.wisc.edu/~remzi/OSTEP/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 sözde koddur, çalıştırılabilir C için lab/fork_memory.c dosyasını kullan. Fork başlangıçta eş içerikli ama mantıksal olarak ayrı özel adres alanları oluşturur. COW fiziksel sayfa paylaşımıyla gereksiz kopyalamayı azaltır. Yazma özel kopya gerektirirse kernel bu ayrışmayı sağlar. Önceden açıkça shared mapping kurulmuşsa o farklı senaryodur. İki ayrı alanın aynı numeric address değerini göstermesi ortak nesne kanıtı değildir.</a:t>
            </a:r>
          </a:p>
          <a:p xmlns:a="http://schemas.openxmlformats.org/drawingml/2006/main">
            <a:r>
              <a:t/>
            </a:r>
          </a:p>
          <a:p xmlns:a="http://schemas.openxmlformats.org/drawingml/2006/main">
            <a:r>
              <a:t>SORUYA YANIT: Parent 10 yazdırır. Ordinary private memory views ayrıdır. Wait bitiş sırasını düzenler, iki adres alanını birleştirmez. Linux copy-on-write ile fiziksel kopyalamayı yazmaya kadar erteleyebilir. COW, ordinary private değişken için IPC değildir.</a:t>
            </a:r>
          </a:p>
          <a:p xmlns:a="http://schemas.openxmlformats.org/drawingml/2006/main">
            <a:r>
              <a:t/>
            </a:r>
          </a:p>
          <a:p xmlns:a="http://schemas.openxmlformats.org/drawingml/2006/main">
            <a:r>
              <a:t>Kaynak: Mehmet Göktürk, CSE513 Lecture01, özgün slayt 32, 60. https://mehmetgokturk.com/cse513/materials/lecture01/CSE513-Lecture01.pdf</a:t>
            </a:r>
          </a:p>
          <a:p xmlns:a="http://schemas.openxmlformats.org/drawingml/2006/main">
            <a:r>
              <a:t/>
            </a:r>
          </a:p>
          <a:p xmlns:a="http://schemas.openxmlformats.org/drawingml/2006/main">
            <a:r>
              <a:t>Doğrulama başvuruları: https://man7.org/linux/man-pages/man2/fork.2.html ; https://man7.org/linux/man-pages/man2/execve.2.html ; https://man7.org/linux/man-pages/man7/pipe.7.html ; https://pages.cs.wisc.edu/~remzi/OSTEP/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Program imajı code, data ve stack gibi bölgeleri değiştirir. Bazı process özellikleri devam eder, bazıları API kuralları gereği reset edilir. Open file descriptors, close-on-exec işaretli değillerse genellikle kalır. Shell’in exec öncesinde stdout’u pipe’a bağlaması bu yüzden yeni programın çıktısını etkiler. launch.c tam hata kontrollerini içerir. _exit başarısız exec yolunda inherited stdio buffer’larının tekrar flush edilmesini önler. PID 421 yalnız öğretici örnektir.</a:t>
            </a:r>
          </a:p>
          <a:p xmlns:a="http://schemas.openxmlformats.org/drawingml/2006/main">
            <a:r>
              <a:t/>
            </a:r>
          </a:p>
          <a:p xmlns:a="http://schemas.openxmlformats.org/drawingml/2006/main">
            <a:r>
              <a:t>SORUYA YANIT: Hayır. Başarılı exec eski program imajına dönmez. Başarısız exec hata ile döner, perror ve _exit çalışır. PID aynı kalır. 127 bu örneğin seçtiği hata durumudur.</a:t>
            </a:r>
          </a:p>
          <a:p xmlns:a="http://schemas.openxmlformats.org/drawingml/2006/main">
            <a:r>
              <a:t/>
            </a:r>
          </a:p>
          <a:p xmlns:a="http://schemas.openxmlformats.org/drawingml/2006/main">
            <a:r>
              <a:t>Kaynak: Mehmet Göktürk, CSE513 Lecture01, özgün slayt 33–37. https://mehmetgokturk.com/cse513/materials/lecture01/CSE513-Lecture01.pdf</a:t>
            </a:r>
          </a:p>
          <a:p xmlns:a="http://schemas.openxmlformats.org/drawingml/2006/main">
            <a:r>
              <a:t/>
            </a:r>
          </a:p>
          <a:p xmlns:a="http://schemas.openxmlformats.org/drawingml/2006/main">
            <a:r>
              <a:t>Doğrulama başvuruları: https://man7.org/linux/man-pages/man2/fork.2.html ; https://man7.org/linux/man-pages/man2/execve.2.html ; https://man7.org/linux/man-pages/man7/pipe.7.html ; https://pages.cs.wisc.edu/~remzi/OSTEP/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waitpid belirli child sonlanana kadar bloklanabilir. Bitiş bilgisi toplanması kaynak yaşam döngüsünün parçasıdır. Background başlatmak bu sorumluluğu kaldırmaz. Linux/Unix ortamında parent’ı biten child’lar uygun bir reaper’a yeniden bağlanır, ilgili process ortama bağlıdır. launch.c EINTR durumunda waitpid’yi tekrar dener, WIFEXITED/WEXITSTATUS veya signal durumunu yorumlar. Child output ile parent raporunun sırasını wait ilişkisi açıklar.</a:t>
            </a:r>
          </a:p>
          <a:p xmlns:a="http://schemas.openxmlformats.org/drawingml/2006/main">
            <a:r>
              <a:t/>
            </a:r>
          </a:p>
          <a:p xmlns:a="http://schemas.openxmlformats.org/drawingml/2006/main">
            <a:r>
              <a:t>GERÇEK HAYATTA — IDE’nin derleme sonucu göstermesi</a:t>
            </a:r>
          </a:p>
          <a:p xmlns:a="http://schemas.openxmlformats.org/drawingml/2006/main">
            <a:r>
              <a:t>Gördüğün: IDE derleyiciyi başlatır; sonunda başarılı veya başarısız derleme bildirir.</a:t>
            </a:r>
          </a:p>
          <a:p xmlns:a="http://schemas.openxmlformats.org/drawingml/2006/main">
            <a:r>
              <a:t>Sistemde: Bu tasarımda derleyici bir child process’tir. Başlatan araç waitpid benzeri bir arayüzle sonlanmayı ve exit status’u toplar. Programın susması veya çıktı üretmesi tek başına başarılı bittiği anlamına gelmez.</a:t>
            </a:r>
          </a:p>
          <a:p xmlns:a="http://schemas.openxmlformats.org/drawingml/2006/main">
            <a:r>
              <a:t>İşe yaradığı yer: Bir araç zincirinde sonucu doğru toplamanın neden gerekli olduğunu görürsün.</a:t>
            </a:r>
          </a:p>
          <a:p xmlns:a="http://schemas.openxmlformats.org/drawingml/2006/main">
            <a:r>
              <a:t>Bu örnek kavramsal uygulama senaryosudur.</a:t>
            </a:r>
          </a:p>
          <a:p xmlns:a="http://schemas.openxmlformats.org/drawingml/2006/main">
            <a:r>
              <a:t/>
            </a:r>
          </a:p>
          <a:p xmlns:a="http://schemas.openxmlformats.org/drawingml/2006/main">
            <a:r>
              <a:t>SORUYA YANIT: Hayır. Zombie sonlanmış, durumu henüz toplanmamış child’dır. Parent’ı sonlanan process farklı bir durumdur, reparenting gerekir. wait, sıradan belleği paylaşmaz.</a:t>
            </a:r>
          </a:p>
          <a:p xmlns:a="http://schemas.openxmlformats.org/drawingml/2006/main">
            <a:r>
              <a:t/>
            </a:r>
          </a:p>
          <a:p xmlns:a="http://schemas.openxmlformats.org/drawingml/2006/main">
            <a:r>
              <a:t>Kaynak: Mehmet Göktürk, CSE513 Lecture01, özgün slayt 38–39. https://mehmetgokturk.com/cse513/materials/lecture01/CSE513-Lecture01.pdf</a:t>
            </a:r>
          </a:p>
          <a:p xmlns:a="http://schemas.openxmlformats.org/drawingml/2006/main">
            <a:r>
              <a:t/>
            </a:r>
          </a:p>
          <a:p xmlns:a="http://schemas.openxmlformats.org/drawingml/2006/main">
            <a:r>
              <a:t>Doğrulama başvuruları: https://man7.org/linux/man-pages/man2/fork.2.html ; https://man7.org/linux/man-pages/man2/execve.2.html ; https://man7.org/linux/man-pages/man7/pipe.7.html ; https://pages.cs.wisc.edu/~remzi/OSTEP/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Thread kaynak sahibi process içindeki yürütme akışıdır. Aynı process’in thread’leri aynı adres alanına erişir. Bir thread diğerinin canlı stack nesnesine uygun pointer üzerinden erişebilir, dolayısıyla ayrı stack alanı izolasyon sağlamaz. Buna karşılık ordinary process’ler ayrı adres alanlarında çalışır ve paylaşım için explicit IPC gerekebilir. Generated şema kavramsaldır. Her process’in bağlamı da vardır, soldaki stack kutuları bütün kaynakların eksiksiz envanteri değildir. Paylaşım iletişimi kolaylaştırır, hata yayılımı ve synchronization sorumluluğu getirir.</a:t>
            </a:r>
          </a:p>
          <a:p xmlns:a="http://schemas.openxmlformats.org/drawingml/2006/main">
            <a:r>
              <a:t/>
            </a:r>
          </a:p>
          <a:p xmlns:a="http://schemas.openxmlformats.org/drawingml/2006/main">
            <a:r>
              <a:t>GERÇEK HAYATTA — Fotoğraf işlenirken pencerenin yanıt vermesi</a:t>
            </a:r>
          </a:p>
          <a:p xmlns:a="http://schemas.openxmlformats.org/drawingml/2006/main">
            <a:r>
              <a:t>Gördüğün: Bir fotoğraf filtresi uzun sürer; kullanıcı pencereyi hareket ettirmeye devam etmek ister.</a:t>
            </a:r>
          </a:p>
          <a:p xmlns:a="http://schemas.openxmlformats.org/drawingml/2006/main">
            <a:r>
              <a:t>Sistemde: Qt’nin önerdiği tasarımda zaman alan işi worker thread yürütür, GUI güncellemeleri main thread’de kalır. Worker sonucu uygun iletişim yolu ile iletir. Main thread’i hemen blocking join ile bekletmek yanıt vermeyi yine durdurabilir.</a:t>
            </a:r>
          </a:p>
          <a:p xmlns:a="http://schemas.openxmlformats.org/drawingml/2006/main">
            <a:r>
              <a:t>İşe yaradığı yer: Thread oluşturmak kadar işi doğru akışa vermenin ve ortak verilere erişimin de önemli olduğunu görürsün.</a:t>
            </a:r>
          </a:p>
          <a:p xmlns:a="http://schemas.openxmlformats.org/drawingml/2006/main">
            <a:r>
              <a:t>Başvuru: https://doc.qt.io/qt-6/threads-qobject.html</a:t>
            </a:r>
          </a:p>
          <a:p xmlns:a="http://schemas.openxmlformats.org/drawingml/2006/main">
            <a:r>
              <a:t/>
            </a:r>
          </a:p>
          <a:p xmlns:a="http://schemas.openxmlformats.org/drawingml/2006/main">
            <a:r>
              <a:t>Kaynak: Mehmet Göktürk, CSE513 Lecture01, özgün slayt 42–43. https://mehmetgokturk.com/cse513/materials/lecture01/CSE513-Lecture01.pdf</a:t>
            </a:r>
          </a:p>
          <a:p xmlns:a="http://schemas.openxmlformats.org/drawingml/2006/main">
            <a:r>
              <a:t/>
            </a:r>
          </a:p>
          <a:p xmlns:a="http://schemas.openxmlformats.org/drawingml/2006/main">
            <a:r>
              <a:t>Doğrulama başvuruları: https://man7.org/linux/man-pages/man2/fork.2.html ; https://man7.org/linux/man-pages/man2/execve.2.html ; https://man7.org/linux/man-pages/man7/pipe.7.html ; https://pages.cs.wisc.edu/~remzi/OSTEP/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Diagram mantıksal CPU modelini kullanır. Tek CPU A ve B’yi sırayla yürütürken her ikisi aynı geniş zaman aralığında ilerleyebilir. İki CPU aynı anda A ve B’yi yürütebilir. Gerçek fiziksel çekirdek ile mantıksal işlemci SMT nedeniyle bire bir olmayabilir. Bir seri aşama, lock, memory bandwidth veya storage darboğazı ek thread’in katkısını sınırlayabilir. Bu çizim benchmark değildir ve herhangi bir speedup sayısı vermez. Çok adımlı shared-data işlemleri tek CPU’da da interleave olabilir.</a:t>
            </a:r>
          </a:p>
          <a:p xmlns:a="http://schemas.openxmlformats.org/drawingml/2006/main">
            <a:r>
              <a:t/>
            </a:r>
          </a:p>
          <a:p xmlns:a="http://schemas.openxmlformats.org/drawingml/2006/main">
            <a:r>
              <a:t>GERÇEK HAYATTA — Video veya görüntü işini bölmek</a:t>
            </a:r>
          </a:p>
          <a:p xmlns:a="http://schemas.openxmlformats.org/drawingml/2006/main">
            <a:r>
              <a:t>Gördüğün: Bir işin bağımsız parçalarını birden fazla worker’a verirsin.</a:t>
            </a:r>
          </a:p>
          <a:p xmlns:a="http://schemas.openxmlformats.org/drawingml/2006/main">
            <a:r>
              <a:t>Sistemde: Parçalar farklı CPU kaynaklarında aynı anda çalışırsa parallelism oluşur. Seri aşama, veri aktarımı veya lock darboğazı kazancı sınırlayabilir. Bu bir tasarım senaryosudur; belirli bir codec için hızlanma garantisi değildir.</a:t>
            </a:r>
          </a:p>
          <a:p xmlns:a="http://schemas.openxmlformats.org/drawingml/2006/main">
            <a:r>
              <a:t>İşe yaradığı yer: Daha çok thread seçmeden işin gerçekten bölünüp bölünemediğini incelersin.</a:t>
            </a:r>
          </a:p>
          <a:p xmlns:a="http://schemas.openxmlformats.org/drawingml/2006/main">
            <a:r>
              <a:t>Bu örnek kavramsal uygulama senaryosudur.</a:t>
            </a:r>
          </a:p>
          <a:p xmlns:a="http://schemas.openxmlformats.org/drawingml/2006/main">
            <a:r>
              <a:t/>
            </a:r>
          </a:p>
          <a:p xmlns:a="http://schemas.openxmlformats.org/drawingml/2006/main">
            <a:r>
              <a:t>Kaynak: Mehmet Göktürk, CSE513 Lecture01, özgün slayt 44–46. https://mehmetgokturk.com/cse513/materials/lecture01/CSE513-Lecture01.pdf</a:t>
            </a:r>
          </a:p>
          <a:p xmlns:a="http://schemas.openxmlformats.org/drawingml/2006/main">
            <a:r>
              <a:t/>
            </a:r>
          </a:p>
          <a:p xmlns:a="http://schemas.openxmlformats.org/drawingml/2006/main">
            <a:r>
              <a:t>Doğrulama başvuruları: https://man7.org/linux/man-pages/man2/fork.2.html ; https://man7.org/linux/man-pages/man2/execve.2.html ; https://man7.org/linux/man-pages/man7/pipe.7.html ; https://pages.cs.wisc.edu/~remzi/OSTEP/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Adımlar açık bir interleaving modelidir. Sözde kodu gerçek C’nin unsynchronized conflicting accesses davranışına eşitleme. Çalışma sayfasında adımları elle ilerletebilir ve serial sırayla karşılaştırabilirsin. Bir CPU yarışı otomatik olarak engellemez, çünkü scheduler çok adımlı işlemin arasında başka akışı çalıştırabilir. Atomiklik bir işlemin başka thread açısından bölünmez gözlenebilmesiyle ilgilidir.</a:t>
            </a:r>
          </a:p>
          <a:p xmlns:a="http://schemas.openxmlformats.org/drawingml/2006/main">
            <a:r>
              <a:t/>
            </a:r>
          </a:p>
          <a:p xmlns:a="http://schemas.openxmlformats.org/drawingml/2006/main">
            <a:r>
              <a:t>GERÇEK HAYATTA — Web sunucusunun istek sayacı</a:t>
            </a:r>
          </a:p>
          <a:p xmlns:a="http://schemas.openxmlformats.org/drawingml/2006/main">
            <a:r>
              <a:t>Gördüğün: İki worker aynı process içindeki toplam istek sayacını artırır.</a:t>
            </a:r>
          </a:p>
          <a:p xmlns:a="http://schemas.openxmlformats.org/drawingml/2006/main">
            <a:r>
              <a:t>Sistemde: Soyut modelde ikisi de aynı eski değeri okuyup yeni değeri yazarsa bir artırım kaybolabilir. Gerçek C kodunda unsynchronized data race için bu kesin çıktı söylenemez. Mutex veya uygun atomic ile tüm artırımı doğru düzenlemek gerekir.</a:t>
            </a:r>
          </a:p>
          <a:p xmlns:a="http://schemas.openxmlformats.org/drawingml/2006/main">
            <a:r>
              <a:t>İşe yaradığı yer: Üretim metriklerinin eksik saymasını paylaşım protokolü açısından sorgularsın. Veritabanındaki stok gibi durumlarda ise transaction ve DB kuralları ayrıca gerekir.</a:t>
            </a:r>
          </a:p>
          <a:p xmlns:a="http://schemas.openxmlformats.org/drawingml/2006/main">
            <a:r>
              <a:t>Bu örnek kavramsal uygulama senaryosudur.</a:t>
            </a:r>
          </a:p>
          <a:p xmlns:a="http://schemas.openxmlformats.org/drawingml/2006/main">
            <a:r>
              <a:t>Hatırlatma: Bu racy C için kesin çıktı iddiası değildir. C data race, undefined behavior olabilir.</a:t>
            </a:r>
          </a:p>
          <a:p xmlns:a="http://schemas.openxmlformats.org/drawingml/2006/main">
            <a:r>
              <a:t/>
            </a:r>
          </a:p>
          <a:p xmlns:a="http://schemas.openxmlformats.org/drawingml/2006/main">
            <a:r>
              <a:t>SORUYA YANIT: İki iş aynı eski değerden 1 hesapladı. B’nin son yazması A’nın artırımını hesaba katmadı. Tam read-modify-write işlemini mutex ile korumak veya uygun atomic kullanmak gerekir. Join, bu işlemi karşılıklı dışlamaz.</a:t>
            </a:r>
          </a:p>
          <a:p xmlns:a="http://schemas.openxmlformats.org/drawingml/2006/main">
            <a:r>
              <a:t/>
            </a:r>
          </a:p>
          <a:p xmlns:a="http://schemas.openxmlformats.org/drawingml/2006/main">
            <a:r>
              <a:t>Kaynak: Mehmet Göktürk, CSE513 Lecture01, özgün slayt 49–50. https://mehmetgokturk.com/cse513/materials/lecture01/CSE513-Lecture01.pdf</a:t>
            </a:r>
          </a:p>
          <a:p xmlns:a="http://schemas.openxmlformats.org/drawingml/2006/main">
            <a:r>
              <a:t/>
            </a:r>
          </a:p>
          <a:p xmlns:a="http://schemas.openxmlformats.org/drawingml/2006/main">
            <a:r>
              <a:t>Doğrulama başvuruları: https://man7.org/linux/man-pages/man2/fork.2.html ; https://man7.org/linux/man-pages/man2/execve.2.html ; https://man7.org/linux/man-pages/man7/pipe.7.html ; https://pages.cs.wisc.edu/~remzi/OSTEP/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Slayt merkezi akışı gösterir. lab/thread_join.c gerçek pthread dönüş kodlarını kontrol eder ve hata durumunda tanımlı şekilde sonlanır. Worker input=7 için 49 üretir. Main input’u concurrent değiştirmez ve sonucu join’den sonra okur. Server’da bounded worker pool gelen istekleri kuyruğa alabilir. Queue ownership, doluluk davranışı, shutdown ve erişim protokolü gerekir. Event-driven tasarımlar da bekleyen I/O’yu örtüştürebilir. Her istek için yeni thread oluşturmak tek yaklaşım değildir.</a:t>
            </a:r>
          </a:p>
          <a:p xmlns:a="http://schemas.openxmlformats.org/drawingml/2006/main">
            <a:r>
              <a:t/>
            </a:r>
          </a:p>
          <a:p xmlns:a="http://schemas.openxmlformats.org/drawingml/2006/main">
            <a:r>
              <a:t>GERÇEK HAYATTA — Serviste istek kuyruğu</a:t>
            </a:r>
          </a:p>
          <a:p xmlns:a="http://schemas.openxmlformats.org/drawingml/2006/main">
            <a:r>
              <a:t>Gördüğün: Bir servise aynı anda çok sayıda iş gelir.</a:t>
            </a:r>
          </a:p>
          <a:p xmlns:a="http://schemas.openxmlformats.org/drawingml/2006/main">
            <a:r>
              <a:t>Sistemde: Sınırlı bir worker pool işleri kuyruktan alabilir. Kuyruğa erişim, dolu kuyruk davranışı, iş nesnesinin ömrü ve kapanış kuralları tasarlanır. Thread sayısını sınırsız artırmak kapasiteyi garanti etmez. Event-driven tasarım da bir seçenektir.</a:t>
            </a:r>
          </a:p>
          <a:p xmlns:a="http://schemas.openxmlformats.org/drawingml/2006/main">
            <a:r>
              <a:t>İşe yaradığı yer: Concurrency tasarımını yalnız thread oluşturma çağrısı olarak görmezsin.</a:t>
            </a:r>
          </a:p>
          <a:p xmlns:a="http://schemas.openxmlformats.org/drawingml/2006/main">
            <a:r>
              <a:t>Bu örnek kavramsal uygulama senaryosudur.</a:t>
            </a:r>
          </a:p>
          <a:p xmlns:a="http://schemas.openxmlformats.org/drawingml/2006/main">
            <a:r>
              <a:t>Hatırlatma: join tamamlanmayı bekler. Aynı anda çalışan worker’ları kilitlemez.</a:t>
            </a:r>
          </a:p>
          <a:p xmlns:a="http://schemas.openxmlformats.org/drawingml/2006/main">
            <a:r>
              <a:t/>
            </a:r>
          </a:p>
          <a:p xmlns:a="http://schemas.openxmlformats.org/drawingml/2006/main">
            <a:r>
              <a:t>SORUYA YANIT: Worker ömrü bitmiş nesneye erişebilir. Join öncesi result okumak da doğru sıra garantisini kaybettirir. Nesne canlı kalmalı, paylaşılmış verilere eşzamanlı erişim kuralları açık olmalıdır.</a:t>
            </a:r>
          </a:p>
          <a:p xmlns:a="http://schemas.openxmlformats.org/drawingml/2006/main">
            <a:r>
              <a:t/>
            </a:r>
          </a:p>
          <a:p xmlns:a="http://schemas.openxmlformats.org/drawingml/2006/main">
            <a:r>
              <a:t>Kaynak: Mehmet Göktürk, CSE513 Lecture01, özgün slayt 47–48, 51–52. https://mehmetgokturk.com/cse513/materials/lecture01/CSE513-Lecture01.pdf</a:t>
            </a:r>
          </a:p>
          <a:p xmlns:a="http://schemas.openxmlformats.org/drawingml/2006/main">
            <a:r>
              <a:t/>
            </a:r>
          </a:p>
          <a:p xmlns:a="http://schemas.openxmlformats.org/drawingml/2006/main">
            <a:r>
              <a:t>Doğrulama başvuruları: https://man7.org/linux/man-pages/man2/fork.2.html ; https://man7.org/linux/man-pages/man2/execve.2.html ; https://man7.org/linux/man-pages/man7/pipe.7.html ; https://pages.cs.wisc.edu/~remzi/OSTEP/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Shared memory veriyi ortak bölgeye erişerek sunar. Message passing veriyi açık bir iletişim arayüzünden geçirir. İkisi de protocol design gerektirir. Hangi katılımcı hangi nesneyi değiştirebilir? Alıcı verinin tamamını ne zaman görebilir? Gönderici durursa ne olur? Paylaşılan storage kendiliğinden synchronization sağlamaz. Pipe bu haftaki küçük message/stream arayüzü örneğidir, mesaj sınırlarını korumaz.</a:t>
            </a:r>
          </a:p>
          <a:p xmlns:a="http://schemas.openxmlformats.org/drawingml/2006/main">
            <a:r>
              <a:t/>
            </a:r>
          </a:p>
          <a:p xmlns:a="http://schemas.openxmlformats.org/drawingml/2006/main">
            <a:r>
              <a:t>GERÇEK HAYATTA — Tarayıcının parçaları arasında iletişim</a:t>
            </a:r>
          </a:p>
          <a:p xmlns:a="http://schemas.openxmlformats.org/drawingml/2006/main">
            <a:r>
              <a:t>Gördüğün: Sayfa çizimi ve tarayıcının diğer hizmetleri birlikte çalışır.</a:t>
            </a:r>
          </a:p>
          <a:p xmlns:a="http://schemas.openxmlformats.org/drawingml/2006/main">
            <a:r>
              <a:t>Sistemde: Chromium’un process’leri IPC aracılığıyla iletişim kurar. Ayrı özel adres alanlarında sıradan pointer göndermek aynı nesneye erişim sağlamaz. Mesaj biçimi ve yaşam döngüsü ortak anlaşmanın parçasıdır; her iletişimin pipe kullandığı iddia edilmiyor.</a:t>
            </a:r>
          </a:p>
          <a:p xmlns:a="http://schemas.openxmlformats.org/drawingml/2006/main">
            <a:r>
              <a:t>İşe yaradığı yer: Process izolasyonu ile bileşenler arası iş birliğinin birlikte gerekli olduğunu görürsün.</a:t>
            </a:r>
          </a:p>
          <a:p xmlns:a="http://schemas.openxmlformats.org/drawingml/2006/main">
            <a:r>
              <a:t>Başvuru: https://www.chromium.org/developers/design-documents/multi-process-architecture/</a:t>
            </a:r>
          </a:p>
          <a:p xmlns:a="http://schemas.openxmlformats.org/drawingml/2006/main">
            <a:r>
              <a:t/>
            </a:r>
          </a:p>
          <a:p xmlns:a="http://schemas.openxmlformats.org/drawingml/2006/main">
            <a:r>
              <a:t>SORUYA YANIT: Tek başına yeterli değildir. Flag erişimi ve veri yayınlama sırası için doğru synchronization gerekir. Message passing’de de framing, ordering ve hata davranışı kararlaştırılır.</a:t>
            </a:r>
          </a:p>
          <a:p xmlns:a="http://schemas.openxmlformats.org/drawingml/2006/main">
            <a:r>
              <a:t/>
            </a:r>
          </a:p>
          <a:p xmlns:a="http://schemas.openxmlformats.org/drawingml/2006/main">
            <a:r>
              <a:t>Kaynak: Mehmet Göktürk, CSE513 Lecture01, özgün slayt 53–54. https://mehmetgokturk.com/cse513/materials/lecture01/CSE513-Lecture01.pdf</a:t>
            </a:r>
          </a:p>
          <a:p xmlns:a="http://schemas.openxmlformats.org/drawingml/2006/main">
            <a:r>
              <a:t/>
            </a:r>
          </a:p>
          <a:p xmlns:a="http://schemas.openxmlformats.org/drawingml/2006/main">
            <a:r>
              <a:t>Doğrulama başvuruları: https://man7.org/linux/man-pages/man2/fork.2.html ; https://man7.org/linux/man-pages/man2/execve.2.html ; https://man7.org/linux/man-pages/man7/pipe.7.html ; https://pages.cs.wisc.edu/~remzi/OSTEP/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Pipe finite bir kernel buffer üzerinden bayt akışı taşır. Yazmalar ile okumaların uygulama mesaj sınırları bire bir eşleşmez. Alıcı delimiting veya length field gibi bir framing kuralına ihtiyaç duyabilir. Producer hızlıysa buffer dolup writer bloklanabilir. Consumer hızlıysa writer açıkken boş buffer’da read bekleyebilir. EOF, geçici boşluk değildir. Diagramdaki hücreler pipe kapasitesini sayısal olarak göstermeyen bir öğretici tasvirdir. Çalışma sayfasındaki komut printf alpha ve beta ile iki newline gönderir, wc -l bu karakterleri sayar.</a:t>
            </a:r>
          </a:p>
          <a:p xmlns:a="http://schemas.openxmlformats.org/drawingml/2006/main">
            <a:r>
              <a:t/>
            </a:r>
          </a:p>
          <a:p xmlns:a="http://schemas.openxmlformats.org/drawingml/2006/main">
            <a:r>
              <a:t>GERÇEK HAYATTA — Canlı log izlemek</a:t>
            </a:r>
          </a:p>
          <a:p xmlns:a="http://schemas.openxmlformats.org/drawingml/2006/main">
            <a:r>
              <a:t>Gördüğün: Canlı log üreten komutu başka bir komuta pipe ile bağlarsın.</a:t>
            </a:r>
          </a:p>
          <a:p xmlns:a="http://schemas.openxmlformats.org/drawingml/2006/main">
            <a:r>
              <a:t>Sistemde: Producer açık kaldığı ve akış sürmeye devam edebileceği için alıcı EOF görmez. Producer hızlıysa pipe dolup blocking writer’ı bekletebilir. Logdaki satır sınırlarını uygulama newline ile belirler; pipe bayt akışıdır.</a:t>
            </a:r>
          </a:p>
          <a:p xmlns:a="http://schemas.openxmlformats.org/drawingml/2006/main">
            <a:r>
              <a:t>İşe yaradığı yer: Komutun henüz bitmemesini hemen kilitlenme diye yorumlamaz, akışın bitiş koşulunu incelersin.</a:t>
            </a:r>
          </a:p>
          <a:p xmlns:a="http://schemas.openxmlformats.org/drawingml/2006/main">
            <a:r>
              <a:t>Bu örnek kavramsal uygulama senaryosudur.</a:t>
            </a:r>
          </a:p>
          <a:p xmlns:a="http://schemas.openxmlformats.org/drawingml/2006/main">
            <a:r>
              <a:t/>
            </a:r>
          </a:p>
          <a:p xmlns:a="http://schemas.openxmlformats.org/drawingml/2006/main">
            <a:r>
              <a:t>Kaynak: Mehmet Göktürk, CSE513 Lecture01, özgün slayt 55–58. https://mehmetgokturk.com/cse513/materials/lecture01/CSE513-Lecture01.pdf</a:t>
            </a:r>
          </a:p>
          <a:p xmlns:a="http://schemas.openxmlformats.org/drawingml/2006/main">
            <a:r>
              <a:t/>
            </a:r>
          </a:p>
          <a:p xmlns:a="http://schemas.openxmlformats.org/drawingml/2006/main">
            <a:r>
              <a:t>Doğrulama başvuruları: https://man7.org/linux/man-pages/man2/fork.2.html ; https://man7.org/linux/man-pages/man2/execve.2.html ; https://man7.org/linux/man-pages/man7/pipe.7.html ; https://pages.cs.wisc.edu/~remzi/OSTEP/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Sonucu yalnız child’ın yazma eylemine bakarak açıklama. Fork sonrası inherited descriptors nedeniyle parent’ın elinde de yazma referansı olabilir. Burada child zaten bitmiştir, parent’ın read’i hâlâ bloklanabilir. Doğru baytları üretmiş bir program yaşam döngüsü ve cleanup hatasından bitmeyebilir. EOF için tüm writer references’ın kapanmış olması gerekir. Nonblocking read ayrı bir davranış modelidir, bu örnek blocking I/O kullanır.</a:t>
            </a:r>
          </a:p>
          <a:p xmlns:a="http://schemas.openxmlformats.org/drawingml/2006/main">
            <a:r>
              <a:t/>
            </a:r>
          </a:p>
          <a:p xmlns:a="http://schemas.openxmlformats.org/drawingml/2006/main">
            <a:r>
              <a:t>GERÇEK HAYATTA — Veriyi aldı ama tamamlanmadı</a:t>
            </a:r>
          </a:p>
          <a:p xmlns:a="http://schemas.openxmlformats.org/drawingml/2006/main">
            <a:r>
              <a:t>Gördüğün: Bir export aracı bütün beklenen baytları okumuş görünür; bitişi beklemeye devam eder.</a:t>
            </a:r>
          </a:p>
          <a:p xmlns:a="http://schemas.openxmlformats.org/drawingml/2006/main">
            <a:r>
              <a:t>Sistemde: Bu öğretici hata senaryosunda bir process gereksiz writer descriptor’ını açık tutar. Buffer boşalsa da açık writer referansı EOF’yi önler. Teşhis için yalnız yazılan veriyi değil, tüm descriptor sahiplerini izlersin.</a:t>
            </a:r>
          </a:p>
          <a:p xmlns:a="http://schemas.openxmlformats.org/drawingml/2006/main">
            <a:r>
              <a:t>İşe yaradığı yer: Doğru çıktı üretimi ile doğru kaynak temizliğinin ayrı gereklilikler olduğunu görürsün.</a:t>
            </a:r>
          </a:p>
          <a:p xmlns:a="http://schemas.openxmlformats.org/drawingml/2006/main">
            <a:r>
              <a:t>Bu örnek kavramsal uygulama senaryosudur.</a:t>
            </a:r>
          </a:p>
          <a:p xmlns:a="http://schemas.openxmlformats.org/drawingml/2006/main">
            <a:r>
              <a:t/>
            </a:r>
          </a:p>
          <a:p xmlns:a="http://schemas.openxmlformats.org/drawingml/2006/main">
            <a:r>
              <a:t>SORUYA YANIT: Parent’ın write descriptor’ı hâlâ açık. Writer reference bulunduğu için boş pipe read’i veri bekleyebilir. Parent gereksiz write ucunu kapatınca, başka writer yoksa ve buffer tüketildiyse EOF görülebilir. Her process’te kullanılmayan uçları kapat.</a:t>
            </a:r>
          </a:p>
          <a:p xmlns:a="http://schemas.openxmlformats.org/drawingml/2006/main">
            <a:r>
              <a:t/>
            </a:r>
          </a:p>
          <a:p xmlns:a="http://schemas.openxmlformats.org/drawingml/2006/main">
            <a:r>
              <a:t>Kaynak: Mehmet Göktürk, CSE513 Lecture01, özgün slayt 57, 61–62. https://mehmetgokturk.com/cse513/materials/lecture01/CSE513-Lecture01.pdf</a:t>
            </a:r>
          </a:p>
          <a:p xmlns:a="http://schemas.openxmlformats.org/drawingml/2006/main">
            <a:r>
              <a:t/>
            </a:r>
          </a:p>
          <a:p xmlns:a="http://schemas.openxmlformats.org/drawingml/2006/main">
            <a:r>
              <a:t>Doğrulama başvuruları: https://man7.org/linux/man-pages/man2/fork.2.html ; https://man7.org/linux/man-pages/man2/execve.2.html ; https://man7.org/linux/man-pages/man7/pipe.7.html ; https://pages.cs.wisc.edu/~remzi/OSTEP/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Linux ps çıktısında R running veya runnable anlamına gelebilir. Bir snapshot her context switch’i ve eksik olayı kanıtlamaz. sleep ps’den önce biterse satırın görünmemesi zamanlama sonucu olabilir. printf örneği iki newline içerir. Son newline kaldırılırsa wc -l sonucu 1 olur. Shell builtin varlığından dolayı iki komut metni iki external process demek değildir. Çalışma sayfasında tam lab yönergeleri, tahmin alanları ve C örneklerinin derleme komutları vardır. Bunlar pratik etkinliklerdir, resmî not veya teslim tarihi tanımlamaz. PPT sürümünde seq 2 iki newline ile 1 ve 2 satırlarını üretir. HTML’deki printf örneği aynı newline sayma ilkesini gösterir.</a:t>
            </a:r>
          </a:p>
          <a:p xmlns:a="http://schemas.openxmlformats.org/drawingml/2006/main">
            <a:r>
              <a:t/>
            </a:r>
          </a:p>
          <a:p xmlns:a="http://schemas.openxmlformats.org/drawingml/2006/main">
            <a:r>
              <a:t>Kaynak: Mehmet Göktürk, CSE513 Lecture01, özgün slayt 40–41, 55–56, 63. https://mehmetgokturk.com/cse513/materials/lecture01/CSE513-Lecture01.pdf</a:t>
            </a:r>
          </a:p>
          <a:p xmlns:a="http://schemas.openxmlformats.org/drawingml/2006/main">
            <a:r>
              <a:t/>
            </a:r>
          </a:p>
          <a:p xmlns:a="http://schemas.openxmlformats.org/drawingml/2006/main">
            <a:r>
              <a:t>Doğrulama başvuruları: https://man7.org/linux/man-pages/man2/fork.2.html ; https://man7.org/linux/man-pages/man2/execve.2.html ; https://man7.org/linux/man-pages/man7/pipe.7.html ; https://pages.cs.wisc.edu/~remzi/OSTEP/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 soru için 1 puan doğru sonuç, 1 puan doğru gerekçe vererek 12 üzerinden kendi değerlendirmeni yapabilirsin. Bu dersin resmî notlandırması değildir. Takım önerisi: en az 9/12 ve kritik 2, 4, 6. sorularda gerekçe. Eksik olan ayrım için ilgili örneğe dön. İkinci hafta için yalnız bir köprü sorusu bırakıyoruz: Birden fazla ready görev varsa hangisi seçilmeli? Bu pilotun dilini, örneklerini ve yoğunluğunu birlikte değerlendirmeden ikinci haftayı hazırlamıyoruz.</a:t>
            </a:r>
          </a:p>
          <a:p xmlns:a="http://schemas.openxmlformats.org/drawingml/2006/main">
            <a:r>
              <a:t/>
            </a:r>
          </a:p>
          <a:p xmlns:a="http://schemas.openxmlformats.org/drawingml/2006/main">
            <a:r>
              <a:t>SORUYA YANIT: 1 Hayır: eksik olay gerekir. 2 Hayır: aynı task’e dönülebilir. 3 Hayır: private address spaces ayrıdır. 4 PID aynı kalır; eski programın sonraki satırı çalışmaz. 5 Evet: read-modify-write adımları interleave olabilir. 6 Hayır: bütün writers kapalı ve buffer tüketilmiş olmalıdır.</a:t>
            </a:r>
          </a:p>
          <a:p xmlns:a="http://schemas.openxmlformats.org/drawingml/2006/main">
            <a:r>
              <a:t/>
            </a:r>
          </a:p>
          <a:p xmlns:a="http://schemas.openxmlformats.org/drawingml/2006/main">
            <a:r>
              <a:t>Kaynak: Mehmet Göktürk, CSE513 Lecture01, özgün slayt 64–65. https://mehmetgokturk.com/cse513/materials/lecture01/CSE513-Lecture01.pdf</a:t>
            </a:r>
          </a:p>
          <a:p xmlns:a="http://schemas.openxmlformats.org/drawingml/2006/main">
            <a:r>
              <a:t/>
            </a:r>
          </a:p>
          <a:p xmlns:a="http://schemas.openxmlformats.org/drawingml/2006/main">
            <a:r>
              <a:t>Doğrulama başvuruları: https://man7.org/linux/man-pages/man2/fork.2.html ; https://man7.org/linux/man-pages/man2/execve.2.html ; https://man7.org/linux/man-pages/man7/pipe.7.html ; https://pages.cs.wisc.edu/~remzi/OSTEP/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357a5045815478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4fd09a403444124" /><Relationship Type="http://schemas.openxmlformats.org/officeDocument/2006/relationships/slideLayout" Target="/ppt/slideLayouts/slideLayout1.xml" Id="R7546d3749be342a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546d3749be342a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c4eb77c17af4d9c" /><Relationship Type="http://schemas.openxmlformats.org/officeDocument/2006/relationships/image" Target="/ppt/media/image.png" Id="R2605875d9968464b" /><Relationship Type="http://schemas.openxmlformats.org/officeDocument/2006/relationships/notesSlide" Target="/ppt/notesSlides/notesSlide1.xml" Id="Re55f44406401479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50c1b4d8bffb4663" /><Relationship Type="http://schemas.openxmlformats.org/officeDocument/2006/relationships/notesSlide" Target="/ppt/notesSlides/notesSlide2.xml" Id="R38b17e95e3e943af"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7ca04fbcbdcf4c5a" /><Relationship Type="http://schemas.openxmlformats.org/officeDocument/2006/relationships/notesSlide" Target="/ppt/notesSlides/notesSlide3.xml" Id="R4ff0746032d7405c"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e0d07c85f4fb437f" /><Relationship Type="http://schemas.openxmlformats.org/officeDocument/2006/relationships/notesSlide" Target="/ppt/notesSlides/notesSlide4.xml" Id="Ra2e3328b337c4dfb"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95b969987aab41b6" /><Relationship Type="http://schemas.openxmlformats.org/officeDocument/2006/relationships/notesSlide" Target="/ppt/notesSlides/notesSlide5.xml" Id="Rf4b0a267b1d4488e"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45a07627b2ef4647" /><Relationship Type="http://schemas.openxmlformats.org/officeDocument/2006/relationships/notesSlide" Target="/ppt/notesSlides/notesSlide6.xml" Id="R027b17bc39654880"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81149719ea044543" /><Relationship Type="http://schemas.openxmlformats.org/officeDocument/2006/relationships/notesSlide" Target="/ppt/notesSlides/notesSlide7.xml" Id="Ra75c2a2412a148c9"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62ce11f55efb41f1" /><Relationship Type="http://schemas.openxmlformats.org/officeDocument/2006/relationships/notesSlide" Target="/ppt/notesSlides/notesSlide8.xml" Id="Rc447d646312d4ac3"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159a1ea9bc934979" /><Relationship Type="http://schemas.openxmlformats.org/officeDocument/2006/relationships/image" Target="/ppt/media/image2.png" Id="Ra136783bf7eb445c" /><Relationship Type="http://schemas.openxmlformats.org/officeDocument/2006/relationships/notesSlide" Target="/ppt/notesSlides/notesSlide9.xml" Id="R7b8623726bf947e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37a93e559cdd418f" /><Relationship Type="http://schemas.openxmlformats.org/officeDocument/2006/relationships/notesSlide" Target="/ppt/notesSlides/notesSlide10.xml" Id="R56020fa65e17475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a727c5b75ee24df3" /><Relationship Type="http://schemas.openxmlformats.org/officeDocument/2006/relationships/notesSlide" Target="/ppt/notesSlides/notesSlide11.xml" Id="R65a1a1c190304f8c"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2c6582c503be4cef" /><Relationship Type="http://schemas.openxmlformats.org/officeDocument/2006/relationships/notesSlide" Target="/ppt/notesSlides/notesSlide12.xml" Id="R15499bff6113438e"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b68c1b5303c84d77" /><Relationship Type="http://schemas.openxmlformats.org/officeDocument/2006/relationships/notesSlide" Target="/ppt/notesSlides/notesSlide13.xml" Id="R3312592265ed4a6b"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8db909545e1f4632" /><Relationship Type="http://schemas.openxmlformats.org/officeDocument/2006/relationships/notesSlide" Target="/ppt/notesSlides/notesSlide14.xml" Id="R0f1c9f3aec6e48ee"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8f8e6a714d2a479d" /><Relationship Type="http://schemas.openxmlformats.org/officeDocument/2006/relationships/notesSlide" Target="/ppt/notesSlides/notesSlide15.xml" Id="R2dca880c43614816"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2b0ff625ae944539" /><Relationship Type="http://schemas.openxmlformats.org/officeDocument/2006/relationships/notesSlide" Target="/ppt/notesSlides/notesSlide16.xml" Id="Rc08355ecf83a4496"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f889d6ee4fcd4557" /><Relationship Type="http://schemas.openxmlformats.org/officeDocument/2006/relationships/notesSlide" Target="/ppt/notesSlides/notesSlide17.xml" Id="Rcdb4170732cd45b1"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af15ec4e8a1f43a7" /><Relationship Type="http://schemas.openxmlformats.org/officeDocument/2006/relationships/notesSlide" Target="/ppt/notesSlides/notesSlide18.xml" Id="Racf4447a57024289"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432843f30427420c" /><Relationship Type="http://schemas.openxmlformats.org/officeDocument/2006/relationships/notesSlide" Target="/ppt/notesSlides/notesSlide19.xml" Id="R158a1f357c0042b3"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4ebb01b985124de7" /><Relationship Type="http://schemas.openxmlformats.org/officeDocument/2006/relationships/image" Target="/ppt/media/image3.png" Id="R91a0cc34102542ef" /><Relationship Type="http://schemas.openxmlformats.org/officeDocument/2006/relationships/notesSlide" Target="/ppt/notesSlides/notesSlide20.xml" Id="Rd5e29508ad89423a"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e2101058a4da499d" /><Relationship Type="http://schemas.openxmlformats.org/officeDocument/2006/relationships/image" Target="/ppt/media/image4.png" Id="Re120b7cca2ef469f" /><Relationship Type="http://schemas.openxmlformats.org/officeDocument/2006/relationships/notesSlide" Target="/ppt/notesSlides/notesSlide21.xml" Id="Rd8581e340cae4a0d"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6c86abb88eea4c4e" /><Relationship Type="http://schemas.openxmlformats.org/officeDocument/2006/relationships/notesSlide" Target="/ppt/notesSlides/notesSlide22.xml" Id="Rcfd7e4d9a8ff47a8"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9eaa02feb7344c88" /><Relationship Type="http://schemas.openxmlformats.org/officeDocument/2006/relationships/notesSlide" Target="/ppt/notesSlides/notesSlide23.xml" Id="Rec5f96bd4efb4b16"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cd5324dd0de442cd" /><Relationship Type="http://schemas.openxmlformats.org/officeDocument/2006/relationships/notesSlide" Target="/ppt/notesSlides/notesSlide24.xml" Id="Rb4f50a540f5546bb"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e2f61b8a742e4441" /><Relationship Type="http://schemas.openxmlformats.org/officeDocument/2006/relationships/image" Target="/ppt/media/image5.png" Id="R10dbcd41be6f425a" /><Relationship Type="http://schemas.openxmlformats.org/officeDocument/2006/relationships/notesSlide" Target="/ppt/notesSlides/notesSlide25.xml" Id="Rfa3590be90ef4917"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b5d799f7fab04856" /><Relationship Type="http://schemas.openxmlformats.org/officeDocument/2006/relationships/notesSlide" Target="/ppt/notesSlides/notesSlide26.xml" Id="Rc50b897b753b49a1"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ddc21d974c0c4c99" /><Relationship Type="http://schemas.openxmlformats.org/officeDocument/2006/relationships/notesSlide" Target="/ppt/notesSlides/notesSlide27.xml" Id="Rae5273c9ec7d4bf8"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6f5d5ccd59074e88" /><Relationship Type="http://schemas.openxmlformats.org/officeDocument/2006/relationships/notesSlide" Target="/ppt/notesSlides/notesSlide28.xml" Id="R887f2cf4a6cd4d09" /></Relationships>
</file>

<file path=ppt/slides/slide1.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2605875d9968464b"/>
          <a:stretch xmlns:a="http://schemas.openxmlformats.org/drawingml/2006/main"/>
        </p:blipFill>
        <p:spPr>
          <a:xfrm xmlns:a="http://schemas.openxmlformats.org/drawingml/2006/main">
            <a:off x="5619750" y="1238250"/>
            <a:ext cx="6572250" cy="43815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BD20D082-F274-4D6F-B3F7-08334BC6471A}"/>
              </a:ext>
            </a:extLst>
          </p:cNvPr>
          <p:cNvSpPr>
            <a:spLocks xmlns:a="http://schemas.openxmlformats.org/drawingml/2006/main" noGrp="1"/>
          </p:cNvSpPr>
          <p:nvPr/>
        </p:nvSpPr>
        <p:spPr>
          <a:xfrm xmlns:a="http://schemas.openxmlformats.org/drawingml/2006/main">
            <a:off x="571500" y="647700"/>
            <a:ext cx="4667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1">
                <a:solidFill>
                  <a:srgbClr val="087E83"/>
                </a:solidFill>
                <a:latin typeface="Helvetica Neue"/>
                <a:ea typeface="Helvetica Neue"/>
                <a:cs typeface="Helvetica Neue"/>
              </a:defRPr>
            </a:pPr>
            <a:r>
              <a:rPr sz="1650" b="1">
                <a:solidFill>
                  <a:srgbClr val="087E83"/>
                </a:solidFill>
                <a:latin typeface="Helvetica Neue"/>
                <a:ea typeface="Helvetica Neue"/>
                <a:cs typeface="Helvetica Neue"/>
              </a:rPr>
              <a:t>CSE513 · HAFTA 1</a:t>
            </a:r>
          </a:p>
        </p:txBody>
      </p:sp>
      <p:sp>
        <p:nvSpPr>
          <p:cNvPr id="3" name="">
            <a:extLst xmlns:a="http://schemas.openxmlformats.org/drawingml/2006/main">
              <a:ext uri="{FF2B5EF4-FFF2-40B4-BE49-F238E27FC236}">
                <a16:creationId xmlns:a16="http://schemas.microsoft.com/office/drawing/2014/main" id="{5FC63604-6F25-4883-A532-0125A17A7E51}"/>
              </a:ext>
            </a:extLst>
          </p:cNvPr>
          <p:cNvSpPr>
            <a:spLocks xmlns:a="http://schemas.openxmlformats.org/drawingml/2006/main" noGrp="1"/>
          </p:cNvSpPr>
          <p:nvPr/>
        </p:nvSpPr>
        <p:spPr>
          <a:xfrm xmlns:a="http://schemas.openxmlformats.org/drawingml/2006/main">
            <a:off x="571500" y="1428750"/>
            <a:ext cx="47625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4050" b="1">
                <a:solidFill>
                  <a:srgbClr val="122C42"/>
                </a:solidFill>
                <a:latin typeface="Helvetica Neue"/>
                <a:ea typeface="Helvetica Neue"/>
                <a:cs typeface="Helvetica Neue"/>
              </a:defRPr>
            </a:pPr>
            <a:r>
              <a:rPr sz="4050" b="1">
                <a:solidFill>
                  <a:srgbClr val="122C42"/>
                </a:solidFill>
                <a:latin typeface="Helvetica Neue"/>
                <a:ea typeface="Helvetica Neue"/>
                <a:cs typeface="Helvetica Neue"/>
              </a:rPr>
              <a:t>Bir program çalışınca</a:t>
            </a:r>
          </a:p>
          <a:p xmlns:a="http://schemas.openxmlformats.org/drawingml/2006/main">
            <a:pPr>
              <a:defRPr sz="4050" b="1">
                <a:solidFill>
                  <a:srgbClr val="122C42"/>
                </a:solidFill>
                <a:latin typeface="Helvetica Neue"/>
                <a:ea typeface="Helvetica Neue"/>
                <a:cs typeface="Helvetica Neue"/>
              </a:defRPr>
            </a:pPr>
            <a:r>
              <a:rPr sz="4050" b="1">
                <a:solidFill>
                  <a:srgbClr val="122C42"/>
                </a:solidFill>
                <a:latin typeface="Helvetica Neue"/>
                <a:ea typeface="Helvetica Neue"/>
                <a:cs typeface="Helvetica Neue"/>
              </a:rPr>
              <a:t>ne olur?</a:t>
            </a:r>
          </a:p>
        </p:txBody>
      </p:sp>
      <p:sp>
        <p:nvSpPr>
          <p:cNvPr id="4" name="">
            <a:extLst xmlns:a="http://schemas.openxmlformats.org/drawingml/2006/main">
              <a:ext uri="{FF2B5EF4-FFF2-40B4-BE49-F238E27FC236}">
                <a16:creationId xmlns:a16="http://schemas.microsoft.com/office/drawing/2014/main" id="{8A628A35-C86A-4E2A-9F5A-7261292B8EB6}"/>
              </a:ext>
            </a:extLst>
          </p:cNvPr>
          <p:cNvSpPr>
            <a:spLocks xmlns:a="http://schemas.openxmlformats.org/drawingml/2006/main" noGrp="1"/>
          </p:cNvSpPr>
          <p:nvPr/>
        </p:nvSpPr>
        <p:spPr>
          <a:xfrm xmlns:a="http://schemas.openxmlformats.org/drawingml/2006/main">
            <a:off x="571500" y="3286125"/>
            <a:ext cx="442912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325" b="0">
                <a:solidFill>
                  <a:srgbClr val="122C42"/>
                </a:solidFill>
                <a:latin typeface="Helvetica Neue"/>
                <a:ea typeface="Helvetica Neue"/>
                <a:cs typeface="Helvetica Neue"/>
              </a:defRPr>
            </a:pPr>
            <a:r>
              <a:rPr sz="2325" b="0">
                <a:solidFill>
                  <a:srgbClr val="122C42"/>
                </a:solidFill>
                <a:latin typeface="Helvetica Neue"/>
                <a:ea typeface="Helvetica Neue"/>
                <a:cs typeface="Helvetica Neue"/>
              </a:rPr>
              <a:t>Süreçler, thread’ler ve birlikte ilerleyen işler</a:t>
            </a:r>
          </a:p>
        </p:txBody>
      </p:sp>
      <p:sp>
        <p:nvSpPr>
          <p:cNvPr id="5" name="">
            <a:extLst xmlns:a="http://schemas.openxmlformats.org/drawingml/2006/main">
              <a:ext uri="{FF2B5EF4-FFF2-40B4-BE49-F238E27FC236}">
                <a16:creationId xmlns:a16="http://schemas.microsoft.com/office/drawing/2014/main" id="{6D4D8714-079B-4322-B043-3620FA1C9C43}"/>
              </a:ext>
            </a:extLst>
          </p:cNvPr>
          <p:cNvSpPr>
            <a:spLocks xmlns:a="http://schemas.openxmlformats.org/drawingml/2006/main" noGrp="1"/>
          </p:cNvSpPr>
          <p:nvPr/>
        </p:nvSpPr>
        <p:spPr>
          <a:xfrm xmlns:a="http://schemas.openxmlformats.org/drawingml/2006/main">
            <a:off x="571500" y="5381625"/>
            <a:ext cx="4667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1">
                <a:solidFill>
                  <a:srgbClr val="C46225"/>
                </a:solidFill>
                <a:latin typeface="Helvetica Neue"/>
                <a:ea typeface="Helvetica Neue"/>
                <a:cs typeface="Helvetica Neue"/>
              </a:defRPr>
            </a:pPr>
            <a:r>
              <a:rPr sz="1875" b="1">
                <a:solidFill>
                  <a:srgbClr val="C46225"/>
                </a:solidFill>
                <a:latin typeface="Helvetica Neue"/>
                <a:ea typeface="Helvetica Neue"/>
                <a:cs typeface="Helvetica Neue"/>
              </a:rPr>
              <a:t>Tahmin et → izle → açıkla</a:t>
            </a:r>
          </a:p>
        </p:txBody>
      </p:sp>
      <p:sp>
        <p:nvSpPr>
          <p:cNvPr id="6" name="">
            <a:extLst xmlns:a="http://schemas.openxmlformats.org/drawingml/2006/main">
              <a:ext uri="{FF2B5EF4-FFF2-40B4-BE49-F238E27FC236}">
                <a16:creationId xmlns:a16="http://schemas.microsoft.com/office/drawing/2014/main" id="{C52CF6E4-E086-44AF-9EB1-B18E896EEFFC}"/>
              </a:ext>
            </a:extLst>
          </p:cNvPr>
          <p:cNvSpPr>
            <a:spLocks xmlns:a="http://schemas.openxmlformats.org/drawingml/2006/main" noGrp="1"/>
          </p:cNvSpPr>
          <p:nvPr/>
        </p:nvSpPr>
        <p:spPr>
          <a:xfrm xmlns:a="http://schemas.openxmlformats.org/drawingml/2006/main">
            <a:off x="571500" y="6191250"/>
            <a:ext cx="4714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0">
                <a:solidFill>
                  <a:srgbClr val="4D606A"/>
                </a:solidFill>
                <a:latin typeface="Helvetica Neue"/>
                <a:ea typeface="Helvetica Neue"/>
                <a:cs typeface="Helvetica Neue"/>
              </a:defRPr>
            </a:pPr>
            <a:r>
              <a:rPr sz="1275" b="0">
                <a:solidFill>
                  <a:srgbClr val="4D606A"/>
                </a:solidFill>
                <a:latin typeface="Helvetica Neue"/>
                <a:ea typeface="Helvetica Neue"/>
                <a:cs typeface="Helvetica Neue"/>
              </a:rPr>
              <a:t>Birinci hafta pilotu · Türkçe + İngilizce terimler</a:t>
            </a:r>
          </a:p>
        </p:txBody>
      </p:sp>
    </p:spTree>
    <p:extLst>
      <p:ext uri="{BB962C8B-B14F-4D97-AF65-F5344CB8AC3E}">
        <p14:creationId xmlns:p14="http://schemas.microsoft.com/office/powerpoint/2010/main" val="1579612816"/>
      </p:ext>
    </p:extLst>
  </p:cSld>
</p:sld>
</file>

<file path=ppt/slides/slide2.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0065CB3F-70A8-451B-97C7-A5553BBE9AB2}"/>
              </a:ext>
            </a:extLst>
          </p:cNvPr>
          <p:cNvSpPr>
            <a:spLocks xmlns:a="http://schemas.openxmlformats.org/drawingml/2006/main" noGrp="1"/>
          </p:cNvSpPr>
          <p:nvPr/>
        </p:nvSpPr>
        <p:spPr>
          <a:xfrm xmlns:a="http://schemas.openxmlformats.org/drawingml/2006/main">
            <a:off x="609600" y="333375"/>
            <a:ext cx="10477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1">
                <a:solidFill>
                  <a:srgbClr val="087E83"/>
                </a:solidFill>
                <a:latin typeface="Helvetica Neue"/>
                <a:ea typeface="Helvetica Neue"/>
                <a:cs typeface="Helvetica Neue"/>
              </a:defRPr>
            </a:pPr>
            <a:r>
              <a:rPr sz="1275" b="1">
                <a:solidFill>
                  <a:srgbClr val="087E83"/>
                </a:solidFill>
                <a:latin typeface="Helvetica Neue"/>
                <a:ea typeface="Helvetica Neue"/>
                <a:cs typeface="Helvetica Neue"/>
              </a:rPr>
              <a:t>01 / YÜRÜTME VE BEKLEME</a:t>
            </a:r>
          </a:p>
        </p:txBody>
      </p:sp>
      <p:sp>
        <p:nvSpPr>
          <p:cNvPr id="2" name="">
            <a:extLst xmlns:a="http://schemas.openxmlformats.org/drawingml/2006/main">
              <a:ext uri="{FF2B5EF4-FFF2-40B4-BE49-F238E27FC236}">
                <a16:creationId xmlns:a16="http://schemas.microsoft.com/office/drawing/2014/main" id="{DE10C227-0314-4E5E-BEA6-87546D680CE2}"/>
              </a:ext>
            </a:extLst>
          </p:cNvPr>
          <p:cNvSpPr>
            <a:spLocks xmlns:a="http://schemas.openxmlformats.org/drawingml/2006/main" noGrp="1"/>
          </p:cNvSpPr>
          <p:nvPr/>
        </p:nvSpPr>
        <p:spPr>
          <a:xfrm xmlns:a="http://schemas.openxmlformats.org/drawingml/2006/main">
            <a:off x="609600" y="819150"/>
            <a:ext cx="109728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22C42"/>
                </a:solidFill>
                <a:latin typeface="Helvetica Neue"/>
                <a:ea typeface="Helvetica Neue"/>
                <a:cs typeface="Helvetica Neue"/>
              </a:defRPr>
            </a:pPr>
            <a:r>
              <a:rPr sz="3300" b="1">
                <a:solidFill>
                  <a:srgbClr val="122C42"/>
                </a:solidFill>
                <a:latin typeface="Helvetica Neue"/>
                <a:ea typeface="Helvetica Neue"/>
                <a:cs typeface="Helvetica Neue"/>
              </a:rPr>
              <a:t>Bu haftanın kazanımları</a:t>
            </a:r>
          </a:p>
        </p:txBody>
      </p:sp>
      <p:sp>
        <p:nvSpPr>
          <p:cNvPr id="3" name="">
            <a:extLst xmlns:a="http://schemas.openxmlformats.org/drawingml/2006/main">
              <a:ext uri="{FF2B5EF4-FFF2-40B4-BE49-F238E27FC236}">
                <a16:creationId xmlns:a16="http://schemas.microsoft.com/office/drawing/2014/main" id="{429E43F8-53EE-4E10-A438-344E299C39BA}"/>
              </a:ext>
            </a:extLst>
          </p:cNvPr>
          <p:cNvSpPr>
            <a:spLocks xmlns:a="http://schemas.openxmlformats.org/drawingml/2006/main" noGrp="1"/>
          </p:cNvSpPr>
          <p:nvPr/>
        </p:nvSpPr>
        <p:spPr>
          <a:xfrm xmlns:a="http://schemas.openxmlformats.org/drawingml/2006/main">
            <a:off x="609600" y="1905000"/>
            <a:ext cx="4762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01</a:t>
            </a:r>
          </a:p>
        </p:txBody>
      </p:sp>
      <p:sp>
        <p:nvSpPr>
          <p:cNvPr id="4" name="">
            <a:extLst xmlns:a="http://schemas.openxmlformats.org/drawingml/2006/main">
              <a:ext uri="{FF2B5EF4-FFF2-40B4-BE49-F238E27FC236}">
                <a16:creationId xmlns:a16="http://schemas.microsoft.com/office/drawing/2014/main" id="{74971914-A375-4617-9E88-F3AA543855E4}"/>
              </a:ext>
            </a:extLst>
          </p:cNvPr>
          <p:cNvSpPr>
            <a:spLocks xmlns:a="http://schemas.openxmlformats.org/drawingml/2006/main" noGrp="1"/>
          </p:cNvSpPr>
          <p:nvPr/>
        </p:nvSpPr>
        <p:spPr>
          <a:xfrm xmlns:a="http://schemas.openxmlformats.org/drawingml/2006/main">
            <a:off x="1190625" y="1905000"/>
            <a:ext cx="103917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22C42"/>
                </a:solidFill>
                <a:latin typeface="Helvetica Neue"/>
                <a:ea typeface="Helvetica Neue"/>
                <a:cs typeface="Helvetica Neue"/>
              </a:defRPr>
            </a:pPr>
            <a:r>
              <a:rPr sz="2100" b="0">
                <a:solidFill>
                  <a:srgbClr val="122C42"/>
                </a:solidFill>
                <a:latin typeface="Helvetica Neue"/>
                <a:ea typeface="Helvetica Neue"/>
                <a:cs typeface="Helvetica Neue"/>
              </a:rPr>
              <a:t>Program, process ve thread’i ayırmak</a:t>
            </a:r>
          </a:p>
        </p:txBody>
      </p:sp>
      <p:sp>
        <p:nvSpPr>
          <p:cNvPr id="5" name="">
            <a:extLst xmlns:a="http://schemas.openxmlformats.org/drawingml/2006/main">
              <a:ext uri="{FF2B5EF4-FFF2-40B4-BE49-F238E27FC236}">
                <a16:creationId xmlns:a16="http://schemas.microsoft.com/office/drawing/2014/main" id="{FC77A8D6-8F2E-498D-A389-F742BFC3908C}"/>
              </a:ext>
            </a:extLst>
          </p:cNvPr>
          <p:cNvSpPr>
            <a:spLocks xmlns:a="http://schemas.openxmlformats.org/drawingml/2006/main" noGrp="1"/>
          </p:cNvSpPr>
          <p:nvPr/>
        </p:nvSpPr>
        <p:spPr>
          <a:xfrm xmlns:a="http://schemas.openxmlformats.org/drawingml/2006/main">
            <a:off x="609600" y="2533650"/>
            <a:ext cx="4762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02</a:t>
            </a:r>
          </a:p>
        </p:txBody>
      </p:sp>
      <p:sp>
        <p:nvSpPr>
          <p:cNvPr id="6" name="">
            <a:extLst xmlns:a="http://schemas.openxmlformats.org/drawingml/2006/main">
              <a:ext uri="{FF2B5EF4-FFF2-40B4-BE49-F238E27FC236}">
                <a16:creationId xmlns:a16="http://schemas.microsoft.com/office/drawing/2014/main" id="{A7FB2074-44AE-4982-B723-1B1EB4DB990F}"/>
              </a:ext>
            </a:extLst>
          </p:cNvPr>
          <p:cNvSpPr>
            <a:spLocks xmlns:a="http://schemas.openxmlformats.org/drawingml/2006/main" noGrp="1"/>
          </p:cNvSpPr>
          <p:nvPr/>
        </p:nvSpPr>
        <p:spPr>
          <a:xfrm xmlns:a="http://schemas.openxmlformats.org/drawingml/2006/main">
            <a:off x="1190625" y="2533650"/>
            <a:ext cx="103917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22C42"/>
                </a:solidFill>
                <a:latin typeface="Helvetica Neue"/>
                <a:ea typeface="Helvetica Neue"/>
                <a:cs typeface="Helvetica Neue"/>
              </a:defRPr>
            </a:pPr>
            <a:r>
              <a:rPr sz="2100" b="0">
                <a:solidFill>
                  <a:srgbClr val="122C42"/>
                </a:solidFill>
                <a:latin typeface="Helvetica Neue"/>
                <a:ea typeface="Helvetica Neue"/>
                <a:cs typeface="Helvetica Neue"/>
              </a:rPr>
              <a:t>Ready, running ve waiting durumlarını izlemek</a:t>
            </a:r>
          </a:p>
        </p:txBody>
      </p:sp>
      <p:sp>
        <p:nvSpPr>
          <p:cNvPr id="7" name="">
            <a:extLst xmlns:a="http://schemas.openxmlformats.org/drawingml/2006/main">
              <a:ext uri="{FF2B5EF4-FFF2-40B4-BE49-F238E27FC236}">
                <a16:creationId xmlns:a16="http://schemas.microsoft.com/office/drawing/2014/main" id="{7416F7B4-21BA-47EC-BABA-32098115DD03}"/>
              </a:ext>
            </a:extLst>
          </p:cNvPr>
          <p:cNvSpPr>
            <a:spLocks xmlns:a="http://schemas.openxmlformats.org/drawingml/2006/main" noGrp="1"/>
          </p:cNvSpPr>
          <p:nvPr/>
        </p:nvSpPr>
        <p:spPr>
          <a:xfrm xmlns:a="http://schemas.openxmlformats.org/drawingml/2006/main">
            <a:off x="609600" y="3162300"/>
            <a:ext cx="4762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03</a:t>
            </a:r>
          </a:p>
        </p:txBody>
      </p:sp>
      <p:sp>
        <p:nvSpPr>
          <p:cNvPr id="8" name="">
            <a:extLst xmlns:a="http://schemas.openxmlformats.org/drawingml/2006/main">
              <a:ext uri="{FF2B5EF4-FFF2-40B4-BE49-F238E27FC236}">
                <a16:creationId xmlns:a16="http://schemas.microsoft.com/office/drawing/2014/main" id="{F1A9B7D8-0CFA-4801-84CB-81F4C58D1BCA}"/>
              </a:ext>
            </a:extLst>
          </p:cNvPr>
          <p:cNvSpPr>
            <a:spLocks xmlns:a="http://schemas.openxmlformats.org/drawingml/2006/main" noGrp="1"/>
          </p:cNvSpPr>
          <p:nvPr/>
        </p:nvSpPr>
        <p:spPr>
          <a:xfrm xmlns:a="http://schemas.openxmlformats.org/drawingml/2006/main">
            <a:off x="1190625" y="3162300"/>
            <a:ext cx="103917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22C42"/>
                </a:solidFill>
                <a:latin typeface="Helvetica Neue"/>
                <a:ea typeface="Helvetica Neue"/>
                <a:cs typeface="Helvetica Neue"/>
              </a:defRPr>
            </a:pPr>
            <a:r>
              <a:rPr sz="2100" b="0">
                <a:solidFill>
                  <a:srgbClr val="122C42"/>
                </a:solidFill>
                <a:latin typeface="Helvetica Neue"/>
                <a:ea typeface="Helvetica Neue"/>
                <a:cs typeface="Helvetica Neue"/>
              </a:rPr>
              <a:t>Kernel’a giriş ile görev değişimini ayırmak</a:t>
            </a:r>
          </a:p>
        </p:txBody>
      </p:sp>
      <p:sp>
        <p:nvSpPr>
          <p:cNvPr id="9" name="">
            <a:extLst xmlns:a="http://schemas.openxmlformats.org/drawingml/2006/main">
              <a:ext uri="{FF2B5EF4-FFF2-40B4-BE49-F238E27FC236}">
                <a16:creationId xmlns:a16="http://schemas.microsoft.com/office/drawing/2014/main" id="{44165454-6346-4991-AFBC-5E817798D764}"/>
              </a:ext>
            </a:extLst>
          </p:cNvPr>
          <p:cNvSpPr>
            <a:spLocks xmlns:a="http://schemas.openxmlformats.org/drawingml/2006/main" noGrp="1"/>
          </p:cNvSpPr>
          <p:nvPr/>
        </p:nvSpPr>
        <p:spPr>
          <a:xfrm xmlns:a="http://schemas.openxmlformats.org/drawingml/2006/main">
            <a:off x="609600" y="3790950"/>
            <a:ext cx="4762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04</a:t>
            </a:r>
          </a:p>
        </p:txBody>
      </p:sp>
      <p:sp>
        <p:nvSpPr>
          <p:cNvPr id="10" name="">
            <a:extLst xmlns:a="http://schemas.openxmlformats.org/drawingml/2006/main">
              <a:ext uri="{FF2B5EF4-FFF2-40B4-BE49-F238E27FC236}">
                <a16:creationId xmlns:a16="http://schemas.microsoft.com/office/drawing/2014/main" id="{75F2C894-951D-4469-8202-1EA214F87446}"/>
              </a:ext>
            </a:extLst>
          </p:cNvPr>
          <p:cNvSpPr>
            <a:spLocks xmlns:a="http://schemas.openxmlformats.org/drawingml/2006/main" noGrp="1"/>
          </p:cNvSpPr>
          <p:nvPr/>
        </p:nvSpPr>
        <p:spPr>
          <a:xfrm xmlns:a="http://schemas.openxmlformats.org/drawingml/2006/main">
            <a:off x="1190625" y="3790950"/>
            <a:ext cx="103917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22C42"/>
                </a:solidFill>
                <a:latin typeface="Helvetica Neue"/>
                <a:ea typeface="Helvetica Neue"/>
                <a:cs typeface="Helvetica Neue"/>
              </a:defRPr>
            </a:pPr>
            <a:r>
              <a:rPr sz="2100" b="0">
                <a:solidFill>
                  <a:srgbClr val="122C42"/>
                </a:solidFill>
                <a:latin typeface="Helvetica Neue"/>
                <a:ea typeface="Helvetica Neue"/>
                <a:cs typeface="Helvetica Neue"/>
              </a:rPr>
              <a:t>fork, exec ve wait’in farklı etkilerini açıklamak</a:t>
            </a:r>
          </a:p>
        </p:txBody>
      </p:sp>
      <p:sp>
        <p:nvSpPr>
          <p:cNvPr id="11" name="">
            <a:extLst xmlns:a="http://schemas.openxmlformats.org/drawingml/2006/main">
              <a:ext uri="{FF2B5EF4-FFF2-40B4-BE49-F238E27FC236}">
                <a16:creationId xmlns:a16="http://schemas.microsoft.com/office/drawing/2014/main" id="{DA5DABAD-48B5-4CD7-9F04-D45881AF880D}"/>
              </a:ext>
            </a:extLst>
          </p:cNvPr>
          <p:cNvSpPr>
            <a:spLocks xmlns:a="http://schemas.openxmlformats.org/drawingml/2006/main" noGrp="1"/>
          </p:cNvSpPr>
          <p:nvPr/>
        </p:nvSpPr>
        <p:spPr>
          <a:xfrm xmlns:a="http://schemas.openxmlformats.org/drawingml/2006/main">
            <a:off x="609600" y="4419600"/>
            <a:ext cx="4762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05</a:t>
            </a:r>
          </a:p>
        </p:txBody>
      </p:sp>
      <p:sp>
        <p:nvSpPr>
          <p:cNvPr id="12" name="">
            <a:extLst xmlns:a="http://schemas.openxmlformats.org/drawingml/2006/main">
              <a:ext uri="{FF2B5EF4-FFF2-40B4-BE49-F238E27FC236}">
                <a16:creationId xmlns:a16="http://schemas.microsoft.com/office/drawing/2014/main" id="{DF75C5A6-53F7-4D5F-B05E-E5494725CF1D}"/>
              </a:ext>
            </a:extLst>
          </p:cNvPr>
          <p:cNvSpPr>
            <a:spLocks xmlns:a="http://schemas.openxmlformats.org/drawingml/2006/main" noGrp="1"/>
          </p:cNvSpPr>
          <p:nvPr/>
        </p:nvSpPr>
        <p:spPr>
          <a:xfrm xmlns:a="http://schemas.openxmlformats.org/drawingml/2006/main">
            <a:off x="1190625" y="4419600"/>
            <a:ext cx="103917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22C42"/>
                </a:solidFill>
                <a:latin typeface="Helvetica Neue"/>
                <a:ea typeface="Helvetica Neue"/>
                <a:cs typeface="Helvetica Neue"/>
              </a:defRPr>
            </a:pPr>
            <a:r>
              <a:rPr sz="2100" b="0">
                <a:solidFill>
                  <a:srgbClr val="122C42"/>
                </a:solidFill>
                <a:latin typeface="Helvetica Neue"/>
                <a:ea typeface="Helvetica Neue"/>
                <a:cs typeface="Helvetica Neue"/>
              </a:rPr>
              <a:t>Concurrency ile parallelism’i ayırmak</a:t>
            </a:r>
          </a:p>
        </p:txBody>
      </p:sp>
      <p:sp>
        <p:nvSpPr>
          <p:cNvPr id="13" name="">
            <a:extLst xmlns:a="http://schemas.openxmlformats.org/drawingml/2006/main">
              <a:ext uri="{FF2B5EF4-FFF2-40B4-BE49-F238E27FC236}">
                <a16:creationId xmlns:a16="http://schemas.microsoft.com/office/drawing/2014/main" id="{346EB68B-9FD7-4AD2-9D24-51869FA71552}"/>
              </a:ext>
            </a:extLst>
          </p:cNvPr>
          <p:cNvSpPr>
            <a:spLocks xmlns:a="http://schemas.openxmlformats.org/drawingml/2006/main" noGrp="1"/>
          </p:cNvSpPr>
          <p:nvPr/>
        </p:nvSpPr>
        <p:spPr>
          <a:xfrm xmlns:a="http://schemas.openxmlformats.org/drawingml/2006/main">
            <a:off x="609600" y="5048250"/>
            <a:ext cx="4762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06</a:t>
            </a:r>
          </a:p>
        </p:txBody>
      </p:sp>
      <p:sp>
        <p:nvSpPr>
          <p:cNvPr id="14" name="">
            <a:extLst xmlns:a="http://schemas.openxmlformats.org/drawingml/2006/main">
              <a:ext uri="{FF2B5EF4-FFF2-40B4-BE49-F238E27FC236}">
                <a16:creationId xmlns:a16="http://schemas.microsoft.com/office/drawing/2014/main" id="{51EFCFDA-FFA9-42D2-BB59-8F0CE7DD233C}"/>
              </a:ext>
            </a:extLst>
          </p:cNvPr>
          <p:cNvSpPr>
            <a:spLocks xmlns:a="http://schemas.openxmlformats.org/drawingml/2006/main" noGrp="1"/>
          </p:cNvSpPr>
          <p:nvPr/>
        </p:nvSpPr>
        <p:spPr>
          <a:xfrm xmlns:a="http://schemas.openxmlformats.org/drawingml/2006/main">
            <a:off x="1190625" y="5048250"/>
            <a:ext cx="103917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22C42"/>
                </a:solidFill>
                <a:latin typeface="Helvetica Neue"/>
                <a:ea typeface="Helvetica Neue"/>
                <a:cs typeface="Helvetica Neue"/>
              </a:defRPr>
            </a:pPr>
            <a:r>
              <a:rPr sz="2100" b="0">
                <a:solidFill>
                  <a:srgbClr val="122C42"/>
                </a:solidFill>
                <a:latin typeface="Helvetica Neue"/>
                <a:ea typeface="Helvetica Neue"/>
                <a:cs typeface="Helvetica Neue"/>
              </a:rPr>
              <a:t>Paylaşılan veri ve pipe için doğru protokolü kurmak</a:t>
            </a:r>
          </a:p>
        </p:txBody>
      </p:sp>
      <p:sp>
        <p:nvSpPr>
          <p:cNvPr id="15" name="">
            <a:extLst xmlns:a="http://schemas.openxmlformats.org/drawingml/2006/main">
              <a:ext uri="{FF2B5EF4-FFF2-40B4-BE49-F238E27FC236}">
                <a16:creationId xmlns:a16="http://schemas.microsoft.com/office/drawing/2014/main" id="{FB57F8BF-EBF6-40A0-BF7B-3BE64F3F773E}"/>
              </a:ext>
            </a:extLst>
          </p:cNvPr>
          <p:cNvSpPr>
            <a:spLocks xmlns:a="http://schemas.openxmlformats.org/drawingml/2006/main" noGrp="1"/>
          </p:cNvSpPr>
          <p:nvPr/>
        </p:nvSpPr>
        <p:spPr>
          <a:xfrm xmlns:a="http://schemas.openxmlformats.org/drawingml/2006/main">
            <a:off x="609600" y="64960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4D606A"/>
                </a:solidFill>
                <a:latin typeface="Helvetica Neue"/>
                <a:ea typeface="Helvetica Neue"/>
                <a:cs typeface="Helvetica Neue"/>
              </a:defRPr>
            </a:pPr>
            <a:r>
              <a:rPr sz="1125" b="0">
                <a:solidFill>
                  <a:srgbClr val="4D606A"/>
                </a:solidFill>
                <a:latin typeface="Helvetica Neue"/>
                <a:ea typeface="Helvetica Neue"/>
                <a:cs typeface="Helvetica Neue"/>
              </a:rPr>
              <a:t>CSE513 · İlk hafta / öğrenme pilotu</a:t>
            </a:r>
          </a:p>
        </p:txBody>
      </p:sp>
      <p:sp>
        <p:nvSpPr>
          <p:cNvPr id="16" name="">
            <a:extLst xmlns:a="http://schemas.openxmlformats.org/drawingml/2006/main">
              <a:ext uri="{FF2B5EF4-FFF2-40B4-BE49-F238E27FC236}">
                <a16:creationId xmlns:a16="http://schemas.microsoft.com/office/drawing/2014/main" id="{844891AD-4984-420E-9B85-28E6725FF3F2}"/>
              </a:ext>
            </a:extLst>
          </p:cNvPr>
          <p:cNvSpPr>
            <a:spLocks xmlns:a="http://schemas.openxmlformats.org/drawingml/2006/main" noGrp="1"/>
          </p:cNvSpPr>
          <p:nvPr/>
        </p:nvSpPr>
        <p:spPr>
          <a:xfrm xmlns:a="http://schemas.openxmlformats.org/drawingml/2006/main">
            <a:off x="10572750" y="6457950"/>
            <a:ext cx="1000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087E83"/>
                </a:solidFill>
                <a:latin typeface="Helvetica Neue"/>
                <a:ea typeface="Helvetica Neue"/>
                <a:cs typeface="Helvetica Neue"/>
              </a:defRPr>
            </a:pPr>
            <a:r>
              <a:rPr sz="1350" b="1">
                <a:solidFill>
                  <a:srgbClr val="087E83"/>
                </a:solidFill>
                <a:latin typeface="Helvetica Neue"/>
                <a:ea typeface="Helvetica Neue"/>
                <a:cs typeface="Helvetica Neue"/>
              </a:rPr>
              <a:t>02 / 28</a:t>
            </a:r>
          </a:p>
        </p:txBody>
      </p:sp>
    </p:spTree>
    <p:extLst>
      <p:ext uri="{BB962C8B-B14F-4D97-AF65-F5344CB8AC3E}">
        <p14:creationId xmlns:p14="http://schemas.microsoft.com/office/powerpoint/2010/main" val="1393294788"/>
      </p:ext>
    </p:extLst>
  </p:cSld>
</p:sld>
</file>

<file path=ppt/slides/slide3.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2F71598-BA70-4761-BF89-2A131A7DE830}"/>
              </a:ext>
            </a:extLst>
          </p:cNvPr>
          <p:cNvSpPr>
            <a:spLocks xmlns:a="http://schemas.openxmlformats.org/drawingml/2006/main" noGrp="1"/>
          </p:cNvSpPr>
          <p:nvPr/>
        </p:nvSpPr>
        <p:spPr>
          <a:xfrm xmlns:a="http://schemas.openxmlformats.org/drawingml/2006/main">
            <a:off x="609600" y="333375"/>
            <a:ext cx="10477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1">
                <a:solidFill>
                  <a:srgbClr val="087E83"/>
                </a:solidFill>
                <a:latin typeface="Helvetica Neue"/>
                <a:ea typeface="Helvetica Neue"/>
                <a:cs typeface="Helvetica Neue"/>
              </a:defRPr>
            </a:pPr>
            <a:r>
              <a:rPr sz="1275" b="1">
                <a:solidFill>
                  <a:srgbClr val="087E83"/>
                </a:solidFill>
                <a:latin typeface="Helvetica Neue"/>
                <a:ea typeface="Helvetica Neue"/>
                <a:cs typeface="Helvetica Neue"/>
              </a:rPr>
              <a:t>01 / YÜRÜTME VE BEKLEME</a:t>
            </a:r>
          </a:p>
        </p:txBody>
      </p:sp>
      <p:sp>
        <p:nvSpPr>
          <p:cNvPr id="2" name="">
            <a:extLst xmlns:a="http://schemas.openxmlformats.org/drawingml/2006/main">
              <a:ext uri="{FF2B5EF4-FFF2-40B4-BE49-F238E27FC236}">
                <a16:creationId xmlns:a16="http://schemas.microsoft.com/office/drawing/2014/main" id="{CFDE0740-D821-4585-8CFF-4CF25CEB4DC0}"/>
              </a:ext>
            </a:extLst>
          </p:cNvPr>
          <p:cNvSpPr>
            <a:spLocks xmlns:a="http://schemas.openxmlformats.org/drawingml/2006/main" noGrp="1"/>
          </p:cNvSpPr>
          <p:nvPr/>
        </p:nvSpPr>
        <p:spPr>
          <a:xfrm xmlns:a="http://schemas.openxmlformats.org/drawingml/2006/main">
            <a:off x="609600" y="819150"/>
            <a:ext cx="109728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22C42"/>
                </a:solidFill>
                <a:latin typeface="Helvetica Neue"/>
                <a:ea typeface="Helvetica Neue"/>
                <a:cs typeface="Helvetica Neue"/>
              </a:defRPr>
            </a:pPr>
            <a:r>
              <a:rPr sz="3300" b="1">
                <a:solidFill>
                  <a:srgbClr val="122C42"/>
                </a:solidFill>
                <a:latin typeface="Helvetica Neue"/>
                <a:ea typeface="Helvetica Neue"/>
                <a:cs typeface="Helvetica Neue"/>
              </a:rPr>
              <a:t>Tarif, sipariş ve aşçı</a:t>
            </a:r>
          </a:p>
        </p:txBody>
      </p:sp>
      <p:sp>
        <p:nvSpPr>
          <p:cNvPr id="3" name="">
            <a:extLst xmlns:a="http://schemas.openxmlformats.org/drawingml/2006/main">
              <a:ext uri="{FF2B5EF4-FFF2-40B4-BE49-F238E27FC236}">
                <a16:creationId xmlns:a16="http://schemas.microsoft.com/office/drawing/2014/main" id="{14669CA0-86FC-4E06-A200-5CF57ECFB580}"/>
              </a:ext>
            </a:extLst>
          </p:cNvPr>
          <p:cNvSpPr>
            <a:spLocks xmlns:a="http://schemas.openxmlformats.org/drawingml/2006/main" noGrp="1"/>
          </p:cNvSpPr>
          <p:nvPr/>
        </p:nvSpPr>
        <p:spPr>
          <a:xfrm xmlns:a="http://schemas.openxmlformats.org/drawingml/2006/main">
            <a:off x="609600" y="1695450"/>
            <a:ext cx="10953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4D606A"/>
                </a:solidFill>
                <a:latin typeface="Helvetica Neue"/>
                <a:ea typeface="Helvetica Neue"/>
                <a:cs typeface="Helvetica Neue"/>
              </a:defRPr>
            </a:pPr>
            <a:r>
              <a:rPr sz="1875" b="0">
                <a:solidFill>
                  <a:srgbClr val="4D606A"/>
                </a:solidFill>
                <a:latin typeface="Helvetica Neue"/>
                <a:ea typeface="Helvetica Neue"/>
                <a:cs typeface="Helvetica Neue"/>
              </a:rPr>
              <a:t>Tek aşçı iki siparişi sırayla ilerletebilir.</a:t>
            </a:r>
          </a:p>
        </p:txBody>
      </p:sp>
      <p:graphicFrame>
        <p:nvGraphicFramePr>
          <p:cNvPr id="11" name=""/>
          <p:cNvGraphicFramePr/>
          <p:nvPr/>
        </p:nvGraphicFramePr>
        <p:xfrm>
          <a:off xmlns:a="http://schemas.openxmlformats.org/drawingml/2006/main" x="609600" y="2352675"/>
          <a:ext xmlns:a="http://schemas.openxmlformats.org/drawingml/2006/main" cx="10972800" cy="2981325"/>
        </p:xfrm>
        <a:graphic xmlns:a="http://schemas.openxmlformats.org/drawingml/2006/main">
          <a:graphicData uri="http://schemas.openxmlformats.org/drawingml/2006/table">
            <a:tbl>
              <a:tblPr/>
              <a:tblGrid>
                <a:gridCol w="4608576"/>
                <a:gridCol w="6364224"/>
              </a:tblGrid>
              <a:tr h="596265">
                <a:tc>
                  <a:txBody>
                    <a:bodyPr/>
                    <a:lstStyle/>
                    <a:p>
                      <a:r>
                        <a:rPr sz="1800" b="1">
                          <a:solidFill>
                            <a:srgbClr val="FFFFFF"/>
                          </a:solidFill>
                          <a:latin typeface="Helvetica Neue"/>
                          <a:ea typeface="Helvetica Neue"/>
                          <a:cs typeface="Helvetica Neue"/>
                        </a:rPr>
                        <a:t>Benzetme</a:t>
                      </a:r>
                    </a:p>
                  </a:txBody>
                  <a:tcPr marL="142875" marR="142875" marT="47625" marB="47625" anchor="ctr">
                    <a:solidFill>
                      <a:srgbClr val="122C42"/>
                    </a:solidFill>
                  </a:tcPr>
                </a:tc>
                <a:tc>
                  <a:txBody>
                    <a:bodyPr/>
                    <a:lstStyle/>
                    <a:p>
                      <a:r>
                        <a:rPr sz="1800" b="1">
                          <a:solidFill>
                            <a:srgbClr val="FFFFFF"/>
                          </a:solidFill>
                          <a:latin typeface="Helvetica Neue"/>
                          <a:ea typeface="Helvetica Neue"/>
                          <a:cs typeface="Helvetica Neue"/>
                        </a:rPr>
                        <a:t>Teknik karşılık</a:t>
                      </a:r>
                    </a:p>
                  </a:txBody>
                  <a:tcPr marL="142875" marR="142875" marT="47625" marB="47625" anchor="ctr">
                    <a:solidFill>
                      <a:srgbClr val="122C42"/>
                    </a:solidFill>
                  </a:tcPr>
                </a:tc>
              </a:tr>
              <a:tr h="596265">
                <a:tc>
                  <a:txBody>
                    <a:bodyPr/>
                    <a:lstStyle/>
                    <a:p>
                      <a:r>
                        <a:rPr sz="1875" b="0">
                          <a:solidFill>
                            <a:srgbClr val="122C42"/>
                          </a:solidFill>
                          <a:latin typeface="Helvetica Neue"/>
                          <a:ea typeface="Helvetica Neue"/>
                          <a:cs typeface="Helvetica Neue"/>
                        </a:rPr>
                        <a:t>Yazılı tarif</a:t>
                      </a:r>
                    </a:p>
                  </a:txBody>
                  <a:tcPr marL="142875" marR="142875" marT="47625" marB="47625" anchor="ctr">
                    <a:solidFill>
                      <a:srgbClr val="FFFFFF"/>
                    </a:solidFill>
                  </a:tcPr>
                </a:tc>
                <a:tc>
                  <a:txBody>
                    <a:bodyPr/>
                    <a:lstStyle/>
                    <a:p>
                      <a:r>
                        <a:rPr sz="1875" b="0">
                          <a:solidFill>
                            <a:srgbClr val="122C42"/>
                          </a:solidFill>
                          <a:latin typeface="Helvetica Neue"/>
                          <a:ea typeface="Helvetica Neue"/>
                          <a:cs typeface="Helvetica Neue"/>
                        </a:rPr>
                        <a:t>Program: kodun tanımı</a:t>
                      </a:r>
                    </a:p>
                  </a:txBody>
                  <a:tcPr marL="142875" marR="142875" marT="47625" marB="47625" anchor="ctr">
                    <a:solidFill>
                      <a:srgbClr val="FFFFFF"/>
                    </a:solidFill>
                  </a:tcPr>
                </a:tc>
              </a:tr>
              <a:tr h="596265">
                <a:tc>
                  <a:txBody>
                    <a:bodyPr/>
                    <a:lstStyle/>
                    <a:p>
                      <a:r>
                        <a:rPr sz="1875" b="0">
                          <a:solidFill>
                            <a:srgbClr val="122C42"/>
                          </a:solidFill>
                          <a:latin typeface="Helvetica Neue"/>
                          <a:ea typeface="Helvetica Neue"/>
                          <a:cs typeface="Helvetica Neue"/>
                        </a:rPr>
                        <a:t>Kimliği ve malzemeleri olan oturum</a:t>
                      </a:r>
                    </a:p>
                  </a:txBody>
                  <a:tcPr marL="142875" marR="142875" marT="47625" marB="47625" anchor="ctr">
                    <a:solidFill>
                      <a:srgbClr val="ECF0EC"/>
                    </a:solidFill>
                  </a:tcPr>
                </a:tc>
                <a:tc>
                  <a:txBody>
                    <a:bodyPr/>
                    <a:lstStyle/>
                    <a:p>
                      <a:r>
                        <a:rPr sz="1875" b="0">
                          <a:solidFill>
                            <a:srgbClr val="122C42"/>
                          </a:solidFill>
                          <a:latin typeface="Helvetica Neue"/>
                          <a:ea typeface="Helvetica Neue"/>
                          <a:cs typeface="Helvetica Neue"/>
                        </a:rPr>
                        <a:t>Process: kaynaklar ve adres alanı</a:t>
                      </a:r>
                    </a:p>
                  </a:txBody>
                  <a:tcPr marL="142875" marR="142875" marT="47625" marB="47625" anchor="ctr">
                    <a:solidFill>
                      <a:srgbClr val="ECF0EC"/>
                    </a:solidFill>
                  </a:tcPr>
                </a:tc>
              </a:tr>
              <a:tr h="596265">
                <a:tc>
                  <a:txBody>
                    <a:bodyPr/>
                    <a:lstStyle/>
                    <a:p>
                      <a:r>
                        <a:rPr sz="1875" b="0">
                          <a:solidFill>
                            <a:srgbClr val="122C42"/>
                          </a:solidFill>
                          <a:latin typeface="Helvetica Neue"/>
                          <a:ea typeface="Helvetica Neue"/>
                          <a:cs typeface="Helvetica Neue"/>
                        </a:rPr>
                        <a:t>Adım imi olan iş takip kartı</a:t>
                      </a:r>
                    </a:p>
                  </a:txBody>
                  <a:tcPr marL="142875" marR="142875" marT="47625" marB="47625" anchor="ctr">
                    <a:solidFill>
                      <a:srgbClr val="FFFFFF"/>
                    </a:solidFill>
                  </a:tcPr>
                </a:tc>
                <a:tc>
                  <a:txBody>
                    <a:bodyPr/>
                    <a:lstStyle/>
                    <a:p>
                      <a:r>
                        <a:rPr sz="1875" b="0">
                          <a:solidFill>
                            <a:srgbClr val="122C42"/>
                          </a:solidFill>
                          <a:latin typeface="Helvetica Neue"/>
                          <a:ea typeface="Helvetica Neue"/>
                          <a:cs typeface="Helvetica Neue"/>
                        </a:rPr>
                        <a:t>Thread: yürütme akışı</a:t>
                      </a:r>
                    </a:p>
                  </a:txBody>
                  <a:tcPr marL="142875" marR="142875" marT="47625" marB="47625" anchor="ctr">
                    <a:solidFill>
                      <a:srgbClr val="FFFFFF"/>
                    </a:solidFill>
                  </a:tcPr>
                </a:tc>
              </a:tr>
              <a:tr h="596265">
                <a:tc>
                  <a:txBody>
                    <a:bodyPr/>
                    <a:lstStyle/>
                    <a:p>
                      <a:r>
                        <a:rPr sz="1875" b="0">
                          <a:solidFill>
                            <a:srgbClr val="122C42"/>
                          </a:solidFill>
                          <a:latin typeface="Helvetica Neue"/>
                          <a:ea typeface="Helvetica Neue"/>
                          <a:cs typeface="Helvetica Neue"/>
                        </a:rPr>
                        <a:t>O anda adım uygulayan aşçı</a:t>
                      </a:r>
                    </a:p>
                  </a:txBody>
                  <a:tcPr marL="142875" marR="142875" marT="47625" marB="47625" anchor="ctr">
                    <a:solidFill>
                      <a:srgbClr val="ECF0EC"/>
                    </a:solidFill>
                  </a:tcPr>
                </a:tc>
                <a:tc>
                  <a:txBody>
                    <a:bodyPr/>
                    <a:lstStyle/>
                    <a:p>
                      <a:r>
                        <a:rPr sz="1875" b="0">
                          <a:solidFill>
                            <a:srgbClr val="122C42"/>
                          </a:solidFill>
                          <a:latin typeface="Helvetica Neue"/>
                          <a:ea typeface="Helvetica Neue"/>
                          <a:cs typeface="Helvetica Neue"/>
                        </a:rPr>
                        <a:t>Mantıksal CPU: yürütme kaynağı</a:t>
                      </a:r>
                    </a:p>
                  </a:txBody>
                  <a:tcPr marL="142875" marR="142875" marT="47625" marB="47625" anchor="ctr">
                    <a:solidFill>
                      <a:srgbClr val="ECF0EC"/>
                    </a:solidFill>
                  </a:tcPr>
                </a:tc>
              </a:tr>
            </a:tbl>
          </a:graphicData>
        </a:graphic>
      </p:graphicFrame>
      <p:sp>
        <p:nvSpPr>
          <p:cNvPr id="5" name="">
            <a:extLst xmlns:a="http://schemas.openxmlformats.org/drawingml/2006/main">
              <a:ext uri="{FF2B5EF4-FFF2-40B4-BE49-F238E27FC236}">
                <a16:creationId xmlns:a16="http://schemas.microsoft.com/office/drawing/2014/main" id="{D61CB7D4-5BD2-4173-B6D9-B43CF108F78C}"/>
              </a:ext>
            </a:extLst>
          </p:cNvPr>
          <p:cNvSpPr>
            <a:spLocks xmlns:a="http://schemas.openxmlformats.org/drawingml/2006/main" noGrp="1"/>
          </p:cNvSpPr>
          <p:nvPr/>
        </p:nvSpPr>
        <p:spPr>
          <a:xfrm xmlns:a="http://schemas.openxmlformats.org/drawingml/2006/main">
            <a:off x="609600" y="561975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0">
                <a:solidFill>
                  <a:srgbClr val="4D606A"/>
                </a:solidFill>
                <a:latin typeface="Helvetica Neue"/>
                <a:ea typeface="Helvetica Neue"/>
                <a:cs typeface="Helvetica Neue"/>
              </a:defRPr>
            </a:pPr>
            <a:r>
              <a:rPr sz="1650" b="0">
                <a:solidFill>
                  <a:srgbClr val="4D606A"/>
                </a:solidFill>
                <a:latin typeface="Helvetica Neue"/>
                <a:ea typeface="Helvetica Neue"/>
                <a:cs typeface="Helvetica Neue"/>
              </a:rPr>
              <a:t>Sınır: Mutfak fiziksel bellek korumasını veya fork’u açıklamaz.</a:t>
            </a:r>
          </a:p>
        </p:txBody>
      </p:sp>
      <p:sp>
        <p:nvSpPr>
          <p:cNvPr id="6" name="">
            <a:extLst xmlns:a="http://schemas.openxmlformats.org/drawingml/2006/main">
              <a:ext uri="{FF2B5EF4-FFF2-40B4-BE49-F238E27FC236}">
                <a16:creationId xmlns:a16="http://schemas.microsoft.com/office/drawing/2014/main" id="{E666D331-A8E8-4371-BB95-D3ED881AD0A5}"/>
              </a:ext>
            </a:extLst>
          </p:cNvPr>
          <p:cNvSpPr>
            <a:spLocks xmlns:a="http://schemas.openxmlformats.org/drawingml/2006/main" noGrp="1"/>
          </p:cNvSpPr>
          <p:nvPr/>
        </p:nvSpPr>
        <p:spPr>
          <a:xfrm xmlns:a="http://schemas.openxmlformats.org/drawingml/2006/main">
            <a:off x="609600" y="64960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4D606A"/>
                </a:solidFill>
                <a:latin typeface="Helvetica Neue"/>
                <a:ea typeface="Helvetica Neue"/>
                <a:cs typeface="Helvetica Neue"/>
              </a:defRPr>
            </a:pPr>
            <a:r>
              <a:rPr sz="1125" b="0">
                <a:solidFill>
                  <a:srgbClr val="4D606A"/>
                </a:solidFill>
                <a:latin typeface="Helvetica Neue"/>
                <a:ea typeface="Helvetica Neue"/>
                <a:cs typeface="Helvetica Neue"/>
              </a:rPr>
              <a:t>CSE513 · İlk hafta / öğrenme pilotu</a:t>
            </a:r>
          </a:p>
        </p:txBody>
      </p:sp>
      <p:sp>
        <p:nvSpPr>
          <p:cNvPr id="7" name="">
            <a:extLst xmlns:a="http://schemas.openxmlformats.org/drawingml/2006/main">
              <a:ext uri="{FF2B5EF4-FFF2-40B4-BE49-F238E27FC236}">
                <a16:creationId xmlns:a16="http://schemas.microsoft.com/office/drawing/2014/main" id="{FA8C69E3-6936-44BB-AD4E-B0FD76D21AF4}"/>
              </a:ext>
            </a:extLst>
          </p:cNvPr>
          <p:cNvSpPr>
            <a:spLocks xmlns:a="http://schemas.openxmlformats.org/drawingml/2006/main" noGrp="1"/>
          </p:cNvSpPr>
          <p:nvPr/>
        </p:nvSpPr>
        <p:spPr>
          <a:xfrm xmlns:a="http://schemas.openxmlformats.org/drawingml/2006/main">
            <a:off x="10572750" y="6457950"/>
            <a:ext cx="1000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087E83"/>
                </a:solidFill>
                <a:latin typeface="Helvetica Neue"/>
                <a:ea typeface="Helvetica Neue"/>
                <a:cs typeface="Helvetica Neue"/>
              </a:defRPr>
            </a:pPr>
            <a:r>
              <a:rPr sz="1350" b="1">
                <a:solidFill>
                  <a:srgbClr val="087E83"/>
                </a:solidFill>
                <a:latin typeface="Helvetica Neue"/>
                <a:ea typeface="Helvetica Neue"/>
                <a:cs typeface="Helvetica Neue"/>
              </a:rPr>
              <a:t>03 / 28</a:t>
            </a:r>
          </a:p>
        </p:txBody>
      </p:sp>
    </p:spTree>
    <p:extLst>
      <p:ext uri="{BB962C8B-B14F-4D97-AF65-F5344CB8AC3E}">
        <p14:creationId xmlns:p14="http://schemas.microsoft.com/office/powerpoint/2010/main" val="2072063980"/>
      </p:ext>
    </p:extLst>
  </p:cSld>
</p:sld>
</file>

<file path=ppt/slides/slide4.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E8D6D5D0-6823-4F4B-902D-F04E40F12418}"/>
              </a:ext>
            </a:extLst>
          </p:cNvPr>
          <p:cNvSpPr>
            <a:spLocks xmlns:a="http://schemas.openxmlformats.org/drawingml/2006/main" noGrp="1"/>
          </p:cNvSpPr>
          <p:nvPr/>
        </p:nvSpPr>
        <p:spPr>
          <a:xfrm xmlns:a="http://schemas.openxmlformats.org/drawingml/2006/main">
            <a:off x="609600" y="333375"/>
            <a:ext cx="10477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1">
                <a:solidFill>
                  <a:srgbClr val="087E83"/>
                </a:solidFill>
                <a:latin typeface="Helvetica Neue"/>
                <a:ea typeface="Helvetica Neue"/>
                <a:cs typeface="Helvetica Neue"/>
              </a:defRPr>
            </a:pPr>
            <a:r>
              <a:rPr sz="1275" b="1">
                <a:solidFill>
                  <a:srgbClr val="087E83"/>
                </a:solidFill>
                <a:latin typeface="Helvetica Neue"/>
                <a:ea typeface="Helvetica Neue"/>
                <a:cs typeface="Helvetica Neue"/>
              </a:rPr>
              <a:t>01 / YÜRÜTME VE BEKLEME</a:t>
            </a:r>
          </a:p>
        </p:txBody>
      </p:sp>
      <p:sp>
        <p:nvSpPr>
          <p:cNvPr id="2" name="">
            <a:extLst xmlns:a="http://schemas.openxmlformats.org/drawingml/2006/main">
              <a:ext uri="{FF2B5EF4-FFF2-40B4-BE49-F238E27FC236}">
                <a16:creationId xmlns:a16="http://schemas.microsoft.com/office/drawing/2014/main" id="{951D2030-E9E6-4F4C-8421-468335E050ED}"/>
              </a:ext>
            </a:extLst>
          </p:cNvPr>
          <p:cNvSpPr>
            <a:spLocks xmlns:a="http://schemas.openxmlformats.org/drawingml/2006/main" noGrp="1"/>
          </p:cNvSpPr>
          <p:nvPr/>
        </p:nvSpPr>
        <p:spPr>
          <a:xfrm xmlns:a="http://schemas.openxmlformats.org/drawingml/2006/main">
            <a:off x="609600" y="819150"/>
            <a:ext cx="109728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22C42"/>
                </a:solidFill>
                <a:latin typeface="Helvetica Neue"/>
                <a:ea typeface="Helvetica Neue"/>
                <a:cs typeface="Helvetica Neue"/>
              </a:defRPr>
            </a:pPr>
            <a:r>
              <a:rPr sz="3300" b="1">
                <a:solidFill>
                  <a:srgbClr val="122C42"/>
                </a:solidFill>
                <a:latin typeface="Helvetica Neue"/>
                <a:ea typeface="Helvetica Neue"/>
                <a:cs typeface="Helvetica Neue"/>
              </a:rPr>
              <a:t>İşletim sisteminin sunduğu soyutlamalar</a:t>
            </a:r>
          </a:p>
        </p:txBody>
      </p:sp>
      <p:sp>
        <p:nvSpPr>
          <p:cNvPr id="3" name="">
            <a:extLst xmlns:a="http://schemas.openxmlformats.org/drawingml/2006/main">
              <a:ext uri="{FF2B5EF4-FFF2-40B4-BE49-F238E27FC236}">
                <a16:creationId xmlns:a16="http://schemas.microsoft.com/office/drawing/2014/main" id="{E321842A-05A6-40B2-B841-9254D2E22D78}"/>
              </a:ext>
            </a:extLst>
          </p:cNvPr>
          <p:cNvSpPr>
            <a:spLocks xmlns:a="http://schemas.openxmlformats.org/drawingml/2006/main" noGrp="1"/>
          </p:cNvSpPr>
          <p:nvPr/>
        </p:nvSpPr>
        <p:spPr>
          <a:xfrm xmlns:a="http://schemas.openxmlformats.org/drawingml/2006/main">
            <a:off x="609600" y="2095500"/>
            <a:ext cx="500062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087E83"/>
                </a:solidFill>
                <a:latin typeface="Helvetica Neue"/>
                <a:ea typeface="Helvetica Neue"/>
                <a:cs typeface="Helvetica Neue"/>
              </a:defRPr>
            </a:pPr>
            <a:r>
              <a:rPr sz="2250" b="1">
                <a:solidFill>
                  <a:srgbClr val="087E83"/>
                </a:solidFill>
                <a:latin typeface="Helvetica Neue"/>
                <a:ea typeface="Helvetica Neue"/>
                <a:cs typeface="Helvetica Neue"/>
              </a:rPr>
              <a:t>Uygulamaya görünen</a:t>
            </a:r>
          </a:p>
        </p:txBody>
      </p:sp>
      <p:sp>
        <p:nvSpPr>
          <p:cNvPr id="4" name="">
            <a:extLst xmlns:a="http://schemas.openxmlformats.org/drawingml/2006/main">
              <a:ext uri="{FF2B5EF4-FFF2-40B4-BE49-F238E27FC236}">
                <a16:creationId xmlns:a16="http://schemas.microsoft.com/office/drawing/2014/main" id="{729AA1F7-7DB1-40DE-9196-3F453CA780F2}"/>
              </a:ext>
            </a:extLst>
          </p:cNvPr>
          <p:cNvSpPr>
            <a:spLocks xmlns:a="http://schemas.openxmlformats.org/drawingml/2006/main" noGrp="1"/>
          </p:cNvSpPr>
          <p:nvPr/>
        </p:nvSpPr>
        <p:spPr>
          <a:xfrm xmlns:a="http://schemas.openxmlformats.org/drawingml/2006/main">
            <a:off x="609600" y="2762250"/>
            <a:ext cx="5000625"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325" b="0">
                <a:solidFill>
                  <a:srgbClr val="122C42"/>
                </a:solidFill>
                <a:latin typeface="Helvetica Neue"/>
                <a:ea typeface="Helvetica Neue"/>
                <a:cs typeface="Helvetica Neue"/>
              </a:defRPr>
            </a:pPr>
            <a:r>
              <a:rPr sz="2325" b="0">
                <a:solidFill>
                  <a:srgbClr val="122C42"/>
                </a:solidFill>
                <a:latin typeface="Helvetica Neue"/>
                <a:ea typeface="Helvetica Neue"/>
                <a:cs typeface="Helvetica Neue"/>
              </a:rPr>
              <a:t>Process</a:t>
            </a:r>
          </a:p>
          <a:p xmlns:a="http://schemas.openxmlformats.org/drawingml/2006/main">
            <a:pPr>
              <a:defRPr sz="2325" b="0">
                <a:solidFill>
                  <a:srgbClr val="122C42"/>
                </a:solidFill>
                <a:latin typeface="Helvetica Neue"/>
                <a:ea typeface="Helvetica Neue"/>
                <a:cs typeface="Helvetica Neue"/>
              </a:defRPr>
            </a:pPr>
            <a:r>
              <a:rPr sz="2325" b="0">
                <a:solidFill>
                  <a:srgbClr val="122C42"/>
                </a:solidFill>
                <a:latin typeface="Helvetica Neue"/>
                <a:ea typeface="Helvetica Neue"/>
                <a:cs typeface="Helvetica Neue"/>
              </a:rPr>
              <a:t>Sanal adres alanı</a:t>
            </a:r>
          </a:p>
          <a:p xmlns:a="http://schemas.openxmlformats.org/drawingml/2006/main">
            <a:pPr>
              <a:defRPr sz="2325" b="0">
                <a:solidFill>
                  <a:srgbClr val="122C42"/>
                </a:solidFill>
                <a:latin typeface="Helvetica Neue"/>
                <a:ea typeface="Helvetica Neue"/>
                <a:cs typeface="Helvetica Neue"/>
              </a:defRPr>
            </a:pPr>
            <a:r>
              <a:rPr sz="2325" b="0">
                <a:solidFill>
                  <a:srgbClr val="122C42"/>
                </a:solidFill>
                <a:latin typeface="Helvetica Neue"/>
                <a:ea typeface="Helvetica Neue"/>
                <a:cs typeface="Helvetica Neue"/>
              </a:rPr>
              <a:t>Dosya ve socket</a:t>
            </a:r>
          </a:p>
        </p:txBody>
      </p:sp>
      <p:sp>
        <p:nvSpPr>
          <p:cNvPr id="5" name="">
            <a:extLst xmlns:a="http://schemas.openxmlformats.org/drawingml/2006/main">
              <a:ext uri="{FF2B5EF4-FFF2-40B4-BE49-F238E27FC236}">
                <a16:creationId xmlns:a16="http://schemas.microsoft.com/office/drawing/2014/main" id="{E0BDC482-8869-4AF6-A6E6-6624D572E190}"/>
              </a:ext>
            </a:extLst>
          </p:cNvPr>
          <p:cNvSpPr>
            <a:spLocks xmlns:a="http://schemas.openxmlformats.org/drawingml/2006/main" noGrp="1"/>
          </p:cNvSpPr>
          <p:nvPr/>
        </p:nvSpPr>
        <p:spPr>
          <a:xfrm xmlns:a="http://schemas.openxmlformats.org/drawingml/2006/main">
            <a:off x="6229350" y="2095500"/>
            <a:ext cx="500062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087E83"/>
                </a:solidFill>
                <a:latin typeface="Helvetica Neue"/>
                <a:ea typeface="Helvetica Neue"/>
                <a:cs typeface="Helvetica Neue"/>
              </a:defRPr>
            </a:pPr>
            <a:r>
              <a:rPr sz="2250" b="1">
                <a:solidFill>
                  <a:srgbClr val="087E83"/>
                </a:solidFill>
                <a:latin typeface="Helvetica Neue"/>
                <a:ea typeface="Helvetica Neue"/>
                <a:cs typeface="Helvetica Neue"/>
              </a:rPr>
              <a:t>Kernel’ın yönettiği</a:t>
            </a:r>
          </a:p>
        </p:txBody>
      </p:sp>
      <p:sp>
        <p:nvSpPr>
          <p:cNvPr id="6" name="">
            <a:extLst xmlns:a="http://schemas.openxmlformats.org/drawingml/2006/main">
              <a:ext uri="{FF2B5EF4-FFF2-40B4-BE49-F238E27FC236}">
                <a16:creationId xmlns:a16="http://schemas.microsoft.com/office/drawing/2014/main" id="{053F1BE9-2875-428F-933E-4FCC216D1776}"/>
              </a:ext>
            </a:extLst>
          </p:cNvPr>
          <p:cNvSpPr>
            <a:spLocks xmlns:a="http://schemas.openxmlformats.org/drawingml/2006/main" noGrp="1"/>
          </p:cNvSpPr>
          <p:nvPr/>
        </p:nvSpPr>
        <p:spPr>
          <a:xfrm xmlns:a="http://schemas.openxmlformats.org/drawingml/2006/main">
            <a:off x="6229350" y="2762250"/>
            <a:ext cx="5000625"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325" b="0">
                <a:solidFill>
                  <a:srgbClr val="122C42"/>
                </a:solidFill>
                <a:latin typeface="Helvetica Neue"/>
                <a:ea typeface="Helvetica Neue"/>
                <a:cs typeface="Helvetica Neue"/>
              </a:defRPr>
            </a:pPr>
            <a:r>
              <a:rPr sz="2325" b="0">
                <a:solidFill>
                  <a:srgbClr val="122C42"/>
                </a:solidFill>
                <a:latin typeface="Helvetica Neue"/>
                <a:ea typeface="Helvetica Neue"/>
                <a:cs typeface="Helvetica Neue"/>
              </a:rPr>
              <a:t>CPU zamanı ve bellek</a:t>
            </a:r>
          </a:p>
          <a:p xmlns:a="http://schemas.openxmlformats.org/drawingml/2006/main">
            <a:pPr>
              <a:defRPr sz="2325" b="0">
                <a:solidFill>
                  <a:srgbClr val="122C42"/>
                </a:solidFill>
                <a:latin typeface="Helvetica Neue"/>
                <a:ea typeface="Helvetica Neue"/>
                <a:cs typeface="Helvetica Neue"/>
              </a:defRPr>
            </a:pPr>
            <a:r>
              <a:rPr sz="2325" b="0">
                <a:solidFill>
                  <a:srgbClr val="122C42"/>
                </a:solidFill>
                <a:latin typeface="Helvetica Neue"/>
                <a:ea typeface="Helvetica Neue"/>
                <a:cs typeface="Helvetica Neue"/>
              </a:rPr>
              <a:t>I/O istekleri</a:t>
            </a:r>
          </a:p>
          <a:p xmlns:a="http://schemas.openxmlformats.org/drawingml/2006/main">
            <a:pPr>
              <a:defRPr sz="2325" b="0">
                <a:solidFill>
                  <a:srgbClr val="122C42"/>
                </a:solidFill>
                <a:latin typeface="Helvetica Neue"/>
                <a:ea typeface="Helvetica Neue"/>
                <a:cs typeface="Helvetica Neue"/>
              </a:defRPr>
            </a:pPr>
            <a:r>
              <a:rPr sz="2325" b="0">
                <a:solidFill>
                  <a:srgbClr val="122C42"/>
                </a:solidFill>
                <a:latin typeface="Helvetica Neue"/>
                <a:ea typeface="Helvetica Neue"/>
                <a:cs typeface="Helvetica Neue"/>
              </a:rPr>
              <a:t>Erişim ve koruma</a:t>
            </a:r>
          </a:p>
        </p:txBody>
      </p:sp>
      <p:sp>
        <p:nvSpPr>
          <p:cNvPr id="7" name="">
            <a:extLst xmlns:a="http://schemas.openxmlformats.org/drawingml/2006/main">
              <a:ext uri="{FF2B5EF4-FFF2-40B4-BE49-F238E27FC236}">
                <a16:creationId xmlns:a16="http://schemas.microsoft.com/office/drawing/2014/main" id="{C8F48B35-3169-4BA2-9672-4667FCAF83F5}"/>
              </a:ext>
            </a:extLst>
          </p:cNvPr>
          <p:cNvSpPr>
            <a:spLocks xmlns:a="http://schemas.openxmlformats.org/drawingml/2006/main" noGrp="1"/>
          </p:cNvSpPr>
          <p:nvPr/>
        </p:nvSpPr>
        <p:spPr>
          <a:xfrm xmlns:a="http://schemas.openxmlformats.org/drawingml/2006/main">
            <a:off x="609600" y="5391150"/>
            <a:ext cx="109728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1">
                <a:solidFill>
                  <a:srgbClr val="C46225"/>
                </a:solidFill>
                <a:latin typeface="Helvetica Neue"/>
                <a:ea typeface="Helvetica Neue"/>
                <a:cs typeface="Helvetica Neue"/>
              </a:defRPr>
            </a:pPr>
            <a:r>
              <a:rPr sz="2025" b="1">
                <a:solidFill>
                  <a:srgbClr val="C46225"/>
                </a:solidFill>
                <a:latin typeface="Helvetica Neue"/>
                <a:ea typeface="Helvetica Neue"/>
                <a:cs typeface="Helvetica Neue"/>
              </a:rPr>
              <a:t>Düşün: Shell’i kernel’ın içinde mi, user space’te mi konumlandırırsın?</a:t>
            </a:r>
          </a:p>
        </p:txBody>
      </p:sp>
      <p:sp>
        <p:nvSpPr>
          <p:cNvPr id="8" name="">
            <a:extLst xmlns:a="http://schemas.openxmlformats.org/drawingml/2006/main">
              <a:ext uri="{FF2B5EF4-FFF2-40B4-BE49-F238E27FC236}">
                <a16:creationId xmlns:a16="http://schemas.microsoft.com/office/drawing/2014/main" id="{03720A5A-96DE-406F-A49C-8DB26747B37A}"/>
              </a:ext>
            </a:extLst>
          </p:cNvPr>
          <p:cNvSpPr>
            <a:spLocks xmlns:a="http://schemas.openxmlformats.org/drawingml/2006/main" noGrp="1"/>
          </p:cNvSpPr>
          <p:nvPr/>
        </p:nvSpPr>
        <p:spPr>
          <a:xfrm xmlns:a="http://schemas.openxmlformats.org/drawingml/2006/main">
            <a:off x="609600" y="6105525"/>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0">
                <a:solidFill>
                  <a:srgbClr val="C46225"/>
                </a:solidFill>
                <a:latin typeface="Helvetica Neue"/>
                <a:ea typeface="Helvetica Neue"/>
                <a:cs typeface="Helvetica Neue"/>
              </a:defRPr>
            </a:pPr>
            <a:r>
              <a:rPr sz="1500" b="0">
                <a:solidFill>
                  <a:srgbClr val="C46225"/>
                </a:solidFill>
                <a:latin typeface="Helvetica Neue"/>
                <a:ea typeface="Helvetica Neue"/>
                <a:cs typeface="Helvetica Neue"/>
              </a:rPr>
              <a:t>Hayatta: Editörün Kaydet düğmesi, dosya ve I/O soyutlamalarını kullanır.</a:t>
            </a:r>
          </a:p>
        </p:txBody>
      </p:sp>
      <p:sp>
        <p:nvSpPr>
          <p:cNvPr id="9" name="">
            <a:extLst xmlns:a="http://schemas.openxmlformats.org/drawingml/2006/main">
              <a:ext uri="{FF2B5EF4-FFF2-40B4-BE49-F238E27FC236}">
                <a16:creationId xmlns:a16="http://schemas.microsoft.com/office/drawing/2014/main" id="{D8655FC5-C6BC-45A8-B3C8-E2A7A03FFCB7}"/>
              </a:ext>
            </a:extLst>
          </p:cNvPr>
          <p:cNvSpPr>
            <a:spLocks xmlns:a="http://schemas.openxmlformats.org/drawingml/2006/main" noGrp="1"/>
          </p:cNvSpPr>
          <p:nvPr/>
        </p:nvSpPr>
        <p:spPr>
          <a:xfrm xmlns:a="http://schemas.openxmlformats.org/drawingml/2006/main">
            <a:off x="609600" y="64960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4D606A"/>
                </a:solidFill>
                <a:latin typeface="Helvetica Neue"/>
                <a:ea typeface="Helvetica Neue"/>
                <a:cs typeface="Helvetica Neue"/>
              </a:defRPr>
            </a:pPr>
            <a:r>
              <a:rPr sz="1125" b="0">
                <a:solidFill>
                  <a:srgbClr val="4D606A"/>
                </a:solidFill>
                <a:latin typeface="Helvetica Neue"/>
                <a:ea typeface="Helvetica Neue"/>
                <a:cs typeface="Helvetica Neue"/>
              </a:rPr>
              <a:t>CSE513 · İlk hafta / öğrenme pilotu</a:t>
            </a:r>
          </a:p>
        </p:txBody>
      </p:sp>
      <p:sp>
        <p:nvSpPr>
          <p:cNvPr id="10" name="">
            <a:extLst xmlns:a="http://schemas.openxmlformats.org/drawingml/2006/main">
              <a:ext uri="{FF2B5EF4-FFF2-40B4-BE49-F238E27FC236}">
                <a16:creationId xmlns:a16="http://schemas.microsoft.com/office/drawing/2014/main" id="{88BF0457-0DBB-4EDA-8CF9-7456C8D1976D}"/>
              </a:ext>
            </a:extLst>
          </p:cNvPr>
          <p:cNvSpPr>
            <a:spLocks xmlns:a="http://schemas.openxmlformats.org/drawingml/2006/main" noGrp="1"/>
          </p:cNvSpPr>
          <p:nvPr/>
        </p:nvSpPr>
        <p:spPr>
          <a:xfrm xmlns:a="http://schemas.openxmlformats.org/drawingml/2006/main">
            <a:off x="10572750" y="6457950"/>
            <a:ext cx="1000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087E83"/>
                </a:solidFill>
                <a:latin typeface="Helvetica Neue"/>
                <a:ea typeface="Helvetica Neue"/>
                <a:cs typeface="Helvetica Neue"/>
              </a:defRPr>
            </a:pPr>
            <a:r>
              <a:rPr sz="1350" b="1">
                <a:solidFill>
                  <a:srgbClr val="087E83"/>
                </a:solidFill>
                <a:latin typeface="Helvetica Neue"/>
                <a:ea typeface="Helvetica Neue"/>
                <a:cs typeface="Helvetica Neue"/>
              </a:rPr>
              <a:t>04 / 28</a:t>
            </a:r>
          </a:p>
        </p:txBody>
      </p:sp>
    </p:spTree>
    <p:extLst>
      <p:ext uri="{BB962C8B-B14F-4D97-AF65-F5344CB8AC3E}">
        <p14:creationId xmlns:p14="http://schemas.microsoft.com/office/powerpoint/2010/main" val="1992819643"/>
      </p:ext>
    </p:extLst>
  </p:cSld>
</p:sld>
</file>

<file path=ppt/slides/slide5.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D0F274B-5C7F-4215-B721-EC905DCC3D2E}"/>
              </a:ext>
            </a:extLst>
          </p:cNvPr>
          <p:cNvSpPr>
            <a:spLocks xmlns:a="http://schemas.openxmlformats.org/drawingml/2006/main" noGrp="1"/>
          </p:cNvSpPr>
          <p:nvPr/>
        </p:nvSpPr>
        <p:spPr>
          <a:xfrm xmlns:a="http://schemas.openxmlformats.org/drawingml/2006/main">
            <a:off x="609600" y="333375"/>
            <a:ext cx="10477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1">
                <a:solidFill>
                  <a:srgbClr val="087E83"/>
                </a:solidFill>
                <a:latin typeface="Helvetica Neue"/>
                <a:ea typeface="Helvetica Neue"/>
                <a:cs typeface="Helvetica Neue"/>
              </a:defRPr>
            </a:pPr>
            <a:r>
              <a:rPr sz="1275" b="1">
                <a:solidFill>
                  <a:srgbClr val="087E83"/>
                </a:solidFill>
                <a:latin typeface="Helvetica Neue"/>
                <a:ea typeface="Helvetica Neue"/>
                <a:cs typeface="Helvetica Neue"/>
              </a:rPr>
              <a:t>01 / YÜRÜTME VE BEKLEME</a:t>
            </a:r>
          </a:p>
        </p:txBody>
      </p:sp>
      <p:sp>
        <p:nvSpPr>
          <p:cNvPr id="2" name="">
            <a:extLst xmlns:a="http://schemas.openxmlformats.org/drawingml/2006/main">
              <a:ext uri="{FF2B5EF4-FFF2-40B4-BE49-F238E27FC236}">
                <a16:creationId xmlns:a16="http://schemas.microsoft.com/office/drawing/2014/main" id="{EB41B3E4-5276-4BB1-AB56-58FF3C3D29FB}"/>
              </a:ext>
            </a:extLst>
          </p:cNvPr>
          <p:cNvSpPr>
            <a:spLocks xmlns:a="http://schemas.openxmlformats.org/drawingml/2006/main" noGrp="1"/>
          </p:cNvSpPr>
          <p:nvPr/>
        </p:nvSpPr>
        <p:spPr>
          <a:xfrm xmlns:a="http://schemas.openxmlformats.org/drawingml/2006/main">
            <a:off x="609600" y="819150"/>
            <a:ext cx="109728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22C42"/>
                </a:solidFill>
                <a:latin typeface="Helvetica Neue"/>
                <a:ea typeface="Helvetica Neue"/>
                <a:cs typeface="Helvetica Neue"/>
              </a:defRPr>
            </a:pPr>
            <a:r>
              <a:rPr sz="3300" b="1">
                <a:solidFill>
                  <a:srgbClr val="122C42"/>
                </a:solidFill>
                <a:latin typeface="Helvetica Neue"/>
                <a:ea typeface="Helvetica Neue"/>
                <a:cs typeface="Helvetica Neue"/>
              </a:rPr>
              <a:t>Kernel’a giriş ve görev seçimi</a:t>
            </a:r>
          </a:p>
        </p:txBody>
      </p:sp>
      <p:sp>
        <p:nvSpPr>
          <p:cNvPr id="3" name="">
            <a:extLst xmlns:a="http://schemas.openxmlformats.org/drawingml/2006/main">
              <a:ext uri="{FF2B5EF4-FFF2-40B4-BE49-F238E27FC236}">
                <a16:creationId xmlns:a16="http://schemas.microsoft.com/office/drawing/2014/main" id="{4B5C6DD4-75C9-43CA-97A0-FE4D21CF411A}"/>
              </a:ext>
            </a:extLst>
          </p:cNvPr>
          <p:cNvSpPr>
            <a:spLocks xmlns:a="http://schemas.openxmlformats.org/drawingml/2006/main" noGrp="1"/>
          </p:cNvSpPr>
          <p:nvPr/>
        </p:nvSpPr>
        <p:spPr>
          <a:xfrm xmlns:a="http://schemas.openxmlformats.org/drawingml/2006/main">
            <a:off x="609600" y="1695450"/>
            <a:ext cx="10953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4D606A"/>
                </a:solidFill>
                <a:latin typeface="Helvetica Neue"/>
                <a:ea typeface="Helvetica Neue"/>
                <a:cs typeface="Helvetica Neue"/>
              </a:defRPr>
            </a:pPr>
            <a:r>
              <a:rPr sz="1875" b="0">
                <a:solidFill>
                  <a:srgbClr val="4D606A"/>
                </a:solidFill>
                <a:latin typeface="Helvetica Neue"/>
                <a:ea typeface="Helvetica Neue"/>
                <a:cs typeface="Helvetica Neue"/>
              </a:rPr>
              <a:t>Yetki modu ile çalışan görev iki ayrı bilgidir.</a:t>
            </a:r>
          </a:p>
        </p:txBody>
      </p:sp>
      <p:graphicFrame>
        <p:nvGraphicFramePr>
          <p:cNvPr id="11" name=""/>
          <p:cNvGraphicFramePr/>
          <p:nvPr/>
        </p:nvGraphicFramePr>
        <p:xfrm>
          <a:off xmlns:a="http://schemas.openxmlformats.org/drawingml/2006/main" x="609600" y="2352675"/>
          <a:ext xmlns:a="http://schemas.openxmlformats.org/drawingml/2006/main" cx="10972800" cy="2981325"/>
        </p:xfrm>
        <a:graphic xmlns:a="http://schemas.openxmlformats.org/drawingml/2006/main">
          <a:graphicData uri="http://schemas.openxmlformats.org/drawingml/2006/table">
            <a:tbl>
              <a:tblPr/>
              <a:tblGrid>
                <a:gridCol w="4608576"/>
                <a:gridCol w="6364224"/>
              </a:tblGrid>
              <a:tr h="745331">
                <a:tc>
                  <a:txBody>
                    <a:bodyPr/>
                    <a:lstStyle/>
                    <a:p>
                      <a:r>
                        <a:rPr sz="1800" b="1">
                          <a:solidFill>
                            <a:srgbClr val="FFFFFF"/>
                          </a:solidFill>
                          <a:latin typeface="Helvetica Neue"/>
                          <a:ea typeface="Helvetica Neue"/>
                          <a:cs typeface="Helvetica Neue"/>
                        </a:rPr>
                        <a:t>Olay</a:t>
                      </a:r>
                    </a:p>
                  </a:txBody>
                  <a:tcPr marL="142875" marR="142875" marT="47625" marB="47625" anchor="ctr">
                    <a:solidFill>
                      <a:srgbClr val="122C42"/>
                    </a:solidFill>
                  </a:tcPr>
                </a:tc>
                <a:tc>
                  <a:txBody>
                    <a:bodyPr/>
                    <a:lstStyle/>
                    <a:p>
                      <a:r>
                        <a:rPr sz="1800" b="1">
                          <a:solidFill>
                            <a:srgbClr val="FFFFFF"/>
                          </a:solidFill>
                          <a:latin typeface="Helvetica Neue"/>
                          <a:ea typeface="Helvetica Neue"/>
                          <a:cs typeface="Helvetica Neue"/>
                        </a:rPr>
                        <a:t>Neden kernel’a girilir?</a:t>
                      </a:r>
                    </a:p>
                  </a:txBody>
                  <a:tcPr marL="142875" marR="142875" marT="47625" marB="47625" anchor="ctr">
                    <a:solidFill>
                      <a:srgbClr val="122C42"/>
                    </a:solidFill>
                  </a:tcPr>
                </a:tc>
              </a:tr>
              <a:tr h="745331">
                <a:tc>
                  <a:txBody>
                    <a:bodyPr/>
                    <a:lstStyle/>
                    <a:p>
                      <a:r>
                        <a:rPr sz="1875" b="0">
                          <a:solidFill>
                            <a:srgbClr val="122C42"/>
                          </a:solidFill>
                          <a:latin typeface="Helvetica Neue"/>
                          <a:ea typeface="Helvetica Neue"/>
                          <a:cs typeface="Helvetica Neue"/>
                        </a:rPr>
                        <a:t>System call</a:t>
                      </a:r>
                    </a:p>
                  </a:txBody>
                  <a:tcPr marL="142875" marR="142875" marT="47625" marB="47625" anchor="ctr">
                    <a:solidFill>
                      <a:srgbClr val="FFFFFF"/>
                    </a:solidFill>
                  </a:tcPr>
                </a:tc>
                <a:tc>
                  <a:txBody>
                    <a:bodyPr/>
                    <a:lstStyle/>
                    <a:p>
                      <a:r>
                        <a:rPr sz="1875" b="0">
                          <a:solidFill>
                            <a:srgbClr val="122C42"/>
                          </a:solidFill>
                          <a:latin typeface="Helvetica Neue"/>
                          <a:ea typeface="Helvetica Neue"/>
                          <a:cs typeface="Helvetica Neue"/>
                        </a:rPr>
                        <a:t>Program bir OS hizmeti ister</a:t>
                      </a:r>
                    </a:p>
                  </a:txBody>
                  <a:tcPr marL="142875" marR="142875" marT="47625" marB="47625" anchor="ctr">
                    <a:solidFill>
                      <a:srgbClr val="FFFFFF"/>
                    </a:solidFill>
                  </a:tcPr>
                </a:tc>
              </a:tr>
              <a:tr h="745331">
                <a:tc>
                  <a:txBody>
                    <a:bodyPr/>
                    <a:lstStyle/>
                    <a:p>
                      <a:r>
                        <a:rPr sz="1875" b="0">
                          <a:solidFill>
                            <a:srgbClr val="122C42"/>
                          </a:solidFill>
                          <a:latin typeface="Helvetica Neue"/>
                          <a:ea typeface="Helvetica Neue"/>
                          <a:cs typeface="Helvetica Neue"/>
                        </a:rPr>
                        <a:t>Exception</a:t>
                      </a:r>
                    </a:p>
                  </a:txBody>
                  <a:tcPr marL="142875" marR="142875" marT="47625" marB="47625" anchor="ctr">
                    <a:solidFill>
                      <a:srgbClr val="ECF0EC"/>
                    </a:solidFill>
                  </a:tcPr>
                </a:tc>
                <a:tc>
                  <a:txBody>
                    <a:bodyPr/>
                    <a:lstStyle/>
                    <a:p>
                      <a:r>
                        <a:rPr sz="1875" b="0">
                          <a:solidFill>
                            <a:srgbClr val="122C42"/>
                          </a:solidFill>
                          <a:latin typeface="Helvetica Neue"/>
                          <a:ea typeface="Helvetica Neue"/>
                          <a:cs typeface="Helvetica Neue"/>
                        </a:rPr>
                        <a:t>Mevcut komut bir olay üretir, ör. page fault</a:t>
                      </a:r>
                    </a:p>
                  </a:txBody>
                  <a:tcPr marL="142875" marR="142875" marT="47625" marB="47625" anchor="ctr">
                    <a:solidFill>
                      <a:srgbClr val="ECF0EC"/>
                    </a:solidFill>
                  </a:tcPr>
                </a:tc>
              </a:tr>
              <a:tr h="745331">
                <a:tc>
                  <a:txBody>
                    <a:bodyPr/>
                    <a:lstStyle/>
                    <a:p>
                      <a:r>
                        <a:rPr sz="1875" b="0">
                          <a:solidFill>
                            <a:srgbClr val="122C42"/>
                          </a:solidFill>
                          <a:latin typeface="Helvetica Neue"/>
                          <a:ea typeface="Helvetica Neue"/>
                          <a:cs typeface="Helvetica Neue"/>
                        </a:rPr>
                        <a:t>Device interrupt</a:t>
                      </a:r>
                    </a:p>
                  </a:txBody>
                  <a:tcPr marL="142875" marR="142875" marT="47625" marB="47625" anchor="ctr">
                    <a:solidFill>
                      <a:srgbClr val="FFFFFF"/>
                    </a:solidFill>
                  </a:tcPr>
                </a:tc>
                <a:tc>
                  <a:txBody>
                    <a:bodyPr/>
                    <a:lstStyle/>
                    <a:p>
                      <a:r>
                        <a:rPr sz="1875" b="0">
                          <a:solidFill>
                            <a:srgbClr val="122C42"/>
                          </a:solidFill>
                          <a:latin typeface="Helvetica Neue"/>
                          <a:ea typeface="Helvetica Neue"/>
                          <a:cs typeface="Helvetica Neue"/>
                        </a:rPr>
                        <a:t>Aygıt bir olayı bildirir, ör. I/O bitişi</a:t>
                      </a:r>
                    </a:p>
                  </a:txBody>
                  <a:tcPr marL="142875" marR="142875" marT="47625" marB="47625"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E7BA1042-74A3-4250-AA5C-0A2CEBA14275}"/>
              </a:ext>
            </a:extLst>
          </p:cNvPr>
          <p:cNvSpPr>
            <a:spLocks xmlns:a="http://schemas.openxmlformats.org/drawingml/2006/main" noGrp="1"/>
          </p:cNvSpPr>
          <p:nvPr/>
        </p:nvSpPr>
        <p:spPr>
          <a:xfrm xmlns:a="http://schemas.openxmlformats.org/drawingml/2006/main">
            <a:off x="609600" y="561975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0">
                <a:solidFill>
                  <a:srgbClr val="4D606A"/>
                </a:solidFill>
                <a:latin typeface="Helvetica Neue"/>
                <a:ea typeface="Helvetica Neue"/>
                <a:cs typeface="Helvetica Neue"/>
              </a:defRPr>
            </a:pPr>
            <a:r>
              <a:rPr sz="1650" b="0">
                <a:solidFill>
                  <a:srgbClr val="4D606A"/>
                </a:solidFill>
                <a:latin typeface="Helvetica Neue"/>
                <a:ea typeface="Helvetica Neue"/>
                <a:cs typeface="Helvetica Neue"/>
              </a:rPr>
              <a:t>root: kullanıcı kimliği. Kernel mode: CPU’nun yetki modu.</a:t>
            </a:r>
          </a:p>
        </p:txBody>
      </p:sp>
      <p:sp>
        <p:nvSpPr>
          <p:cNvPr id="6" name="">
            <a:extLst xmlns:a="http://schemas.openxmlformats.org/drawingml/2006/main">
              <a:ext uri="{FF2B5EF4-FFF2-40B4-BE49-F238E27FC236}">
                <a16:creationId xmlns:a16="http://schemas.microsoft.com/office/drawing/2014/main" id="{0F117636-53EE-4B68-85E9-7237E58615BF}"/>
              </a:ext>
            </a:extLst>
          </p:cNvPr>
          <p:cNvSpPr>
            <a:spLocks xmlns:a="http://schemas.openxmlformats.org/drawingml/2006/main" noGrp="1"/>
          </p:cNvSpPr>
          <p:nvPr/>
        </p:nvSpPr>
        <p:spPr>
          <a:xfrm xmlns:a="http://schemas.openxmlformats.org/drawingml/2006/main">
            <a:off x="609600" y="64960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4D606A"/>
                </a:solidFill>
                <a:latin typeface="Helvetica Neue"/>
                <a:ea typeface="Helvetica Neue"/>
                <a:cs typeface="Helvetica Neue"/>
              </a:defRPr>
            </a:pPr>
            <a:r>
              <a:rPr sz="1125" b="0">
                <a:solidFill>
                  <a:srgbClr val="4D606A"/>
                </a:solidFill>
                <a:latin typeface="Helvetica Neue"/>
                <a:ea typeface="Helvetica Neue"/>
                <a:cs typeface="Helvetica Neue"/>
              </a:rPr>
              <a:t>CSE513 · İlk hafta / öğrenme pilotu</a:t>
            </a:r>
          </a:p>
        </p:txBody>
      </p:sp>
      <p:sp>
        <p:nvSpPr>
          <p:cNvPr id="7" name="">
            <a:extLst xmlns:a="http://schemas.openxmlformats.org/drawingml/2006/main">
              <a:ext uri="{FF2B5EF4-FFF2-40B4-BE49-F238E27FC236}">
                <a16:creationId xmlns:a16="http://schemas.microsoft.com/office/drawing/2014/main" id="{27F32ED3-4328-4CB5-B02F-7FFB9C368034}"/>
              </a:ext>
            </a:extLst>
          </p:cNvPr>
          <p:cNvSpPr>
            <a:spLocks xmlns:a="http://schemas.openxmlformats.org/drawingml/2006/main" noGrp="1"/>
          </p:cNvSpPr>
          <p:nvPr/>
        </p:nvSpPr>
        <p:spPr>
          <a:xfrm xmlns:a="http://schemas.openxmlformats.org/drawingml/2006/main">
            <a:off x="10572750" y="6457950"/>
            <a:ext cx="1000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087E83"/>
                </a:solidFill>
                <a:latin typeface="Helvetica Neue"/>
                <a:ea typeface="Helvetica Neue"/>
                <a:cs typeface="Helvetica Neue"/>
              </a:defRPr>
            </a:pPr>
            <a:r>
              <a:rPr sz="1350" b="1">
                <a:solidFill>
                  <a:srgbClr val="087E83"/>
                </a:solidFill>
                <a:latin typeface="Helvetica Neue"/>
                <a:ea typeface="Helvetica Neue"/>
                <a:cs typeface="Helvetica Neue"/>
              </a:rPr>
              <a:t>05 / 28</a:t>
            </a:r>
          </a:p>
        </p:txBody>
      </p:sp>
    </p:spTree>
    <p:extLst>
      <p:ext uri="{BB962C8B-B14F-4D97-AF65-F5344CB8AC3E}">
        <p14:creationId xmlns:p14="http://schemas.microsoft.com/office/powerpoint/2010/main" val="666000213"/>
      </p:ext>
    </p:extLst>
  </p:cSld>
</p:sld>
</file>

<file path=ppt/slides/slide6.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9F6B00FF-E178-4BF6-B225-F3CAD9273700}"/>
              </a:ext>
            </a:extLst>
          </p:cNvPr>
          <p:cNvSpPr>
            <a:spLocks xmlns:a="http://schemas.openxmlformats.org/drawingml/2006/main" noGrp="1"/>
          </p:cNvSpPr>
          <p:nvPr/>
        </p:nvSpPr>
        <p:spPr>
          <a:xfrm xmlns:a="http://schemas.openxmlformats.org/drawingml/2006/main">
            <a:off x="609600" y="333375"/>
            <a:ext cx="10477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1">
                <a:solidFill>
                  <a:srgbClr val="087E83"/>
                </a:solidFill>
                <a:latin typeface="Helvetica Neue"/>
                <a:ea typeface="Helvetica Neue"/>
                <a:cs typeface="Helvetica Neue"/>
              </a:defRPr>
            </a:pPr>
            <a:r>
              <a:rPr sz="1275" b="1">
                <a:solidFill>
                  <a:srgbClr val="087E83"/>
                </a:solidFill>
                <a:latin typeface="Helvetica Neue"/>
                <a:ea typeface="Helvetica Neue"/>
                <a:cs typeface="Helvetica Neue"/>
              </a:rPr>
              <a:t>01 / YÜRÜTME VE BEKLEME</a:t>
            </a:r>
          </a:p>
        </p:txBody>
      </p:sp>
      <p:sp>
        <p:nvSpPr>
          <p:cNvPr id="2" name="">
            <a:extLst xmlns:a="http://schemas.openxmlformats.org/drawingml/2006/main">
              <a:ext uri="{FF2B5EF4-FFF2-40B4-BE49-F238E27FC236}">
                <a16:creationId xmlns:a16="http://schemas.microsoft.com/office/drawing/2014/main" id="{42C8EA03-8413-4B2C-8313-D564F7533607}"/>
              </a:ext>
            </a:extLst>
          </p:cNvPr>
          <p:cNvSpPr>
            <a:spLocks xmlns:a="http://schemas.openxmlformats.org/drawingml/2006/main" noGrp="1"/>
          </p:cNvSpPr>
          <p:nvPr/>
        </p:nvSpPr>
        <p:spPr>
          <a:xfrm xmlns:a="http://schemas.openxmlformats.org/drawingml/2006/main">
            <a:off x="609600" y="819150"/>
            <a:ext cx="109728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22C42"/>
                </a:solidFill>
                <a:latin typeface="Helvetica Neue"/>
                <a:ea typeface="Helvetica Neue"/>
                <a:cs typeface="Helvetica Neue"/>
              </a:defRPr>
            </a:pPr>
            <a:r>
              <a:rPr sz="3300" b="1">
                <a:solidFill>
                  <a:srgbClr val="122C42"/>
                </a:solidFill>
                <a:latin typeface="Helvetica Neue"/>
                <a:ea typeface="Helvetica Neue"/>
                <a:cs typeface="Helvetica Neue"/>
              </a:rPr>
              <a:t>Aynı program, iki process</a:t>
            </a:r>
          </a:p>
        </p:txBody>
      </p:sp>
      <p:sp>
        <p:nvSpPr>
          <p:cNvPr id="3" name="">
            <a:extLst xmlns:a="http://schemas.openxmlformats.org/drawingml/2006/main">
              <a:ext uri="{FF2B5EF4-FFF2-40B4-BE49-F238E27FC236}">
                <a16:creationId xmlns:a16="http://schemas.microsoft.com/office/drawing/2014/main" id="{9738BC22-85D7-456E-B440-3820B2BD9959}"/>
              </a:ext>
            </a:extLst>
          </p:cNvPr>
          <p:cNvSpPr>
            <a:spLocks xmlns:a="http://schemas.openxmlformats.org/drawingml/2006/main" noGrp="1"/>
          </p:cNvSpPr>
          <p:nvPr/>
        </p:nvSpPr>
        <p:spPr>
          <a:xfrm xmlns:a="http://schemas.openxmlformats.org/drawingml/2006/main">
            <a:off x="609600" y="2095500"/>
            <a:ext cx="500062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087E83"/>
                </a:solidFill>
                <a:latin typeface="Helvetica Neue"/>
                <a:ea typeface="Helvetica Neue"/>
                <a:cs typeface="Helvetica Neue"/>
              </a:defRPr>
            </a:pPr>
            <a:r>
              <a:rPr sz="2250" b="1">
                <a:solidFill>
                  <a:srgbClr val="087E83"/>
                </a:solidFill>
                <a:latin typeface="Helvetica Neue"/>
                <a:ea typeface="Helvetica Neue"/>
                <a:cs typeface="Helvetica Neue"/>
              </a:rPr>
              <a:t>Process P</a:t>
            </a:r>
          </a:p>
        </p:txBody>
      </p:sp>
      <p:sp>
        <p:nvSpPr>
          <p:cNvPr id="4" name="">
            <a:extLst xmlns:a="http://schemas.openxmlformats.org/drawingml/2006/main">
              <a:ext uri="{FF2B5EF4-FFF2-40B4-BE49-F238E27FC236}">
                <a16:creationId xmlns:a16="http://schemas.microsoft.com/office/drawing/2014/main" id="{5D5D5393-D4B8-4415-BA4F-272A1037CEDD}"/>
              </a:ext>
            </a:extLst>
          </p:cNvPr>
          <p:cNvSpPr>
            <a:spLocks xmlns:a="http://schemas.openxmlformats.org/drawingml/2006/main" noGrp="1"/>
          </p:cNvSpPr>
          <p:nvPr/>
        </p:nvSpPr>
        <p:spPr>
          <a:xfrm xmlns:a="http://schemas.openxmlformats.org/drawingml/2006/main">
            <a:off x="609600" y="2762250"/>
            <a:ext cx="5000625"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325" b="0">
                <a:solidFill>
                  <a:srgbClr val="122C42"/>
                </a:solidFill>
                <a:latin typeface="Helvetica Neue"/>
                <a:ea typeface="Helvetica Neue"/>
                <a:cs typeface="Helvetica Neue"/>
              </a:defRPr>
            </a:pPr>
            <a:r>
              <a:rPr sz="2325" b="0">
                <a:solidFill>
                  <a:srgbClr val="122C42"/>
                </a:solidFill>
                <a:latin typeface="Helvetica Neue"/>
                <a:ea typeface="Helvetica Neue"/>
                <a:cs typeface="Helvetica Neue"/>
              </a:rPr>
              <a:t>PID: örnek 410</a:t>
            </a:r>
          </a:p>
          <a:p xmlns:a="http://schemas.openxmlformats.org/drawingml/2006/main">
            <a:pPr>
              <a:defRPr sz="2325" b="0">
                <a:solidFill>
                  <a:srgbClr val="122C42"/>
                </a:solidFill>
                <a:latin typeface="Helvetica Neue"/>
                <a:ea typeface="Helvetica Neue"/>
                <a:cs typeface="Helvetica Neue"/>
              </a:defRPr>
            </a:pPr>
            <a:r>
              <a:rPr sz="2325" b="0">
                <a:solidFill>
                  <a:srgbClr val="122C42"/>
                </a:solidFill>
                <a:latin typeface="Helvetica Neue"/>
                <a:ea typeface="Helvetica Neue"/>
                <a:cs typeface="Helvetica Neue"/>
              </a:rPr>
              <a:t>Kendi yürütme konumu</a:t>
            </a:r>
          </a:p>
          <a:p xmlns:a="http://schemas.openxmlformats.org/drawingml/2006/main">
            <a:pPr>
              <a:defRPr sz="2325" b="0">
                <a:solidFill>
                  <a:srgbClr val="122C42"/>
                </a:solidFill>
                <a:latin typeface="Helvetica Neue"/>
                <a:ea typeface="Helvetica Neue"/>
                <a:cs typeface="Helvetica Neue"/>
              </a:defRPr>
            </a:pPr>
            <a:r>
              <a:rPr sz="2325" b="0">
                <a:solidFill>
                  <a:srgbClr val="122C42"/>
                </a:solidFill>
                <a:latin typeface="Helvetica Neue"/>
                <a:ea typeface="Helvetica Neue"/>
                <a:cs typeface="Helvetica Neue"/>
              </a:rPr>
              <a:t>Kendi sıradan değişkenleri</a:t>
            </a:r>
          </a:p>
        </p:txBody>
      </p:sp>
      <p:sp>
        <p:nvSpPr>
          <p:cNvPr id="5" name="">
            <a:extLst xmlns:a="http://schemas.openxmlformats.org/drawingml/2006/main">
              <a:ext uri="{FF2B5EF4-FFF2-40B4-BE49-F238E27FC236}">
                <a16:creationId xmlns:a16="http://schemas.microsoft.com/office/drawing/2014/main" id="{4CECB555-6DF8-4246-8AC6-3D8550338DAC}"/>
              </a:ext>
            </a:extLst>
          </p:cNvPr>
          <p:cNvSpPr>
            <a:spLocks xmlns:a="http://schemas.openxmlformats.org/drawingml/2006/main" noGrp="1"/>
          </p:cNvSpPr>
          <p:nvPr/>
        </p:nvSpPr>
        <p:spPr>
          <a:xfrm xmlns:a="http://schemas.openxmlformats.org/drawingml/2006/main">
            <a:off x="6229350" y="2095500"/>
            <a:ext cx="500062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087E83"/>
                </a:solidFill>
                <a:latin typeface="Helvetica Neue"/>
                <a:ea typeface="Helvetica Neue"/>
                <a:cs typeface="Helvetica Neue"/>
              </a:defRPr>
            </a:pPr>
            <a:r>
              <a:rPr sz="2250" b="1">
                <a:solidFill>
                  <a:srgbClr val="087E83"/>
                </a:solidFill>
                <a:latin typeface="Helvetica Neue"/>
                <a:ea typeface="Helvetica Neue"/>
                <a:cs typeface="Helvetica Neue"/>
              </a:rPr>
              <a:t>Process Q</a:t>
            </a:r>
          </a:p>
        </p:txBody>
      </p:sp>
      <p:sp>
        <p:nvSpPr>
          <p:cNvPr id="6" name="">
            <a:extLst xmlns:a="http://schemas.openxmlformats.org/drawingml/2006/main">
              <a:ext uri="{FF2B5EF4-FFF2-40B4-BE49-F238E27FC236}">
                <a16:creationId xmlns:a16="http://schemas.microsoft.com/office/drawing/2014/main" id="{8693F238-F509-4981-BFF6-1564EF7ADB9F}"/>
              </a:ext>
            </a:extLst>
          </p:cNvPr>
          <p:cNvSpPr>
            <a:spLocks xmlns:a="http://schemas.openxmlformats.org/drawingml/2006/main" noGrp="1"/>
          </p:cNvSpPr>
          <p:nvPr/>
        </p:nvSpPr>
        <p:spPr>
          <a:xfrm xmlns:a="http://schemas.openxmlformats.org/drawingml/2006/main">
            <a:off x="6229350" y="2762250"/>
            <a:ext cx="5000625"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325" b="0">
                <a:solidFill>
                  <a:srgbClr val="122C42"/>
                </a:solidFill>
                <a:latin typeface="Helvetica Neue"/>
                <a:ea typeface="Helvetica Neue"/>
                <a:cs typeface="Helvetica Neue"/>
              </a:defRPr>
            </a:pPr>
            <a:r>
              <a:rPr sz="2325" b="0">
                <a:solidFill>
                  <a:srgbClr val="122C42"/>
                </a:solidFill>
                <a:latin typeface="Helvetica Neue"/>
                <a:ea typeface="Helvetica Neue"/>
                <a:cs typeface="Helvetica Neue"/>
              </a:rPr>
              <a:t>PID: örnek 420</a:t>
            </a:r>
          </a:p>
          <a:p xmlns:a="http://schemas.openxmlformats.org/drawingml/2006/main">
            <a:pPr>
              <a:defRPr sz="2325" b="0">
                <a:solidFill>
                  <a:srgbClr val="122C42"/>
                </a:solidFill>
                <a:latin typeface="Helvetica Neue"/>
                <a:ea typeface="Helvetica Neue"/>
                <a:cs typeface="Helvetica Neue"/>
              </a:defRPr>
            </a:pPr>
            <a:r>
              <a:rPr sz="2325" b="0">
                <a:solidFill>
                  <a:srgbClr val="122C42"/>
                </a:solidFill>
                <a:latin typeface="Helvetica Neue"/>
                <a:ea typeface="Helvetica Neue"/>
                <a:cs typeface="Helvetica Neue"/>
              </a:rPr>
              <a:t>Farklı yürütme konumu</a:t>
            </a:r>
          </a:p>
          <a:p xmlns:a="http://schemas.openxmlformats.org/drawingml/2006/main">
            <a:pPr>
              <a:defRPr sz="2325" b="0">
                <a:solidFill>
                  <a:srgbClr val="122C42"/>
                </a:solidFill>
                <a:latin typeface="Helvetica Neue"/>
                <a:ea typeface="Helvetica Neue"/>
                <a:cs typeface="Helvetica Neue"/>
              </a:defRPr>
            </a:pPr>
            <a:r>
              <a:rPr sz="2325" b="0">
                <a:solidFill>
                  <a:srgbClr val="122C42"/>
                </a:solidFill>
                <a:latin typeface="Helvetica Neue"/>
                <a:ea typeface="Helvetica Neue"/>
                <a:cs typeface="Helvetica Neue"/>
              </a:rPr>
              <a:t>Kendi sıradan değişkenleri</a:t>
            </a:r>
          </a:p>
        </p:txBody>
      </p:sp>
      <p:sp>
        <p:nvSpPr>
          <p:cNvPr id="7" name="">
            <a:extLst xmlns:a="http://schemas.openxmlformats.org/drawingml/2006/main">
              <a:ext uri="{FF2B5EF4-FFF2-40B4-BE49-F238E27FC236}">
                <a16:creationId xmlns:a16="http://schemas.microsoft.com/office/drawing/2014/main" id="{62D5F857-BC91-4909-B58F-EB5367E9E4EA}"/>
              </a:ext>
            </a:extLst>
          </p:cNvPr>
          <p:cNvSpPr>
            <a:spLocks xmlns:a="http://schemas.openxmlformats.org/drawingml/2006/main" noGrp="1"/>
          </p:cNvSpPr>
          <p:nvPr/>
        </p:nvSpPr>
        <p:spPr>
          <a:xfrm xmlns:a="http://schemas.openxmlformats.org/drawingml/2006/main">
            <a:off x="609600" y="5391150"/>
            <a:ext cx="109728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1">
                <a:solidFill>
                  <a:srgbClr val="C46225"/>
                </a:solidFill>
                <a:latin typeface="Helvetica Neue"/>
                <a:ea typeface="Helvetica Neue"/>
                <a:cs typeface="Helvetica Neue"/>
              </a:defRPr>
            </a:pPr>
            <a:r>
              <a:rPr sz="2025" b="1">
                <a:solidFill>
                  <a:srgbClr val="C46225"/>
                </a:solidFill>
                <a:latin typeface="Helvetica Neue"/>
                <a:ea typeface="Helvetica Neue"/>
                <a:cs typeface="Helvetica Neue"/>
              </a:rPr>
              <a:t>Düşün: P’nin x değişkenini değiştirmesi Q’nun x’ini değiştirir mi?</a:t>
            </a:r>
          </a:p>
        </p:txBody>
      </p:sp>
      <p:sp>
        <p:nvSpPr>
          <p:cNvPr id="8" name="">
            <a:extLst xmlns:a="http://schemas.openxmlformats.org/drawingml/2006/main">
              <a:ext uri="{FF2B5EF4-FFF2-40B4-BE49-F238E27FC236}">
                <a16:creationId xmlns:a16="http://schemas.microsoft.com/office/drawing/2014/main" id="{0CB776AE-32CA-4FBB-9D44-6CABF362CAB7}"/>
              </a:ext>
            </a:extLst>
          </p:cNvPr>
          <p:cNvSpPr>
            <a:spLocks xmlns:a="http://schemas.openxmlformats.org/drawingml/2006/main" noGrp="1"/>
          </p:cNvSpPr>
          <p:nvPr/>
        </p:nvSpPr>
        <p:spPr>
          <a:xfrm xmlns:a="http://schemas.openxmlformats.org/drawingml/2006/main">
            <a:off x="609600" y="6105525"/>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0">
                <a:solidFill>
                  <a:srgbClr val="C46225"/>
                </a:solidFill>
                <a:latin typeface="Helvetica Neue"/>
                <a:ea typeface="Helvetica Neue"/>
                <a:cs typeface="Helvetica Neue"/>
              </a:defRPr>
            </a:pPr>
            <a:r>
              <a:rPr sz="1500" b="0">
                <a:solidFill>
                  <a:srgbClr val="C46225"/>
                </a:solidFill>
                <a:latin typeface="Helvetica Neue"/>
                <a:ea typeface="Helvetica Neue"/>
                <a:cs typeface="Helvetica Neue"/>
              </a:rPr>
              <a:t>Hayatta: Tarayıcı process’leri, bir renderer hatasının etkisini sınırlayabilir.</a:t>
            </a:r>
          </a:p>
        </p:txBody>
      </p:sp>
      <p:sp>
        <p:nvSpPr>
          <p:cNvPr id="9" name="">
            <a:extLst xmlns:a="http://schemas.openxmlformats.org/drawingml/2006/main">
              <a:ext uri="{FF2B5EF4-FFF2-40B4-BE49-F238E27FC236}">
                <a16:creationId xmlns:a16="http://schemas.microsoft.com/office/drawing/2014/main" id="{FAC889DD-214D-4EED-9F44-58ED52EEC119}"/>
              </a:ext>
            </a:extLst>
          </p:cNvPr>
          <p:cNvSpPr>
            <a:spLocks xmlns:a="http://schemas.openxmlformats.org/drawingml/2006/main" noGrp="1"/>
          </p:cNvSpPr>
          <p:nvPr/>
        </p:nvSpPr>
        <p:spPr>
          <a:xfrm xmlns:a="http://schemas.openxmlformats.org/drawingml/2006/main">
            <a:off x="609600" y="64960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4D606A"/>
                </a:solidFill>
                <a:latin typeface="Helvetica Neue"/>
                <a:ea typeface="Helvetica Neue"/>
                <a:cs typeface="Helvetica Neue"/>
              </a:defRPr>
            </a:pPr>
            <a:r>
              <a:rPr sz="1125" b="0">
                <a:solidFill>
                  <a:srgbClr val="4D606A"/>
                </a:solidFill>
                <a:latin typeface="Helvetica Neue"/>
                <a:ea typeface="Helvetica Neue"/>
                <a:cs typeface="Helvetica Neue"/>
              </a:rPr>
              <a:t>CSE513 · İlk hafta / öğrenme pilotu</a:t>
            </a:r>
          </a:p>
        </p:txBody>
      </p:sp>
      <p:sp>
        <p:nvSpPr>
          <p:cNvPr id="10" name="">
            <a:extLst xmlns:a="http://schemas.openxmlformats.org/drawingml/2006/main">
              <a:ext uri="{FF2B5EF4-FFF2-40B4-BE49-F238E27FC236}">
                <a16:creationId xmlns:a16="http://schemas.microsoft.com/office/drawing/2014/main" id="{10BF58DD-3128-49B0-B529-EF7B4353EEF2}"/>
              </a:ext>
            </a:extLst>
          </p:cNvPr>
          <p:cNvSpPr>
            <a:spLocks xmlns:a="http://schemas.openxmlformats.org/drawingml/2006/main" noGrp="1"/>
          </p:cNvSpPr>
          <p:nvPr/>
        </p:nvSpPr>
        <p:spPr>
          <a:xfrm xmlns:a="http://schemas.openxmlformats.org/drawingml/2006/main">
            <a:off x="10572750" y="6457950"/>
            <a:ext cx="1000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087E83"/>
                </a:solidFill>
                <a:latin typeface="Helvetica Neue"/>
                <a:ea typeface="Helvetica Neue"/>
                <a:cs typeface="Helvetica Neue"/>
              </a:defRPr>
            </a:pPr>
            <a:r>
              <a:rPr sz="1350" b="1">
                <a:solidFill>
                  <a:srgbClr val="087E83"/>
                </a:solidFill>
                <a:latin typeface="Helvetica Neue"/>
                <a:ea typeface="Helvetica Neue"/>
                <a:cs typeface="Helvetica Neue"/>
              </a:rPr>
              <a:t>06 / 28</a:t>
            </a:r>
          </a:p>
        </p:txBody>
      </p:sp>
    </p:spTree>
    <p:extLst>
      <p:ext uri="{BB962C8B-B14F-4D97-AF65-F5344CB8AC3E}">
        <p14:creationId xmlns:p14="http://schemas.microsoft.com/office/powerpoint/2010/main" val="1194334252"/>
      </p:ext>
    </p:extLst>
  </p:cSld>
</p:sld>
</file>

<file path=ppt/slides/slide7.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2C2092B5-7234-46FC-B809-570378F7433E}"/>
              </a:ext>
            </a:extLst>
          </p:cNvPr>
          <p:cNvSpPr>
            <a:spLocks xmlns:a="http://schemas.openxmlformats.org/drawingml/2006/main" noGrp="1"/>
          </p:cNvSpPr>
          <p:nvPr/>
        </p:nvSpPr>
        <p:spPr>
          <a:xfrm xmlns:a="http://schemas.openxmlformats.org/drawingml/2006/main">
            <a:off x="609600" y="333375"/>
            <a:ext cx="10477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1">
                <a:solidFill>
                  <a:srgbClr val="087E83"/>
                </a:solidFill>
                <a:latin typeface="Helvetica Neue"/>
                <a:ea typeface="Helvetica Neue"/>
                <a:cs typeface="Helvetica Neue"/>
              </a:defRPr>
            </a:pPr>
            <a:r>
              <a:rPr sz="1275" b="1">
                <a:solidFill>
                  <a:srgbClr val="087E83"/>
                </a:solidFill>
                <a:latin typeface="Helvetica Neue"/>
                <a:ea typeface="Helvetica Neue"/>
                <a:cs typeface="Helvetica Neue"/>
              </a:rPr>
              <a:t>01 / YÜRÜTME VE BEKLEME</a:t>
            </a:r>
          </a:p>
        </p:txBody>
      </p:sp>
      <p:sp>
        <p:nvSpPr>
          <p:cNvPr id="2" name="">
            <a:extLst xmlns:a="http://schemas.openxmlformats.org/drawingml/2006/main">
              <a:ext uri="{FF2B5EF4-FFF2-40B4-BE49-F238E27FC236}">
                <a16:creationId xmlns:a16="http://schemas.microsoft.com/office/drawing/2014/main" id="{0E0FCFE7-8F6C-46F4-899D-D0D118B80D61}"/>
              </a:ext>
            </a:extLst>
          </p:cNvPr>
          <p:cNvSpPr>
            <a:spLocks xmlns:a="http://schemas.openxmlformats.org/drawingml/2006/main" noGrp="1"/>
          </p:cNvSpPr>
          <p:nvPr/>
        </p:nvSpPr>
        <p:spPr>
          <a:xfrm xmlns:a="http://schemas.openxmlformats.org/drawingml/2006/main">
            <a:off x="609600" y="819150"/>
            <a:ext cx="109728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22C42"/>
                </a:solidFill>
                <a:latin typeface="Helvetica Neue"/>
                <a:ea typeface="Helvetica Neue"/>
                <a:cs typeface="Helvetica Neue"/>
              </a:defRPr>
            </a:pPr>
            <a:r>
              <a:rPr sz="3300" b="1">
                <a:solidFill>
                  <a:srgbClr val="122C42"/>
                </a:solidFill>
                <a:latin typeface="Helvetica Neue"/>
                <a:ea typeface="Helvetica Neue"/>
                <a:cs typeface="Helvetica Neue"/>
              </a:rPr>
              <a:t>Bellek ve yürütme durumu</a:t>
            </a:r>
          </a:p>
        </p:txBody>
      </p:sp>
      <p:sp>
        <p:nvSpPr>
          <p:cNvPr id="3" name="">
            <a:extLst xmlns:a="http://schemas.openxmlformats.org/drawingml/2006/main">
              <a:ext uri="{FF2B5EF4-FFF2-40B4-BE49-F238E27FC236}">
                <a16:creationId xmlns:a16="http://schemas.microsoft.com/office/drawing/2014/main" id="{BE2F6E9A-7A01-458E-B6E5-8A7FD9FCE80F}"/>
              </a:ext>
            </a:extLst>
          </p:cNvPr>
          <p:cNvSpPr>
            <a:spLocks xmlns:a="http://schemas.openxmlformats.org/drawingml/2006/main" noGrp="1"/>
          </p:cNvSpPr>
          <p:nvPr/>
        </p:nvSpPr>
        <p:spPr>
          <a:xfrm xmlns:a="http://schemas.openxmlformats.org/drawingml/2006/main">
            <a:off x="609600" y="2095500"/>
            <a:ext cx="500062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087E83"/>
                </a:solidFill>
                <a:latin typeface="Helvetica Neue"/>
                <a:ea typeface="Helvetica Neue"/>
                <a:cs typeface="Helvetica Neue"/>
              </a:defRPr>
            </a:pPr>
            <a:r>
              <a:rPr sz="2250" b="1">
                <a:solidFill>
                  <a:srgbClr val="087E83"/>
                </a:solidFill>
                <a:latin typeface="Helvetica Neue"/>
                <a:ea typeface="Helvetica Neue"/>
                <a:cs typeface="Helvetica Neue"/>
              </a:rPr>
              <a:t>Adres alanındaki nesneler</a:t>
            </a:r>
          </a:p>
        </p:txBody>
      </p:sp>
      <p:sp>
        <p:nvSpPr>
          <p:cNvPr id="4" name="">
            <a:extLst xmlns:a="http://schemas.openxmlformats.org/drawingml/2006/main">
              <a:ext uri="{FF2B5EF4-FFF2-40B4-BE49-F238E27FC236}">
                <a16:creationId xmlns:a16="http://schemas.microsoft.com/office/drawing/2014/main" id="{7EF33818-CC50-4882-8EC7-C01C341265FF}"/>
              </a:ext>
            </a:extLst>
          </p:cNvPr>
          <p:cNvSpPr>
            <a:spLocks xmlns:a="http://schemas.openxmlformats.org/drawingml/2006/main" noGrp="1"/>
          </p:cNvSpPr>
          <p:nvPr/>
        </p:nvSpPr>
        <p:spPr>
          <a:xfrm xmlns:a="http://schemas.openxmlformats.org/drawingml/2006/main">
            <a:off x="609600" y="2762250"/>
            <a:ext cx="5000625"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325" b="0">
                <a:solidFill>
                  <a:srgbClr val="122C42"/>
                </a:solidFill>
                <a:latin typeface="Helvetica Neue"/>
                <a:ea typeface="Helvetica Neue"/>
                <a:cs typeface="Helvetica Neue"/>
              </a:defRPr>
            </a:pPr>
            <a:r>
              <a:rPr sz="2325" b="0">
                <a:solidFill>
                  <a:srgbClr val="122C42"/>
                </a:solidFill>
                <a:latin typeface="Helvetica Neue"/>
                <a:ea typeface="Helvetica Neue"/>
                <a:cs typeface="Helvetica Neue"/>
              </a:rPr>
              <a:t>Code ve static data</a:t>
            </a:r>
          </a:p>
          <a:p xmlns:a="http://schemas.openxmlformats.org/drawingml/2006/main">
            <a:pPr>
              <a:defRPr sz="2325" b="0">
                <a:solidFill>
                  <a:srgbClr val="122C42"/>
                </a:solidFill>
                <a:latin typeface="Helvetica Neue"/>
                <a:ea typeface="Helvetica Neue"/>
                <a:cs typeface="Helvetica Neue"/>
              </a:defRPr>
            </a:pPr>
            <a:r>
              <a:rPr sz="2325" b="0">
                <a:solidFill>
                  <a:srgbClr val="122C42"/>
                </a:solidFill>
                <a:latin typeface="Helvetica Neue"/>
                <a:ea typeface="Helvetica Neue"/>
                <a:cs typeface="Helvetica Neue"/>
              </a:rPr>
              <a:t>Heap: dinamik nesneler</a:t>
            </a:r>
          </a:p>
          <a:p xmlns:a="http://schemas.openxmlformats.org/drawingml/2006/main">
            <a:pPr>
              <a:defRPr sz="2325" b="0">
                <a:solidFill>
                  <a:srgbClr val="122C42"/>
                </a:solidFill>
                <a:latin typeface="Helvetica Neue"/>
                <a:ea typeface="Helvetica Neue"/>
                <a:cs typeface="Helvetica Neue"/>
              </a:defRPr>
            </a:pPr>
            <a:r>
              <a:rPr sz="2325" b="0">
                <a:solidFill>
                  <a:srgbClr val="122C42"/>
                </a:solidFill>
                <a:latin typeface="Helvetica Neue"/>
                <a:ea typeface="Helvetica Neue"/>
                <a:cs typeface="Helvetica Neue"/>
              </a:rPr>
              <a:t>Stack: aktif çağrıların verileri</a:t>
            </a:r>
          </a:p>
        </p:txBody>
      </p:sp>
      <p:sp>
        <p:nvSpPr>
          <p:cNvPr id="5" name="">
            <a:extLst xmlns:a="http://schemas.openxmlformats.org/drawingml/2006/main">
              <a:ext uri="{FF2B5EF4-FFF2-40B4-BE49-F238E27FC236}">
                <a16:creationId xmlns:a16="http://schemas.microsoft.com/office/drawing/2014/main" id="{6B6B9E6A-92EE-4781-9999-E378134F4583}"/>
              </a:ext>
            </a:extLst>
          </p:cNvPr>
          <p:cNvSpPr>
            <a:spLocks xmlns:a="http://schemas.openxmlformats.org/drawingml/2006/main" noGrp="1"/>
          </p:cNvSpPr>
          <p:nvPr/>
        </p:nvSpPr>
        <p:spPr>
          <a:xfrm xmlns:a="http://schemas.openxmlformats.org/drawingml/2006/main">
            <a:off x="6229350" y="2095500"/>
            <a:ext cx="500062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087E83"/>
                </a:solidFill>
                <a:latin typeface="Helvetica Neue"/>
                <a:ea typeface="Helvetica Neue"/>
                <a:cs typeface="Helvetica Neue"/>
              </a:defRPr>
            </a:pPr>
            <a:r>
              <a:rPr sz="2250" b="1">
                <a:solidFill>
                  <a:srgbClr val="087E83"/>
                </a:solidFill>
                <a:latin typeface="Helvetica Neue"/>
                <a:ea typeface="Helvetica Neue"/>
                <a:cs typeface="Helvetica Neue"/>
              </a:rPr>
              <a:t>Yürütme bağlamı</a:t>
            </a:r>
          </a:p>
        </p:txBody>
      </p:sp>
      <p:sp>
        <p:nvSpPr>
          <p:cNvPr id="6" name="">
            <a:extLst xmlns:a="http://schemas.openxmlformats.org/drawingml/2006/main">
              <a:ext uri="{FF2B5EF4-FFF2-40B4-BE49-F238E27FC236}">
                <a16:creationId xmlns:a16="http://schemas.microsoft.com/office/drawing/2014/main" id="{A7133407-139F-4B66-A394-B861017B518F}"/>
              </a:ext>
            </a:extLst>
          </p:cNvPr>
          <p:cNvSpPr>
            <a:spLocks xmlns:a="http://schemas.openxmlformats.org/drawingml/2006/main" noGrp="1"/>
          </p:cNvSpPr>
          <p:nvPr/>
        </p:nvSpPr>
        <p:spPr>
          <a:xfrm xmlns:a="http://schemas.openxmlformats.org/drawingml/2006/main">
            <a:off x="6229350" y="2762250"/>
            <a:ext cx="5000625"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325" b="0">
                <a:solidFill>
                  <a:srgbClr val="122C42"/>
                </a:solidFill>
                <a:latin typeface="Helvetica Neue"/>
                <a:ea typeface="Helvetica Neue"/>
                <a:cs typeface="Helvetica Neue"/>
              </a:defRPr>
            </a:pPr>
            <a:r>
              <a:rPr sz="2325" b="0">
                <a:solidFill>
                  <a:srgbClr val="122C42"/>
                </a:solidFill>
                <a:latin typeface="Helvetica Neue"/>
                <a:ea typeface="Helvetica Neue"/>
                <a:cs typeface="Helvetica Neue"/>
              </a:rPr>
              <a:t>PC: devam edilecek komut</a:t>
            </a:r>
          </a:p>
          <a:p xmlns:a="http://schemas.openxmlformats.org/drawingml/2006/main">
            <a:pPr>
              <a:defRPr sz="2325" b="0">
                <a:solidFill>
                  <a:srgbClr val="122C42"/>
                </a:solidFill>
                <a:latin typeface="Helvetica Neue"/>
                <a:ea typeface="Helvetica Neue"/>
                <a:cs typeface="Helvetica Neue"/>
              </a:defRPr>
            </a:pPr>
            <a:r>
              <a:rPr sz="2325" b="0">
                <a:solidFill>
                  <a:srgbClr val="122C42"/>
                </a:solidFill>
                <a:latin typeface="Helvetica Neue"/>
                <a:ea typeface="Helvetica Neue"/>
                <a:cs typeface="Helvetica Neue"/>
              </a:rPr>
              <a:t>Registers: o andaki değerler</a:t>
            </a:r>
          </a:p>
          <a:p xmlns:a="http://schemas.openxmlformats.org/drawingml/2006/main">
            <a:pPr>
              <a:defRPr sz="2325" b="0">
                <a:solidFill>
                  <a:srgbClr val="122C42"/>
                </a:solidFill>
                <a:latin typeface="Helvetica Neue"/>
                <a:ea typeface="Helvetica Neue"/>
                <a:cs typeface="Helvetica Neue"/>
              </a:defRPr>
            </a:pPr>
            <a:r>
              <a:rPr sz="2325" b="0">
                <a:solidFill>
                  <a:srgbClr val="122C42"/>
                </a:solidFill>
                <a:latin typeface="Helvetica Neue"/>
                <a:ea typeface="Helvetica Neue"/>
                <a:cs typeface="Helvetica Neue"/>
              </a:rPr>
              <a:t>Her thread’in kendi bağlamı</a:t>
            </a:r>
          </a:p>
        </p:txBody>
      </p:sp>
      <p:sp>
        <p:nvSpPr>
          <p:cNvPr id="7" name="">
            <a:extLst xmlns:a="http://schemas.openxmlformats.org/drawingml/2006/main">
              <a:ext uri="{FF2B5EF4-FFF2-40B4-BE49-F238E27FC236}">
                <a16:creationId xmlns:a16="http://schemas.microsoft.com/office/drawing/2014/main" id="{5031D231-78F7-4E0C-AB5C-F3F99510D47E}"/>
              </a:ext>
            </a:extLst>
          </p:cNvPr>
          <p:cNvSpPr>
            <a:spLocks xmlns:a="http://schemas.openxmlformats.org/drawingml/2006/main" noGrp="1"/>
          </p:cNvSpPr>
          <p:nvPr/>
        </p:nvSpPr>
        <p:spPr>
          <a:xfrm xmlns:a="http://schemas.openxmlformats.org/drawingml/2006/main">
            <a:off x="609600" y="6105525"/>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0">
                <a:solidFill>
                  <a:srgbClr val="C46225"/>
                </a:solidFill>
                <a:latin typeface="Helvetica Neue"/>
                <a:ea typeface="Helvetica Neue"/>
                <a:cs typeface="Helvetica Neue"/>
              </a:defRPr>
            </a:pPr>
            <a:r>
              <a:rPr sz="1500" b="0">
                <a:solidFill>
                  <a:srgbClr val="C46225"/>
                </a:solidFill>
                <a:latin typeface="Helvetica Neue"/>
                <a:ea typeface="Helvetica Neue"/>
                <a:cs typeface="Helvetica Neue"/>
              </a:rPr>
              <a:t>Hayatta: Worker’a verilen pointer, nesnenin ömrünü kendiliğinden uzatmaz.</a:t>
            </a:r>
          </a:p>
        </p:txBody>
      </p:sp>
      <p:sp>
        <p:nvSpPr>
          <p:cNvPr id="8" name="">
            <a:extLst xmlns:a="http://schemas.openxmlformats.org/drawingml/2006/main">
              <a:ext uri="{FF2B5EF4-FFF2-40B4-BE49-F238E27FC236}">
                <a16:creationId xmlns:a16="http://schemas.microsoft.com/office/drawing/2014/main" id="{01F90667-3063-4356-8529-F40B9F37EAC3}"/>
              </a:ext>
            </a:extLst>
          </p:cNvPr>
          <p:cNvSpPr>
            <a:spLocks xmlns:a="http://schemas.openxmlformats.org/drawingml/2006/main" noGrp="1"/>
          </p:cNvSpPr>
          <p:nvPr/>
        </p:nvSpPr>
        <p:spPr>
          <a:xfrm xmlns:a="http://schemas.openxmlformats.org/drawingml/2006/main">
            <a:off x="609600" y="64960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4D606A"/>
                </a:solidFill>
                <a:latin typeface="Helvetica Neue"/>
                <a:ea typeface="Helvetica Neue"/>
                <a:cs typeface="Helvetica Neue"/>
              </a:defRPr>
            </a:pPr>
            <a:r>
              <a:rPr sz="1125" b="0">
                <a:solidFill>
                  <a:srgbClr val="4D606A"/>
                </a:solidFill>
                <a:latin typeface="Helvetica Neue"/>
                <a:ea typeface="Helvetica Neue"/>
                <a:cs typeface="Helvetica Neue"/>
              </a:rPr>
              <a:t>CSE513 · İlk hafta / öğrenme pilotu</a:t>
            </a:r>
          </a:p>
        </p:txBody>
      </p:sp>
      <p:sp>
        <p:nvSpPr>
          <p:cNvPr id="9" name="">
            <a:extLst xmlns:a="http://schemas.openxmlformats.org/drawingml/2006/main">
              <a:ext uri="{FF2B5EF4-FFF2-40B4-BE49-F238E27FC236}">
                <a16:creationId xmlns:a16="http://schemas.microsoft.com/office/drawing/2014/main" id="{14D42800-6313-4B3B-A215-BF43D4DAD0B3}"/>
              </a:ext>
            </a:extLst>
          </p:cNvPr>
          <p:cNvSpPr>
            <a:spLocks xmlns:a="http://schemas.openxmlformats.org/drawingml/2006/main" noGrp="1"/>
          </p:cNvSpPr>
          <p:nvPr/>
        </p:nvSpPr>
        <p:spPr>
          <a:xfrm xmlns:a="http://schemas.openxmlformats.org/drawingml/2006/main">
            <a:off x="10572750" y="6457950"/>
            <a:ext cx="1000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087E83"/>
                </a:solidFill>
                <a:latin typeface="Helvetica Neue"/>
                <a:ea typeface="Helvetica Neue"/>
                <a:cs typeface="Helvetica Neue"/>
              </a:defRPr>
            </a:pPr>
            <a:r>
              <a:rPr sz="1350" b="1">
                <a:solidFill>
                  <a:srgbClr val="087E83"/>
                </a:solidFill>
                <a:latin typeface="Helvetica Neue"/>
                <a:ea typeface="Helvetica Neue"/>
                <a:cs typeface="Helvetica Neue"/>
              </a:rPr>
              <a:t>07 / 28</a:t>
            </a:r>
          </a:p>
        </p:txBody>
      </p:sp>
    </p:spTree>
    <p:extLst>
      <p:ext uri="{BB962C8B-B14F-4D97-AF65-F5344CB8AC3E}">
        <p14:creationId xmlns:p14="http://schemas.microsoft.com/office/powerpoint/2010/main" val="577463173"/>
      </p:ext>
    </p:extLst>
  </p:cSld>
</p:sld>
</file>

<file path=ppt/slides/slide8.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545198D2-3619-443C-92A6-8A7CE7300445}"/>
              </a:ext>
            </a:extLst>
          </p:cNvPr>
          <p:cNvSpPr>
            <a:spLocks xmlns:a="http://schemas.openxmlformats.org/drawingml/2006/main" noGrp="1"/>
          </p:cNvSpPr>
          <p:nvPr/>
        </p:nvSpPr>
        <p:spPr>
          <a:xfrm xmlns:a="http://schemas.openxmlformats.org/drawingml/2006/main">
            <a:off x="609600" y="333375"/>
            <a:ext cx="10477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1">
                <a:solidFill>
                  <a:srgbClr val="087E83"/>
                </a:solidFill>
                <a:latin typeface="Helvetica Neue"/>
                <a:ea typeface="Helvetica Neue"/>
                <a:cs typeface="Helvetica Neue"/>
              </a:defRPr>
            </a:pPr>
            <a:r>
              <a:rPr sz="1275" b="1">
                <a:solidFill>
                  <a:srgbClr val="087E83"/>
                </a:solidFill>
                <a:latin typeface="Helvetica Neue"/>
                <a:ea typeface="Helvetica Neue"/>
                <a:cs typeface="Helvetica Neue"/>
              </a:rPr>
              <a:t>01 / YÜRÜTME VE BEKLEME</a:t>
            </a:r>
          </a:p>
        </p:txBody>
      </p:sp>
      <p:sp>
        <p:nvSpPr>
          <p:cNvPr id="2" name="">
            <a:extLst xmlns:a="http://schemas.openxmlformats.org/drawingml/2006/main">
              <a:ext uri="{FF2B5EF4-FFF2-40B4-BE49-F238E27FC236}">
                <a16:creationId xmlns:a16="http://schemas.microsoft.com/office/drawing/2014/main" id="{A8ECDEB1-A5EF-4710-86AA-41FD66FD3D5A}"/>
              </a:ext>
            </a:extLst>
          </p:cNvPr>
          <p:cNvSpPr>
            <a:spLocks xmlns:a="http://schemas.openxmlformats.org/drawingml/2006/main" noGrp="1"/>
          </p:cNvSpPr>
          <p:nvPr/>
        </p:nvSpPr>
        <p:spPr>
          <a:xfrm xmlns:a="http://schemas.openxmlformats.org/drawingml/2006/main">
            <a:off x="609600" y="819150"/>
            <a:ext cx="109728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22C42"/>
                </a:solidFill>
                <a:latin typeface="Helvetica Neue"/>
                <a:ea typeface="Helvetica Neue"/>
                <a:cs typeface="Helvetica Neue"/>
              </a:defRPr>
            </a:pPr>
            <a:r>
              <a:rPr sz="3300" b="1">
                <a:solidFill>
                  <a:srgbClr val="122C42"/>
                </a:solidFill>
                <a:latin typeface="Helvetica Neue"/>
                <a:ea typeface="Helvetica Neue"/>
                <a:cs typeface="Helvetica Neue"/>
              </a:rPr>
              <a:t>PCB: devam etmek için gereken kayıt</a:t>
            </a:r>
          </a:p>
        </p:txBody>
      </p:sp>
      <p:sp>
        <p:nvSpPr>
          <p:cNvPr id="3" name="">
            <a:extLst xmlns:a="http://schemas.openxmlformats.org/drawingml/2006/main">
              <a:ext uri="{FF2B5EF4-FFF2-40B4-BE49-F238E27FC236}">
                <a16:creationId xmlns:a16="http://schemas.microsoft.com/office/drawing/2014/main" id="{0B352141-27EE-4F54-B677-A8538CC76204}"/>
              </a:ext>
            </a:extLst>
          </p:cNvPr>
          <p:cNvSpPr>
            <a:spLocks xmlns:a="http://schemas.openxmlformats.org/drawingml/2006/main" noGrp="1"/>
          </p:cNvSpPr>
          <p:nvPr/>
        </p:nvSpPr>
        <p:spPr>
          <a:xfrm xmlns:a="http://schemas.openxmlformats.org/drawingml/2006/main">
            <a:off x="609600" y="1905000"/>
            <a:ext cx="4762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1">
                <a:solidFill>
                  <a:srgbClr val="087E83"/>
                </a:solidFill>
                <a:latin typeface="Helvetica Neue"/>
                <a:ea typeface="Helvetica Neue"/>
                <a:cs typeface="Helvetica Neue"/>
              </a:defRPr>
            </a:pPr>
            <a:r>
              <a:rPr sz="2400" b="1">
                <a:solidFill>
                  <a:srgbClr val="087E83"/>
                </a:solidFill>
                <a:latin typeface="Helvetica Neue"/>
                <a:ea typeface="Helvetica Neue"/>
                <a:cs typeface="Helvetica Neue"/>
              </a:rPr>
              <a:t>01</a:t>
            </a:r>
          </a:p>
        </p:txBody>
      </p:sp>
      <p:sp>
        <p:nvSpPr>
          <p:cNvPr id="4" name="">
            <a:extLst xmlns:a="http://schemas.openxmlformats.org/drawingml/2006/main">
              <a:ext uri="{FF2B5EF4-FFF2-40B4-BE49-F238E27FC236}">
                <a16:creationId xmlns:a16="http://schemas.microsoft.com/office/drawing/2014/main" id="{D6A04073-575A-47D7-8105-0F78DD120ECE}"/>
              </a:ext>
            </a:extLst>
          </p:cNvPr>
          <p:cNvSpPr>
            <a:spLocks xmlns:a="http://schemas.openxmlformats.org/drawingml/2006/main" noGrp="1"/>
          </p:cNvSpPr>
          <p:nvPr/>
        </p:nvSpPr>
        <p:spPr>
          <a:xfrm xmlns:a="http://schemas.openxmlformats.org/drawingml/2006/main">
            <a:off x="1190625" y="1905000"/>
            <a:ext cx="103917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Kimlik, ilişkiler ve durum</a:t>
            </a:r>
          </a:p>
        </p:txBody>
      </p:sp>
      <p:sp>
        <p:nvSpPr>
          <p:cNvPr id="5" name="">
            <a:extLst xmlns:a="http://schemas.openxmlformats.org/drawingml/2006/main">
              <a:ext uri="{FF2B5EF4-FFF2-40B4-BE49-F238E27FC236}">
                <a16:creationId xmlns:a16="http://schemas.microsoft.com/office/drawing/2014/main" id="{D3F73119-C71A-422B-A058-1A43A3C65975}"/>
              </a:ext>
            </a:extLst>
          </p:cNvPr>
          <p:cNvSpPr>
            <a:spLocks xmlns:a="http://schemas.openxmlformats.org/drawingml/2006/main" noGrp="1"/>
          </p:cNvSpPr>
          <p:nvPr/>
        </p:nvSpPr>
        <p:spPr>
          <a:xfrm xmlns:a="http://schemas.openxmlformats.org/drawingml/2006/main">
            <a:off x="609600" y="2886075"/>
            <a:ext cx="4762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1">
                <a:solidFill>
                  <a:srgbClr val="087E83"/>
                </a:solidFill>
                <a:latin typeface="Helvetica Neue"/>
                <a:ea typeface="Helvetica Neue"/>
                <a:cs typeface="Helvetica Neue"/>
              </a:defRPr>
            </a:pPr>
            <a:r>
              <a:rPr sz="2400" b="1">
                <a:solidFill>
                  <a:srgbClr val="087E83"/>
                </a:solidFill>
                <a:latin typeface="Helvetica Neue"/>
                <a:ea typeface="Helvetica Neue"/>
                <a:cs typeface="Helvetica Neue"/>
              </a:rPr>
              <a:t>02</a:t>
            </a:r>
          </a:p>
        </p:txBody>
      </p:sp>
      <p:sp>
        <p:nvSpPr>
          <p:cNvPr id="6" name="">
            <a:extLst xmlns:a="http://schemas.openxmlformats.org/drawingml/2006/main">
              <a:ext uri="{FF2B5EF4-FFF2-40B4-BE49-F238E27FC236}">
                <a16:creationId xmlns:a16="http://schemas.microsoft.com/office/drawing/2014/main" id="{741E2173-2BC2-4D31-9BF4-322620123E04}"/>
              </a:ext>
            </a:extLst>
          </p:cNvPr>
          <p:cNvSpPr>
            <a:spLocks xmlns:a="http://schemas.openxmlformats.org/drawingml/2006/main" noGrp="1"/>
          </p:cNvSpPr>
          <p:nvPr/>
        </p:nvSpPr>
        <p:spPr>
          <a:xfrm xmlns:a="http://schemas.openxmlformats.org/drawingml/2006/main">
            <a:off x="1190625" y="2886075"/>
            <a:ext cx="103917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Kaydedilmiş PC ve register değerleri</a:t>
            </a:r>
          </a:p>
        </p:txBody>
      </p:sp>
      <p:sp>
        <p:nvSpPr>
          <p:cNvPr id="7" name="">
            <a:extLst xmlns:a="http://schemas.openxmlformats.org/drawingml/2006/main">
              <a:ext uri="{FF2B5EF4-FFF2-40B4-BE49-F238E27FC236}">
                <a16:creationId xmlns:a16="http://schemas.microsoft.com/office/drawing/2014/main" id="{393FC996-93BE-43E5-BEF3-6C1687206F9B}"/>
              </a:ext>
            </a:extLst>
          </p:cNvPr>
          <p:cNvSpPr>
            <a:spLocks xmlns:a="http://schemas.openxmlformats.org/drawingml/2006/main" noGrp="1"/>
          </p:cNvSpPr>
          <p:nvPr/>
        </p:nvSpPr>
        <p:spPr>
          <a:xfrm xmlns:a="http://schemas.openxmlformats.org/drawingml/2006/main">
            <a:off x="609600" y="3867150"/>
            <a:ext cx="4762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1">
                <a:solidFill>
                  <a:srgbClr val="087E83"/>
                </a:solidFill>
                <a:latin typeface="Helvetica Neue"/>
                <a:ea typeface="Helvetica Neue"/>
                <a:cs typeface="Helvetica Neue"/>
              </a:defRPr>
            </a:pPr>
            <a:r>
              <a:rPr sz="2400" b="1">
                <a:solidFill>
                  <a:srgbClr val="087E83"/>
                </a:solidFill>
                <a:latin typeface="Helvetica Neue"/>
                <a:ea typeface="Helvetica Neue"/>
                <a:cs typeface="Helvetica Neue"/>
              </a:rPr>
              <a:t>03</a:t>
            </a:r>
          </a:p>
        </p:txBody>
      </p:sp>
      <p:sp>
        <p:nvSpPr>
          <p:cNvPr id="8" name="">
            <a:extLst xmlns:a="http://schemas.openxmlformats.org/drawingml/2006/main">
              <a:ext uri="{FF2B5EF4-FFF2-40B4-BE49-F238E27FC236}">
                <a16:creationId xmlns:a16="http://schemas.microsoft.com/office/drawing/2014/main" id="{0490B550-3616-44D6-B0EC-BA5350C2CFDA}"/>
              </a:ext>
            </a:extLst>
          </p:cNvPr>
          <p:cNvSpPr>
            <a:spLocks xmlns:a="http://schemas.openxmlformats.org/drawingml/2006/main" noGrp="1"/>
          </p:cNvSpPr>
          <p:nvPr/>
        </p:nvSpPr>
        <p:spPr>
          <a:xfrm xmlns:a="http://schemas.openxmlformats.org/drawingml/2006/main">
            <a:off x="1190625" y="3867150"/>
            <a:ext cx="103917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Bellek eşlemelerine ve açık dosyalara referanslar</a:t>
            </a:r>
          </a:p>
        </p:txBody>
      </p:sp>
      <p:sp>
        <p:nvSpPr>
          <p:cNvPr id="9" name="">
            <a:extLst xmlns:a="http://schemas.openxmlformats.org/drawingml/2006/main">
              <a:ext uri="{FF2B5EF4-FFF2-40B4-BE49-F238E27FC236}">
                <a16:creationId xmlns:a16="http://schemas.microsoft.com/office/drawing/2014/main" id="{DB80E18A-D8E2-4DB5-8CD6-ABD4BD9A407A}"/>
              </a:ext>
            </a:extLst>
          </p:cNvPr>
          <p:cNvSpPr>
            <a:spLocks xmlns:a="http://schemas.openxmlformats.org/drawingml/2006/main" noGrp="1"/>
          </p:cNvSpPr>
          <p:nvPr/>
        </p:nvSpPr>
        <p:spPr>
          <a:xfrm xmlns:a="http://schemas.openxmlformats.org/drawingml/2006/main">
            <a:off x="609600" y="4848225"/>
            <a:ext cx="4762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1">
                <a:solidFill>
                  <a:srgbClr val="087E83"/>
                </a:solidFill>
                <a:latin typeface="Helvetica Neue"/>
                <a:ea typeface="Helvetica Neue"/>
                <a:cs typeface="Helvetica Neue"/>
              </a:defRPr>
            </a:pPr>
            <a:r>
              <a:rPr sz="2400" b="1">
                <a:solidFill>
                  <a:srgbClr val="087E83"/>
                </a:solidFill>
                <a:latin typeface="Helvetica Neue"/>
                <a:ea typeface="Helvetica Neue"/>
                <a:cs typeface="Helvetica Neue"/>
              </a:rPr>
              <a:t>04</a:t>
            </a:r>
          </a:p>
        </p:txBody>
      </p:sp>
      <p:sp>
        <p:nvSpPr>
          <p:cNvPr id="10" name="">
            <a:extLst xmlns:a="http://schemas.openxmlformats.org/drawingml/2006/main">
              <a:ext uri="{FF2B5EF4-FFF2-40B4-BE49-F238E27FC236}">
                <a16:creationId xmlns:a16="http://schemas.microsoft.com/office/drawing/2014/main" id="{BABF3756-3829-47F0-8557-CDB4487D7190}"/>
              </a:ext>
            </a:extLst>
          </p:cNvPr>
          <p:cNvSpPr>
            <a:spLocks xmlns:a="http://schemas.openxmlformats.org/drawingml/2006/main" noGrp="1"/>
          </p:cNvSpPr>
          <p:nvPr/>
        </p:nvSpPr>
        <p:spPr>
          <a:xfrm xmlns:a="http://schemas.openxmlformats.org/drawingml/2006/main">
            <a:off x="1190625" y="4848225"/>
            <a:ext cx="103917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Scheduling için gerekli bilgiler</a:t>
            </a:r>
          </a:p>
        </p:txBody>
      </p:sp>
      <p:sp>
        <p:nvSpPr>
          <p:cNvPr id="11" name="">
            <a:extLst xmlns:a="http://schemas.openxmlformats.org/drawingml/2006/main">
              <a:ext uri="{FF2B5EF4-FFF2-40B4-BE49-F238E27FC236}">
                <a16:creationId xmlns:a16="http://schemas.microsoft.com/office/drawing/2014/main" id="{4C64B01A-6E4B-48DD-9341-2122A7F8451A}"/>
              </a:ext>
            </a:extLst>
          </p:cNvPr>
          <p:cNvSpPr>
            <a:spLocks xmlns:a="http://schemas.openxmlformats.org/drawingml/2006/main" noGrp="1"/>
          </p:cNvSpPr>
          <p:nvPr/>
        </p:nvSpPr>
        <p:spPr>
          <a:xfrm xmlns:a="http://schemas.openxmlformats.org/drawingml/2006/main">
            <a:off x="609600" y="5467350"/>
            <a:ext cx="109728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1">
                <a:solidFill>
                  <a:srgbClr val="087E83"/>
                </a:solidFill>
                <a:latin typeface="Helvetica Neue"/>
                <a:ea typeface="Helvetica Neue"/>
                <a:cs typeface="Helvetica Neue"/>
              </a:defRPr>
            </a:pPr>
            <a:r>
              <a:rPr sz="1950" b="1">
                <a:solidFill>
                  <a:srgbClr val="087E83"/>
                </a:solidFill>
                <a:latin typeface="Helvetica Neue"/>
                <a:ea typeface="Helvetica Neue"/>
                <a:cs typeface="Helvetica Neue"/>
              </a:rPr>
              <a:t>Düşün: Context switch tüm adres alanını PCB’ye kopyalar mı?</a:t>
            </a:r>
          </a:p>
        </p:txBody>
      </p:sp>
      <p:sp>
        <p:nvSpPr>
          <p:cNvPr id="12" name="">
            <a:extLst xmlns:a="http://schemas.openxmlformats.org/drawingml/2006/main">
              <a:ext uri="{FF2B5EF4-FFF2-40B4-BE49-F238E27FC236}">
                <a16:creationId xmlns:a16="http://schemas.microsoft.com/office/drawing/2014/main" id="{0E65820B-8816-412C-B257-2B13DA41A2CA}"/>
              </a:ext>
            </a:extLst>
          </p:cNvPr>
          <p:cNvSpPr>
            <a:spLocks xmlns:a="http://schemas.openxmlformats.org/drawingml/2006/main" noGrp="1"/>
          </p:cNvSpPr>
          <p:nvPr/>
        </p:nvSpPr>
        <p:spPr>
          <a:xfrm xmlns:a="http://schemas.openxmlformats.org/drawingml/2006/main">
            <a:off x="609600" y="64960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4D606A"/>
                </a:solidFill>
                <a:latin typeface="Helvetica Neue"/>
                <a:ea typeface="Helvetica Neue"/>
                <a:cs typeface="Helvetica Neue"/>
              </a:defRPr>
            </a:pPr>
            <a:r>
              <a:rPr sz="1125" b="0">
                <a:solidFill>
                  <a:srgbClr val="4D606A"/>
                </a:solidFill>
                <a:latin typeface="Helvetica Neue"/>
                <a:ea typeface="Helvetica Neue"/>
                <a:cs typeface="Helvetica Neue"/>
              </a:rPr>
              <a:t>CSE513 · İlk hafta / öğrenme pilotu</a:t>
            </a:r>
          </a:p>
        </p:txBody>
      </p:sp>
      <p:sp>
        <p:nvSpPr>
          <p:cNvPr id="13" name="">
            <a:extLst xmlns:a="http://schemas.openxmlformats.org/drawingml/2006/main">
              <a:ext uri="{FF2B5EF4-FFF2-40B4-BE49-F238E27FC236}">
                <a16:creationId xmlns:a16="http://schemas.microsoft.com/office/drawing/2014/main" id="{67C836AE-69D6-4CFB-8FD6-77DAFCB85A8A}"/>
              </a:ext>
            </a:extLst>
          </p:cNvPr>
          <p:cNvSpPr>
            <a:spLocks xmlns:a="http://schemas.openxmlformats.org/drawingml/2006/main" noGrp="1"/>
          </p:cNvSpPr>
          <p:nvPr/>
        </p:nvSpPr>
        <p:spPr>
          <a:xfrm xmlns:a="http://schemas.openxmlformats.org/drawingml/2006/main">
            <a:off x="10572750" y="6457950"/>
            <a:ext cx="1000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087E83"/>
                </a:solidFill>
                <a:latin typeface="Helvetica Neue"/>
                <a:ea typeface="Helvetica Neue"/>
                <a:cs typeface="Helvetica Neue"/>
              </a:defRPr>
            </a:pPr>
            <a:r>
              <a:rPr sz="1350" b="1">
                <a:solidFill>
                  <a:srgbClr val="087E83"/>
                </a:solidFill>
                <a:latin typeface="Helvetica Neue"/>
                <a:ea typeface="Helvetica Neue"/>
                <a:cs typeface="Helvetica Neue"/>
              </a:rPr>
              <a:t>08 / 28</a:t>
            </a:r>
          </a:p>
        </p:txBody>
      </p:sp>
    </p:spTree>
    <p:extLst>
      <p:ext uri="{BB962C8B-B14F-4D97-AF65-F5344CB8AC3E}">
        <p14:creationId xmlns:p14="http://schemas.microsoft.com/office/powerpoint/2010/main" val="982818495"/>
      </p:ext>
    </p:extLst>
  </p:cSld>
</p:sld>
</file>

<file path=ppt/slides/slide9.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EA4D3558-3C11-4F20-9546-9FD799D4AA93}"/>
              </a:ext>
            </a:extLst>
          </p:cNvPr>
          <p:cNvSpPr>
            <a:spLocks xmlns:a="http://schemas.openxmlformats.org/drawingml/2006/main" noGrp="1"/>
          </p:cNvSpPr>
          <p:nvPr/>
        </p:nvSpPr>
        <p:spPr>
          <a:xfrm xmlns:a="http://schemas.openxmlformats.org/drawingml/2006/main">
            <a:off x="609600" y="333375"/>
            <a:ext cx="10477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1">
                <a:solidFill>
                  <a:srgbClr val="087E83"/>
                </a:solidFill>
                <a:latin typeface="Helvetica Neue"/>
                <a:ea typeface="Helvetica Neue"/>
                <a:cs typeface="Helvetica Neue"/>
              </a:defRPr>
            </a:pPr>
            <a:r>
              <a:rPr sz="1275" b="1">
                <a:solidFill>
                  <a:srgbClr val="087E83"/>
                </a:solidFill>
                <a:latin typeface="Helvetica Neue"/>
                <a:ea typeface="Helvetica Neue"/>
                <a:cs typeface="Helvetica Neue"/>
              </a:rPr>
              <a:t>01 / YÜRÜTME VE BEKLEME</a:t>
            </a:r>
          </a:p>
        </p:txBody>
      </p:sp>
      <p:sp>
        <p:nvSpPr>
          <p:cNvPr id="2" name="">
            <a:extLst xmlns:a="http://schemas.openxmlformats.org/drawingml/2006/main">
              <a:ext uri="{FF2B5EF4-FFF2-40B4-BE49-F238E27FC236}">
                <a16:creationId xmlns:a16="http://schemas.microsoft.com/office/drawing/2014/main" id="{601F19BB-2588-4B3D-8364-7BCA36BD0CD7}"/>
              </a:ext>
            </a:extLst>
          </p:cNvPr>
          <p:cNvSpPr>
            <a:spLocks xmlns:a="http://schemas.openxmlformats.org/drawingml/2006/main" noGrp="1"/>
          </p:cNvSpPr>
          <p:nvPr/>
        </p:nvSpPr>
        <p:spPr>
          <a:xfrm xmlns:a="http://schemas.openxmlformats.org/drawingml/2006/main">
            <a:off x="609600" y="819150"/>
            <a:ext cx="109728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22C42"/>
                </a:solidFill>
                <a:latin typeface="Helvetica Neue"/>
                <a:ea typeface="Helvetica Neue"/>
                <a:cs typeface="Helvetica Neue"/>
              </a:defRPr>
            </a:pPr>
            <a:r>
              <a:rPr sz="3300" b="1">
                <a:solidFill>
                  <a:srgbClr val="122C42"/>
                </a:solidFill>
                <a:latin typeface="Helvetica Neue"/>
                <a:ea typeface="Helvetica Neue"/>
                <a:cs typeface="Helvetica Neue"/>
              </a:rPr>
              <a:t>Ready, running ve waiting</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a136783bf7eb445c"/>
          <a:stretch xmlns:a="http://schemas.openxmlformats.org/drawingml/2006/main"/>
        </p:blipFill>
        <p:spPr>
          <a:xfrm xmlns:a="http://schemas.openxmlformats.org/drawingml/2006/main">
            <a:off x="5179219" y="1809750"/>
            <a:ext cx="6215063" cy="414337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D6820111-722A-426A-B508-BBA1AA4D8B3E}"/>
              </a:ext>
            </a:extLst>
          </p:cNvPr>
          <p:cNvSpPr>
            <a:spLocks xmlns:a="http://schemas.openxmlformats.org/drawingml/2006/main" noGrp="1"/>
          </p:cNvSpPr>
          <p:nvPr/>
        </p:nvSpPr>
        <p:spPr>
          <a:xfrm xmlns:a="http://schemas.openxmlformats.org/drawingml/2006/main">
            <a:off x="609600" y="2047875"/>
            <a:ext cx="3857625"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1">
                <a:solidFill>
                  <a:srgbClr val="122C42"/>
                </a:solidFill>
                <a:latin typeface="Helvetica Neue"/>
                <a:ea typeface="Helvetica Neue"/>
                <a:cs typeface="Helvetica Neue"/>
              </a:defRPr>
            </a:pPr>
            <a:r>
              <a:rPr sz="2025" b="1">
                <a:solidFill>
                  <a:srgbClr val="122C42"/>
                </a:solidFill>
                <a:latin typeface="Helvetica Neue"/>
                <a:ea typeface="Helvetica Neue"/>
                <a:cs typeface="Helvetica Neue"/>
              </a:rPr>
              <a:t>Ready: CPU verilirse ilerleyebilir.</a:t>
            </a:r>
          </a:p>
        </p:txBody>
      </p:sp>
      <p:sp>
        <p:nvSpPr>
          <p:cNvPr id="5" name="">
            <a:extLst xmlns:a="http://schemas.openxmlformats.org/drawingml/2006/main">
              <a:ext uri="{FF2B5EF4-FFF2-40B4-BE49-F238E27FC236}">
                <a16:creationId xmlns:a16="http://schemas.microsoft.com/office/drawing/2014/main" id="{939AFFB5-FB71-4501-A024-650B95096690}"/>
              </a:ext>
            </a:extLst>
          </p:cNvPr>
          <p:cNvSpPr>
            <a:spLocks xmlns:a="http://schemas.openxmlformats.org/drawingml/2006/main" noGrp="1"/>
          </p:cNvSpPr>
          <p:nvPr/>
        </p:nvSpPr>
        <p:spPr>
          <a:xfrm xmlns:a="http://schemas.openxmlformats.org/drawingml/2006/main">
            <a:off x="609600" y="3143250"/>
            <a:ext cx="3857625"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0">
                <a:solidFill>
                  <a:srgbClr val="122C42"/>
                </a:solidFill>
                <a:latin typeface="Helvetica Neue"/>
                <a:ea typeface="Helvetica Neue"/>
                <a:cs typeface="Helvetica Neue"/>
              </a:defRPr>
            </a:pPr>
            <a:r>
              <a:rPr sz="2025" b="0">
                <a:solidFill>
                  <a:srgbClr val="122C42"/>
                </a:solidFill>
                <a:latin typeface="Helvetica Neue"/>
                <a:ea typeface="Helvetica Neue"/>
                <a:cs typeface="Helvetica Neue"/>
              </a:rPr>
              <a:t>Running: şu anda CPU üzerinde yürür.</a:t>
            </a:r>
          </a:p>
        </p:txBody>
      </p:sp>
      <p:sp>
        <p:nvSpPr>
          <p:cNvPr id="6" name="">
            <a:extLst xmlns:a="http://schemas.openxmlformats.org/drawingml/2006/main">
              <a:ext uri="{FF2B5EF4-FFF2-40B4-BE49-F238E27FC236}">
                <a16:creationId xmlns:a16="http://schemas.microsoft.com/office/drawing/2014/main" id="{966C09EB-41A5-47EE-AFCE-6AA58020D241}"/>
              </a:ext>
            </a:extLst>
          </p:cNvPr>
          <p:cNvSpPr>
            <a:spLocks xmlns:a="http://schemas.openxmlformats.org/drawingml/2006/main" noGrp="1"/>
          </p:cNvSpPr>
          <p:nvPr/>
        </p:nvSpPr>
        <p:spPr>
          <a:xfrm xmlns:a="http://schemas.openxmlformats.org/drawingml/2006/main">
            <a:off x="609600" y="4238625"/>
            <a:ext cx="3857625"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0">
                <a:solidFill>
                  <a:srgbClr val="122C42"/>
                </a:solidFill>
                <a:latin typeface="Helvetica Neue"/>
                <a:ea typeface="Helvetica Neue"/>
                <a:cs typeface="Helvetica Neue"/>
              </a:defRPr>
            </a:pPr>
            <a:r>
              <a:rPr sz="2025" b="0">
                <a:solidFill>
                  <a:srgbClr val="122C42"/>
                </a:solidFill>
                <a:latin typeface="Helvetica Neue"/>
                <a:ea typeface="Helvetica Neue"/>
                <a:cs typeface="Helvetica Neue"/>
              </a:rPr>
              <a:t>Waiting: eksik bir olayı bekler.</a:t>
            </a:r>
          </a:p>
        </p:txBody>
      </p:sp>
      <p:sp>
        <p:nvSpPr>
          <p:cNvPr id="7" name="">
            <a:extLst xmlns:a="http://schemas.openxmlformats.org/drawingml/2006/main">
              <a:ext uri="{FF2B5EF4-FFF2-40B4-BE49-F238E27FC236}">
                <a16:creationId xmlns:a16="http://schemas.microsoft.com/office/drawing/2014/main" id="{C6E761B7-807B-4116-B6CF-6A9EB394B1E9}"/>
              </a:ext>
            </a:extLst>
          </p:cNvPr>
          <p:cNvSpPr>
            <a:spLocks xmlns:a="http://schemas.openxmlformats.org/drawingml/2006/main" noGrp="1"/>
          </p:cNvSpPr>
          <p:nvPr/>
        </p:nvSpPr>
        <p:spPr>
          <a:xfrm xmlns:a="http://schemas.openxmlformats.org/drawingml/2006/main">
            <a:off x="609600" y="6105525"/>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0">
                <a:solidFill>
                  <a:srgbClr val="C46225"/>
                </a:solidFill>
                <a:latin typeface="Helvetica Neue"/>
                <a:ea typeface="Helvetica Neue"/>
                <a:cs typeface="Helvetica Neue"/>
              </a:defRPr>
            </a:pPr>
            <a:r>
              <a:rPr sz="1500" b="0">
                <a:solidFill>
                  <a:srgbClr val="C46225"/>
                </a:solidFill>
                <a:latin typeface="Helvetica Neue"/>
                <a:ea typeface="Helvetica Neue"/>
                <a:cs typeface="Helvetica Neue"/>
              </a:rPr>
              <a:t>Hayatta: Ağ verisini bekleyen indirme sırasında başka görev CPU kullanabilir.</a:t>
            </a:r>
          </a:p>
        </p:txBody>
      </p:sp>
      <p:sp>
        <p:nvSpPr>
          <p:cNvPr id="8" name="">
            <a:extLst xmlns:a="http://schemas.openxmlformats.org/drawingml/2006/main">
              <a:ext uri="{FF2B5EF4-FFF2-40B4-BE49-F238E27FC236}">
                <a16:creationId xmlns:a16="http://schemas.microsoft.com/office/drawing/2014/main" id="{085C2B93-C4DD-4D7B-AB49-58C291B20D50}"/>
              </a:ext>
            </a:extLst>
          </p:cNvPr>
          <p:cNvSpPr>
            <a:spLocks xmlns:a="http://schemas.openxmlformats.org/drawingml/2006/main" noGrp="1"/>
          </p:cNvSpPr>
          <p:nvPr/>
        </p:nvSpPr>
        <p:spPr>
          <a:xfrm xmlns:a="http://schemas.openxmlformats.org/drawingml/2006/main">
            <a:off x="609600" y="64960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4D606A"/>
                </a:solidFill>
                <a:latin typeface="Helvetica Neue"/>
                <a:ea typeface="Helvetica Neue"/>
                <a:cs typeface="Helvetica Neue"/>
              </a:defRPr>
            </a:pPr>
            <a:r>
              <a:rPr sz="1125" b="0">
                <a:solidFill>
                  <a:srgbClr val="4D606A"/>
                </a:solidFill>
                <a:latin typeface="Helvetica Neue"/>
                <a:ea typeface="Helvetica Neue"/>
                <a:cs typeface="Helvetica Neue"/>
              </a:rPr>
              <a:t>CSE513 · İlk hafta / öğrenme pilotu</a:t>
            </a:r>
          </a:p>
        </p:txBody>
      </p:sp>
      <p:sp>
        <p:nvSpPr>
          <p:cNvPr id="9" name="">
            <a:extLst xmlns:a="http://schemas.openxmlformats.org/drawingml/2006/main">
              <a:ext uri="{FF2B5EF4-FFF2-40B4-BE49-F238E27FC236}">
                <a16:creationId xmlns:a16="http://schemas.microsoft.com/office/drawing/2014/main" id="{3003436D-28CB-46AA-B6E9-9957608D94F0}"/>
              </a:ext>
            </a:extLst>
          </p:cNvPr>
          <p:cNvSpPr>
            <a:spLocks xmlns:a="http://schemas.openxmlformats.org/drawingml/2006/main" noGrp="1"/>
          </p:cNvSpPr>
          <p:nvPr/>
        </p:nvSpPr>
        <p:spPr>
          <a:xfrm xmlns:a="http://schemas.openxmlformats.org/drawingml/2006/main">
            <a:off x="10572750" y="6457950"/>
            <a:ext cx="1000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087E83"/>
                </a:solidFill>
                <a:latin typeface="Helvetica Neue"/>
                <a:ea typeface="Helvetica Neue"/>
                <a:cs typeface="Helvetica Neue"/>
              </a:defRPr>
            </a:pPr>
            <a:r>
              <a:rPr sz="1350" b="1">
                <a:solidFill>
                  <a:srgbClr val="087E83"/>
                </a:solidFill>
                <a:latin typeface="Helvetica Neue"/>
                <a:ea typeface="Helvetica Neue"/>
                <a:cs typeface="Helvetica Neue"/>
              </a:rPr>
              <a:t>09 / 28</a:t>
            </a:r>
          </a:p>
        </p:txBody>
      </p:sp>
    </p:spTree>
    <p:extLst>
      <p:ext uri="{BB962C8B-B14F-4D97-AF65-F5344CB8AC3E}">
        <p14:creationId xmlns:p14="http://schemas.microsoft.com/office/powerpoint/2010/main" val="996071238"/>
      </p:ext>
    </p:extLst>
  </p:cSld>
</p:sld>
</file>

<file path=ppt/slides/slide10.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C53AFB0-512C-44C0-959D-07C6E80CAA5D}"/>
              </a:ext>
            </a:extLst>
          </p:cNvPr>
          <p:cNvSpPr>
            <a:spLocks xmlns:a="http://schemas.openxmlformats.org/drawingml/2006/main" noGrp="1"/>
          </p:cNvSpPr>
          <p:nvPr/>
        </p:nvSpPr>
        <p:spPr>
          <a:xfrm xmlns:a="http://schemas.openxmlformats.org/drawingml/2006/main">
            <a:off x="609600" y="333375"/>
            <a:ext cx="10477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1">
                <a:solidFill>
                  <a:srgbClr val="087E83"/>
                </a:solidFill>
                <a:latin typeface="Helvetica Neue"/>
                <a:ea typeface="Helvetica Neue"/>
                <a:cs typeface="Helvetica Neue"/>
              </a:defRPr>
            </a:pPr>
            <a:r>
              <a:rPr sz="1275" b="1">
                <a:solidFill>
                  <a:srgbClr val="087E83"/>
                </a:solidFill>
                <a:latin typeface="Helvetica Neue"/>
                <a:ea typeface="Helvetica Neue"/>
                <a:cs typeface="Helvetica Neue"/>
              </a:rPr>
              <a:t>01 / YÜRÜTME VE BEKLEME</a:t>
            </a:r>
          </a:p>
        </p:txBody>
      </p:sp>
      <p:sp>
        <p:nvSpPr>
          <p:cNvPr id="2" name="">
            <a:extLst xmlns:a="http://schemas.openxmlformats.org/drawingml/2006/main">
              <a:ext uri="{FF2B5EF4-FFF2-40B4-BE49-F238E27FC236}">
                <a16:creationId xmlns:a16="http://schemas.microsoft.com/office/drawing/2014/main" id="{3C8C1AAD-789F-4AE5-BB63-19C8857C33B7}"/>
              </a:ext>
            </a:extLst>
          </p:cNvPr>
          <p:cNvSpPr>
            <a:spLocks xmlns:a="http://schemas.openxmlformats.org/drawingml/2006/main" noGrp="1"/>
          </p:cNvSpPr>
          <p:nvPr/>
        </p:nvSpPr>
        <p:spPr>
          <a:xfrm xmlns:a="http://schemas.openxmlformats.org/drawingml/2006/main">
            <a:off x="609600" y="819150"/>
            <a:ext cx="109728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22C42"/>
                </a:solidFill>
                <a:latin typeface="Helvetica Neue"/>
                <a:ea typeface="Helvetica Neue"/>
                <a:cs typeface="Helvetica Neue"/>
              </a:defRPr>
            </a:pPr>
            <a:r>
              <a:rPr sz="3300" b="1">
                <a:solidFill>
                  <a:srgbClr val="122C42"/>
                </a:solidFill>
                <a:latin typeface="Helvetica Neue"/>
                <a:ea typeface="Helvetica Neue"/>
                <a:cs typeface="Helvetica Neue"/>
              </a:rPr>
              <a:t>A ve B: CPU şu anda kimin?</a:t>
            </a:r>
          </a:p>
        </p:txBody>
      </p:sp>
      <p:sp>
        <p:nvSpPr>
          <p:cNvPr id="3" name="">
            <a:extLst xmlns:a="http://schemas.openxmlformats.org/drawingml/2006/main">
              <a:ext uri="{FF2B5EF4-FFF2-40B4-BE49-F238E27FC236}">
                <a16:creationId xmlns:a16="http://schemas.microsoft.com/office/drawing/2014/main" id="{FF99BF0B-04E3-40CD-86A0-DD394CF02581}"/>
              </a:ext>
            </a:extLst>
          </p:cNvPr>
          <p:cNvSpPr>
            <a:spLocks xmlns:a="http://schemas.openxmlformats.org/drawingml/2006/main" noGrp="1"/>
          </p:cNvSpPr>
          <p:nvPr/>
        </p:nvSpPr>
        <p:spPr>
          <a:xfrm xmlns:a="http://schemas.openxmlformats.org/drawingml/2006/main">
            <a:off x="609600" y="1695450"/>
            <a:ext cx="10953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4D606A"/>
                </a:solidFill>
                <a:latin typeface="Helvetica Neue"/>
                <a:ea typeface="Helvetica Neue"/>
                <a:cs typeface="Helvetica Neue"/>
              </a:defRPr>
            </a:pPr>
            <a:r>
              <a:rPr sz="1875" b="0">
                <a:solidFill>
                  <a:srgbClr val="4D606A"/>
                </a:solidFill>
                <a:latin typeface="Helvetica Neue"/>
                <a:ea typeface="Helvetica Neue"/>
                <a:cs typeface="Helvetica Neue"/>
              </a:rPr>
              <a:t>Varsayım: tek mantıksal CPU. t3’te scheduler B’yi devam ettiriyor.</a:t>
            </a:r>
          </a:p>
        </p:txBody>
      </p:sp>
      <p:graphicFrame>
        <p:nvGraphicFramePr>
          <p:cNvPr id="11" name=""/>
          <p:cNvGraphicFramePr/>
          <p:nvPr/>
        </p:nvGraphicFramePr>
        <p:xfrm>
          <a:off xmlns:a="http://schemas.openxmlformats.org/drawingml/2006/main" x="609600" y="2352675"/>
          <a:ext xmlns:a="http://schemas.openxmlformats.org/drawingml/2006/main" cx="10972800" cy="2743200"/>
        </p:xfrm>
        <a:graphic xmlns:a="http://schemas.openxmlformats.org/drawingml/2006/main">
          <a:graphicData uri="http://schemas.openxmlformats.org/drawingml/2006/table">
            <a:tbl>
              <a:tblPr/>
              <a:tblGrid>
                <a:gridCol w="4718304"/>
                <a:gridCol w="2194560"/>
                <a:gridCol w="2194560"/>
                <a:gridCol w="1865376"/>
              </a:tblGrid>
              <a:tr h="457200">
                <a:tc>
                  <a:txBody>
                    <a:bodyPr/>
                    <a:lstStyle/>
                    <a:p>
                      <a:r>
                        <a:rPr sz="1575" b="1">
                          <a:solidFill>
                            <a:srgbClr val="FFFFFF"/>
                          </a:solidFill>
                          <a:latin typeface="Helvetica Neue"/>
                          <a:ea typeface="Helvetica Neue"/>
                          <a:cs typeface="Helvetica Neue"/>
                        </a:rPr>
                        <a:t>Zaman / olay</a:t>
                      </a:r>
                    </a:p>
                  </a:txBody>
                  <a:tcPr marL="142875" marR="142875" marT="47625" marB="47625" anchor="ctr">
                    <a:solidFill>
                      <a:srgbClr val="122C42"/>
                    </a:solidFill>
                  </a:tcPr>
                </a:tc>
                <a:tc>
                  <a:txBody>
                    <a:bodyPr/>
                    <a:lstStyle/>
                    <a:p>
                      <a:r>
                        <a:rPr sz="1575" b="1">
                          <a:solidFill>
                            <a:srgbClr val="FFFFFF"/>
                          </a:solidFill>
                          <a:latin typeface="Helvetica Neue"/>
                          <a:ea typeface="Helvetica Neue"/>
                          <a:cs typeface="Helvetica Neue"/>
                        </a:rPr>
                        <a:t>A</a:t>
                      </a:r>
                    </a:p>
                  </a:txBody>
                  <a:tcPr marL="142875" marR="142875" marT="47625" marB="47625" anchor="ctr">
                    <a:solidFill>
                      <a:srgbClr val="122C42"/>
                    </a:solidFill>
                  </a:tcPr>
                </a:tc>
                <a:tc>
                  <a:txBody>
                    <a:bodyPr/>
                    <a:lstStyle/>
                    <a:p>
                      <a:r>
                        <a:rPr sz="1575" b="1">
                          <a:solidFill>
                            <a:srgbClr val="FFFFFF"/>
                          </a:solidFill>
                          <a:latin typeface="Helvetica Neue"/>
                          <a:ea typeface="Helvetica Neue"/>
                          <a:cs typeface="Helvetica Neue"/>
                        </a:rPr>
                        <a:t>B</a:t>
                      </a:r>
                    </a:p>
                  </a:txBody>
                  <a:tcPr marL="142875" marR="142875" marT="47625" marB="47625" anchor="ctr">
                    <a:solidFill>
                      <a:srgbClr val="122C42"/>
                    </a:solidFill>
                  </a:tcPr>
                </a:tc>
                <a:tc>
                  <a:txBody>
                    <a:bodyPr/>
                    <a:lstStyle/>
                    <a:p>
                      <a:r>
                        <a:rPr sz="1575" b="1">
                          <a:solidFill>
                            <a:srgbClr val="FFFFFF"/>
                          </a:solidFill>
                          <a:latin typeface="Helvetica Neue"/>
                          <a:ea typeface="Helvetica Neue"/>
                          <a:cs typeface="Helvetica Neue"/>
                        </a:rPr>
                        <a:t>CPU</a:t>
                      </a:r>
                    </a:p>
                  </a:txBody>
                  <a:tcPr marL="142875" marR="142875" marT="47625" marB="47625" anchor="ctr">
                    <a:solidFill>
                      <a:srgbClr val="122C42"/>
                    </a:solidFill>
                  </a:tcPr>
                </a:tc>
              </a:tr>
              <a:tr h="457200">
                <a:tc>
                  <a:txBody>
                    <a:bodyPr/>
                    <a:lstStyle/>
                    <a:p>
                      <a:r>
                        <a:rPr sz="1650" b="0">
                          <a:solidFill>
                            <a:srgbClr val="122C42"/>
                          </a:solidFill>
                          <a:latin typeface="Helvetica Neue"/>
                          <a:ea typeface="Helvetica Neue"/>
                          <a:cs typeface="Helvetica Neue"/>
                        </a:rPr>
                        <a:t>t0: başlangıç</a:t>
                      </a:r>
                    </a:p>
                  </a:txBody>
                  <a:tcPr marL="142875" marR="142875" marT="47625" marB="47625" anchor="ctr">
                    <a:solidFill>
                      <a:srgbClr val="FFFFFF"/>
                    </a:solidFill>
                  </a:tcPr>
                </a:tc>
                <a:tc>
                  <a:txBody>
                    <a:bodyPr/>
                    <a:lstStyle/>
                    <a:p>
                      <a:r>
                        <a:rPr sz="1650" b="0">
                          <a:solidFill>
                            <a:srgbClr val="122C42"/>
                          </a:solidFill>
                          <a:latin typeface="Helvetica Neue"/>
                          <a:ea typeface="Helvetica Neue"/>
                          <a:cs typeface="Helvetica Neue"/>
                        </a:rPr>
                        <a:t>running</a:t>
                      </a:r>
                    </a:p>
                  </a:txBody>
                  <a:tcPr marL="142875" marR="142875" marT="47625" marB="47625" anchor="ctr">
                    <a:solidFill>
                      <a:srgbClr val="FFFFFF"/>
                    </a:solidFill>
                  </a:tcPr>
                </a:tc>
                <a:tc>
                  <a:txBody>
                    <a:bodyPr/>
                    <a:lstStyle/>
                    <a:p>
                      <a:r>
                        <a:rPr sz="1650" b="0">
                          <a:solidFill>
                            <a:srgbClr val="122C42"/>
                          </a:solidFill>
                          <a:latin typeface="Helvetica Neue"/>
                          <a:ea typeface="Helvetica Neue"/>
                          <a:cs typeface="Helvetica Neue"/>
                        </a:rPr>
                        <a:t>ready</a:t>
                      </a:r>
                    </a:p>
                  </a:txBody>
                  <a:tcPr marL="142875" marR="142875" marT="47625" marB="47625" anchor="ctr">
                    <a:solidFill>
                      <a:srgbClr val="FFFFFF"/>
                    </a:solidFill>
                  </a:tcPr>
                </a:tc>
                <a:tc>
                  <a:txBody>
                    <a:bodyPr/>
                    <a:lstStyle/>
                    <a:p>
                      <a:r>
                        <a:rPr sz="1650" b="0">
                          <a:solidFill>
                            <a:srgbClr val="122C42"/>
                          </a:solidFill>
                          <a:latin typeface="Helvetica Neue"/>
                          <a:ea typeface="Helvetica Neue"/>
                          <a:cs typeface="Helvetica Neue"/>
                        </a:rPr>
                        <a:t>A</a:t>
                      </a:r>
                    </a:p>
                  </a:txBody>
                  <a:tcPr marL="142875" marR="142875" marT="47625" marB="47625" anchor="ctr">
                    <a:solidFill>
                      <a:srgbClr val="FFFFFF"/>
                    </a:solidFill>
                  </a:tcPr>
                </a:tc>
              </a:tr>
              <a:tr h="457200">
                <a:tc>
                  <a:txBody>
                    <a:bodyPr/>
                    <a:lstStyle/>
                    <a:p>
                      <a:r>
                        <a:rPr sz="1650" b="0">
                          <a:solidFill>
                            <a:srgbClr val="122C42"/>
                          </a:solidFill>
                          <a:latin typeface="Helvetica Neue"/>
                          <a:ea typeface="Helvetica Neue"/>
                          <a:cs typeface="Helvetica Neue"/>
                        </a:rPr>
                        <a:t>t1: A, disk verisinde bloklanır</a:t>
                      </a:r>
                    </a:p>
                  </a:txBody>
                  <a:tcPr marL="142875" marR="142875" marT="47625" marB="47625" anchor="ctr">
                    <a:solidFill>
                      <a:srgbClr val="ECF0EC"/>
                    </a:solidFill>
                  </a:tcPr>
                </a:tc>
                <a:tc>
                  <a:txBody>
                    <a:bodyPr/>
                    <a:lstStyle/>
                    <a:p>
                      <a:r>
                        <a:rPr sz="1650" b="0">
                          <a:solidFill>
                            <a:srgbClr val="122C42"/>
                          </a:solidFill>
                          <a:latin typeface="Helvetica Neue"/>
                          <a:ea typeface="Helvetica Neue"/>
                          <a:cs typeface="Helvetica Neue"/>
                        </a:rPr>
                        <a:t>waiting</a:t>
                      </a:r>
                    </a:p>
                  </a:txBody>
                  <a:tcPr marL="142875" marR="142875" marT="47625" marB="47625" anchor="ctr">
                    <a:solidFill>
                      <a:srgbClr val="ECF0EC"/>
                    </a:solidFill>
                  </a:tcPr>
                </a:tc>
                <a:tc>
                  <a:txBody>
                    <a:bodyPr/>
                    <a:lstStyle/>
                    <a:p>
                      <a:r>
                        <a:rPr sz="1650" b="0">
                          <a:solidFill>
                            <a:srgbClr val="122C42"/>
                          </a:solidFill>
                          <a:latin typeface="Helvetica Neue"/>
                          <a:ea typeface="Helvetica Neue"/>
                          <a:cs typeface="Helvetica Neue"/>
                        </a:rPr>
                        <a:t>ready</a:t>
                      </a:r>
                    </a:p>
                  </a:txBody>
                  <a:tcPr marL="142875" marR="142875" marT="47625" marB="47625" anchor="ctr">
                    <a:solidFill>
                      <a:srgbClr val="ECF0EC"/>
                    </a:solidFill>
                  </a:tcPr>
                </a:tc>
                <a:tc>
                  <a:txBody>
                    <a:bodyPr/>
                    <a:lstStyle/>
                    <a:p>
                      <a:r>
                        <a:rPr sz="1650" b="0">
                          <a:solidFill>
                            <a:srgbClr val="122C42"/>
                          </a:solidFill>
                          <a:latin typeface="Helvetica Neue"/>
                          <a:ea typeface="Helvetica Neue"/>
                          <a:cs typeface="Helvetica Neue"/>
                        </a:rPr>
                        <a:t>henüz seçilmedi</a:t>
                      </a:r>
                    </a:p>
                  </a:txBody>
                  <a:tcPr marL="142875" marR="142875" marT="47625" marB="47625" anchor="ctr">
                    <a:solidFill>
                      <a:srgbClr val="ECF0EC"/>
                    </a:solidFill>
                  </a:tcPr>
                </a:tc>
              </a:tr>
              <a:tr h="457200">
                <a:tc>
                  <a:txBody>
                    <a:bodyPr/>
                    <a:lstStyle/>
                    <a:p>
                      <a:r>
                        <a:rPr sz="1650" b="0">
                          <a:solidFill>
                            <a:srgbClr val="122C42"/>
                          </a:solidFill>
                          <a:latin typeface="Helvetica Neue"/>
                          <a:ea typeface="Helvetica Neue"/>
                          <a:cs typeface="Helvetica Neue"/>
                        </a:rPr>
                        <a:t>t2: scheduler B’yi seçer</a:t>
                      </a:r>
                    </a:p>
                  </a:txBody>
                  <a:tcPr marL="142875" marR="142875" marT="47625" marB="47625" anchor="ctr">
                    <a:solidFill>
                      <a:srgbClr val="FFFFFF"/>
                    </a:solidFill>
                  </a:tcPr>
                </a:tc>
                <a:tc>
                  <a:txBody>
                    <a:bodyPr/>
                    <a:lstStyle/>
                    <a:p>
                      <a:r>
                        <a:rPr sz="1650" b="0">
                          <a:solidFill>
                            <a:srgbClr val="122C42"/>
                          </a:solidFill>
                          <a:latin typeface="Helvetica Neue"/>
                          <a:ea typeface="Helvetica Neue"/>
                          <a:cs typeface="Helvetica Neue"/>
                        </a:rPr>
                        <a:t>waiting</a:t>
                      </a:r>
                    </a:p>
                  </a:txBody>
                  <a:tcPr marL="142875" marR="142875" marT="47625" marB="47625" anchor="ctr">
                    <a:solidFill>
                      <a:srgbClr val="FFFFFF"/>
                    </a:solidFill>
                  </a:tcPr>
                </a:tc>
                <a:tc>
                  <a:txBody>
                    <a:bodyPr/>
                    <a:lstStyle/>
                    <a:p>
                      <a:r>
                        <a:rPr sz="1650" b="0">
                          <a:solidFill>
                            <a:srgbClr val="122C42"/>
                          </a:solidFill>
                          <a:latin typeface="Helvetica Neue"/>
                          <a:ea typeface="Helvetica Neue"/>
                          <a:cs typeface="Helvetica Neue"/>
                        </a:rPr>
                        <a:t>running</a:t>
                      </a:r>
                    </a:p>
                  </a:txBody>
                  <a:tcPr marL="142875" marR="142875" marT="47625" marB="47625" anchor="ctr">
                    <a:solidFill>
                      <a:srgbClr val="FFFFFF"/>
                    </a:solidFill>
                  </a:tcPr>
                </a:tc>
                <a:tc>
                  <a:txBody>
                    <a:bodyPr/>
                    <a:lstStyle/>
                    <a:p>
                      <a:r>
                        <a:rPr sz="1650" b="0">
                          <a:solidFill>
                            <a:srgbClr val="122C42"/>
                          </a:solidFill>
                          <a:latin typeface="Helvetica Neue"/>
                          <a:ea typeface="Helvetica Neue"/>
                          <a:cs typeface="Helvetica Neue"/>
                        </a:rPr>
                        <a:t>B</a:t>
                      </a:r>
                    </a:p>
                  </a:txBody>
                  <a:tcPr marL="142875" marR="142875" marT="47625" marB="47625" anchor="ctr">
                    <a:solidFill>
                      <a:srgbClr val="FFFFFF"/>
                    </a:solidFill>
                  </a:tcPr>
                </a:tc>
              </a:tr>
              <a:tr h="457200">
                <a:tc>
                  <a:txBody>
                    <a:bodyPr/>
                    <a:lstStyle/>
                    <a:p>
                      <a:r>
                        <a:rPr sz="1650" b="0">
                          <a:solidFill>
                            <a:srgbClr val="122C42"/>
                          </a:solidFill>
                          <a:latin typeface="Helvetica Neue"/>
                          <a:ea typeface="Helvetica Neue"/>
                          <a:cs typeface="Helvetica Neue"/>
                        </a:rPr>
                        <a:t>t3: A’nın I/O’su biter</a:t>
                      </a:r>
                    </a:p>
                  </a:txBody>
                  <a:tcPr marL="142875" marR="142875" marT="47625" marB="47625" anchor="ctr">
                    <a:solidFill>
                      <a:srgbClr val="ECF0EC"/>
                    </a:solidFill>
                  </a:tcPr>
                </a:tc>
                <a:tc>
                  <a:txBody>
                    <a:bodyPr/>
                    <a:lstStyle/>
                    <a:p>
                      <a:r>
                        <a:rPr sz="1650" b="0">
                          <a:solidFill>
                            <a:srgbClr val="122C42"/>
                          </a:solidFill>
                          <a:latin typeface="Helvetica Neue"/>
                          <a:ea typeface="Helvetica Neue"/>
                          <a:cs typeface="Helvetica Neue"/>
                        </a:rPr>
                        <a:t>?</a:t>
                      </a:r>
                    </a:p>
                  </a:txBody>
                  <a:tcPr marL="142875" marR="142875" marT="47625" marB="47625" anchor="ctr">
                    <a:solidFill>
                      <a:srgbClr val="ECF0EC"/>
                    </a:solidFill>
                  </a:tcPr>
                </a:tc>
                <a:tc>
                  <a:txBody>
                    <a:bodyPr/>
                    <a:lstStyle/>
                    <a:p>
                      <a:r>
                        <a:rPr sz="1650" b="0">
                          <a:solidFill>
                            <a:srgbClr val="122C42"/>
                          </a:solidFill>
                          <a:latin typeface="Helvetica Neue"/>
                          <a:ea typeface="Helvetica Neue"/>
                          <a:cs typeface="Helvetica Neue"/>
                        </a:rPr>
                        <a:t>?</a:t>
                      </a:r>
                    </a:p>
                  </a:txBody>
                  <a:tcPr marL="142875" marR="142875" marT="47625" marB="47625" anchor="ctr">
                    <a:solidFill>
                      <a:srgbClr val="ECF0EC"/>
                    </a:solidFill>
                  </a:tcPr>
                </a:tc>
                <a:tc>
                  <a:txBody>
                    <a:bodyPr/>
                    <a:lstStyle/>
                    <a:p>
                      <a:r>
                        <a:rPr sz="1650" b="0">
                          <a:solidFill>
                            <a:srgbClr val="122C42"/>
                          </a:solidFill>
                          <a:latin typeface="Helvetica Neue"/>
                          <a:ea typeface="Helvetica Neue"/>
                          <a:cs typeface="Helvetica Neue"/>
                        </a:rPr>
                        <a:t>?</a:t>
                      </a:r>
                    </a:p>
                  </a:txBody>
                  <a:tcPr marL="142875" marR="142875" marT="47625" marB="47625" anchor="ctr">
                    <a:solidFill>
                      <a:srgbClr val="ECF0EC"/>
                    </a:solidFill>
                  </a:tcPr>
                </a:tc>
              </a:tr>
              <a:tr h="457200">
                <a:tc>
                  <a:txBody>
                    <a:bodyPr/>
                    <a:lstStyle/>
                    <a:p>
                      <a:r>
                        <a:rPr sz="1650" b="0">
                          <a:solidFill>
                            <a:srgbClr val="122C42"/>
                          </a:solidFill>
                          <a:latin typeface="Helvetica Neue"/>
                          <a:ea typeface="Helvetica Neue"/>
                          <a:cs typeface="Helvetica Neue"/>
                        </a:rPr>
                        <a:t>t4: B bloklanır, A seçilir</a:t>
                      </a:r>
                    </a:p>
                  </a:txBody>
                  <a:tcPr marL="142875" marR="142875" marT="47625" marB="47625" anchor="ctr">
                    <a:solidFill>
                      <a:srgbClr val="FFFFFF"/>
                    </a:solidFill>
                  </a:tcPr>
                </a:tc>
                <a:tc>
                  <a:txBody>
                    <a:bodyPr/>
                    <a:lstStyle/>
                    <a:p>
                      <a:r>
                        <a:rPr sz="1650" b="0">
                          <a:solidFill>
                            <a:srgbClr val="122C42"/>
                          </a:solidFill>
                          <a:latin typeface="Helvetica Neue"/>
                          <a:ea typeface="Helvetica Neue"/>
                          <a:cs typeface="Helvetica Neue"/>
                        </a:rPr>
                        <a:t>?</a:t>
                      </a:r>
                    </a:p>
                  </a:txBody>
                  <a:tcPr marL="142875" marR="142875" marT="47625" marB="47625" anchor="ctr">
                    <a:solidFill>
                      <a:srgbClr val="FFFFFF"/>
                    </a:solidFill>
                  </a:tcPr>
                </a:tc>
                <a:tc>
                  <a:txBody>
                    <a:bodyPr/>
                    <a:lstStyle/>
                    <a:p>
                      <a:r>
                        <a:rPr sz="1650" b="0">
                          <a:solidFill>
                            <a:srgbClr val="122C42"/>
                          </a:solidFill>
                          <a:latin typeface="Helvetica Neue"/>
                          <a:ea typeface="Helvetica Neue"/>
                          <a:cs typeface="Helvetica Neue"/>
                        </a:rPr>
                        <a:t>?</a:t>
                      </a:r>
                    </a:p>
                  </a:txBody>
                  <a:tcPr marL="142875" marR="142875" marT="47625" marB="47625" anchor="ctr">
                    <a:solidFill>
                      <a:srgbClr val="FFFFFF"/>
                    </a:solidFill>
                  </a:tcPr>
                </a:tc>
                <a:tc>
                  <a:txBody>
                    <a:bodyPr/>
                    <a:lstStyle/>
                    <a:p>
                      <a:r>
                        <a:rPr sz="1650" b="0">
                          <a:solidFill>
                            <a:srgbClr val="122C42"/>
                          </a:solidFill>
                          <a:latin typeface="Helvetica Neue"/>
                          <a:ea typeface="Helvetica Neue"/>
                          <a:cs typeface="Helvetica Neue"/>
                        </a:rPr>
                        <a:t>?</a:t>
                      </a:r>
                    </a:p>
                  </a:txBody>
                  <a:tcPr marL="142875" marR="142875" marT="47625" marB="47625"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2BC9E705-30B2-4B80-B515-A70414A5E5A6}"/>
              </a:ext>
            </a:extLst>
          </p:cNvPr>
          <p:cNvSpPr>
            <a:spLocks xmlns:a="http://schemas.openxmlformats.org/drawingml/2006/main" noGrp="1"/>
          </p:cNvSpPr>
          <p:nvPr/>
        </p:nvSpPr>
        <p:spPr>
          <a:xfrm xmlns:a="http://schemas.openxmlformats.org/drawingml/2006/main">
            <a:off x="609600" y="5334000"/>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1">
                <a:solidFill>
                  <a:srgbClr val="087E83"/>
                </a:solidFill>
                <a:latin typeface="Helvetica Neue"/>
                <a:ea typeface="Helvetica Neue"/>
                <a:cs typeface="Helvetica Neue"/>
              </a:defRPr>
            </a:pPr>
            <a:r>
              <a:rPr sz="1875" b="1">
                <a:solidFill>
                  <a:srgbClr val="087E83"/>
                </a:solidFill>
                <a:latin typeface="Helvetica Neue"/>
                <a:ea typeface="Helvetica Neue"/>
                <a:cs typeface="Helvetica Neue"/>
              </a:rPr>
              <a:t>Düşün: Son iki satırı tamamla. I/O bitişi neden CPU sahipliğini tek başına belirlemez?</a:t>
            </a:r>
          </a:p>
        </p:txBody>
      </p:sp>
      <p:sp>
        <p:nvSpPr>
          <p:cNvPr id="6" name="">
            <a:extLst xmlns:a="http://schemas.openxmlformats.org/drawingml/2006/main">
              <a:ext uri="{FF2B5EF4-FFF2-40B4-BE49-F238E27FC236}">
                <a16:creationId xmlns:a16="http://schemas.microsoft.com/office/drawing/2014/main" id="{4199BA74-446B-429D-A335-971C46F076E2}"/>
              </a:ext>
            </a:extLst>
          </p:cNvPr>
          <p:cNvSpPr>
            <a:spLocks xmlns:a="http://schemas.openxmlformats.org/drawingml/2006/main" noGrp="1"/>
          </p:cNvSpPr>
          <p:nvPr/>
        </p:nvSpPr>
        <p:spPr>
          <a:xfrm xmlns:a="http://schemas.openxmlformats.org/drawingml/2006/main">
            <a:off x="609600" y="64960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4D606A"/>
                </a:solidFill>
                <a:latin typeface="Helvetica Neue"/>
                <a:ea typeface="Helvetica Neue"/>
                <a:cs typeface="Helvetica Neue"/>
              </a:defRPr>
            </a:pPr>
            <a:r>
              <a:rPr sz="1125" b="0">
                <a:solidFill>
                  <a:srgbClr val="4D606A"/>
                </a:solidFill>
                <a:latin typeface="Helvetica Neue"/>
                <a:ea typeface="Helvetica Neue"/>
                <a:cs typeface="Helvetica Neue"/>
              </a:rPr>
              <a:t>CSE513 · İlk hafta / öğrenme pilotu</a:t>
            </a:r>
          </a:p>
        </p:txBody>
      </p:sp>
      <p:sp>
        <p:nvSpPr>
          <p:cNvPr id="7" name="">
            <a:extLst xmlns:a="http://schemas.openxmlformats.org/drawingml/2006/main">
              <a:ext uri="{FF2B5EF4-FFF2-40B4-BE49-F238E27FC236}">
                <a16:creationId xmlns:a16="http://schemas.microsoft.com/office/drawing/2014/main" id="{F4DB8E48-A3FA-4FF9-9175-39F529D830F7}"/>
              </a:ext>
            </a:extLst>
          </p:cNvPr>
          <p:cNvSpPr>
            <a:spLocks xmlns:a="http://schemas.openxmlformats.org/drawingml/2006/main" noGrp="1"/>
          </p:cNvSpPr>
          <p:nvPr/>
        </p:nvSpPr>
        <p:spPr>
          <a:xfrm xmlns:a="http://schemas.openxmlformats.org/drawingml/2006/main">
            <a:off x="10572750" y="6457950"/>
            <a:ext cx="1000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087E83"/>
                </a:solidFill>
                <a:latin typeface="Helvetica Neue"/>
                <a:ea typeface="Helvetica Neue"/>
                <a:cs typeface="Helvetica Neue"/>
              </a:defRPr>
            </a:pPr>
            <a:r>
              <a:rPr sz="1350" b="1">
                <a:solidFill>
                  <a:srgbClr val="087E83"/>
                </a:solidFill>
                <a:latin typeface="Helvetica Neue"/>
                <a:ea typeface="Helvetica Neue"/>
                <a:cs typeface="Helvetica Neue"/>
              </a:rPr>
              <a:t>10 / 28</a:t>
            </a:r>
          </a:p>
        </p:txBody>
      </p:sp>
    </p:spTree>
    <p:extLst>
      <p:ext uri="{BB962C8B-B14F-4D97-AF65-F5344CB8AC3E}">
        <p14:creationId xmlns:p14="http://schemas.microsoft.com/office/powerpoint/2010/main" val="1177044623"/>
      </p:ext>
    </p:extLst>
  </p:cSld>
</p:sld>
</file>

<file path=ppt/slides/slide11.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76252C95-F43A-4ED8-852E-BF0A66EE108A}"/>
              </a:ext>
            </a:extLst>
          </p:cNvPr>
          <p:cNvSpPr>
            <a:spLocks xmlns:a="http://schemas.openxmlformats.org/drawingml/2006/main" noGrp="1"/>
          </p:cNvSpPr>
          <p:nvPr/>
        </p:nvSpPr>
        <p:spPr>
          <a:xfrm xmlns:a="http://schemas.openxmlformats.org/drawingml/2006/main">
            <a:off x="609600" y="333375"/>
            <a:ext cx="10477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1">
                <a:solidFill>
                  <a:srgbClr val="087E83"/>
                </a:solidFill>
                <a:latin typeface="Helvetica Neue"/>
                <a:ea typeface="Helvetica Neue"/>
                <a:cs typeface="Helvetica Neue"/>
              </a:defRPr>
            </a:pPr>
            <a:r>
              <a:rPr sz="1275" b="1">
                <a:solidFill>
                  <a:srgbClr val="087E83"/>
                </a:solidFill>
                <a:latin typeface="Helvetica Neue"/>
                <a:ea typeface="Helvetica Neue"/>
                <a:cs typeface="Helvetica Neue"/>
              </a:rPr>
              <a:t>01 / YÜRÜTME VE BEKLEME</a:t>
            </a:r>
          </a:p>
        </p:txBody>
      </p:sp>
      <p:sp>
        <p:nvSpPr>
          <p:cNvPr id="2" name="">
            <a:extLst xmlns:a="http://schemas.openxmlformats.org/drawingml/2006/main">
              <a:ext uri="{FF2B5EF4-FFF2-40B4-BE49-F238E27FC236}">
                <a16:creationId xmlns:a16="http://schemas.microsoft.com/office/drawing/2014/main" id="{EC0872CF-DC00-4798-BE43-5C1A02B399C4}"/>
              </a:ext>
            </a:extLst>
          </p:cNvPr>
          <p:cNvSpPr>
            <a:spLocks xmlns:a="http://schemas.openxmlformats.org/drawingml/2006/main" noGrp="1"/>
          </p:cNvSpPr>
          <p:nvPr/>
        </p:nvSpPr>
        <p:spPr>
          <a:xfrm xmlns:a="http://schemas.openxmlformats.org/drawingml/2006/main">
            <a:off x="609600" y="819150"/>
            <a:ext cx="109728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22C42"/>
                </a:solidFill>
                <a:latin typeface="Helvetica Neue"/>
                <a:ea typeface="Helvetica Neue"/>
                <a:cs typeface="Helvetica Neue"/>
              </a:defRPr>
            </a:pPr>
            <a:r>
              <a:rPr sz="3300" b="1">
                <a:solidFill>
                  <a:srgbClr val="122C42"/>
                </a:solidFill>
                <a:latin typeface="Helvetica Neue"/>
                <a:ea typeface="Helvetica Neue"/>
                <a:cs typeface="Helvetica Neue"/>
              </a:rPr>
              <a:t>CPU işi ve I/O beklemesi</a:t>
            </a:r>
          </a:p>
        </p:txBody>
      </p:sp>
      <p:sp>
        <p:nvSpPr>
          <p:cNvPr id="3" name="">
            <a:extLst xmlns:a="http://schemas.openxmlformats.org/drawingml/2006/main">
              <a:ext uri="{FF2B5EF4-FFF2-40B4-BE49-F238E27FC236}">
                <a16:creationId xmlns:a16="http://schemas.microsoft.com/office/drawing/2014/main" id="{C74A531E-685B-46B2-A09F-92208731E33F}"/>
              </a:ext>
            </a:extLst>
          </p:cNvPr>
          <p:cNvSpPr>
            <a:spLocks xmlns:a="http://schemas.openxmlformats.org/drawingml/2006/main" noGrp="1"/>
          </p:cNvSpPr>
          <p:nvPr/>
        </p:nvSpPr>
        <p:spPr>
          <a:xfrm xmlns:a="http://schemas.openxmlformats.org/drawingml/2006/main">
            <a:off x="609600" y="2095500"/>
            <a:ext cx="500062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087E83"/>
                </a:solidFill>
                <a:latin typeface="Helvetica Neue"/>
                <a:ea typeface="Helvetica Neue"/>
                <a:cs typeface="Helvetica Neue"/>
              </a:defRPr>
            </a:pPr>
            <a:r>
              <a:rPr sz="2250" b="1">
                <a:solidFill>
                  <a:srgbClr val="087E83"/>
                </a:solidFill>
                <a:latin typeface="Helvetica Neue"/>
                <a:ea typeface="Helvetica Neue"/>
                <a:cs typeface="Helvetica Neue"/>
              </a:rPr>
              <a:t>CPU burst</a:t>
            </a:r>
          </a:p>
        </p:txBody>
      </p:sp>
      <p:sp>
        <p:nvSpPr>
          <p:cNvPr id="4" name="">
            <a:extLst xmlns:a="http://schemas.openxmlformats.org/drawingml/2006/main">
              <a:ext uri="{FF2B5EF4-FFF2-40B4-BE49-F238E27FC236}">
                <a16:creationId xmlns:a16="http://schemas.microsoft.com/office/drawing/2014/main" id="{2ACEED65-E5C9-41C9-A82E-131338770E27}"/>
              </a:ext>
            </a:extLst>
          </p:cNvPr>
          <p:cNvSpPr>
            <a:spLocks xmlns:a="http://schemas.openxmlformats.org/drawingml/2006/main" noGrp="1"/>
          </p:cNvSpPr>
          <p:nvPr/>
        </p:nvSpPr>
        <p:spPr>
          <a:xfrm xmlns:a="http://schemas.openxmlformats.org/drawingml/2006/main">
            <a:off x="609600" y="2762250"/>
            <a:ext cx="5000625"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325" b="0">
                <a:solidFill>
                  <a:srgbClr val="122C42"/>
                </a:solidFill>
                <a:latin typeface="Helvetica Neue"/>
                <a:ea typeface="Helvetica Neue"/>
                <a:cs typeface="Helvetica Neue"/>
              </a:defRPr>
            </a:pPr>
            <a:r>
              <a:rPr sz="2325" b="0">
                <a:solidFill>
                  <a:srgbClr val="122C42"/>
                </a:solidFill>
                <a:latin typeface="Helvetica Neue"/>
                <a:ea typeface="Helvetica Neue"/>
                <a:cs typeface="Helvetica Neue"/>
              </a:rPr>
              <a:t>Hesaplama, ayrıştırma</a:t>
            </a:r>
          </a:p>
          <a:p xmlns:a="http://schemas.openxmlformats.org/drawingml/2006/main">
            <a:pPr>
              <a:defRPr sz="2325" b="0">
                <a:solidFill>
                  <a:srgbClr val="122C42"/>
                </a:solidFill>
                <a:latin typeface="Helvetica Neue"/>
                <a:ea typeface="Helvetica Neue"/>
                <a:cs typeface="Helvetica Neue"/>
              </a:defRPr>
            </a:pPr>
            <a:r>
              <a:rPr sz="2325" b="0">
                <a:solidFill>
                  <a:srgbClr val="122C42"/>
                </a:solidFill>
                <a:latin typeface="Helvetica Neue"/>
                <a:ea typeface="Helvetica Neue"/>
                <a:cs typeface="Helvetica Neue"/>
              </a:rPr>
              <a:t>Hazır veri üzerinde ilerleme</a:t>
            </a:r>
          </a:p>
          <a:p xmlns:a="http://schemas.openxmlformats.org/drawingml/2006/main">
            <a:pPr>
              <a:defRPr sz="2325" b="0">
                <a:solidFill>
                  <a:srgbClr val="122C42"/>
                </a:solidFill>
                <a:latin typeface="Helvetica Neue"/>
                <a:ea typeface="Helvetica Neue"/>
                <a:cs typeface="Helvetica Neue"/>
              </a:defRPr>
            </a:pPr>
            <a:r>
              <a:rPr sz="2325" b="0">
                <a:solidFill>
                  <a:srgbClr val="122C42"/>
                </a:solidFill>
                <a:latin typeface="Helvetica Neue"/>
                <a:ea typeface="Helvetica Neue"/>
                <a:cs typeface="Helvetica Neue"/>
              </a:rPr>
              <a:t>CPU süresi işe yarar</a:t>
            </a:r>
          </a:p>
        </p:txBody>
      </p:sp>
      <p:sp>
        <p:nvSpPr>
          <p:cNvPr id="5" name="">
            <a:extLst xmlns:a="http://schemas.openxmlformats.org/drawingml/2006/main">
              <a:ext uri="{FF2B5EF4-FFF2-40B4-BE49-F238E27FC236}">
                <a16:creationId xmlns:a16="http://schemas.microsoft.com/office/drawing/2014/main" id="{C040011F-512E-4672-BB1F-D57C2CCC7CE0}"/>
              </a:ext>
            </a:extLst>
          </p:cNvPr>
          <p:cNvSpPr>
            <a:spLocks xmlns:a="http://schemas.openxmlformats.org/drawingml/2006/main" noGrp="1"/>
          </p:cNvSpPr>
          <p:nvPr/>
        </p:nvSpPr>
        <p:spPr>
          <a:xfrm xmlns:a="http://schemas.openxmlformats.org/drawingml/2006/main">
            <a:off x="6229350" y="2095500"/>
            <a:ext cx="500062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087E83"/>
                </a:solidFill>
                <a:latin typeface="Helvetica Neue"/>
                <a:ea typeface="Helvetica Neue"/>
                <a:cs typeface="Helvetica Neue"/>
              </a:defRPr>
            </a:pPr>
            <a:r>
              <a:rPr sz="2250" b="1">
                <a:solidFill>
                  <a:srgbClr val="087E83"/>
                </a:solidFill>
                <a:latin typeface="Helvetica Neue"/>
                <a:ea typeface="Helvetica Neue"/>
                <a:cs typeface="Helvetica Neue"/>
              </a:rPr>
              <a:t>I/O wait</a:t>
            </a:r>
          </a:p>
        </p:txBody>
      </p:sp>
      <p:sp>
        <p:nvSpPr>
          <p:cNvPr id="6" name="">
            <a:extLst xmlns:a="http://schemas.openxmlformats.org/drawingml/2006/main">
              <a:ext uri="{FF2B5EF4-FFF2-40B4-BE49-F238E27FC236}">
                <a16:creationId xmlns:a16="http://schemas.microsoft.com/office/drawing/2014/main" id="{5B5333D8-617A-447C-A912-D29F3C613AF6}"/>
              </a:ext>
            </a:extLst>
          </p:cNvPr>
          <p:cNvSpPr>
            <a:spLocks xmlns:a="http://schemas.openxmlformats.org/drawingml/2006/main" noGrp="1"/>
          </p:cNvSpPr>
          <p:nvPr/>
        </p:nvSpPr>
        <p:spPr>
          <a:xfrm xmlns:a="http://schemas.openxmlformats.org/drawingml/2006/main">
            <a:off x="6229350" y="2762250"/>
            <a:ext cx="5000625"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325" b="0">
                <a:solidFill>
                  <a:srgbClr val="122C42"/>
                </a:solidFill>
                <a:latin typeface="Helvetica Neue"/>
                <a:ea typeface="Helvetica Neue"/>
                <a:cs typeface="Helvetica Neue"/>
              </a:defRPr>
            </a:pPr>
            <a:r>
              <a:rPr sz="2325" b="0">
                <a:solidFill>
                  <a:srgbClr val="122C42"/>
                </a:solidFill>
                <a:latin typeface="Helvetica Neue"/>
                <a:ea typeface="Helvetica Neue"/>
                <a:cs typeface="Helvetica Neue"/>
              </a:rPr>
              <a:t>Henüz gelmemiş veri</a:t>
            </a:r>
          </a:p>
          <a:p xmlns:a="http://schemas.openxmlformats.org/drawingml/2006/main">
            <a:pPr>
              <a:defRPr sz="2325" b="0">
                <a:solidFill>
                  <a:srgbClr val="122C42"/>
                </a:solidFill>
                <a:latin typeface="Helvetica Neue"/>
                <a:ea typeface="Helvetica Neue"/>
                <a:cs typeface="Helvetica Neue"/>
              </a:defRPr>
            </a:pPr>
            <a:r>
              <a:rPr sz="2325" b="0">
                <a:solidFill>
                  <a:srgbClr val="122C42"/>
                </a:solidFill>
                <a:latin typeface="Helvetica Neue"/>
                <a:ea typeface="Helvetica Neue"/>
                <a:cs typeface="Helvetica Neue"/>
              </a:rPr>
              <a:t>Dış olay bağımlılığı</a:t>
            </a:r>
          </a:p>
          <a:p xmlns:a="http://schemas.openxmlformats.org/drawingml/2006/main">
            <a:pPr>
              <a:defRPr sz="2325" b="0">
                <a:solidFill>
                  <a:srgbClr val="122C42"/>
                </a:solidFill>
                <a:latin typeface="Helvetica Neue"/>
                <a:ea typeface="Helvetica Neue"/>
                <a:cs typeface="Helvetica Neue"/>
              </a:defRPr>
            </a:pPr>
            <a:r>
              <a:rPr sz="2325" b="0">
                <a:solidFill>
                  <a:srgbClr val="122C42"/>
                </a:solidFill>
                <a:latin typeface="Helvetica Neue"/>
                <a:ea typeface="Helvetica Neue"/>
                <a:cs typeface="Helvetica Neue"/>
              </a:rPr>
              <a:t>CPU süresi olayı yaratmaz</a:t>
            </a:r>
          </a:p>
        </p:txBody>
      </p:sp>
      <p:sp>
        <p:nvSpPr>
          <p:cNvPr id="7" name="">
            <a:extLst xmlns:a="http://schemas.openxmlformats.org/drawingml/2006/main">
              <a:ext uri="{FF2B5EF4-FFF2-40B4-BE49-F238E27FC236}">
                <a16:creationId xmlns:a16="http://schemas.microsoft.com/office/drawing/2014/main" id="{AB69CF92-776D-465F-AED0-8DC16FF8C5A7}"/>
              </a:ext>
            </a:extLst>
          </p:cNvPr>
          <p:cNvSpPr>
            <a:spLocks xmlns:a="http://schemas.openxmlformats.org/drawingml/2006/main" noGrp="1"/>
          </p:cNvSpPr>
          <p:nvPr/>
        </p:nvSpPr>
        <p:spPr>
          <a:xfrm xmlns:a="http://schemas.openxmlformats.org/drawingml/2006/main">
            <a:off x="609600" y="5391150"/>
            <a:ext cx="109728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1">
                <a:solidFill>
                  <a:srgbClr val="C46225"/>
                </a:solidFill>
                <a:latin typeface="Helvetica Neue"/>
                <a:ea typeface="Helvetica Neue"/>
                <a:cs typeface="Helvetica Neue"/>
              </a:defRPr>
            </a:pPr>
            <a:r>
              <a:rPr sz="2025" b="1">
                <a:solidFill>
                  <a:srgbClr val="C46225"/>
                </a:solidFill>
                <a:latin typeface="Helvetica Neue"/>
                <a:ea typeface="Helvetica Neue"/>
                <a:cs typeface="Helvetica Neue"/>
              </a:rPr>
              <a:t>Düşün: A beklerken B’nin çalışması A’nın diskini hızlandırır mı?</a:t>
            </a:r>
          </a:p>
        </p:txBody>
      </p:sp>
      <p:sp>
        <p:nvSpPr>
          <p:cNvPr id="8" name="">
            <a:extLst xmlns:a="http://schemas.openxmlformats.org/drawingml/2006/main">
              <a:ext uri="{FF2B5EF4-FFF2-40B4-BE49-F238E27FC236}">
                <a16:creationId xmlns:a16="http://schemas.microsoft.com/office/drawing/2014/main" id="{711FE9DD-9EEA-4999-84DE-03682A41DEFF}"/>
              </a:ext>
            </a:extLst>
          </p:cNvPr>
          <p:cNvSpPr>
            <a:spLocks xmlns:a="http://schemas.openxmlformats.org/drawingml/2006/main" noGrp="1"/>
          </p:cNvSpPr>
          <p:nvPr/>
        </p:nvSpPr>
        <p:spPr>
          <a:xfrm xmlns:a="http://schemas.openxmlformats.org/drawingml/2006/main">
            <a:off x="609600" y="6105525"/>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0">
                <a:solidFill>
                  <a:srgbClr val="C46225"/>
                </a:solidFill>
                <a:latin typeface="Helvetica Neue"/>
                <a:ea typeface="Helvetica Neue"/>
                <a:cs typeface="Helvetica Neue"/>
              </a:defRPr>
            </a:pPr>
            <a:r>
              <a:rPr sz="1500" b="0">
                <a:solidFill>
                  <a:srgbClr val="C46225"/>
                </a:solidFill>
                <a:latin typeface="Helvetica Neue"/>
                <a:ea typeface="Helvetica Neue"/>
                <a:cs typeface="Helvetica Neue"/>
              </a:rPr>
              <a:t>Hayatta: Ağ darboğazındaki indirme, ek CPU ile mutlaka hızlanmaz.</a:t>
            </a:r>
          </a:p>
        </p:txBody>
      </p:sp>
      <p:sp>
        <p:nvSpPr>
          <p:cNvPr id="9" name="">
            <a:extLst xmlns:a="http://schemas.openxmlformats.org/drawingml/2006/main">
              <a:ext uri="{FF2B5EF4-FFF2-40B4-BE49-F238E27FC236}">
                <a16:creationId xmlns:a16="http://schemas.microsoft.com/office/drawing/2014/main" id="{D1096300-3447-4627-A832-A2225EF8D32B}"/>
              </a:ext>
            </a:extLst>
          </p:cNvPr>
          <p:cNvSpPr>
            <a:spLocks xmlns:a="http://schemas.openxmlformats.org/drawingml/2006/main" noGrp="1"/>
          </p:cNvSpPr>
          <p:nvPr/>
        </p:nvSpPr>
        <p:spPr>
          <a:xfrm xmlns:a="http://schemas.openxmlformats.org/drawingml/2006/main">
            <a:off x="609600" y="64960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4D606A"/>
                </a:solidFill>
                <a:latin typeface="Helvetica Neue"/>
                <a:ea typeface="Helvetica Neue"/>
                <a:cs typeface="Helvetica Neue"/>
              </a:defRPr>
            </a:pPr>
            <a:r>
              <a:rPr sz="1125" b="0">
                <a:solidFill>
                  <a:srgbClr val="4D606A"/>
                </a:solidFill>
                <a:latin typeface="Helvetica Neue"/>
                <a:ea typeface="Helvetica Neue"/>
                <a:cs typeface="Helvetica Neue"/>
              </a:rPr>
              <a:t>CSE513 · İlk hafta / öğrenme pilotu</a:t>
            </a:r>
          </a:p>
        </p:txBody>
      </p:sp>
      <p:sp>
        <p:nvSpPr>
          <p:cNvPr id="10" name="">
            <a:extLst xmlns:a="http://schemas.openxmlformats.org/drawingml/2006/main">
              <a:ext uri="{FF2B5EF4-FFF2-40B4-BE49-F238E27FC236}">
                <a16:creationId xmlns:a16="http://schemas.microsoft.com/office/drawing/2014/main" id="{876774A3-5FBD-4CE7-BB97-CDACC5285841}"/>
              </a:ext>
            </a:extLst>
          </p:cNvPr>
          <p:cNvSpPr>
            <a:spLocks xmlns:a="http://schemas.openxmlformats.org/drawingml/2006/main" noGrp="1"/>
          </p:cNvSpPr>
          <p:nvPr/>
        </p:nvSpPr>
        <p:spPr>
          <a:xfrm xmlns:a="http://schemas.openxmlformats.org/drawingml/2006/main">
            <a:off x="10572750" y="6457950"/>
            <a:ext cx="1000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087E83"/>
                </a:solidFill>
                <a:latin typeface="Helvetica Neue"/>
                <a:ea typeface="Helvetica Neue"/>
                <a:cs typeface="Helvetica Neue"/>
              </a:defRPr>
            </a:pPr>
            <a:r>
              <a:rPr sz="1350" b="1">
                <a:solidFill>
                  <a:srgbClr val="087E83"/>
                </a:solidFill>
                <a:latin typeface="Helvetica Neue"/>
                <a:ea typeface="Helvetica Neue"/>
                <a:cs typeface="Helvetica Neue"/>
              </a:rPr>
              <a:t>11 / 28</a:t>
            </a:r>
          </a:p>
        </p:txBody>
      </p:sp>
    </p:spTree>
    <p:extLst>
      <p:ext uri="{BB962C8B-B14F-4D97-AF65-F5344CB8AC3E}">
        <p14:creationId xmlns:p14="http://schemas.microsoft.com/office/powerpoint/2010/main" val="663041717"/>
      </p:ext>
    </p:extLst>
  </p:cSld>
</p:sld>
</file>

<file path=ppt/slides/slide12.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93C2E95A-3AFE-41E0-A5AD-698AC2163630}"/>
              </a:ext>
            </a:extLst>
          </p:cNvPr>
          <p:cNvSpPr>
            <a:spLocks xmlns:a="http://schemas.openxmlformats.org/drawingml/2006/main" noGrp="1"/>
          </p:cNvSpPr>
          <p:nvPr/>
        </p:nvSpPr>
        <p:spPr>
          <a:xfrm xmlns:a="http://schemas.openxmlformats.org/drawingml/2006/main">
            <a:off x="609600" y="333375"/>
            <a:ext cx="10477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1">
                <a:solidFill>
                  <a:srgbClr val="087E83"/>
                </a:solidFill>
                <a:latin typeface="Helvetica Neue"/>
                <a:ea typeface="Helvetica Neue"/>
                <a:cs typeface="Helvetica Neue"/>
              </a:defRPr>
            </a:pPr>
            <a:r>
              <a:rPr sz="1275" b="1">
                <a:solidFill>
                  <a:srgbClr val="087E83"/>
                </a:solidFill>
                <a:latin typeface="Helvetica Neue"/>
                <a:ea typeface="Helvetica Neue"/>
                <a:cs typeface="Helvetica Neue"/>
              </a:rPr>
              <a:t>01 / YÜRÜTME VE BEKLEME</a:t>
            </a:r>
          </a:p>
        </p:txBody>
      </p:sp>
      <p:sp>
        <p:nvSpPr>
          <p:cNvPr id="2" name="">
            <a:extLst xmlns:a="http://schemas.openxmlformats.org/drawingml/2006/main">
              <a:ext uri="{FF2B5EF4-FFF2-40B4-BE49-F238E27FC236}">
                <a16:creationId xmlns:a16="http://schemas.microsoft.com/office/drawing/2014/main" id="{6CB374A5-D991-4192-AD69-64538C5B80ED}"/>
              </a:ext>
            </a:extLst>
          </p:cNvPr>
          <p:cNvSpPr>
            <a:spLocks xmlns:a="http://schemas.openxmlformats.org/drawingml/2006/main" noGrp="1"/>
          </p:cNvSpPr>
          <p:nvPr/>
        </p:nvSpPr>
        <p:spPr>
          <a:xfrm xmlns:a="http://schemas.openxmlformats.org/drawingml/2006/main">
            <a:off x="609600" y="819150"/>
            <a:ext cx="109728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22C42"/>
                </a:solidFill>
                <a:latin typeface="Helvetica Neue"/>
                <a:ea typeface="Helvetica Neue"/>
                <a:cs typeface="Helvetica Neue"/>
              </a:defRPr>
            </a:pPr>
            <a:r>
              <a:rPr sz="3300" b="1">
                <a:solidFill>
                  <a:srgbClr val="122C42"/>
                </a:solidFill>
                <a:latin typeface="Helvetica Neue"/>
                <a:ea typeface="Helvetica Neue"/>
                <a:cs typeface="Helvetica Neue"/>
              </a:rPr>
              <a:t>Context switch: kaldığı yerden devam</a:t>
            </a:r>
          </a:p>
        </p:txBody>
      </p:sp>
      <p:sp>
        <p:nvSpPr>
          <p:cNvPr id="3" name="">
            <a:extLst xmlns:a="http://schemas.openxmlformats.org/drawingml/2006/main">
              <a:ext uri="{FF2B5EF4-FFF2-40B4-BE49-F238E27FC236}">
                <a16:creationId xmlns:a16="http://schemas.microsoft.com/office/drawing/2014/main" id="{5C7FE713-870B-4F8D-BD93-980A870D5C13}"/>
              </a:ext>
            </a:extLst>
          </p:cNvPr>
          <p:cNvSpPr>
            <a:spLocks xmlns:a="http://schemas.openxmlformats.org/drawingml/2006/main" noGrp="1"/>
          </p:cNvSpPr>
          <p:nvPr/>
        </p:nvSpPr>
        <p:spPr>
          <a:xfrm xmlns:a="http://schemas.openxmlformats.org/drawingml/2006/main">
            <a:off x="609600" y="2095500"/>
            <a:ext cx="500062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087E83"/>
                </a:solidFill>
                <a:latin typeface="Helvetica Neue"/>
                <a:ea typeface="Helvetica Neue"/>
                <a:cs typeface="Helvetica Neue"/>
              </a:defRPr>
            </a:pPr>
            <a:r>
              <a:rPr sz="2250" b="1">
                <a:solidFill>
                  <a:srgbClr val="087E83"/>
                </a:solidFill>
                <a:latin typeface="Helvetica Neue"/>
                <a:ea typeface="Helvetica Neue"/>
                <a:cs typeface="Helvetica Neue"/>
              </a:rPr>
              <a:t>P’den ayrılırken</a:t>
            </a:r>
          </a:p>
        </p:txBody>
      </p:sp>
      <p:sp>
        <p:nvSpPr>
          <p:cNvPr id="4" name="">
            <a:extLst xmlns:a="http://schemas.openxmlformats.org/drawingml/2006/main">
              <a:ext uri="{FF2B5EF4-FFF2-40B4-BE49-F238E27FC236}">
                <a16:creationId xmlns:a16="http://schemas.microsoft.com/office/drawing/2014/main" id="{C3C4E6D8-AC05-4D6E-B73E-85F589F980E6}"/>
              </a:ext>
            </a:extLst>
          </p:cNvPr>
          <p:cNvSpPr>
            <a:spLocks xmlns:a="http://schemas.openxmlformats.org/drawingml/2006/main" noGrp="1"/>
          </p:cNvSpPr>
          <p:nvPr/>
        </p:nvSpPr>
        <p:spPr>
          <a:xfrm xmlns:a="http://schemas.openxmlformats.org/drawingml/2006/main">
            <a:off x="609600" y="2762250"/>
            <a:ext cx="5000625"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325" b="0">
                <a:solidFill>
                  <a:srgbClr val="122C42"/>
                </a:solidFill>
                <a:latin typeface="Helvetica Neue"/>
                <a:ea typeface="Helvetica Neue"/>
                <a:cs typeface="Helvetica Neue"/>
              </a:defRPr>
            </a:pPr>
            <a:r>
              <a:rPr sz="2325" b="0">
                <a:solidFill>
                  <a:srgbClr val="122C42"/>
                </a:solidFill>
                <a:latin typeface="Helvetica Neue"/>
                <a:ea typeface="Helvetica Neue"/>
                <a:cs typeface="Helvetica Neue"/>
              </a:rPr>
              <a:t>Gerekli bağlamı sakla</a:t>
            </a:r>
          </a:p>
          <a:p xmlns:a="http://schemas.openxmlformats.org/drawingml/2006/main">
            <a:pPr>
              <a:defRPr sz="2325" b="0">
                <a:solidFill>
                  <a:srgbClr val="122C42"/>
                </a:solidFill>
                <a:latin typeface="Helvetica Neue"/>
                <a:ea typeface="Helvetica Neue"/>
                <a:cs typeface="Helvetica Neue"/>
              </a:defRPr>
            </a:pPr>
            <a:r>
              <a:rPr sz="2325" b="0">
                <a:solidFill>
                  <a:srgbClr val="122C42"/>
                </a:solidFill>
                <a:latin typeface="Helvetica Neue"/>
                <a:ea typeface="Helvetica Neue"/>
                <a:cs typeface="Helvetica Neue"/>
              </a:rPr>
              <a:t>PC ve register değerleri</a:t>
            </a:r>
          </a:p>
          <a:p xmlns:a="http://schemas.openxmlformats.org/drawingml/2006/main">
            <a:pPr>
              <a:defRPr sz="2325" b="0">
                <a:solidFill>
                  <a:srgbClr val="122C42"/>
                </a:solidFill>
                <a:latin typeface="Helvetica Neue"/>
                <a:ea typeface="Helvetica Neue"/>
                <a:cs typeface="Helvetica Neue"/>
              </a:defRPr>
            </a:pPr>
            <a:r>
              <a:rPr sz="2325" b="0">
                <a:solidFill>
                  <a:srgbClr val="122C42"/>
                </a:solidFill>
                <a:latin typeface="Helvetica Neue"/>
                <a:ea typeface="Helvetica Neue"/>
                <a:cs typeface="Helvetica Neue"/>
              </a:rPr>
              <a:t>P sonra devam edebilsin</a:t>
            </a:r>
          </a:p>
        </p:txBody>
      </p:sp>
      <p:sp>
        <p:nvSpPr>
          <p:cNvPr id="5" name="">
            <a:extLst xmlns:a="http://schemas.openxmlformats.org/drawingml/2006/main">
              <a:ext uri="{FF2B5EF4-FFF2-40B4-BE49-F238E27FC236}">
                <a16:creationId xmlns:a16="http://schemas.microsoft.com/office/drawing/2014/main" id="{F8536B9E-38E7-4FB0-90A9-32490ADEC138}"/>
              </a:ext>
            </a:extLst>
          </p:cNvPr>
          <p:cNvSpPr>
            <a:spLocks xmlns:a="http://schemas.openxmlformats.org/drawingml/2006/main" noGrp="1"/>
          </p:cNvSpPr>
          <p:nvPr/>
        </p:nvSpPr>
        <p:spPr>
          <a:xfrm xmlns:a="http://schemas.openxmlformats.org/drawingml/2006/main">
            <a:off x="6229350" y="2095500"/>
            <a:ext cx="500062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087E83"/>
                </a:solidFill>
                <a:latin typeface="Helvetica Neue"/>
                <a:ea typeface="Helvetica Neue"/>
                <a:cs typeface="Helvetica Neue"/>
              </a:defRPr>
            </a:pPr>
            <a:r>
              <a:rPr sz="2250" b="1">
                <a:solidFill>
                  <a:srgbClr val="087E83"/>
                </a:solidFill>
                <a:latin typeface="Helvetica Neue"/>
                <a:ea typeface="Helvetica Neue"/>
                <a:cs typeface="Helvetica Neue"/>
              </a:rPr>
              <a:t>Q’ya geçerken</a:t>
            </a:r>
          </a:p>
        </p:txBody>
      </p:sp>
      <p:sp>
        <p:nvSpPr>
          <p:cNvPr id="6" name="">
            <a:extLst xmlns:a="http://schemas.openxmlformats.org/drawingml/2006/main">
              <a:ext uri="{FF2B5EF4-FFF2-40B4-BE49-F238E27FC236}">
                <a16:creationId xmlns:a16="http://schemas.microsoft.com/office/drawing/2014/main" id="{51FDDC83-E397-483B-A78B-7405DEEECF85}"/>
              </a:ext>
            </a:extLst>
          </p:cNvPr>
          <p:cNvSpPr>
            <a:spLocks xmlns:a="http://schemas.openxmlformats.org/drawingml/2006/main" noGrp="1"/>
          </p:cNvSpPr>
          <p:nvPr/>
        </p:nvSpPr>
        <p:spPr>
          <a:xfrm xmlns:a="http://schemas.openxmlformats.org/drawingml/2006/main">
            <a:off x="6229350" y="2762250"/>
            <a:ext cx="5000625"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325" b="0">
                <a:solidFill>
                  <a:srgbClr val="122C42"/>
                </a:solidFill>
                <a:latin typeface="Helvetica Neue"/>
                <a:ea typeface="Helvetica Neue"/>
                <a:cs typeface="Helvetica Neue"/>
              </a:defRPr>
            </a:pPr>
            <a:r>
              <a:rPr sz="2325" b="0">
                <a:solidFill>
                  <a:srgbClr val="122C42"/>
                </a:solidFill>
                <a:latin typeface="Helvetica Neue"/>
                <a:ea typeface="Helvetica Neue"/>
                <a:cs typeface="Helvetica Neue"/>
              </a:rPr>
              <a:t>Q’nun bağlamını geri yükle</a:t>
            </a:r>
          </a:p>
          <a:p xmlns:a="http://schemas.openxmlformats.org/drawingml/2006/main">
            <a:pPr>
              <a:defRPr sz="2325" b="0">
                <a:solidFill>
                  <a:srgbClr val="122C42"/>
                </a:solidFill>
                <a:latin typeface="Helvetica Neue"/>
                <a:ea typeface="Helvetica Neue"/>
                <a:cs typeface="Helvetica Neue"/>
              </a:defRPr>
            </a:pPr>
            <a:r>
              <a:rPr sz="2325" b="0">
                <a:solidFill>
                  <a:srgbClr val="122C42"/>
                </a:solidFill>
                <a:latin typeface="Helvetica Neue"/>
                <a:ea typeface="Helvetica Neue"/>
                <a:cs typeface="Helvetica Neue"/>
              </a:rPr>
              <a:t>Uygun adres eşlemelerini seç</a:t>
            </a:r>
          </a:p>
          <a:p xmlns:a="http://schemas.openxmlformats.org/drawingml/2006/main">
            <a:pPr>
              <a:defRPr sz="2325" b="0">
                <a:solidFill>
                  <a:srgbClr val="122C42"/>
                </a:solidFill>
                <a:latin typeface="Helvetica Neue"/>
                <a:ea typeface="Helvetica Neue"/>
                <a:cs typeface="Helvetica Neue"/>
              </a:defRPr>
            </a:pPr>
            <a:r>
              <a:rPr sz="2325" b="0">
                <a:solidFill>
                  <a:srgbClr val="122C42"/>
                </a:solidFill>
                <a:latin typeface="Helvetica Neue"/>
                <a:ea typeface="Helvetica Neue"/>
                <a:cs typeface="Helvetica Neue"/>
              </a:rPr>
              <a:t>Q kaldığı yerden yürüsün</a:t>
            </a:r>
          </a:p>
        </p:txBody>
      </p:sp>
      <p:sp>
        <p:nvSpPr>
          <p:cNvPr id="7" name="">
            <a:extLst xmlns:a="http://schemas.openxmlformats.org/drawingml/2006/main">
              <a:ext uri="{FF2B5EF4-FFF2-40B4-BE49-F238E27FC236}">
                <a16:creationId xmlns:a16="http://schemas.microsoft.com/office/drawing/2014/main" id="{926C20BC-3407-4415-B317-D423829CAA70}"/>
              </a:ext>
            </a:extLst>
          </p:cNvPr>
          <p:cNvSpPr>
            <a:spLocks xmlns:a="http://schemas.openxmlformats.org/drawingml/2006/main" noGrp="1"/>
          </p:cNvSpPr>
          <p:nvPr/>
        </p:nvSpPr>
        <p:spPr>
          <a:xfrm xmlns:a="http://schemas.openxmlformats.org/drawingml/2006/main">
            <a:off x="609600" y="6105525"/>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0">
                <a:solidFill>
                  <a:srgbClr val="C46225"/>
                </a:solidFill>
                <a:latin typeface="Helvetica Neue"/>
                <a:ea typeface="Helvetica Neue"/>
                <a:cs typeface="Helvetica Neue"/>
              </a:defRPr>
            </a:pPr>
            <a:r>
              <a:rPr sz="1500" b="0">
                <a:solidFill>
                  <a:srgbClr val="C46225"/>
                </a:solidFill>
                <a:latin typeface="Helvetica Neue"/>
                <a:ea typeface="Helvetica Neue"/>
                <a:cs typeface="Helvetica Neue"/>
              </a:rPr>
              <a:t>Hayatta: Müzik ve editör işleri CPU kaynaklarını zaman içinde paylaşabilir.</a:t>
            </a:r>
          </a:p>
        </p:txBody>
      </p:sp>
      <p:sp>
        <p:nvSpPr>
          <p:cNvPr id="8" name="">
            <a:extLst xmlns:a="http://schemas.openxmlformats.org/drawingml/2006/main">
              <a:ext uri="{FF2B5EF4-FFF2-40B4-BE49-F238E27FC236}">
                <a16:creationId xmlns:a16="http://schemas.microsoft.com/office/drawing/2014/main" id="{B2DA528E-C828-4EB7-8A74-FDEEF50B2E64}"/>
              </a:ext>
            </a:extLst>
          </p:cNvPr>
          <p:cNvSpPr>
            <a:spLocks xmlns:a="http://schemas.openxmlformats.org/drawingml/2006/main" noGrp="1"/>
          </p:cNvSpPr>
          <p:nvPr/>
        </p:nvSpPr>
        <p:spPr>
          <a:xfrm xmlns:a="http://schemas.openxmlformats.org/drawingml/2006/main">
            <a:off x="609600" y="64960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4D606A"/>
                </a:solidFill>
                <a:latin typeface="Helvetica Neue"/>
                <a:ea typeface="Helvetica Neue"/>
                <a:cs typeface="Helvetica Neue"/>
              </a:defRPr>
            </a:pPr>
            <a:r>
              <a:rPr sz="1125" b="0">
                <a:solidFill>
                  <a:srgbClr val="4D606A"/>
                </a:solidFill>
                <a:latin typeface="Helvetica Neue"/>
                <a:ea typeface="Helvetica Neue"/>
                <a:cs typeface="Helvetica Neue"/>
              </a:rPr>
              <a:t>CSE513 · İlk hafta / öğrenme pilotu</a:t>
            </a:r>
          </a:p>
        </p:txBody>
      </p:sp>
      <p:sp>
        <p:nvSpPr>
          <p:cNvPr id="9" name="">
            <a:extLst xmlns:a="http://schemas.openxmlformats.org/drawingml/2006/main">
              <a:ext uri="{FF2B5EF4-FFF2-40B4-BE49-F238E27FC236}">
                <a16:creationId xmlns:a16="http://schemas.microsoft.com/office/drawing/2014/main" id="{96E061EA-908E-4A77-AE8C-9E8075D6359F}"/>
              </a:ext>
            </a:extLst>
          </p:cNvPr>
          <p:cNvSpPr>
            <a:spLocks xmlns:a="http://schemas.openxmlformats.org/drawingml/2006/main" noGrp="1"/>
          </p:cNvSpPr>
          <p:nvPr/>
        </p:nvSpPr>
        <p:spPr>
          <a:xfrm xmlns:a="http://schemas.openxmlformats.org/drawingml/2006/main">
            <a:off x="10572750" y="6457950"/>
            <a:ext cx="1000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087E83"/>
                </a:solidFill>
                <a:latin typeface="Helvetica Neue"/>
                <a:ea typeface="Helvetica Neue"/>
                <a:cs typeface="Helvetica Neue"/>
              </a:defRPr>
            </a:pPr>
            <a:r>
              <a:rPr sz="1350" b="1">
                <a:solidFill>
                  <a:srgbClr val="087E83"/>
                </a:solidFill>
                <a:latin typeface="Helvetica Neue"/>
                <a:ea typeface="Helvetica Neue"/>
                <a:cs typeface="Helvetica Neue"/>
              </a:rPr>
              <a:t>12 / 28</a:t>
            </a:r>
          </a:p>
        </p:txBody>
      </p:sp>
    </p:spTree>
    <p:extLst>
      <p:ext uri="{BB962C8B-B14F-4D97-AF65-F5344CB8AC3E}">
        <p14:creationId xmlns:p14="http://schemas.microsoft.com/office/powerpoint/2010/main" val="1907050783"/>
      </p:ext>
    </p:extLst>
  </p:cSld>
</p:sld>
</file>

<file path=ppt/slides/slide13.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46937DA-D285-4D89-B7E9-95638B017276}"/>
              </a:ext>
            </a:extLst>
          </p:cNvPr>
          <p:cNvSpPr>
            <a:spLocks xmlns:a="http://schemas.openxmlformats.org/drawingml/2006/main" noGrp="1"/>
          </p:cNvSpPr>
          <p:nvPr/>
        </p:nvSpPr>
        <p:spPr>
          <a:xfrm xmlns:a="http://schemas.openxmlformats.org/drawingml/2006/main">
            <a:off x="609600" y="333375"/>
            <a:ext cx="10477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1">
                <a:solidFill>
                  <a:srgbClr val="087E83"/>
                </a:solidFill>
                <a:latin typeface="Helvetica Neue"/>
                <a:ea typeface="Helvetica Neue"/>
                <a:cs typeface="Helvetica Neue"/>
              </a:defRPr>
            </a:pPr>
            <a:r>
              <a:rPr sz="1275" b="1">
                <a:solidFill>
                  <a:srgbClr val="087E83"/>
                </a:solidFill>
                <a:latin typeface="Helvetica Neue"/>
                <a:ea typeface="Helvetica Neue"/>
                <a:cs typeface="Helvetica Neue"/>
              </a:rPr>
              <a:t>01 / YÜRÜTME VE BEKLEME</a:t>
            </a:r>
          </a:p>
        </p:txBody>
      </p:sp>
      <p:sp>
        <p:nvSpPr>
          <p:cNvPr id="2" name="">
            <a:extLst xmlns:a="http://schemas.openxmlformats.org/drawingml/2006/main">
              <a:ext uri="{FF2B5EF4-FFF2-40B4-BE49-F238E27FC236}">
                <a16:creationId xmlns:a16="http://schemas.microsoft.com/office/drawing/2014/main" id="{89887CEC-3522-4D8E-94A4-99FE1FB8C6D4}"/>
              </a:ext>
            </a:extLst>
          </p:cNvPr>
          <p:cNvSpPr>
            <a:spLocks xmlns:a="http://schemas.openxmlformats.org/drawingml/2006/main" noGrp="1"/>
          </p:cNvSpPr>
          <p:nvPr/>
        </p:nvSpPr>
        <p:spPr>
          <a:xfrm xmlns:a="http://schemas.openxmlformats.org/drawingml/2006/main">
            <a:off x="609600" y="819150"/>
            <a:ext cx="109728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22C42"/>
                </a:solidFill>
                <a:latin typeface="Helvetica Neue"/>
                <a:ea typeface="Helvetica Neue"/>
                <a:cs typeface="Helvetica Neue"/>
              </a:defRPr>
            </a:pPr>
            <a:r>
              <a:rPr sz="3300" b="1">
                <a:solidFill>
                  <a:srgbClr val="122C42"/>
                </a:solidFill>
                <a:latin typeface="Helvetica Neue"/>
                <a:ea typeface="Helvetica Neue"/>
                <a:cs typeface="Helvetica Neue"/>
              </a:rPr>
              <a:t>Üç olayın sınıflandırması</a:t>
            </a:r>
          </a:p>
        </p:txBody>
      </p:sp>
      <p:graphicFrame>
        <p:nvGraphicFramePr>
          <p:cNvPr id="9" name=""/>
          <p:cNvGraphicFramePr/>
          <p:nvPr/>
        </p:nvGraphicFramePr>
        <p:xfrm>
          <a:off xmlns:a="http://schemas.openxmlformats.org/drawingml/2006/main" x="609600" y="1857375"/>
          <a:ext xmlns:a="http://schemas.openxmlformats.org/drawingml/2006/main" cx="10972800" cy="3238500"/>
        </p:xfrm>
        <a:graphic xmlns:a="http://schemas.openxmlformats.org/drawingml/2006/main">
          <a:graphicData uri="http://schemas.openxmlformats.org/drawingml/2006/table">
            <a:tbl>
              <a:tblPr/>
              <a:tblGrid>
                <a:gridCol w="3950208"/>
                <a:gridCol w="3072384"/>
                <a:gridCol w="3950208"/>
              </a:tblGrid>
              <a:tr h="809625">
                <a:tc>
                  <a:txBody>
                    <a:bodyPr/>
                    <a:lstStyle/>
                    <a:p>
                      <a:r>
                        <a:rPr sz="1800" b="1">
                          <a:solidFill>
                            <a:srgbClr val="FFFFFF"/>
                          </a:solidFill>
                          <a:latin typeface="Helvetica Neue"/>
                          <a:ea typeface="Helvetica Neue"/>
                          <a:cs typeface="Helvetica Neue"/>
                        </a:rPr>
                        <a:t>Durum</a:t>
                      </a:r>
                    </a:p>
                  </a:txBody>
                  <a:tcPr marL="142875" marR="142875" marT="47625" marB="47625" anchor="ctr">
                    <a:solidFill>
                      <a:srgbClr val="122C42"/>
                    </a:solidFill>
                  </a:tcPr>
                </a:tc>
                <a:tc>
                  <a:txBody>
                    <a:bodyPr/>
                    <a:lstStyle/>
                    <a:p>
                      <a:r>
                        <a:rPr sz="1800" b="1">
                          <a:solidFill>
                            <a:srgbClr val="FFFFFF"/>
                          </a:solidFill>
                          <a:latin typeface="Helvetica Neue"/>
                          <a:ea typeface="Helvetica Neue"/>
                          <a:cs typeface="Helvetica Neue"/>
                        </a:rPr>
                        <a:t>Kernel’a giriş?</a:t>
                      </a:r>
                    </a:p>
                  </a:txBody>
                  <a:tcPr marL="142875" marR="142875" marT="47625" marB="47625" anchor="ctr">
                    <a:solidFill>
                      <a:srgbClr val="122C42"/>
                    </a:solidFill>
                  </a:tcPr>
                </a:tc>
                <a:tc>
                  <a:txBody>
                    <a:bodyPr/>
                    <a:lstStyle/>
                    <a:p>
                      <a:r>
                        <a:rPr sz="1800" b="1">
                          <a:solidFill>
                            <a:srgbClr val="FFFFFF"/>
                          </a:solidFill>
                          <a:latin typeface="Helvetica Neue"/>
                          <a:ea typeface="Helvetica Neue"/>
                          <a:cs typeface="Helvetica Neue"/>
                        </a:rPr>
                        <a:t>Bu izde task değişti mi?</a:t>
                      </a:r>
                    </a:p>
                  </a:txBody>
                  <a:tcPr marL="142875" marR="142875" marT="47625" marB="47625" anchor="ctr">
                    <a:solidFill>
                      <a:srgbClr val="122C42"/>
                    </a:solidFill>
                  </a:tcPr>
                </a:tc>
              </a:tr>
              <a:tr h="809625">
                <a:tc>
                  <a:txBody>
                    <a:bodyPr/>
                    <a:lstStyle/>
                    <a:p>
                      <a:r>
                        <a:rPr sz="1875" b="0">
                          <a:solidFill>
                            <a:srgbClr val="122C42"/>
                          </a:solidFill>
                          <a:latin typeface="Helvetica Neue"/>
                          <a:ea typeface="Helvetica Neue"/>
                          <a:cs typeface="Helvetica Neue"/>
                        </a:rPr>
                        <a:t>P’nin read’i hemen tamamlanır</a:t>
                      </a:r>
                    </a:p>
                  </a:txBody>
                  <a:tcPr marL="142875" marR="142875" marT="47625" marB="47625" anchor="ctr">
                    <a:solidFill>
                      <a:srgbClr val="FFFFFF"/>
                    </a:solidFill>
                  </a:tcPr>
                </a:tc>
                <a:tc>
                  <a:txBody>
                    <a:bodyPr/>
                    <a:lstStyle/>
                    <a:p>
                      <a:r>
                        <a:rPr sz="1875" b="0">
                          <a:solidFill>
                            <a:srgbClr val="122C42"/>
                          </a:solidFill>
                          <a:latin typeface="Helvetica Neue"/>
                          <a:ea typeface="Helvetica Neue"/>
                          <a:cs typeface="Helvetica Neue"/>
                        </a:rPr>
                        <a:t>?</a:t>
                      </a:r>
                    </a:p>
                  </a:txBody>
                  <a:tcPr marL="142875" marR="142875" marT="47625" marB="47625" anchor="ctr">
                    <a:solidFill>
                      <a:srgbClr val="FFFFFF"/>
                    </a:solidFill>
                  </a:tcPr>
                </a:tc>
                <a:tc>
                  <a:txBody>
                    <a:bodyPr/>
                    <a:lstStyle/>
                    <a:p>
                      <a:r>
                        <a:rPr sz="1875" b="0">
                          <a:solidFill>
                            <a:srgbClr val="122C42"/>
                          </a:solidFill>
                          <a:latin typeface="Helvetica Neue"/>
                          <a:ea typeface="Helvetica Neue"/>
                          <a:cs typeface="Helvetica Neue"/>
                        </a:rPr>
                        <a:t>?</a:t>
                      </a:r>
                    </a:p>
                  </a:txBody>
                  <a:tcPr marL="142875" marR="142875" marT="47625" marB="47625" anchor="ctr">
                    <a:solidFill>
                      <a:srgbClr val="FFFFFF"/>
                    </a:solidFill>
                  </a:tcPr>
                </a:tc>
              </a:tr>
              <a:tr h="809625">
                <a:tc>
                  <a:txBody>
                    <a:bodyPr/>
                    <a:lstStyle/>
                    <a:p>
                      <a:r>
                        <a:rPr sz="1875" b="0">
                          <a:solidFill>
                            <a:srgbClr val="122C42"/>
                          </a:solidFill>
                          <a:latin typeface="Helvetica Neue"/>
                          <a:ea typeface="Helvetica Neue"/>
                          <a:cs typeface="Helvetica Neue"/>
                        </a:rPr>
                        <a:t>P’nin read’i bloklanır, Q seçilir</a:t>
                      </a:r>
                    </a:p>
                  </a:txBody>
                  <a:tcPr marL="142875" marR="142875" marT="47625" marB="47625" anchor="ctr">
                    <a:solidFill>
                      <a:srgbClr val="ECF0EC"/>
                    </a:solidFill>
                  </a:tcPr>
                </a:tc>
                <a:tc>
                  <a:txBody>
                    <a:bodyPr/>
                    <a:lstStyle/>
                    <a:p>
                      <a:r>
                        <a:rPr sz="1875" b="0">
                          <a:solidFill>
                            <a:srgbClr val="122C42"/>
                          </a:solidFill>
                          <a:latin typeface="Helvetica Neue"/>
                          <a:ea typeface="Helvetica Neue"/>
                          <a:cs typeface="Helvetica Neue"/>
                        </a:rPr>
                        <a:t>?</a:t>
                      </a:r>
                    </a:p>
                  </a:txBody>
                  <a:tcPr marL="142875" marR="142875" marT="47625" marB="47625" anchor="ctr">
                    <a:solidFill>
                      <a:srgbClr val="ECF0EC"/>
                    </a:solidFill>
                  </a:tcPr>
                </a:tc>
                <a:tc>
                  <a:txBody>
                    <a:bodyPr/>
                    <a:lstStyle/>
                    <a:p>
                      <a:r>
                        <a:rPr sz="1875" b="0">
                          <a:solidFill>
                            <a:srgbClr val="122C42"/>
                          </a:solidFill>
                          <a:latin typeface="Helvetica Neue"/>
                          <a:ea typeface="Helvetica Neue"/>
                          <a:cs typeface="Helvetica Neue"/>
                        </a:rPr>
                        <a:t>?</a:t>
                      </a:r>
                    </a:p>
                  </a:txBody>
                  <a:tcPr marL="142875" marR="142875" marT="47625" marB="47625" anchor="ctr">
                    <a:solidFill>
                      <a:srgbClr val="ECF0EC"/>
                    </a:solidFill>
                  </a:tcPr>
                </a:tc>
              </a:tr>
              <a:tr h="809625">
                <a:tc>
                  <a:txBody>
                    <a:bodyPr/>
                    <a:lstStyle/>
                    <a:p>
                      <a:r>
                        <a:rPr sz="1875" b="0">
                          <a:solidFill>
                            <a:srgbClr val="122C42"/>
                          </a:solidFill>
                          <a:latin typeface="Helvetica Neue"/>
                          <a:ea typeface="Helvetica Neue"/>
                          <a:cs typeface="Helvetica Neue"/>
                        </a:rPr>
                        <a:t>Timer interrupt; P devam eder</a:t>
                      </a:r>
                    </a:p>
                  </a:txBody>
                  <a:tcPr marL="142875" marR="142875" marT="47625" marB="47625" anchor="ctr">
                    <a:solidFill>
                      <a:srgbClr val="FFFFFF"/>
                    </a:solidFill>
                  </a:tcPr>
                </a:tc>
                <a:tc>
                  <a:txBody>
                    <a:bodyPr/>
                    <a:lstStyle/>
                    <a:p>
                      <a:r>
                        <a:rPr sz="1875" b="0">
                          <a:solidFill>
                            <a:srgbClr val="122C42"/>
                          </a:solidFill>
                          <a:latin typeface="Helvetica Neue"/>
                          <a:ea typeface="Helvetica Neue"/>
                          <a:cs typeface="Helvetica Neue"/>
                        </a:rPr>
                        <a:t>?</a:t>
                      </a:r>
                    </a:p>
                  </a:txBody>
                  <a:tcPr marL="142875" marR="142875" marT="47625" marB="47625" anchor="ctr">
                    <a:solidFill>
                      <a:srgbClr val="FFFFFF"/>
                    </a:solidFill>
                  </a:tcPr>
                </a:tc>
                <a:tc>
                  <a:txBody>
                    <a:bodyPr/>
                    <a:lstStyle/>
                    <a:p>
                      <a:r>
                        <a:rPr sz="1875" b="0">
                          <a:solidFill>
                            <a:srgbClr val="122C42"/>
                          </a:solidFill>
                          <a:latin typeface="Helvetica Neue"/>
                          <a:ea typeface="Helvetica Neue"/>
                          <a:cs typeface="Helvetica Neue"/>
                        </a:rPr>
                        <a:t>?</a:t>
                      </a:r>
                    </a:p>
                  </a:txBody>
                  <a:tcPr marL="142875" marR="142875" marT="47625" marB="47625"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C822BE98-AEEB-4ED5-A392-34ECC6FA736D}"/>
              </a:ext>
            </a:extLst>
          </p:cNvPr>
          <p:cNvSpPr>
            <a:spLocks xmlns:a="http://schemas.openxmlformats.org/drawingml/2006/main" noGrp="1"/>
          </p:cNvSpPr>
          <p:nvPr/>
        </p:nvSpPr>
        <p:spPr>
          <a:xfrm xmlns:a="http://schemas.openxmlformats.org/drawingml/2006/main">
            <a:off x="609600" y="5334000"/>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1">
                <a:solidFill>
                  <a:srgbClr val="087E83"/>
                </a:solidFill>
                <a:latin typeface="Helvetica Neue"/>
                <a:ea typeface="Helvetica Neue"/>
                <a:cs typeface="Helvetica Neue"/>
              </a:defRPr>
            </a:pPr>
            <a:r>
              <a:rPr sz="1875" b="1">
                <a:solidFill>
                  <a:srgbClr val="087E83"/>
                </a:solidFill>
                <a:latin typeface="Helvetica Neue"/>
                <a:ea typeface="Helvetica Neue"/>
                <a:cs typeface="Helvetica Neue"/>
              </a:rPr>
              <a:t>Düşün: Her satırda iki soruyu ayrı ayrı yanıtla.</a:t>
            </a:r>
          </a:p>
        </p:txBody>
      </p:sp>
      <p:sp>
        <p:nvSpPr>
          <p:cNvPr id="5" name="">
            <a:extLst xmlns:a="http://schemas.openxmlformats.org/drawingml/2006/main">
              <a:ext uri="{FF2B5EF4-FFF2-40B4-BE49-F238E27FC236}">
                <a16:creationId xmlns:a16="http://schemas.microsoft.com/office/drawing/2014/main" id="{B55F6BD9-0E25-4CEB-995F-449F7E633C13}"/>
              </a:ext>
            </a:extLst>
          </p:cNvPr>
          <p:cNvSpPr>
            <a:spLocks xmlns:a="http://schemas.openxmlformats.org/drawingml/2006/main" noGrp="1"/>
          </p:cNvSpPr>
          <p:nvPr/>
        </p:nvSpPr>
        <p:spPr>
          <a:xfrm xmlns:a="http://schemas.openxmlformats.org/drawingml/2006/main">
            <a:off x="609600" y="64960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4D606A"/>
                </a:solidFill>
                <a:latin typeface="Helvetica Neue"/>
                <a:ea typeface="Helvetica Neue"/>
                <a:cs typeface="Helvetica Neue"/>
              </a:defRPr>
            </a:pPr>
            <a:r>
              <a:rPr sz="1125" b="0">
                <a:solidFill>
                  <a:srgbClr val="4D606A"/>
                </a:solidFill>
                <a:latin typeface="Helvetica Neue"/>
                <a:ea typeface="Helvetica Neue"/>
                <a:cs typeface="Helvetica Neue"/>
              </a:rPr>
              <a:t>CSE513 · İlk hafta / öğrenme pilotu</a:t>
            </a:r>
          </a:p>
        </p:txBody>
      </p:sp>
      <p:sp>
        <p:nvSpPr>
          <p:cNvPr id="6" name="">
            <a:extLst xmlns:a="http://schemas.openxmlformats.org/drawingml/2006/main">
              <a:ext uri="{FF2B5EF4-FFF2-40B4-BE49-F238E27FC236}">
                <a16:creationId xmlns:a16="http://schemas.microsoft.com/office/drawing/2014/main" id="{C84D620E-4439-4080-899A-419155139C94}"/>
              </a:ext>
            </a:extLst>
          </p:cNvPr>
          <p:cNvSpPr>
            <a:spLocks xmlns:a="http://schemas.openxmlformats.org/drawingml/2006/main" noGrp="1"/>
          </p:cNvSpPr>
          <p:nvPr/>
        </p:nvSpPr>
        <p:spPr>
          <a:xfrm xmlns:a="http://schemas.openxmlformats.org/drawingml/2006/main">
            <a:off x="10572750" y="6457950"/>
            <a:ext cx="1000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087E83"/>
                </a:solidFill>
                <a:latin typeface="Helvetica Neue"/>
                <a:ea typeface="Helvetica Neue"/>
                <a:cs typeface="Helvetica Neue"/>
              </a:defRPr>
            </a:pPr>
            <a:r>
              <a:rPr sz="1350" b="1">
                <a:solidFill>
                  <a:srgbClr val="087E83"/>
                </a:solidFill>
                <a:latin typeface="Helvetica Neue"/>
                <a:ea typeface="Helvetica Neue"/>
                <a:cs typeface="Helvetica Neue"/>
              </a:rPr>
              <a:t>13 / 28</a:t>
            </a:r>
          </a:p>
        </p:txBody>
      </p:sp>
    </p:spTree>
    <p:extLst>
      <p:ext uri="{BB962C8B-B14F-4D97-AF65-F5344CB8AC3E}">
        <p14:creationId xmlns:p14="http://schemas.microsoft.com/office/powerpoint/2010/main" val="1466272257"/>
      </p:ext>
    </p:extLst>
  </p:cSld>
</p:sld>
</file>

<file path=ppt/slides/slide14.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A5FC0021-6C9F-42BB-9071-8A3EDA1EA85B}"/>
              </a:ext>
            </a:extLst>
          </p:cNvPr>
          <p:cNvSpPr>
            <a:spLocks xmlns:a="http://schemas.openxmlformats.org/drawingml/2006/main" noGrp="1"/>
          </p:cNvSpPr>
          <p:nvPr/>
        </p:nvSpPr>
        <p:spPr>
          <a:xfrm xmlns:a="http://schemas.openxmlformats.org/drawingml/2006/main">
            <a:off x="609600" y="333375"/>
            <a:ext cx="10477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1">
                <a:solidFill>
                  <a:srgbClr val="087E83"/>
                </a:solidFill>
                <a:latin typeface="Helvetica Neue"/>
                <a:ea typeface="Helvetica Neue"/>
                <a:cs typeface="Helvetica Neue"/>
              </a:defRPr>
            </a:pPr>
            <a:r>
              <a:rPr sz="1275" b="1">
                <a:solidFill>
                  <a:srgbClr val="087E83"/>
                </a:solidFill>
                <a:latin typeface="Helvetica Neue"/>
                <a:ea typeface="Helvetica Neue"/>
                <a:cs typeface="Helvetica Neue"/>
              </a:rPr>
              <a:t>01 / YÜRÜTME VE BEKLEME</a:t>
            </a:r>
          </a:p>
        </p:txBody>
      </p:sp>
      <p:sp>
        <p:nvSpPr>
          <p:cNvPr id="2" name="">
            <a:extLst xmlns:a="http://schemas.openxmlformats.org/drawingml/2006/main">
              <a:ext uri="{FF2B5EF4-FFF2-40B4-BE49-F238E27FC236}">
                <a16:creationId xmlns:a16="http://schemas.microsoft.com/office/drawing/2014/main" id="{CCBF0E08-76C5-4DE3-9E04-8829D4434625}"/>
              </a:ext>
            </a:extLst>
          </p:cNvPr>
          <p:cNvSpPr>
            <a:spLocks xmlns:a="http://schemas.openxmlformats.org/drawingml/2006/main" noGrp="1"/>
          </p:cNvSpPr>
          <p:nvPr/>
        </p:nvSpPr>
        <p:spPr>
          <a:xfrm xmlns:a="http://schemas.openxmlformats.org/drawingml/2006/main">
            <a:off x="609600" y="819150"/>
            <a:ext cx="109728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22C42"/>
                </a:solidFill>
                <a:latin typeface="Helvetica Neue"/>
                <a:ea typeface="Helvetica Neue"/>
                <a:cs typeface="Helvetica Neue"/>
              </a:defRPr>
            </a:pPr>
            <a:r>
              <a:rPr sz="3300" b="1">
                <a:solidFill>
                  <a:srgbClr val="122C42"/>
                </a:solidFill>
                <a:latin typeface="Helvetica Neue"/>
                <a:ea typeface="Helvetica Neue"/>
                <a:cs typeface="Helvetica Neue"/>
              </a:rPr>
              <a:t>İlk kontrol noktası</a:t>
            </a:r>
          </a:p>
        </p:txBody>
      </p:sp>
      <p:sp>
        <p:nvSpPr>
          <p:cNvPr id="3" name="">
            <a:extLst xmlns:a="http://schemas.openxmlformats.org/drawingml/2006/main">
              <a:ext uri="{FF2B5EF4-FFF2-40B4-BE49-F238E27FC236}">
                <a16:creationId xmlns:a16="http://schemas.microsoft.com/office/drawing/2014/main" id="{278FFC03-6353-41EB-BC63-FDDCF379ED06}"/>
              </a:ext>
            </a:extLst>
          </p:cNvPr>
          <p:cNvSpPr>
            <a:spLocks xmlns:a="http://schemas.openxmlformats.org/drawingml/2006/main" noGrp="1"/>
          </p:cNvSpPr>
          <p:nvPr/>
        </p:nvSpPr>
        <p:spPr>
          <a:xfrm xmlns:a="http://schemas.openxmlformats.org/drawingml/2006/main">
            <a:off x="609600" y="1905000"/>
            <a:ext cx="4762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1">
                <a:solidFill>
                  <a:srgbClr val="087E83"/>
                </a:solidFill>
                <a:latin typeface="Helvetica Neue"/>
                <a:ea typeface="Helvetica Neue"/>
                <a:cs typeface="Helvetica Neue"/>
              </a:defRPr>
            </a:pPr>
            <a:r>
              <a:rPr sz="2400" b="1">
                <a:solidFill>
                  <a:srgbClr val="087E83"/>
                </a:solidFill>
                <a:latin typeface="Helvetica Neue"/>
                <a:ea typeface="Helvetica Neue"/>
                <a:cs typeface="Helvetica Neue"/>
              </a:rPr>
              <a:t>01</a:t>
            </a:r>
          </a:p>
        </p:txBody>
      </p:sp>
      <p:sp>
        <p:nvSpPr>
          <p:cNvPr id="4" name="">
            <a:extLst xmlns:a="http://schemas.openxmlformats.org/drawingml/2006/main">
              <a:ext uri="{FF2B5EF4-FFF2-40B4-BE49-F238E27FC236}">
                <a16:creationId xmlns:a16="http://schemas.microsoft.com/office/drawing/2014/main" id="{0E87DC2F-B56C-476E-80F8-26FB88124C7B}"/>
              </a:ext>
            </a:extLst>
          </p:cNvPr>
          <p:cNvSpPr>
            <a:spLocks xmlns:a="http://schemas.openxmlformats.org/drawingml/2006/main" noGrp="1"/>
          </p:cNvSpPr>
          <p:nvPr/>
        </p:nvSpPr>
        <p:spPr>
          <a:xfrm xmlns:a="http://schemas.openxmlformats.org/drawingml/2006/main">
            <a:off x="1190625" y="1905000"/>
            <a:ext cx="103917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Ağ yanıtı bekleyen göreve boş CPU yardım eder mi?</a:t>
            </a:r>
          </a:p>
        </p:txBody>
      </p:sp>
      <p:sp>
        <p:nvSpPr>
          <p:cNvPr id="5" name="">
            <a:extLst xmlns:a="http://schemas.openxmlformats.org/drawingml/2006/main">
              <a:ext uri="{FF2B5EF4-FFF2-40B4-BE49-F238E27FC236}">
                <a16:creationId xmlns:a16="http://schemas.microsoft.com/office/drawing/2014/main" id="{FCC4FEBE-C2F1-4692-82BE-F8495F024080}"/>
              </a:ext>
            </a:extLst>
          </p:cNvPr>
          <p:cNvSpPr>
            <a:spLocks xmlns:a="http://schemas.openxmlformats.org/drawingml/2006/main" noGrp="1"/>
          </p:cNvSpPr>
          <p:nvPr/>
        </p:nvSpPr>
        <p:spPr>
          <a:xfrm xmlns:a="http://schemas.openxmlformats.org/drawingml/2006/main">
            <a:off x="609600" y="2886075"/>
            <a:ext cx="4762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1">
                <a:solidFill>
                  <a:srgbClr val="087E83"/>
                </a:solidFill>
                <a:latin typeface="Helvetica Neue"/>
                <a:ea typeface="Helvetica Neue"/>
                <a:cs typeface="Helvetica Neue"/>
              </a:defRPr>
            </a:pPr>
            <a:r>
              <a:rPr sz="2400" b="1">
                <a:solidFill>
                  <a:srgbClr val="087E83"/>
                </a:solidFill>
                <a:latin typeface="Helvetica Neue"/>
                <a:ea typeface="Helvetica Neue"/>
                <a:cs typeface="Helvetica Neue"/>
              </a:rPr>
              <a:t>02</a:t>
            </a:r>
          </a:p>
        </p:txBody>
      </p:sp>
      <p:sp>
        <p:nvSpPr>
          <p:cNvPr id="6" name="">
            <a:extLst xmlns:a="http://schemas.openxmlformats.org/drawingml/2006/main">
              <a:ext uri="{FF2B5EF4-FFF2-40B4-BE49-F238E27FC236}">
                <a16:creationId xmlns:a16="http://schemas.microsoft.com/office/drawing/2014/main" id="{015ECDB6-12B6-4CF6-88C2-953F61334666}"/>
              </a:ext>
            </a:extLst>
          </p:cNvPr>
          <p:cNvSpPr>
            <a:spLocks xmlns:a="http://schemas.openxmlformats.org/drawingml/2006/main" noGrp="1"/>
          </p:cNvSpPr>
          <p:nvPr/>
        </p:nvSpPr>
        <p:spPr>
          <a:xfrm xmlns:a="http://schemas.openxmlformats.org/drawingml/2006/main">
            <a:off x="1190625" y="2886075"/>
            <a:ext cx="103917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Hemen tamamlanan read başka process çalıştırır mı?</a:t>
            </a:r>
          </a:p>
        </p:txBody>
      </p:sp>
      <p:sp>
        <p:nvSpPr>
          <p:cNvPr id="7" name="">
            <a:extLst xmlns:a="http://schemas.openxmlformats.org/drawingml/2006/main">
              <a:ext uri="{FF2B5EF4-FFF2-40B4-BE49-F238E27FC236}">
                <a16:creationId xmlns:a16="http://schemas.microsoft.com/office/drawing/2014/main" id="{A2CA699F-DAE6-4E97-944D-AA3A43C83B06}"/>
              </a:ext>
            </a:extLst>
          </p:cNvPr>
          <p:cNvSpPr>
            <a:spLocks xmlns:a="http://schemas.openxmlformats.org/drawingml/2006/main" noGrp="1"/>
          </p:cNvSpPr>
          <p:nvPr/>
        </p:nvSpPr>
        <p:spPr>
          <a:xfrm xmlns:a="http://schemas.openxmlformats.org/drawingml/2006/main">
            <a:off x="609600" y="3867150"/>
            <a:ext cx="4762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1">
                <a:solidFill>
                  <a:srgbClr val="087E83"/>
                </a:solidFill>
                <a:latin typeface="Helvetica Neue"/>
                <a:ea typeface="Helvetica Neue"/>
                <a:cs typeface="Helvetica Neue"/>
              </a:defRPr>
            </a:pPr>
            <a:r>
              <a:rPr sz="2400" b="1">
                <a:solidFill>
                  <a:srgbClr val="087E83"/>
                </a:solidFill>
                <a:latin typeface="Helvetica Neue"/>
                <a:ea typeface="Helvetica Neue"/>
                <a:cs typeface="Helvetica Neue"/>
              </a:rPr>
              <a:t>03</a:t>
            </a:r>
          </a:p>
        </p:txBody>
      </p:sp>
      <p:sp>
        <p:nvSpPr>
          <p:cNvPr id="8" name="">
            <a:extLst xmlns:a="http://schemas.openxmlformats.org/drawingml/2006/main">
              <a:ext uri="{FF2B5EF4-FFF2-40B4-BE49-F238E27FC236}">
                <a16:creationId xmlns:a16="http://schemas.microsoft.com/office/drawing/2014/main" id="{CFCADDE0-6408-4DAB-B8BF-E85B07C07FC4}"/>
              </a:ext>
            </a:extLst>
          </p:cNvPr>
          <p:cNvSpPr>
            <a:spLocks xmlns:a="http://schemas.openxmlformats.org/drawingml/2006/main" noGrp="1"/>
          </p:cNvSpPr>
          <p:nvPr/>
        </p:nvSpPr>
        <p:spPr>
          <a:xfrm xmlns:a="http://schemas.openxmlformats.org/drawingml/2006/main">
            <a:off x="1190625" y="3867150"/>
            <a:ext cx="103917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İki işin benzer anda bitmesi paralellik kanıtı mı?</a:t>
            </a:r>
          </a:p>
        </p:txBody>
      </p:sp>
      <p:sp>
        <p:nvSpPr>
          <p:cNvPr id="9" name="">
            <a:extLst xmlns:a="http://schemas.openxmlformats.org/drawingml/2006/main">
              <a:ext uri="{FF2B5EF4-FFF2-40B4-BE49-F238E27FC236}">
                <a16:creationId xmlns:a16="http://schemas.microsoft.com/office/drawing/2014/main" id="{3917AAEC-239B-4F89-9AEB-AF6672E3F55E}"/>
              </a:ext>
            </a:extLst>
          </p:cNvPr>
          <p:cNvSpPr>
            <a:spLocks xmlns:a="http://schemas.openxmlformats.org/drawingml/2006/main" noGrp="1"/>
          </p:cNvSpPr>
          <p:nvPr/>
        </p:nvSpPr>
        <p:spPr>
          <a:xfrm xmlns:a="http://schemas.openxmlformats.org/drawingml/2006/main">
            <a:off x="609600" y="5991225"/>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0">
                <a:solidFill>
                  <a:srgbClr val="4D606A"/>
                </a:solidFill>
                <a:latin typeface="Helvetica Neue"/>
                <a:ea typeface="Helvetica Neue"/>
                <a:cs typeface="Helvetica Neue"/>
              </a:defRPr>
            </a:pPr>
            <a:r>
              <a:rPr sz="1500" b="0">
                <a:solidFill>
                  <a:srgbClr val="4D606A"/>
                </a:solidFill>
                <a:latin typeface="Helvetica Neue"/>
                <a:ea typeface="Helvetica Neue"/>
                <a:cs typeface="Helvetica Neue"/>
              </a:rPr>
              <a:t>Önce yanıtını yaz. Ardından çalışma sayfasında gerekçeyi aç.</a:t>
            </a:r>
          </a:p>
        </p:txBody>
      </p:sp>
      <p:sp>
        <p:nvSpPr>
          <p:cNvPr id="10" name="">
            <a:extLst xmlns:a="http://schemas.openxmlformats.org/drawingml/2006/main">
              <a:ext uri="{FF2B5EF4-FFF2-40B4-BE49-F238E27FC236}">
                <a16:creationId xmlns:a16="http://schemas.microsoft.com/office/drawing/2014/main" id="{B2EF7372-7AB0-4026-98E4-F33B32869F11}"/>
              </a:ext>
            </a:extLst>
          </p:cNvPr>
          <p:cNvSpPr>
            <a:spLocks xmlns:a="http://schemas.openxmlformats.org/drawingml/2006/main" noGrp="1"/>
          </p:cNvSpPr>
          <p:nvPr/>
        </p:nvSpPr>
        <p:spPr>
          <a:xfrm xmlns:a="http://schemas.openxmlformats.org/drawingml/2006/main">
            <a:off x="609600" y="64960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4D606A"/>
                </a:solidFill>
                <a:latin typeface="Helvetica Neue"/>
                <a:ea typeface="Helvetica Neue"/>
                <a:cs typeface="Helvetica Neue"/>
              </a:defRPr>
            </a:pPr>
            <a:r>
              <a:rPr sz="1125" b="0">
                <a:solidFill>
                  <a:srgbClr val="4D606A"/>
                </a:solidFill>
                <a:latin typeface="Helvetica Neue"/>
                <a:ea typeface="Helvetica Neue"/>
                <a:cs typeface="Helvetica Neue"/>
              </a:rPr>
              <a:t>CSE513 · İlk hafta / öğrenme pilotu</a:t>
            </a:r>
          </a:p>
        </p:txBody>
      </p:sp>
      <p:sp>
        <p:nvSpPr>
          <p:cNvPr id="11" name="">
            <a:extLst xmlns:a="http://schemas.openxmlformats.org/drawingml/2006/main">
              <a:ext uri="{FF2B5EF4-FFF2-40B4-BE49-F238E27FC236}">
                <a16:creationId xmlns:a16="http://schemas.microsoft.com/office/drawing/2014/main" id="{BD55A382-FEDD-4A9D-828C-BF0BDC2B23EF}"/>
              </a:ext>
            </a:extLst>
          </p:cNvPr>
          <p:cNvSpPr>
            <a:spLocks xmlns:a="http://schemas.openxmlformats.org/drawingml/2006/main" noGrp="1"/>
          </p:cNvSpPr>
          <p:nvPr/>
        </p:nvSpPr>
        <p:spPr>
          <a:xfrm xmlns:a="http://schemas.openxmlformats.org/drawingml/2006/main">
            <a:off x="10572750" y="6457950"/>
            <a:ext cx="1000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087E83"/>
                </a:solidFill>
                <a:latin typeface="Helvetica Neue"/>
                <a:ea typeface="Helvetica Neue"/>
                <a:cs typeface="Helvetica Neue"/>
              </a:defRPr>
            </a:pPr>
            <a:r>
              <a:rPr sz="1350" b="1">
                <a:solidFill>
                  <a:srgbClr val="087E83"/>
                </a:solidFill>
                <a:latin typeface="Helvetica Neue"/>
                <a:ea typeface="Helvetica Neue"/>
                <a:cs typeface="Helvetica Neue"/>
              </a:rPr>
              <a:t>14 / 28</a:t>
            </a:r>
          </a:p>
        </p:txBody>
      </p:sp>
    </p:spTree>
    <p:extLst>
      <p:ext uri="{BB962C8B-B14F-4D97-AF65-F5344CB8AC3E}">
        <p14:creationId xmlns:p14="http://schemas.microsoft.com/office/powerpoint/2010/main" val="117916227"/>
      </p:ext>
    </p:extLst>
  </p:cSld>
</p:sld>
</file>

<file path=ppt/slides/slide15.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D3E330C-A766-4872-A927-CC8DCC5576E1}"/>
              </a:ext>
            </a:extLst>
          </p:cNvPr>
          <p:cNvSpPr>
            <a:spLocks xmlns:a="http://schemas.openxmlformats.org/drawingml/2006/main" noGrp="1"/>
          </p:cNvSpPr>
          <p:nvPr/>
        </p:nvSpPr>
        <p:spPr>
          <a:xfrm xmlns:a="http://schemas.openxmlformats.org/drawingml/2006/main">
            <a:off x="609600" y="333375"/>
            <a:ext cx="10477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1">
                <a:solidFill>
                  <a:srgbClr val="087E83"/>
                </a:solidFill>
                <a:latin typeface="Helvetica Neue"/>
                <a:ea typeface="Helvetica Neue"/>
                <a:cs typeface="Helvetica Neue"/>
              </a:defRPr>
            </a:pPr>
            <a:r>
              <a:rPr sz="1275" b="1">
                <a:solidFill>
                  <a:srgbClr val="087E83"/>
                </a:solidFill>
                <a:latin typeface="Helvetica Neue"/>
                <a:ea typeface="Helvetica Neue"/>
                <a:cs typeface="Helvetica Neue"/>
              </a:rPr>
              <a:t>02 / PROCESS YAŞAM DÖNGÜSÜ</a:t>
            </a:r>
          </a:p>
        </p:txBody>
      </p:sp>
      <p:sp>
        <p:nvSpPr>
          <p:cNvPr id="2" name="">
            <a:extLst xmlns:a="http://schemas.openxmlformats.org/drawingml/2006/main">
              <a:ext uri="{FF2B5EF4-FFF2-40B4-BE49-F238E27FC236}">
                <a16:creationId xmlns:a16="http://schemas.microsoft.com/office/drawing/2014/main" id="{266CBBCE-B2E1-404B-97DF-F6F0E125BF9A}"/>
              </a:ext>
            </a:extLst>
          </p:cNvPr>
          <p:cNvSpPr>
            <a:spLocks xmlns:a="http://schemas.openxmlformats.org/drawingml/2006/main" noGrp="1"/>
          </p:cNvSpPr>
          <p:nvPr/>
        </p:nvSpPr>
        <p:spPr>
          <a:xfrm xmlns:a="http://schemas.openxmlformats.org/drawingml/2006/main">
            <a:off x="609600" y="819150"/>
            <a:ext cx="109728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22C42"/>
                </a:solidFill>
                <a:latin typeface="Helvetica Neue"/>
                <a:ea typeface="Helvetica Neue"/>
                <a:cs typeface="Helvetica Neue"/>
              </a:defRPr>
            </a:pPr>
            <a:r>
              <a:rPr sz="3300" b="1">
                <a:solidFill>
                  <a:srgbClr val="122C42"/>
                </a:solidFill>
                <a:latin typeface="Helvetica Neue"/>
                <a:ea typeface="Helvetica Neue"/>
                <a:cs typeface="Helvetica Neue"/>
              </a:rPr>
              <a:t>Shell’in komut başlatması</a:t>
            </a:r>
          </a:p>
        </p:txBody>
      </p:sp>
      <p:sp>
        <p:nvSpPr>
          <p:cNvPr id="3" name="">
            <a:extLst xmlns:a="http://schemas.openxmlformats.org/drawingml/2006/main">
              <a:ext uri="{FF2B5EF4-FFF2-40B4-BE49-F238E27FC236}">
                <a16:creationId xmlns:a16="http://schemas.microsoft.com/office/drawing/2014/main" id="{75E7A401-65CE-4F8B-9972-5616CEF92D33}"/>
              </a:ext>
            </a:extLst>
          </p:cNvPr>
          <p:cNvSpPr>
            <a:spLocks xmlns:a="http://schemas.openxmlformats.org/drawingml/2006/main" noGrp="1"/>
          </p:cNvSpPr>
          <p:nvPr/>
        </p:nvSpPr>
        <p:spPr>
          <a:xfrm xmlns:a="http://schemas.openxmlformats.org/drawingml/2006/main">
            <a:off x="609600" y="1695450"/>
            <a:ext cx="10953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4D606A"/>
                </a:solidFill>
                <a:latin typeface="Helvetica Neue"/>
                <a:ea typeface="Helvetica Neue"/>
                <a:cs typeface="Helvetica Neue"/>
              </a:defRPr>
            </a:pPr>
            <a:r>
              <a:rPr sz="1875" b="0">
                <a:solidFill>
                  <a:srgbClr val="4D606A"/>
                </a:solidFill>
                <a:latin typeface="Helvetica Neue"/>
                <a:ea typeface="Helvetica Neue"/>
                <a:cs typeface="Helvetica Neue"/>
              </a:rPr>
              <a:t>Kimlik, program imajı ve bitiş üç ayrı boyuttur.</a:t>
            </a:r>
          </a:p>
        </p:txBody>
      </p:sp>
      <p:graphicFrame>
        <p:nvGraphicFramePr>
          <p:cNvPr id="11" name=""/>
          <p:cNvGraphicFramePr/>
          <p:nvPr/>
        </p:nvGraphicFramePr>
        <p:xfrm>
          <a:off xmlns:a="http://schemas.openxmlformats.org/drawingml/2006/main" x="609600" y="2352675"/>
          <a:ext xmlns:a="http://schemas.openxmlformats.org/drawingml/2006/main" cx="10972800" cy="2981325"/>
        </p:xfrm>
        <a:graphic xmlns:a="http://schemas.openxmlformats.org/drawingml/2006/main">
          <a:graphicData uri="http://schemas.openxmlformats.org/drawingml/2006/table">
            <a:tbl>
              <a:tblPr/>
              <a:tblGrid>
                <a:gridCol w="4608576"/>
                <a:gridCol w="6364224"/>
              </a:tblGrid>
              <a:tr h="745331">
                <a:tc>
                  <a:txBody>
                    <a:bodyPr/>
                    <a:lstStyle/>
                    <a:p>
                      <a:r>
                        <a:rPr sz="1800" b="1">
                          <a:solidFill>
                            <a:srgbClr val="FFFFFF"/>
                          </a:solidFill>
                          <a:latin typeface="Helvetica Neue"/>
                          <a:ea typeface="Helvetica Neue"/>
                          <a:cs typeface="Helvetica Neue"/>
                        </a:rPr>
                        <a:t>İşlem</a:t>
                      </a:r>
                    </a:p>
                  </a:txBody>
                  <a:tcPr marL="142875" marR="142875" marT="47625" marB="47625" anchor="ctr">
                    <a:solidFill>
                      <a:srgbClr val="122C42"/>
                    </a:solidFill>
                  </a:tcPr>
                </a:tc>
                <a:tc>
                  <a:txBody>
                    <a:bodyPr/>
                    <a:lstStyle/>
                    <a:p>
                      <a:r>
                        <a:rPr sz="1800" b="1">
                          <a:solidFill>
                            <a:srgbClr val="FFFFFF"/>
                          </a:solidFill>
                          <a:latin typeface="Helvetica Neue"/>
                          <a:ea typeface="Helvetica Neue"/>
                          <a:cs typeface="Helvetica Neue"/>
                        </a:rPr>
                        <a:t>Etkisi</a:t>
                      </a:r>
                    </a:p>
                  </a:txBody>
                  <a:tcPr marL="142875" marR="142875" marT="47625" marB="47625" anchor="ctr">
                    <a:solidFill>
                      <a:srgbClr val="122C42"/>
                    </a:solidFill>
                  </a:tcPr>
                </a:tc>
              </a:tr>
              <a:tr h="745331">
                <a:tc>
                  <a:txBody>
                    <a:bodyPr/>
                    <a:lstStyle/>
                    <a:p>
                      <a:r>
                        <a:rPr sz="1875" b="0">
                          <a:solidFill>
                            <a:srgbClr val="122C42"/>
                          </a:solidFill>
                          <a:latin typeface="Helvetica Neue"/>
                          <a:ea typeface="Helvetica Neue"/>
                          <a:cs typeface="Helvetica Neue"/>
                        </a:rPr>
                        <a:t>fork</a:t>
                      </a:r>
                    </a:p>
                  </a:txBody>
                  <a:tcPr marL="142875" marR="142875" marT="47625" marB="47625" anchor="ctr">
                    <a:solidFill>
                      <a:srgbClr val="FFFFFF"/>
                    </a:solidFill>
                  </a:tcPr>
                </a:tc>
                <a:tc>
                  <a:txBody>
                    <a:bodyPr/>
                    <a:lstStyle/>
                    <a:p>
                      <a:r>
                        <a:rPr sz="1875" b="0">
                          <a:solidFill>
                            <a:srgbClr val="122C42"/>
                          </a:solidFill>
                          <a:latin typeface="Helvetica Neue"/>
                          <a:ea typeface="Helvetica Neue"/>
                          <a:cs typeface="Helvetica Neue"/>
                        </a:rPr>
                        <a:t>Yeni child process oluşturur</a:t>
                      </a:r>
                    </a:p>
                  </a:txBody>
                  <a:tcPr marL="142875" marR="142875" marT="47625" marB="47625" anchor="ctr">
                    <a:solidFill>
                      <a:srgbClr val="FFFFFF"/>
                    </a:solidFill>
                  </a:tcPr>
                </a:tc>
              </a:tr>
              <a:tr h="745331">
                <a:tc>
                  <a:txBody>
                    <a:bodyPr/>
                    <a:lstStyle/>
                    <a:p>
                      <a:r>
                        <a:rPr sz="1875" b="0">
                          <a:solidFill>
                            <a:srgbClr val="122C42"/>
                          </a:solidFill>
                          <a:latin typeface="Helvetica Neue"/>
                          <a:ea typeface="Helvetica Neue"/>
                          <a:cs typeface="Helvetica Neue"/>
                        </a:rPr>
                        <a:t>exec</a:t>
                      </a:r>
                    </a:p>
                  </a:txBody>
                  <a:tcPr marL="142875" marR="142875" marT="47625" marB="47625" anchor="ctr">
                    <a:solidFill>
                      <a:srgbClr val="ECF0EC"/>
                    </a:solidFill>
                  </a:tcPr>
                </a:tc>
                <a:tc>
                  <a:txBody>
                    <a:bodyPr/>
                    <a:lstStyle/>
                    <a:p>
                      <a:r>
                        <a:rPr sz="1875" b="0">
                          <a:solidFill>
                            <a:srgbClr val="122C42"/>
                          </a:solidFill>
                          <a:latin typeface="Helvetica Neue"/>
                          <a:ea typeface="Helvetica Neue"/>
                          <a:cs typeface="Helvetica Neue"/>
                        </a:rPr>
                        <a:t>Çağıran process’in program imajını değiştirir</a:t>
                      </a:r>
                    </a:p>
                  </a:txBody>
                  <a:tcPr marL="142875" marR="142875" marT="47625" marB="47625" anchor="ctr">
                    <a:solidFill>
                      <a:srgbClr val="ECF0EC"/>
                    </a:solidFill>
                  </a:tcPr>
                </a:tc>
              </a:tr>
              <a:tr h="745331">
                <a:tc>
                  <a:txBody>
                    <a:bodyPr/>
                    <a:lstStyle/>
                    <a:p>
                      <a:r>
                        <a:rPr sz="1875" b="0">
                          <a:solidFill>
                            <a:srgbClr val="122C42"/>
                          </a:solidFill>
                          <a:latin typeface="Helvetica Neue"/>
                          <a:ea typeface="Helvetica Neue"/>
                          <a:cs typeface="Helvetica Neue"/>
                        </a:rPr>
                        <a:t>wait / waitpid</a:t>
                      </a:r>
                    </a:p>
                  </a:txBody>
                  <a:tcPr marL="142875" marR="142875" marT="47625" marB="47625" anchor="ctr">
                    <a:solidFill>
                      <a:srgbClr val="FFFFFF"/>
                    </a:solidFill>
                  </a:tcPr>
                </a:tc>
                <a:tc>
                  <a:txBody>
                    <a:bodyPr/>
                    <a:lstStyle/>
                    <a:p>
                      <a:r>
                        <a:rPr sz="1875" b="0">
                          <a:solidFill>
                            <a:srgbClr val="122C42"/>
                          </a:solidFill>
                          <a:latin typeface="Helvetica Neue"/>
                          <a:ea typeface="Helvetica Neue"/>
                          <a:cs typeface="Helvetica Neue"/>
                        </a:rPr>
                        <a:t>Child’ın bitiş bilgisini toplar</a:t>
                      </a:r>
                    </a:p>
                  </a:txBody>
                  <a:tcPr marL="142875" marR="142875" marT="47625" marB="47625"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81CDFC9A-270E-4691-8ABB-C0B3B67E883C}"/>
              </a:ext>
            </a:extLst>
          </p:cNvPr>
          <p:cNvSpPr>
            <a:spLocks xmlns:a="http://schemas.openxmlformats.org/drawingml/2006/main" noGrp="1"/>
          </p:cNvSpPr>
          <p:nvPr/>
        </p:nvSpPr>
        <p:spPr>
          <a:xfrm xmlns:a="http://schemas.openxmlformats.org/drawingml/2006/main">
            <a:off x="609600" y="6105525"/>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0">
                <a:solidFill>
                  <a:srgbClr val="C46225"/>
                </a:solidFill>
                <a:latin typeface="Helvetica Neue"/>
                <a:ea typeface="Helvetica Neue"/>
                <a:cs typeface="Helvetica Neue"/>
              </a:defRPr>
            </a:pPr>
            <a:r>
              <a:rPr sz="1500" b="0">
                <a:solidFill>
                  <a:srgbClr val="C46225"/>
                </a:solidFill>
                <a:latin typeface="Helvetica Neue"/>
                <a:ea typeface="Helvetica Neue"/>
                <a:cs typeface="Helvetica Neue"/>
              </a:rPr>
              <a:t>Hayatta: Terminalde araç başlatma, kimlik ve program imajını ayrı düşünmeyi gerektirir.</a:t>
            </a:r>
          </a:p>
        </p:txBody>
      </p:sp>
      <p:sp>
        <p:nvSpPr>
          <p:cNvPr id="6" name="">
            <a:extLst xmlns:a="http://schemas.openxmlformats.org/drawingml/2006/main">
              <a:ext uri="{FF2B5EF4-FFF2-40B4-BE49-F238E27FC236}">
                <a16:creationId xmlns:a16="http://schemas.microsoft.com/office/drawing/2014/main" id="{3396FBF2-1241-4675-A21F-C18D0B77C7D1}"/>
              </a:ext>
            </a:extLst>
          </p:cNvPr>
          <p:cNvSpPr>
            <a:spLocks xmlns:a="http://schemas.openxmlformats.org/drawingml/2006/main" noGrp="1"/>
          </p:cNvSpPr>
          <p:nvPr/>
        </p:nvSpPr>
        <p:spPr>
          <a:xfrm xmlns:a="http://schemas.openxmlformats.org/drawingml/2006/main">
            <a:off x="609600" y="64960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4D606A"/>
                </a:solidFill>
                <a:latin typeface="Helvetica Neue"/>
                <a:ea typeface="Helvetica Neue"/>
                <a:cs typeface="Helvetica Neue"/>
              </a:defRPr>
            </a:pPr>
            <a:r>
              <a:rPr sz="1125" b="0">
                <a:solidFill>
                  <a:srgbClr val="4D606A"/>
                </a:solidFill>
                <a:latin typeface="Helvetica Neue"/>
                <a:ea typeface="Helvetica Neue"/>
                <a:cs typeface="Helvetica Neue"/>
              </a:rPr>
              <a:t>CSE513 · İlk hafta / öğrenme pilotu</a:t>
            </a:r>
          </a:p>
        </p:txBody>
      </p:sp>
      <p:sp>
        <p:nvSpPr>
          <p:cNvPr id="7" name="">
            <a:extLst xmlns:a="http://schemas.openxmlformats.org/drawingml/2006/main">
              <a:ext uri="{FF2B5EF4-FFF2-40B4-BE49-F238E27FC236}">
                <a16:creationId xmlns:a16="http://schemas.microsoft.com/office/drawing/2014/main" id="{F2B571AB-8B9E-4F6F-9AAA-8944A2BE8836}"/>
              </a:ext>
            </a:extLst>
          </p:cNvPr>
          <p:cNvSpPr>
            <a:spLocks xmlns:a="http://schemas.openxmlformats.org/drawingml/2006/main" noGrp="1"/>
          </p:cNvSpPr>
          <p:nvPr/>
        </p:nvSpPr>
        <p:spPr>
          <a:xfrm xmlns:a="http://schemas.openxmlformats.org/drawingml/2006/main">
            <a:off x="10572750" y="6457950"/>
            <a:ext cx="1000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087E83"/>
                </a:solidFill>
                <a:latin typeface="Helvetica Neue"/>
                <a:ea typeface="Helvetica Neue"/>
                <a:cs typeface="Helvetica Neue"/>
              </a:defRPr>
            </a:pPr>
            <a:r>
              <a:rPr sz="1350" b="1">
                <a:solidFill>
                  <a:srgbClr val="087E83"/>
                </a:solidFill>
                <a:latin typeface="Helvetica Neue"/>
                <a:ea typeface="Helvetica Neue"/>
                <a:cs typeface="Helvetica Neue"/>
              </a:rPr>
              <a:t>15 / 28</a:t>
            </a:r>
          </a:p>
        </p:txBody>
      </p:sp>
    </p:spTree>
    <p:extLst>
      <p:ext uri="{BB962C8B-B14F-4D97-AF65-F5344CB8AC3E}">
        <p14:creationId xmlns:p14="http://schemas.microsoft.com/office/powerpoint/2010/main" val="1038989530"/>
      </p:ext>
    </p:extLst>
  </p:cSld>
</p:sld>
</file>

<file path=ppt/slides/slide16.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142D3BC-828E-4C07-9D93-7230B7E1A524}"/>
              </a:ext>
            </a:extLst>
          </p:cNvPr>
          <p:cNvSpPr>
            <a:spLocks xmlns:a="http://schemas.openxmlformats.org/drawingml/2006/main" noGrp="1"/>
          </p:cNvSpPr>
          <p:nvPr/>
        </p:nvSpPr>
        <p:spPr>
          <a:xfrm xmlns:a="http://schemas.openxmlformats.org/drawingml/2006/main">
            <a:off x="609600" y="333375"/>
            <a:ext cx="10477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1">
                <a:solidFill>
                  <a:srgbClr val="087E83"/>
                </a:solidFill>
                <a:latin typeface="Helvetica Neue"/>
                <a:ea typeface="Helvetica Neue"/>
                <a:cs typeface="Helvetica Neue"/>
              </a:defRPr>
            </a:pPr>
            <a:r>
              <a:rPr sz="1275" b="1">
                <a:solidFill>
                  <a:srgbClr val="087E83"/>
                </a:solidFill>
                <a:latin typeface="Helvetica Neue"/>
                <a:ea typeface="Helvetica Neue"/>
                <a:cs typeface="Helvetica Neue"/>
              </a:rPr>
              <a:t>02 / PROCESS YAŞAM DÖNGÜSÜ</a:t>
            </a:r>
          </a:p>
        </p:txBody>
      </p:sp>
      <p:sp>
        <p:nvSpPr>
          <p:cNvPr id="2" name="">
            <a:extLst xmlns:a="http://schemas.openxmlformats.org/drawingml/2006/main">
              <a:ext uri="{FF2B5EF4-FFF2-40B4-BE49-F238E27FC236}">
                <a16:creationId xmlns:a16="http://schemas.microsoft.com/office/drawing/2014/main" id="{124B6269-FA85-4428-8294-B949C353F69E}"/>
              </a:ext>
            </a:extLst>
          </p:cNvPr>
          <p:cNvSpPr>
            <a:spLocks xmlns:a="http://schemas.openxmlformats.org/drawingml/2006/main" noGrp="1"/>
          </p:cNvSpPr>
          <p:nvPr/>
        </p:nvSpPr>
        <p:spPr>
          <a:xfrm xmlns:a="http://schemas.openxmlformats.org/drawingml/2006/main">
            <a:off x="609600" y="819150"/>
            <a:ext cx="109728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22C42"/>
                </a:solidFill>
                <a:latin typeface="Helvetica Neue"/>
                <a:ea typeface="Helvetica Neue"/>
                <a:cs typeface="Helvetica Neue"/>
              </a:defRPr>
            </a:pPr>
            <a:r>
              <a:rPr sz="3300" b="1">
                <a:solidFill>
                  <a:srgbClr val="122C42"/>
                </a:solidFill>
                <a:latin typeface="Helvetica Neue"/>
                <a:ea typeface="Helvetica Neue"/>
                <a:cs typeface="Helvetica Neue"/>
              </a:rPr>
              <a:t>fork: bir çağrı, iki dönüş yolu</a:t>
            </a:r>
          </a:p>
        </p:txBody>
      </p:sp>
      <p:graphicFrame>
        <p:nvGraphicFramePr>
          <p:cNvPr id="9" name=""/>
          <p:cNvGraphicFramePr/>
          <p:nvPr/>
        </p:nvGraphicFramePr>
        <p:xfrm>
          <a:off xmlns:a="http://schemas.openxmlformats.org/drawingml/2006/main" x="609600" y="1857375"/>
          <a:ext xmlns:a="http://schemas.openxmlformats.org/drawingml/2006/main" cx="10972800" cy="3238500"/>
        </p:xfrm>
        <a:graphic xmlns:a="http://schemas.openxmlformats.org/drawingml/2006/main">
          <a:graphicData uri="http://schemas.openxmlformats.org/drawingml/2006/table">
            <a:tbl>
              <a:tblPr/>
              <a:tblGrid>
                <a:gridCol w="3950208"/>
                <a:gridCol w="3072384"/>
                <a:gridCol w="3950208"/>
              </a:tblGrid>
              <a:tr h="809625">
                <a:tc>
                  <a:txBody>
                    <a:bodyPr/>
                    <a:lstStyle/>
                    <a:p>
                      <a:r>
                        <a:rPr sz="1800" b="1">
                          <a:solidFill>
                            <a:srgbClr val="FFFFFF"/>
                          </a:solidFill>
                          <a:latin typeface="Helvetica Neue"/>
                          <a:ea typeface="Helvetica Neue"/>
                          <a:cs typeface="Helvetica Neue"/>
                        </a:rPr>
                        <a:t>Dönüşü alan</a:t>
                      </a:r>
                    </a:p>
                  </a:txBody>
                  <a:tcPr marL="142875" marR="142875" marT="47625" marB="47625" anchor="ctr">
                    <a:solidFill>
                      <a:srgbClr val="122C42"/>
                    </a:solidFill>
                  </a:tcPr>
                </a:tc>
                <a:tc>
                  <a:txBody>
                    <a:bodyPr/>
                    <a:lstStyle/>
                    <a:p>
                      <a:r>
                        <a:rPr sz="1800" b="1">
                          <a:solidFill>
                            <a:srgbClr val="FFFFFF"/>
                          </a:solidFill>
                          <a:latin typeface="Helvetica Neue"/>
                          <a:ea typeface="Helvetica Neue"/>
                          <a:cs typeface="Helvetica Neue"/>
                        </a:rPr>
                        <a:t>fork sonucu</a:t>
                      </a:r>
                    </a:p>
                  </a:txBody>
                  <a:tcPr marL="142875" marR="142875" marT="47625" marB="47625" anchor="ctr">
                    <a:solidFill>
                      <a:srgbClr val="122C42"/>
                    </a:solidFill>
                  </a:tcPr>
                </a:tc>
                <a:tc>
                  <a:txBody>
                    <a:bodyPr/>
                    <a:lstStyle/>
                    <a:p>
                      <a:r>
                        <a:rPr sz="1800" b="1">
                          <a:solidFill>
                            <a:srgbClr val="FFFFFF"/>
                          </a:solidFill>
                          <a:latin typeface="Helvetica Neue"/>
                          <a:ea typeface="Helvetica Neue"/>
                          <a:cs typeface="Helvetica Neue"/>
                        </a:rPr>
                        <a:t>Devam</a:t>
                      </a:r>
                    </a:p>
                  </a:txBody>
                  <a:tcPr marL="142875" marR="142875" marT="47625" marB="47625" anchor="ctr">
                    <a:solidFill>
                      <a:srgbClr val="122C42"/>
                    </a:solidFill>
                  </a:tcPr>
                </a:tc>
              </a:tr>
              <a:tr h="809625">
                <a:tc>
                  <a:txBody>
                    <a:bodyPr/>
                    <a:lstStyle/>
                    <a:p>
                      <a:r>
                        <a:rPr sz="1875" b="0">
                          <a:solidFill>
                            <a:srgbClr val="122C42"/>
                          </a:solidFill>
                          <a:latin typeface="Helvetica Neue"/>
                          <a:ea typeface="Helvetica Neue"/>
                          <a:cs typeface="Helvetica Neue"/>
                        </a:rPr>
                        <a:t>Parent</a:t>
                      </a:r>
                    </a:p>
                  </a:txBody>
                  <a:tcPr marL="142875" marR="142875" marT="47625" marB="47625" anchor="ctr">
                    <a:solidFill>
                      <a:srgbClr val="FFFFFF"/>
                    </a:solidFill>
                  </a:tcPr>
                </a:tc>
                <a:tc>
                  <a:txBody>
                    <a:bodyPr/>
                    <a:lstStyle/>
                    <a:p>
                      <a:r>
                        <a:rPr sz="1875" b="0">
                          <a:solidFill>
                            <a:srgbClr val="122C42"/>
                          </a:solidFill>
                          <a:latin typeface="Helvetica Neue"/>
                          <a:ea typeface="Helvetica Neue"/>
                          <a:cs typeface="Helvetica Neue"/>
                        </a:rPr>
                        <a:t>Child PID &gt; 0</a:t>
                      </a:r>
                    </a:p>
                  </a:txBody>
                  <a:tcPr marL="142875" marR="142875" marT="47625" marB="47625" anchor="ctr">
                    <a:solidFill>
                      <a:srgbClr val="FFFFFF"/>
                    </a:solidFill>
                  </a:tcPr>
                </a:tc>
                <a:tc>
                  <a:txBody>
                    <a:bodyPr/>
                    <a:lstStyle/>
                    <a:p>
                      <a:r>
                        <a:rPr sz="1875" b="0">
                          <a:solidFill>
                            <a:srgbClr val="122C42"/>
                          </a:solidFill>
                          <a:latin typeface="Helvetica Neue"/>
                          <a:ea typeface="Helvetica Neue"/>
                          <a:cs typeface="Helvetica Neue"/>
                        </a:rPr>
                        <a:t>Parent dalı</a:t>
                      </a:r>
                    </a:p>
                  </a:txBody>
                  <a:tcPr marL="142875" marR="142875" marT="47625" marB="47625" anchor="ctr">
                    <a:solidFill>
                      <a:srgbClr val="FFFFFF"/>
                    </a:solidFill>
                  </a:tcPr>
                </a:tc>
              </a:tr>
              <a:tr h="809625">
                <a:tc>
                  <a:txBody>
                    <a:bodyPr/>
                    <a:lstStyle/>
                    <a:p>
                      <a:r>
                        <a:rPr sz="1875" b="0">
                          <a:solidFill>
                            <a:srgbClr val="122C42"/>
                          </a:solidFill>
                          <a:latin typeface="Helvetica Neue"/>
                          <a:ea typeface="Helvetica Neue"/>
                          <a:cs typeface="Helvetica Neue"/>
                        </a:rPr>
                        <a:t>Child</a:t>
                      </a:r>
                    </a:p>
                  </a:txBody>
                  <a:tcPr marL="142875" marR="142875" marT="47625" marB="47625" anchor="ctr">
                    <a:solidFill>
                      <a:srgbClr val="ECF0EC"/>
                    </a:solidFill>
                  </a:tcPr>
                </a:tc>
                <a:tc>
                  <a:txBody>
                    <a:bodyPr/>
                    <a:lstStyle/>
                    <a:p>
                      <a:r>
                        <a:rPr sz="1875" b="0">
                          <a:solidFill>
                            <a:srgbClr val="122C42"/>
                          </a:solidFill>
                          <a:latin typeface="Helvetica Neue"/>
                          <a:ea typeface="Helvetica Neue"/>
                          <a:cs typeface="Helvetica Neue"/>
                        </a:rPr>
                        <a:t>0</a:t>
                      </a:r>
                    </a:p>
                  </a:txBody>
                  <a:tcPr marL="142875" marR="142875" marT="47625" marB="47625" anchor="ctr">
                    <a:solidFill>
                      <a:srgbClr val="ECF0EC"/>
                    </a:solidFill>
                  </a:tcPr>
                </a:tc>
                <a:tc>
                  <a:txBody>
                    <a:bodyPr/>
                    <a:lstStyle/>
                    <a:p>
                      <a:r>
                        <a:rPr sz="1875" b="0">
                          <a:solidFill>
                            <a:srgbClr val="122C42"/>
                          </a:solidFill>
                          <a:latin typeface="Helvetica Neue"/>
                          <a:ea typeface="Helvetica Neue"/>
                          <a:cs typeface="Helvetica Neue"/>
                        </a:rPr>
                        <a:t>Child dalı</a:t>
                      </a:r>
                    </a:p>
                  </a:txBody>
                  <a:tcPr marL="142875" marR="142875" marT="47625" marB="47625" anchor="ctr">
                    <a:solidFill>
                      <a:srgbClr val="ECF0EC"/>
                    </a:solidFill>
                  </a:tcPr>
                </a:tc>
              </a:tr>
              <a:tr h="809625">
                <a:tc>
                  <a:txBody>
                    <a:bodyPr/>
                    <a:lstStyle/>
                    <a:p>
                      <a:r>
                        <a:rPr sz="1875" b="0">
                          <a:solidFill>
                            <a:srgbClr val="122C42"/>
                          </a:solidFill>
                          <a:latin typeface="Helvetica Neue"/>
                          <a:ea typeface="Helvetica Neue"/>
                          <a:cs typeface="Helvetica Neue"/>
                        </a:rPr>
                        <a:t>Başarısız parent</a:t>
                      </a:r>
                    </a:p>
                  </a:txBody>
                  <a:tcPr marL="142875" marR="142875" marT="47625" marB="47625" anchor="ctr">
                    <a:solidFill>
                      <a:srgbClr val="FFFFFF"/>
                    </a:solidFill>
                  </a:tcPr>
                </a:tc>
                <a:tc>
                  <a:txBody>
                    <a:bodyPr/>
                    <a:lstStyle/>
                    <a:p>
                      <a:r>
                        <a:rPr sz="1875" b="0">
                          <a:solidFill>
                            <a:srgbClr val="122C42"/>
                          </a:solidFill>
                          <a:latin typeface="Helvetica Neue"/>
                          <a:ea typeface="Helvetica Neue"/>
                          <a:cs typeface="Helvetica Neue"/>
                        </a:rPr>
                        <a:t>-1</a:t>
                      </a:r>
                    </a:p>
                  </a:txBody>
                  <a:tcPr marL="142875" marR="142875" marT="47625" marB="47625" anchor="ctr">
                    <a:solidFill>
                      <a:srgbClr val="FFFFFF"/>
                    </a:solidFill>
                  </a:tcPr>
                </a:tc>
                <a:tc>
                  <a:txBody>
                    <a:bodyPr/>
                    <a:lstStyle/>
                    <a:p>
                      <a:r>
                        <a:rPr sz="1875" b="0">
                          <a:solidFill>
                            <a:srgbClr val="122C42"/>
                          </a:solidFill>
                          <a:latin typeface="Helvetica Neue"/>
                          <a:ea typeface="Helvetica Neue"/>
                          <a:cs typeface="Helvetica Neue"/>
                        </a:rPr>
                        <a:t>Hata, child oluşmadı</a:t>
                      </a:r>
                    </a:p>
                  </a:txBody>
                  <a:tcPr marL="142875" marR="142875" marT="47625" marB="47625"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AB9F0274-0103-4F54-9ABE-8CF3799F37A7}"/>
              </a:ext>
            </a:extLst>
          </p:cNvPr>
          <p:cNvSpPr>
            <a:spLocks xmlns:a="http://schemas.openxmlformats.org/drawingml/2006/main" noGrp="1"/>
          </p:cNvSpPr>
          <p:nvPr/>
        </p:nvSpPr>
        <p:spPr>
          <a:xfrm xmlns:a="http://schemas.openxmlformats.org/drawingml/2006/main">
            <a:off x="609600" y="5334000"/>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1">
                <a:solidFill>
                  <a:srgbClr val="087E83"/>
                </a:solidFill>
                <a:latin typeface="Helvetica Neue"/>
                <a:ea typeface="Helvetica Neue"/>
                <a:cs typeface="Helvetica Neue"/>
              </a:defRPr>
            </a:pPr>
            <a:r>
              <a:rPr sz="1875" b="1">
                <a:solidFill>
                  <a:srgbClr val="087E83"/>
                </a:solidFill>
                <a:latin typeface="Helvetica Neue"/>
                <a:ea typeface="Helvetica Neue"/>
                <a:cs typeface="Helvetica Neue"/>
              </a:rPr>
              <a:t>Düşün: Önce parent mı, child mı sonraki komutu çalıştırır?</a:t>
            </a:r>
          </a:p>
        </p:txBody>
      </p:sp>
      <p:sp>
        <p:nvSpPr>
          <p:cNvPr id="5" name="">
            <a:extLst xmlns:a="http://schemas.openxmlformats.org/drawingml/2006/main">
              <a:ext uri="{FF2B5EF4-FFF2-40B4-BE49-F238E27FC236}">
                <a16:creationId xmlns:a16="http://schemas.microsoft.com/office/drawing/2014/main" id="{C7B76A8A-6FA3-4EE8-9D37-A85A77D77418}"/>
              </a:ext>
            </a:extLst>
          </p:cNvPr>
          <p:cNvSpPr>
            <a:spLocks xmlns:a="http://schemas.openxmlformats.org/drawingml/2006/main" noGrp="1"/>
          </p:cNvSpPr>
          <p:nvPr/>
        </p:nvSpPr>
        <p:spPr>
          <a:xfrm xmlns:a="http://schemas.openxmlformats.org/drawingml/2006/main">
            <a:off x="609600" y="64960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4D606A"/>
                </a:solidFill>
                <a:latin typeface="Helvetica Neue"/>
                <a:ea typeface="Helvetica Neue"/>
                <a:cs typeface="Helvetica Neue"/>
              </a:defRPr>
            </a:pPr>
            <a:r>
              <a:rPr sz="1125" b="0">
                <a:solidFill>
                  <a:srgbClr val="4D606A"/>
                </a:solidFill>
                <a:latin typeface="Helvetica Neue"/>
                <a:ea typeface="Helvetica Neue"/>
                <a:cs typeface="Helvetica Neue"/>
              </a:rPr>
              <a:t>CSE513 · İlk hafta / öğrenme pilotu</a:t>
            </a:r>
          </a:p>
        </p:txBody>
      </p:sp>
      <p:sp>
        <p:nvSpPr>
          <p:cNvPr id="6" name="">
            <a:extLst xmlns:a="http://schemas.openxmlformats.org/drawingml/2006/main">
              <a:ext uri="{FF2B5EF4-FFF2-40B4-BE49-F238E27FC236}">
                <a16:creationId xmlns:a16="http://schemas.microsoft.com/office/drawing/2014/main" id="{E0D2B4C8-D41B-425C-AED4-4B9068E41E38}"/>
              </a:ext>
            </a:extLst>
          </p:cNvPr>
          <p:cNvSpPr>
            <a:spLocks xmlns:a="http://schemas.openxmlformats.org/drawingml/2006/main" noGrp="1"/>
          </p:cNvSpPr>
          <p:nvPr/>
        </p:nvSpPr>
        <p:spPr>
          <a:xfrm xmlns:a="http://schemas.openxmlformats.org/drawingml/2006/main">
            <a:off x="10572750" y="6457950"/>
            <a:ext cx="1000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087E83"/>
                </a:solidFill>
                <a:latin typeface="Helvetica Neue"/>
                <a:ea typeface="Helvetica Neue"/>
                <a:cs typeface="Helvetica Neue"/>
              </a:defRPr>
            </a:pPr>
            <a:r>
              <a:rPr sz="1350" b="1">
                <a:solidFill>
                  <a:srgbClr val="087E83"/>
                </a:solidFill>
                <a:latin typeface="Helvetica Neue"/>
                <a:ea typeface="Helvetica Neue"/>
                <a:cs typeface="Helvetica Neue"/>
              </a:rPr>
              <a:t>16 / 28</a:t>
            </a:r>
          </a:p>
        </p:txBody>
      </p:sp>
    </p:spTree>
    <p:extLst>
      <p:ext uri="{BB962C8B-B14F-4D97-AF65-F5344CB8AC3E}">
        <p14:creationId xmlns:p14="http://schemas.microsoft.com/office/powerpoint/2010/main" val="2116211329"/>
      </p:ext>
    </p:extLst>
  </p:cSld>
</p:sld>
</file>

<file path=ppt/slides/slide17.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AB3E284-B40D-43D1-BE3C-5E03CA1AF70C}"/>
              </a:ext>
            </a:extLst>
          </p:cNvPr>
          <p:cNvSpPr>
            <a:spLocks xmlns:a="http://schemas.openxmlformats.org/drawingml/2006/main" noGrp="1"/>
          </p:cNvSpPr>
          <p:nvPr/>
        </p:nvSpPr>
        <p:spPr>
          <a:xfrm xmlns:a="http://schemas.openxmlformats.org/drawingml/2006/main">
            <a:off x="609600" y="333375"/>
            <a:ext cx="10477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1">
                <a:solidFill>
                  <a:srgbClr val="087E83"/>
                </a:solidFill>
                <a:latin typeface="Helvetica Neue"/>
                <a:ea typeface="Helvetica Neue"/>
                <a:cs typeface="Helvetica Neue"/>
              </a:defRPr>
            </a:pPr>
            <a:r>
              <a:rPr sz="1275" b="1">
                <a:solidFill>
                  <a:srgbClr val="087E83"/>
                </a:solidFill>
                <a:latin typeface="Helvetica Neue"/>
                <a:ea typeface="Helvetica Neue"/>
                <a:cs typeface="Helvetica Neue"/>
              </a:rPr>
              <a:t>02 / PROCESS YAŞAM DÖNGÜSÜ</a:t>
            </a:r>
          </a:p>
        </p:txBody>
      </p:sp>
      <p:sp>
        <p:nvSpPr>
          <p:cNvPr id="2" name="">
            <a:extLst xmlns:a="http://schemas.openxmlformats.org/drawingml/2006/main">
              <a:ext uri="{FF2B5EF4-FFF2-40B4-BE49-F238E27FC236}">
                <a16:creationId xmlns:a16="http://schemas.microsoft.com/office/drawing/2014/main" id="{DF41440A-D434-4C3E-A8BB-EF5A2879D2D0}"/>
              </a:ext>
            </a:extLst>
          </p:cNvPr>
          <p:cNvSpPr>
            <a:spLocks xmlns:a="http://schemas.openxmlformats.org/drawingml/2006/main" noGrp="1"/>
          </p:cNvSpPr>
          <p:nvPr/>
        </p:nvSpPr>
        <p:spPr>
          <a:xfrm xmlns:a="http://schemas.openxmlformats.org/drawingml/2006/main">
            <a:off x="609600" y="819150"/>
            <a:ext cx="109728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22C42"/>
                </a:solidFill>
                <a:latin typeface="Helvetica Neue"/>
                <a:ea typeface="Helvetica Neue"/>
                <a:cs typeface="Helvetica Neue"/>
              </a:defRPr>
            </a:pPr>
            <a:r>
              <a:rPr sz="3300" b="1">
                <a:solidFill>
                  <a:srgbClr val="122C42"/>
                </a:solidFill>
                <a:latin typeface="Helvetica Neue"/>
                <a:ea typeface="Helvetica Neue"/>
                <a:cs typeface="Helvetica Neue"/>
              </a:rPr>
              <a:t>Çocuğun x’i değişince</a:t>
            </a:r>
          </a:p>
        </p:txBody>
      </p:sp>
      <p:sp>
        <p:nvSpPr>
          <p:cNvPr id="3" name="">
            <a:extLst xmlns:a="http://schemas.openxmlformats.org/drawingml/2006/main">
              <a:ext uri="{FF2B5EF4-FFF2-40B4-BE49-F238E27FC236}">
                <a16:creationId xmlns:a16="http://schemas.microsoft.com/office/drawing/2014/main" id="{52426759-5A2D-4B3F-96AA-597F370E67DB}"/>
              </a:ext>
            </a:extLst>
          </p:cNvPr>
          <p:cNvSpPr>
            <a:spLocks xmlns:a="http://schemas.openxmlformats.org/drawingml/2006/main" noGrp="1"/>
          </p:cNvSpPr>
          <p:nvPr/>
        </p:nvSpPr>
        <p:spPr>
          <a:xfrm xmlns:a="http://schemas.openxmlformats.org/drawingml/2006/main">
            <a:off x="609600" y="1781175"/>
            <a:ext cx="109728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4D606A"/>
                </a:solidFill>
                <a:latin typeface="Helvetica Neue"/>
                <a:ea typeface="Helvetica Neue"/>
                <a:cs typeface="Helvetica Neue"/>
              </a:defRPr>
            </a:pPr>
            <a:r>
              <a:rPr sz="1875" b="0">
                <a:solidFill>
                  <a:srgbClr val="4D606A"/>
                </a:solidFill>
                <a:latin typeface="Helvetica Neue"/>
                <a:ea typeface="Helvetica Neue"/>
                <a:cs typeface="Helvetica Neue"/>
              </a:rPr>
              <a:t>Özel değişken, açık shared memory yok.</a:t>
            </a:r>
          </a:p>
        </p:txBody>
      </p:sp>
      <p:sp>
        <p:nvSpPr>
          <p:cNvPr id="4" name="">
            <a:extLst xmlns:a="http://schemas.openxmlformats.org/drawingml/2006/main">
              <a:ext uri="{FF2B5EF4-FFF2-40B4-BE49-F238E27FC236}">
                <a16:creationId xmlns:a16="http://schemas.microsoft.com/office/drawing/2014/main" id="{D398EBEF-DE7A-4AF6-AB90-92F106EBE625}"/>
              </a:ext>
            </a:extLst>
          </p:cNvPr>
          <p:cNvSpPr>
            <a:spLocks xmlns:a="http://schemas.openxmlformats.org/drawingml/2006/main" noGrp="1"/>
          </p:cNvSpPr>
          <p:nvPr/>
        </p:nvSpPr>
        <p:spPr>
          <a:xfrm xmlns:a="http://schemas.openxmlformats.org/drawingml/2006/main">
            <a:off x="819150" y="2667000"/>
            <a:ext cx="10525125" cy="2333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550" b="1">
                <a:solidFill>
                  <a:srgbClr val="122C42"/>
                </a:solidFill>
                <a:latin typeface="Helvetica Neue"/>
                <a:ea typeface="Helvetica Neue"/>
                <a:cs typeface="Helvetica Neue"/>
              </a:defRPr>
            </a:pPr>
            <a:r>
              <a:rPr sz="2550" b="1">
                <a:solidFill>
                  <a:srgbClr val="122C42"/>
                </a:solidFill>
                <a:latin typeface="Helvetica Neue"/>
                <a:ea typeface="Helvetica Neue"/>
                <a:cs typeface="Helvetica Neue"/>
              </a:rPr>
              <a:t>x = 10</a:t>
            </a:r>
          </a:p>
          <a:p xmlns:a="http://schemas.openxmlformats.org/drawingml/2006/main">
            <a:pPr>
              <a:defRPr sz="2550" b="1">
                <a:solidFill>
                  <a:srgbClr val="122C42"/>
                </a:solidFill>
                <a:latin typeface="Helvetica Neue"/>
                <a:ea typeface="Helvetica Neue"/>
                <a:cs typeface="Helvetica Neue"/>
              </a:defRPr>
            </a:pPr>
            <a:r>
              <a:rPr sz="2550" b="1">
                <a:solidFill>
                  <a:srgbClr val="122C42"/>
                </a:solidFill>
                <a:latin typeface="Helvetica Neue"/>
                <a:ea typeface="Helvetica Neue"/>
                <a:cs typeface="Helvetica Neue"/>
              </a:rPr>
              <a:t>child = fork()</a:t>
            </a:r>
          </a:p>
          <a:p xmlns:a="http://schemas.openxmlformats.org/drawingml/2006/main">
            <a:pPr>
              <a:defRPr sz="2550" b="1">
                <a:solidFill>
                  <a:srgbClr val="122C42"/>
                </a:solidFill>
                <a:latin typeface="Helvetica Neue"/>
                <a:ea typeface="Helvetica Neue"/>
                <a:cs typeface="Helvetica Neue"/>
              </a:defRPr>
            </a:pPr>
            <a:r>
              <a:rPr sz="2550" b="1">
                <a:solidFill>
                  <a:srgbClr val="122C42"/>
                </a:solidFill>
                <a:latin typeface="Helvetica Neue"/>
                <a:ea typeface="Helvetica Neue"/>
                <a:cs typeface="Helvetica Neue"/>
              </a:rPr>
              <a:t>child:  x = 20; çık</a:t>
            </a:r>
          </a:p>
          <a:p xmlns:a="http://schemas.openxmlformats.org/drawingml/2006/main">
            <a:pPr>
              <a:defRPr sz="2550" b="1">
                <a:solidFill>
                  <a:srgbClr val="122C42"/>
                </a:solidFill>
                <a:latin typeface="Helvetica Neue"/>
                <a:ea typeface="Helvetica Neue"/>
                <a:cs typeface="Helvetica Neue"/>
              </a:defRPr>
            </a:pPr>
            <a:r>
              <a:rPr sz="2550" b="1">
                <a:solidFill>
                  <a:srgbClr val="122C42"/>
                </a:solidFill>
                <a:latin typeface="Helvetica Neue"/>
                <a:ea typeface="Helvetica Neue"/>
                <a:cs typeface="Helvetica Neue"/>
              </a:rPr>
              <a:t>parent: wait(child); print(x)</a:t>
            </a:r>
          </a:p>
        </p:txBody>
      </p:sp>
      <p:sp>
        <p:nvSpPr>
          <p:cNvPr id="5" name="">
            <a:extLst xmlns:a="http://schemas.openxmlformats.org/drawingml/2006/main">
              <a:ext uri="{FF2B5EF4-FFF2-40B4-BE49-F238E27FC236}">
                <a16:creationId xmlns:a16="http://schemas.microsoft.com/office/drawing/2014/main" id="{C69DFB03-33A5-4EA3-B66E-668AE3752CED}"/>
              </a:ext>
            </a:extLst>
          </p:cNvPr>
          <p:cNvSpPr>
            <a:spLocks xmlns:a="http://schemas.openxmlformats.org/drawingml/2006/main" noGrp="1"/>
          </p:cNvSpPr>
          <p:nvPr/>
        </p:nvSpPr>
        <p:spPr>
          <a:xfrm xmlns:a="http://schemas.openxmlformats.org/drawingml/2006/main">
            <a:off x="609600" y="5334000"/>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1">
                <a:solidFill>
                  <a:srgbClr val="087E83"/>
                </a:solidFill>
                <a:latin typeface="Helvetica Neue"/>
                <a:ea typeface="Helvetica Neue"/>
                <a:cs typeface="Helvetica Neue"/>
              </a:defRPr>
            </a:pPr>
            <a:r>
              <a:rPr sz="1950" b="1">
                <a:solidFill>
                  <a:srgbClr val="087E83"/>
                </a:solidFill>
                <a:latin typeface="Helvetica Neue"/>
                <a:ea typeface="Helvetica Neue"/>
                <a:cs typeface="Helvetica Neue"/>
              </a:rPr>
              <a:t>Düşün: Parent 10 mu, 20 mi yazdırır? wait neyi değiştirir?</a:t>
            </a:r>
          </a:p>
        </p:txBody>
      </p:sp>
      <p:sp>
        <p:nvSpPr>
          <p:cNvPr id="6" name="">
            <a:extLst xmlns:a="http://schemas.openxmlformats.org/drawingml/2006/main">
              <a:ext uri="{FF2B5EF4-FFF2-40B4-BE49-F238E27FC236}">
                <a16:creationId xmlns:a16="http://schemas.microsoft.com/office/drawing/2014/main" id="{A29BF1BC-CFAB-42F4-8D8B-FE76C65615B0}"/>
              </a:ext>
            </a:extLst>
          </p:cNvPr>
          <p:cNvSpPr>
            <a:spLocks xmlns:a="http://schemas.openxmlformats.org/drawingml/2006/main" noGrp="1"/>
          </p:cNvSpPr>
          <p:nvPr/>
        </p:nvSpPr>
        <p:spPr>
          <a:xfrm xmlns:a="http://schemas.openxmlformats.org/drawingml/2006/main">
            <a:off x="609600" y="64960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4D606A"/>
                </a:solidFill>
                <a:latin typeface="Helvetica Neue"/>
                <a:ea typeface="Helvetica Neue"/>
                <a:cs typeface="Helvetica Neue"/>
              </a:defRPr>
            </a:pPr>
            <a:r>
              <a:rPr sz="1125" b="0">
                <a:solidFill>
                  <a:srgbClr val="4D606A"/>
                </a:solidFill>
                <a:latin typeface="Helvetica Neue"/>
                <a:ea typeface="Helvetica Neue"/>
                <a:cs typeface="Helvetica Neue"/>
              </a:rPr>
              <a:t>CSE513 · İlk hafta / öğrenme pilotu</a:t>
            </a:r>
          </a:p>
        </p:txBody>
      </p:sp>
      <p:sp>
        <p:nvSpPr>
          <p:cNvPr id="7" name="">
            <a:extLst xmlns:a="http://schemas.openxmlformats.org/drawingml/2006/main">
              <a:ext uri="{FF2B5EF4-FFF2-40B4-BE49-F238E27FC236}">
                <a16:creationId xmlns:a16="http://schemas.microsoft.com/office/drawing/2014/main" id="{A257E833-AA27-4884-91E6-EA54E6D0E525}"/>
              </a:ext>
            </a:extLst>
          </p:cNvPr>
          <p:cNvSpPr>
            <a:spLocks xmlns:a="http://schemas.openxmlformats.org/drawingml/2006/main" noGrp="1"/>
          </p:cNvSpPr>
          <p:nvPr/>
        </p:nvSpPr>
        <p:spPr>
          <a:xfrm xmlns:a="http://schemas.openxmlformats.org/drawingml/2006/main">
            <a:off x="10572750" y="6457950"/>
            <a:ext cx="1000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087E83"/>
                </a:solidFill>
                <a:latin typeface="Helvetica Neue"/>
                <a:ea typeface="Helvetica Neue"/>
                <a:cs typeface="Helvetica Neue"/>
              </a:defRPr>
            </a:pPr>
            <a:r>
              <a:rPr sz="1350" b="1">
                <a:solidFill>
                  <a:srgbClr val="087E83"/>
                </a:solidFill>
                <a:latin typeface="Helvetica Neue"/>
                <a:ea typeface="Helvetica Neue"/>
                <a:cs typeface="Helvetica Neue"/>
              </a:rPr>
              <a:t>17 / 28</a:t>
            </a:r>
          </a:p>
        </p:txBody>
      </p:sp>
    </p:spTree>
    <p:extLst>
      <p:ext uri="{BB962C8B-B14F-4D97-AF65-F5344CB8AC3E}">
        <p14:creationId xmlns:p14="http://schemas.microsoft.com/office/powerpoint/2010/main" val="984474840"/>
      </p:ext>
    </p:extLst>
  </p:cSld>
</p:sld>
</file>

<file path=ppt/slides/slide18.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3A14132-7084-4B62-B3E3-BF9B55B750AB}"/>
              </a:ext>
            </a:extLst>
          </p:cNvPr>
          <p:cNvSpPr>
            <a:spLocks xmlns:a="http://schemas.openxmlformats.org/drawingml/2006/main" noGrp="1"/>
          </p:cNvSpPr>
          <p:nvPr/>
        </p:nvSpPr>
        <p:spPr>
          <a:xfrm xmlns:a="http://schemas.openxmlformats.org/drawingml/2006/main">
            <a:off x="609600" y="333375"/>
            <a:ext cx="10477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1">
                <a:solidFill>
                  <a:srgbClr val="087E83"/>
                </a:solidFill>
                <a:latin typeface="Helvetica Neue"/>
                <a:ea typeface="Helvetica Neue"/>
                <a:cs typeface="Helvetica Neue"/>
              </a:defRPr>
            </a:pPr>
            <a:r>
              <a:rPr sz="1275" b="1">
                <a:solidFill>
                  <a:srgbClr val="087E83"/>
                </a:solidFill>
                <a:latin typeface="Helvetica Neue"/>
                <a:ea typeface="Helvetica Neue"/>
                <a:cs typeface="Helvetica Neue"/>
              </a:rPr>
              <a:t>02 / PROCESS YAŞAM DÖNGÜSÜ</a:t>
            </a:r>
          </a:p>
        </p:txBody>
      </p:sp>
      <p:sp>
        <p:nvSpPr>
          <p:cNvPr id="2" name="">
            <a:extLst xmlns:a="http://schemas.openxmlformats.org/drawingml/2006/main">
              <a:ext uri="{FF2B5EF4-FFF2-40B4-BE49-F238E27FC236}">
                <a16:creationId xmlns:a16="http://schemas.microsoft.com/office/drawing/2014/main" id="{761D5C59-2353-4E82-A680-0A0FA28F329F}"/>
              </a:ext>
            </a:extLst>
          </p:cNvPr>
          <p:cNvSpPr>
            <a:spLocks xmlns:a="http://schemas.openxmlformats.org/drawingml/2006/main" noGrp="1"/>
          </p:cNvSpPr>
          <p:nvPr/>
        </p:nvSpPr>
        <p:spPr>
          <a:xfrm xmlns:a="http://schemas.openxmlformats.org/drawingml/2006/main">
            <a:off x="609600" y="819150"/>
            <a:ext cx="109728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22C42"/>
                </a:solidFill>
                <a:latin typeface="Helvetica Neue"/>
                <a:ea typeface="Helvetica Neue"/>
                <a:cs typeface="Helvetica Neue"/>
              </a:defRPr>
            </a:pPr>
            <a:r>
              <a:rPr sz="3300" b="1">
                <a:solidFill>
                  <a:srgbClr val="122C42"/>
                </a:solidFill>
                <a:latin typeface="Helvetica Neue"/>
                <a:ea typeface="Helvetica Neue"/>
                <a:cs typeface="Helvetica Neue"/>
              </a:rPr>
              <a:t>exec: aynı PID, yeni program</a:t>
            </a:r>
          </a:p>
        </p:txBody>
      </p:sp>
      <p:sp>
        <p:nvSpPr>
          <p:cNvPr id="3" name="">
            <a:extLst xmlns:a="http://schemas.openxmlformats.org/drawingml/2006/main">
              <a:ext uri="{FF2B5EF4-FFF2-40B4-BE49-F238E27FC236}">
                <a16:creationId xmlns:a16="http://schemas.microsoft.com/office/drawing/2014/main" id="{A475BAD0-513C-439E-9FDE-55F18937B56E}"/>
              </a:ext>
            </a:extLst>
          </p:cNvPr>
          <p:cNvSpPr>
            <a:spLocks xmlns:a="http://schemas.openxmlformats.org/drawingml/2006/main" noGrp="1"/>
          </p:cNvSpPr>
          <p:nvPr/>
        </p:nvSpPr>
        <p:spPr>
          <a:xfrm xmlns:a="http://schemas.openxmlformats.org/drawingml/2006/main">
            <a:off x="609600" y="1781175"/>
            <a:ext cx="109728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4D606A"/>
                </a:solidFill>
                <a:latin typeface="Helvetica Neue"/>
                <a:ea typeface="Helvetica Neue"/>
                <a:cs typeface="Helvetica Neue"/>
              </a:defRPr>
            </a:pPr>
            <a:r>
              <a:rPr sz="1875" b="0">
                <a:solidFill>
                  <a:srgbClr val="4D606A"/>
                </a:solidFill>
                <a:latin typeface="Helvetica Neue"/>
                <a:ea typeface="Helvetica Neue"/>
                <a:cs typeface="Helvetica Neue"/>
              </a:rPr>
              <a:t>Child PID: örnek 421, program: launch → echo</a:t>
            </a:r>
          </a:p>
        </p:txBody>
      </p:sp>
      <p:sp>
        <p:nvSpPr>
          <p:cNvPr id="4" name="">
            <a:extLst xmlns:a="http://schemas.openxmlformats.org/drawingml/2006/main">
              <a:ext uri="{FF2B5EF4-FFF2-40B4-BE49-F238E27FC236}">
                <a16:creationId xmlns:a16="http://schemas.microsoft.com/office/drawing/2014/main" id="{C5EC2A9E-232F-4C7A-BBFD-02461FEC9E70}"/>
              </a:ext>
            </a:extLst>
          </p:cNvPr>
          <p:cNvSpPr>
            <a:spLocks xmlns:a="http://schemas.openxmlformats.org/drawingml/2006/main" noGrp="1"/>
          </p:cNvSpPr>
          <p:nvPr/>
        </p:nvSpPr>
        <p:spPr>
          <a:xfrm xmlns:a="http://schemas.openxmlformats.org/drawingml/2006/main">
            <a:off x="819150" y="2667000"/>
            <a:ext cx="10525125" cy="2333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550" b="1">
                <a:solidFill>
                  <a:srgbClr val="122C42"/>
                </a:solidFill>
                <a:latin typeface="Helvetica Neue"/>
                <a:ea typeface="Helvetica Neue"/>
                <a:cs typeface="Helvetica Neue"/>
              </a:defRPr>
            </a:pPr>
            <a:r>
              <a:rPr sz="2550" b="1">
                <a:solidFill>
                  <a:srgbClr val="122C42"/>
                </a:solidFill>
                <a:latin typeface="Helvetica Neue"/>
                <a:ea typeface="Helvetica Neue"/>
                <a:cs typeface="Helvetica Neue"/>
              </a:rPr>
              <a:t>execl("/bin/echo", "echo", "child",</a:t>
            </a:r>
          </a:p>
          <a:p xmlns:a="http://schemas.openxmlformats.org/drawingml/2006/main">
            <a:pPr>
              <a:defRPr sz="2550" b="1">
                <a:solidFill>
                  <a:srgbClr val="122C42"/>
                </a:solidFill>
                <a:latin typeface="Helvetica Neue"/>
                <a:ea typeface="Helvetica Neue"/>
                <a:cs typeface="Helvetica Neue"/>
              </a:defRPr>
            </a:pPr>
            <a:r>
              <a:rPr sz="2550" b="1">
                <a:solidFill>
                  <a:srgbClr val="122C42"/>
                </a:solidFill>
                <a:latin typeface="Helvetica Neue"/>
                <a:ea typeface="Helvetica Neue"/>
                <a:cs typeface="Helvetica Neue"/>
              </a:rPr>
              <a:t>      (char *)0);</a:t>
            </a:r>
          </a:p>
          <a:p xmlns:a="http://schemas.openxmlformats.org/drawingml/2006/main">
            <a:pPr>
              <a:defRPr sz="2550" b="1">
                <a:solidFill>
                  <a:srgbClr val="122C42"/>
                </a:solidFill>
                <a:latin typeface="Helvetica Neue"/>
                <a:ea typeface="Helvetica Neue"/>
                <a:cs typeface="Helvetica Neue"/>
              </a:defRPr>
            </a:pPr>
            <a:r>
              <a:rPr sz="2550" b="1">
                <a:solidFill>
                  <a:srgbClr val="122C42"/>
                </a:solidFill>
                <a:latin typeface="Helvetica Neue"/>
                <a:ea typeface="Helvetica Neue"/>
                <a:cs typeface="Helvetica Neue"/>
              </a:rPr>
              <a:t>perror("execl");</a:t>
            </a:r>
          </a:p>
          <a:p xmlns:a="http://schemas.openxmlformats.org/drawingml/2006/main">
            <a:pPr>
              <a:defRPr sz="2550" b="1">
                <a:solidFill>
                  <a:srgbClr val="122C42"/>
                </a:solidFill>
                <a:latin typeface="Helvetica Neue"/>
                <a:ea typeface="Helvetica Neue"/>
                <a:cs typeface="Helvetica Neue"/>
              </a:defRPr>
            </a:pPr>
            <a:r>
              <a:rPr sz="2550" b="1">
                <a:solidFill>
                  <a:srgbClr val="122C42"/>
                </a:solidFill>
                <a:latin typeface="Helvetica Neue"/>
                <a:ea typeface="Helvetica Neue"/>
                <a:cs typeface="Helvetica Neue"/>
              </a:rPr>
              <a:t>_exit(127);</a:t>
            </a:r>
          </a:p>
        </p:txBody>
      </p:sp>
      <p:sp>
        <p:nvSpPr>
          <p:cNvPr id="5" name="">
            <a:extLst xmlns:a="http://schemas.openxmlformats.org/drawingml/2006/main">
              <a:ext uri="{FF2B5EF4-FFF2-40B4-BE49-F238E27FC236}">
                <a16:creationId xmlns:a16="http://schemas.microsoft.com/office/drawing/2014/main" id="{163F76A4-A092-42E3-84AD-F48F9104C789}"/>
              </a:ext>
            </a:extLst>
          </p:cNvPr>
          <p:cNvSpPr>
            <a:spLocks xmlns:a="http://schemas.openxmlformats.org/drawingml/2006/main" noGrp="1"/>
          </p:cNvSpPr>
          <p:nvPr/>
        </p:nvSpPr>
        <p:spPr>
          <a:xfrm xmlns:a="http://schemas.openxmlformats.org/drawingml/2006/main">
            <a:off x="609600" y="5334000"/>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1">
                <a:solidFill>
                  <a:srgbClr val="087E83"/>
                </a:solidFill>
                <a:latin typeface="Helvetica Neue"/>
                <a:ea typeface="Helvetica Neue"/>
                <a:cs typeface="Helvetica Neue"/>
              </a:defRPr>
            </a:pPr>
            <a:r>
              <a:rPr sz="1950" b="1">
                <a:solidFill>
                  <a:srgbClr val="087E83"/>
                </a:solidFill>
                <a:latin typeface="Helvetica Neue"/>
                <a:ea typeface="Helvetica Neue"/>
                <a:cs typeface="Helvetica Neue"/>
              </a:rPr>
              <a:t>Düşün: Başarılı exec sonrası perror satırı çalışır mı?</a:t>
            </a:r>
          </a:p>
        </p:txBody>
      </p:sp>
      <p:sp>
        <p:nvSpPr>
          <p:cNvPr id="6" name="">
            <a:extLst xmlns:a="http://schemas.openxmlformats.org/drawingml/2006/main">
              <a:ext uri="{FF2B5EF4-FFF2-40B4-BE49-F238E27FC236}">
                <a16:creationId xmlns:a16="http://schemas.microsoft.com/office/drawing/2014/main" id="{385ABA9E-50FE-4CFE-B496-0C02F67E6AE7}"/>
              </a:ext>
            </a:extLst>
          </p:cNvPr>
          <p:cNvSpPr>
            <a:spLocks xmlns:a="http://schemas.openxmlformats.org/drawingml/2006/main" noGrp="1"/>
          </p:cNvSpPr>
          <p:nvPr/>
        </p:nvSpPr>
        <p:spPr>
          <a:xfrm xmlns:a="http://schemas.openxmlformats.org/drawingml/2006/main">
            <a:off x="609600" y="6086475"/>
            <a:ext cx="10972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0">
                <a:solidFill>
                  <a:srgbClr val="4D606A"/>
                </a:solidFill>
                <a:latin typeface="Helvetica Neue"/>
                <a:ea typeface="Helvetica Neue"/>
                <a:cs typeface="Helvetica Neue"/>
              </a:defRPr>
            </a:pPr>
            <a:r>
              <a:rPr sz="1275" b="0">
                <a:solidFill>
                  <a:srgbClr val="4D606A"/>
                </a:solidFill>
                <a:latin typeface="Helvetica Neue"/>
                <a:ea typeface="Helvetica Neue"/>
                <a:cs typeface="Helvetica Neue"/>
              </a:rPr>
              <a:t>İmaj değişimi PID değişimi değildir.</a:t>
            </a:r>
          </a:p>
        </p:txBody>
      </p:sp>
      <p:sp>
        <p:nvSpPr>
          <p:cNvPr id="7" name="">
            <a:extLst xmlns:a="http://schemas.openxmlformats.org/drawingml/2006/main">
              <a:ext uri="{FF2B5EF4-FFF2-40B4-BE49-F238E27FC236}">
                <a16:creationId xmlns:a16="http://schemas.microsoft.com/office/drawing/2014/main" id="{0BF270AD-8AEE-4BCE-A6E2-D95CC9C0C815}"/>
              </a:ext>
            </a:extLst>
          </p:cNvPr>
          <p:cNvSpPr>
            <a:spLocks xmlns:a="http://schemas.openxmlformats.org/drawingml/2006/main" noGrp="1"/>
          </p:cNvSpPr>
          <p:nvPr/>
        </p:nvSpPr>
        <p:spPr>
          <a:xfrm xmlns:a="http://schemas.openxmlformats.org/drawingml/2006/main">
            <a:off x="609600" y="64960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4D606A"/>
                </a:solidFill>
                <a:latin typeface="Helvetica Neue"/>
                <a:ea typeface="Helvetica Neue"/>
                <a:cs typeface="Helvetica Neue"/>
              </a:defRPr>
            </a:pPr>
            <a:r>
              <a:rPr sz="1125" b="0">
                <a:solidFill>
                  <a:srgbClr val="4D606A"/>
                </a:solidFill>
                <a:latin typeface="Helvetica Neue"/>
                <a:ea typeface="Helvetica Neue"/>
                <a:cs typeface="Helvetica Neue"/>
              </a:rPr>
              <a:t>CSE513 · İlk hafta / öğrenme pilotu</a:t>
            </a:r>
          </a:p>
        </p:txBody>
      </p:sp>
      <p:sp>
        <p:nvSpPr>
          <p:cNvPr id="8" name="">
            <a:extLst xmlns:a="http://schemas.openxmlformats.org/drawingml/2006/main">
              <a:ext uri="{FF2B5EF4-FFF2-40B4-BE49-F238E27FC236}">
                <a16:creationId xmlns:a16="http://schemas.microsoft.com/office/drawing/2014/main" id="{90B9C915-83CA-40F7-8121-9E5EED32859C}"/>
              </a:ext>
            </a:extLst>
          </p:cNvPr>
          <p:cNvSpPr>
            <a:spLocks xmlns:a="http://schemas.openxmlformats.org/drawingml/2006/main" noGrp="1"/>
          </p:cNvSpPr>
          <p:nvPr/>
        </p:nvSpPr>
        <p:spPr>
          <a:xfrm xmlns:a="http://schemas.openxmlformats.org/drawingml/2006/main">
            <a:off x="10572750" y="6457950"/>
            <a:ext cx="1000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087E83"/>
                </a:solidFill>
                <a:latin typeface="Helvetica Neue"/>
                <a:ea typeface="Helvetica Neue"/>
                <a:cs typeface="Helvetica Neue"/>
              </a:defRPr>
            </a:pPr>
            <a:r>
              <a:rPr sz="1350" b="1">
                <a:solidFill>
                  <a:srgbClr val="087E83"/>
                </a:solidFill>
                <a:latin typeface="Helvetica Neue"/>
                <a:ea typeface="Helvetica Neue"/>
                <a:cs typeface="Helvetica Neue"/>
              </a:rPr>
              <a:t>18 / 28</a:t>
            </a:r>
          </a:p>
        </p:txBody>
      </p:sp>
    </p:spTree>
    <p:extLst>
      <p:ext uri="{BB962C8B-B14F-4D97-AF65-F5344CB8AC3E}">
        <p14:creationId xmlns:p14="http://schemas.microsoft.com/office/powerpoint/2010/main" val="694361563"/>
      </p:ext>
    </p:extLst>
  </p:cSld>
</p:sld>
</file>

<file path=ppt/slides/slide19.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7C422099-0698-437B-9015-B222E2151E78}"/>
              </a:ext>
            </a:extLst>
          </p:cNvPr>
          <p:cNvSpPr>
            <a:spLocks xmlns:a="http://schemas.openxmlformats.org/drawingml/2006/main" noGrp="1"/>
          </p:cNvSpPr>
          <p:nvPr/>
        </p:nvSpPr>
        <p:spPr>
          <a:xfrm xmlns:a="http://schemas.openxmlformats.org/drawingml/2006/main">
            <a:off x="609600" y="333375"/>
            <a:ext cx="10477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1">
                <a:solidFill>
                  <a:srgbClr val="087E83"/>
                </a:solidFill>
                <a:latin typeface="Helvetica Neue"/>
                <a:ea typeface="Helvetica Neue"/>
                <a:cs typeface="Helvetica Neue"/>
              </a:defRPr>
            </a:pPr>
            <a:r>
              <a:rPr sz="1275" b="1">
                <a:solidFill>
                  <a:srgbClr val="087E83"/>
                </a:solidFill>
                <a:latin typeface="Helvetica Neue"/>
                <a:ea typeface="Helvetica Neue"/>
                <a:cs typeface="Helvetica Neue"/>
              </a:rPr>
              <a:t>02 / PROCESS YAŞAM DÖNGÜSÜ</a:t>
            </a:r>
          </a:p>
        </p:txBody>
      </p:sp>
      <p:sp>
        <p:nvSpPr>
          <p:cNvPr id="2" name="">
            <a:extLst xmlns:a="http://schemas.openxmlformats.org/drawingml/2006/main">
              <a:ext uri="{FF2B5EF4-FFF2-40B4-BE49-F238E27FC236}">
                <a16:creationId xmlns:a16="http://schemas.microsoft.com/office/drawing/2014/main" id="{91583F65-3BB7-4DE7-B369-8249A8301131}"/>
              </a:ext>
            </a:extLst>
          </p:cNvPr>
          <p:cNvSpPr>
            <a:spLocks xmlns:a="http://schemas.openxmlformats.org/drawingml/2006/main" noGrp="1"/>
          </p:cNvSpPr>
          <p:nvPr/>
        </p:nvSpPr>
        <p:spPr>
          <a:xfrm xmlns:a="http://schemas.openxmlformats.org/drawingml/2006/main">
            <a:off x="609600" y="819150"/>
            <a:ext cx="109728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22C42"/>
                </a:solidFill>
                <a:latin typeface="Helvetica Neue"/>
                <a:ea typeface="Helvetica Neue"/>
                <a:cs typeface="Helvetica Neue"/>
              </a:defRPr>
            </a:pPr>
            <a:r>
              <a:rPr sz="3300" b="1">
                <a:solidFill>
                  <a:srgbClr val="122C42"/>
                </a:solidFill>
                <a:latin typeface="Helvetica Neue"/>
                <a:ea typeface="Helvetica Neue"/>
                <a:cs typeface="Helvetica Neue"/>
              </a:rPr>
              <a:t>wait: sonucu toplamak</a:t>
            </a:r>
          </a:p>
        </p:txBody>
      </p:sp>
      <p:sp>
        <p:nvSpPr>
          <p:cNvPr id="3" name="">
            <a:extLst xmlns:a="http://schemas.openxmlformats.org/drawingml/2006/main">
              <a:ext uri="{FF2B5EF4-FFF2-40B4-BE49-F238E27FC236}">
                <a16:creationId xmlns:a16="http://schemas.microsoft.com/office/drawing/2014/main" id="{B5E9290B-FAEF-49E3-8F42-CF051EB4EAFA}"/>
              </a:ext>
            </a:extLst>
          </p:cNvPr>
          <p:cNvSpPr>
            <a:spLocks xmlns:a="http://schemas.openxmlformats.org/drawingml/2006/main" noGrp="1"/>
          </p:cNvSpPr>
          <p:nvPr/>
        </p:nvSpPr>
        <p:spPr>
          <a:xfrm xmlns:a="http://schemas.openxmlformats.org/drawingml/2006/main">
            <a:off x="609600" y="2095500"/>
            <a:ext cx="500062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087E83"/>
                </a:solidFill>
                <a:latin typeface="Helvetica Neue"/>
                <a:ea typeface="Helvetica Neue"/>
                <a:cs typeface="Helvetica Neue"/>
              </a:defRPr>
            </a:pPr>
            <a:r>
              <a:rPr sz="2250" b="1">
                <a:solidFill>
                  <a:srgbClr val="087E83"/>
                </a:solidFill>
                <a:latin typeface="Helvetica Neue"/>
                <a:ea typeface="Helvetica Neue"/>
                <a:cs typeface="Helvetica Neue"/>
              </a:rPr>
              <a:t>Child</a:t>
            </a:r>
          </a:p>
        </p:txBody>
      </p:sp>
      <p:sp>
        <p:nvSpPr>
          <p:cNvPr id="4" name="">
            <a:extLst xmlns:a="http://schemas.openxmlformats.org/drawingml/2006/main">
              <a:ext uri="{FF2B5EF4-FFF2-40B4-BE49-F238E27FC236}">
                <a16:creationId xmlns:a16="http://schemas.microsoft.com/office/drawing/2014/main" id="{87F8891E-20F0-44F3-B5AC-B5F84745804E}"/>
              </a:ext>
            </a:extLst>
          </p:cNvPr>
          <p:cNvSpPr>
            <a:spLocks xmlns:a="http://schemas.openxmlformats.org/drawingml/2006/main" noGrp="1"/>
          </p:cNvSpPr>
          <p:nvPr/>
        </p:nvSpPr>
        <p:spPr>
          <a:xfrm xmlns:a="http://schemas.openxmlformats.org/drawingml/2006/main">
            <a:off x="609600" y="2762250"/>
            <a:ext cx="5000625"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325" b="0">
                <a:solidFill>
                  <a:srgbClr val="122C42"/>
                </a:solidFill>
                <a:latin typeface="Helvetica Neue"/>
                <a:ea typeface="Helvetica Neue"/>
                <a:cs typeface="Helvetica Neue"/>
              </a:defRPr>
            </a:pPr>
            <a:r>
              <a:rPr sz="2325" b="0">
                <a:solidFill>
                  <a:srgbClr val="122C42"/>
                </a:solidFill>
                <a:latin typeface="Helvetica Neue"/>
                <a:ea typeface="Helvetica Neue"/>
                <a:cs typeface="Helvetica Neue"/>
              </a:rPr>
              <a:t>Çalışır</a:t>
            </a:r>
          </a:p>
          <a:p xmlns:a="http://schemas.openxmlformats.org/drawingml/2006/main">
            <a:pPr>
              <a:defRPr sz="2325" b="0">
                <a:solidFill>
                  <a:srgbClr val="122C42"/>
                </a:solidFill>
                <a:latin typeface="Helvetica Neue"/>
                <a:ea typeface="Helvetica Neue"/>
                <a:cs typeface="Helvetica Neue"/>
              </a:defRPr>
            </a:pPr>
            <a:r>
              <a:rPr sz="2325" b="0">
                <a:solidFill>
                  <a:srgbClr val="122C42"/>
                </a:solidFill>
                <a:latin typeface="Helvetica Neue"/>
                <a:ea typeface="Helvetica Neue"/>
                <a:cs typeface="Helvetica Neue"/>
              </a:rPr>
              <a:t>Sonlanır</a:t>
            </a:r>
          </a:p>
          <a:p xmlns:a="http://schemas.openxmlformats.org/drawingml/2006/main">
            <a:pPr>
              <a:defRPr sz="2325" b="0">
                <a:solidFill>
                  <a:srgbClr val="122C42"/>
                </a:solidFill>
                <a:latin typeface="Helvetica Neue"/>
                <a:ea typeface="Helvetica Neue"/>
                <a:cs typeface="Helvetica Neue"/>
              </a:defRPr>
            </a:pPr>
            <a:r>
              <a:rPr sz="2325" b="0">
                <a:solidFill>
                  <a:srgbClr val="122C42"/>
                </a:solidFill>
                <a:latin typeface="Helvetica Neue"/>
                <a:ea typeface="Helvetica Neue"/>
                <a:cs typeface="Helvetica Neue"/>
              </a:rPr>
              <a:t>Bitiş durumu kernel’da kalabilir</a:t>
            </a:r>
          </a:p>
        </p:txBody>
      </p:sp>
      <p:sp>
        <p:nvSpPr>
          <p:cNvPr id="5" name="">
            <a:extLst xmlns:a="http://schemas.openxmlformats.org/drawingml/2006/main">
              <a:ext uri="{FF2B5EF4-FFF2-40B4-BE49-F238E27FC236}">
                <a16:creationId xmlns:a16="http://schemas.microsoft.com/office/drawing/2014/main" id="{94C1482A-63B1-46F9-B205-F74628C5CC49}"/>
              </a:ext>
            </a:extLst>
          </p:cNvPr>
          <p:cNvSpPr>
            <a:spLocks xmlns:a="http://schemas.openxmlformats.org/drawingml/2006/main" noGrp="1"/>
          </p:cNvSpPr>
          <p:nvPr/>
        </p:nvSpPr>
        <p:spPr>
          <a:xfrm xmlns:a="http://schemas.openxmlformats.org/drawingml/2006/main">
            <a:off x="6229350" y="2095500"/>
            <a:ext cx="500062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087E83"/>
                </a:solidFill>
                <a:latin typeface="Helvetica Neue"/>
                <a:ea typeface="Helvetica Neue"/>
                <a:cs typeface="Helvetica Neue"/>
              </a:defRPr>
            </a:pPr>
            <a:r>
              <a:rPr sz="2250" b="1">
                <a:solidFill>
                  <a:srgbClr val="087E83"/>
                </a:solidFill>
                <a:latin typeface="Helvetica Neue"/>
                <a:ea typeface="Helvetica Neue"/>
                <a:cs typeface="Helvetica Neue"/>
              </a:rPr>
              <a:t>Parent</a:t>
            </a:r>
          </a:p>
        </p:txBody>
      </p:sp>
      <p:sp>
        <p:nvSpPr>
          <p:cNvPr id="6" name="">
            <a:extLst xmlns:a="http://schemas.openxmlformats.org/drawingml/2006/main">
              <a:ext uri="{FF2B5EF4-FFF2-40B4-BE49-F238E27FC236}">
                <a16:creationId xmlns:a16="http://schemas.microsoft.com/office/drawing/2014/main" id="{BC2F243F-B427-45F8-86B9-16988A662144}"/>
              </a:ext>
            </a:extLst>
          </p:cNvPr>
          <p:cNvSpPr>
            <a:spLocks xmlns:a="http://schemas.openxmlformats.org/drawingml/2006/main" noGrp="1"/>
          </p:cNvSpPr>
          <p:nvPr/>
        </p:nvSpPr>
        <p:spPr>
          <a:xfrm xmlns:a="http://schemas.openxmlformats.org/drawingml/2006/main">
            <a:off x="6229350" y="2762250"/>
            <a:ext cx="5000625"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325" b="0">
                <a:solidFill>
                  <a:srgbClr val="122C42"/>
                </a:solidFill>
                <a:latin typeface="Helvetica Neue"/>
                <a:ea typeface="Helvetica Neue"/>
                <a:cs typeface="Helvetica Neue"/>
              </a:defRPr>
            </a:pPr>
            <a:r>
              <a:rPr sz="2325" b="0">
                <a:solidFill>
                  <a:srgbClr val="122C42"/>
                </a:solidFill>
                <a:latin typeface="Helvetica Neue"/>
                <a:ea typeface="Helvetica Neue"/>
                <a:cs typeface="Helvetica Neue"/>
              </a:rPr>
              <a:t>Başka iş yapabilir</a:t>
            </a:r>
          </a:p>
          <a:p xmlns:a="http://schemas.openxmlformats.org/drawingml/2006/main">
            <a:pPr>
              <a:defRPr sz="2325" b="0">
                <a:solidFill>
                  <a:srgbClr val="122C42"/>
                </a:solidFill>
                <a:latin typeface="Helvetica Neue"/>
                <a:ea typeface="Helvetica Neue"/>
                <a:cs typeface="Helvetica Neue"/>
              </a:defRPr>
            </a:pPr>
            <a:r>
              <a:rPr sz="2325" b="0">
                <a:solidFill>
                  <a:srgbClr val="122C42"/>
                </a:solidFill>
                <a:latin typeface="Helvetica Neue"/>
                <a:ea typeface="Helvetica Neue"/>
                <a:cs typeface="Helvetica Neue"/>
              </a:rPr>
              <a:t>waitpid ile bitişi toplar</a:t>
            </a:r>
          </a:p>
          <a:p xmlns:a="http://schemas.openxmlformats.org/drawingml/2006/main">
            <a:pPr>
              <a:defRPr sz="2325" b="0">
                <a:solidFill>
                  <a:srgbClr val="122C42"/>
                </a:solidFill>
                <a:latin typeface="Helvetica Neue"/>
                <a:ea typeface="Helvetica Neue"/>
                <a:cs typeface="Helvetica Neue"/>
              </a:defRPr>
            </a:pPr>
            <a:r>
              <a:rPr sz="2325" b="0">
                <a:solidFill>
                  <a:srgbClr val="122C42"/>
                </a:solidFill>
                <a:latin typeface="Helvetica Neue"/>
                <a:ea typeface="Helvetica Neue"/>
                <a:cs typeface="Helvetica Neue"/>
              </a:rPr>
              <a:t>Exit status’u yorumlar</a:t>
            </a:r>
          </a:p>
        </p:txBody>
      </p:sp>
      <p:sp>
        <p:nvSpPr>
          <p:cNvPr id="7" name="">
            <a:extLst xmlns:a="http://schemas.openxmlformats.org/drawingml/2006/main">
              <a:ext uri="{FF2B5EF4-FFF2-40B4-BE49-F238E27FC236}">
                <a16:creationId xmlns:a16="http://schemas.microsoft.com/office/drawing/2014/main" id="{6D180798-E10D-4B86-8A7C-913A8B0EDE54}"/>
              </a:ext>
            </a:extLst>
          </p:cNvPr>
          <p:cNvSpPr>
            <a:spLocks xmlns:a="http://schemas.openxmlformats.org/drawingml/2006/main" noGrp="1"/>
          </p:cNvSpPr>
          <p:nvPr/>
        </p:nvSpPr>
        <p:spPr>
          <a:xfrm xmlns:a="http://schemas.openxmlformats.org/drawingml/2006/main">
            <a:off x="609600" y="5391150"/>
            <a:ext cx="109728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1">
                <a:solidFill>
                  <a:srgbClr val="C46225"/>
                </a:solidFill>
                <a:latin typeface="Helvetica Neue"/>
                <a:ea typeface="Helvetica Neue"/>
                <a:cs typeface="Helvetica Neue"/>
              </a:defRPr>
            </a:pPr>
            <a:r>
              <a:rPr sz="2025" b="1">
                <a:solidFill>
                  <a:srgbClr val="C46225"/>
                </a:solidFill>
                <a:latin typeface="Helvetica Neue"/>
                <a:ea typeface="Helvetica Neue"/>
                <a:cs typeface="Helvetica Neue"/>
              </a:rPr>
              <a:t>Düşün: Zombie process CPU üzerinde hâlâ çalışıyor mu?</a:t>
            </a:r>
          </a:p>
        </p:txBody>
      </p:sp>
      <p:sp>
        <p:nvSpPr>
          <p:cNvPr id="8" name="">
            <a:extLst xmlns:a="http://schemas.openxmlformats.org/drawingml/2006/main">
              <a:ext uri="{FF2B5EF4-FFF2-40B4-BE49-F238E27FC236}">
                <a16:creationId xmlns:a16="http://schemas.microsoft.com/office/drawing/2014/main" id="{3ED1D393-CA7B-4065-A34B-22048FD129C5}"/>
              </a:ext>
            </a:extLst>
          </p:cNvPr>
          <p:cNvSpPr>
            <a:spLocks xmlns:a="http://schemas.openxmlformats.org/drawingml/2006/main" noGrp="1"/>
          </p:cNvSpPr>
          <p:nvPr/>
        </p:nvSpPr>
        <p:spPr>
          <a:xfrm xmlns:a="http://schemas.openxmlformats.org/drawingml/2006/main">
            <a:off x="609600" y="6105525"/>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0">
                <a:solidFill>
                  <a:srgbClr val="C46225"/>
                </a:solidFill>
                <a:latin typeface="Helvetica Neue"/>
                <a:ea typeface="Helvetica Neue"/>
                <a:cs typeface="Helvetica Neue"/>
              </a:defRPr>
            </a:pPr>
            <a:r>
              <a:rPr sz="1500" b="0">
                <a:solidFill>
                  <a:srgbClr val="C46225"/>
                </a:solidFill>
                <a:latin typeface="Helvetica Neue"/>
                <a:ea typeface="Helvetica Neue"/>
                <a:cs typeface="Helvetica Neue"/>
              </a:rPr>
              <a:t>Hayatta: Derleme aracı, child’ın çıkış durumunu toplayarak sonucu bildirir.</a:t>
            </a:r>
          </a:p>
        </p:txBody>
      </p:sp>
      <p:sp>
        <p:nvSpPr>
          <p:cNvPr id="9" name="">
            <a:extLst xmlns:a="http://schemas.openxmlformats.org/drawingml/2006/main">
              <a:ext uri="{FF2B5EF4-FFF2-40B4-BE49-F238E27FC236}">
                <a16:creationId xmlns:a16="http://schemas.microsoft.com/office/drawing/2014/main" id="{0B7F1388-DDDC-4514-95B2-ED7AA0B24378}"/>
              </a:ext>
            </a:extLst>
          </p:cNvPr>
          <p:cNvSpPr>
            <a:spLocks xmlns:a="http://schemas.openxmlformats.org/drawingml/2006/main" noGrp="1"/>
          </p:cNvSpPr>
          <p:nvPr/>
        </p:nvSpPr>
        <p:spPr>
          <a:xfrm xmlns:a="http://schemas.openxmlformats.org/drawingml/2006/main">
            <a:off x="609600" y="64960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4D606A"/>
                </a:solidFill>
                <a:latin typeface="Helvetica Neue"/>
                <a:ea typeface="Helvetica Neue"/>
                <a:cs typeface="Helvetica Neue"/>
              </a:defRPr>
            </a:pPr>
            <a:r>
              <a:rPr sz="1125" b="0">
                <a:solidFill>
                  <a:srgbClr val="4D606A"/>
                </a:solidFill>
                <a:latin typeface="Helvetica Neue"/>
                <a:ea typeface="Helvetica Neue"/>
                <a:cs typeface="Helvetica Neue"/>
              </a:rPr>
              <a:t>CSE513 · İlk hafta / öğrenme pilotu</a:t>
            </a:r>
          </a:p>
        </p:txBody>
      </p:sp>
      <p:sp>
        <p:nvSpPr>
          <p:cNvPr id="10" name="">
            <a:extLst xmlns:a="http://schemas.openxmlformats.org/drawingml/2006/main">
              <a:ext uri="{FF2B5EF4-FFF2-40B4-BE49-F238E27FC236}">
                <a16:creationId xmlns:a16="http://schemas.microsoft.com/office/drawing/2014/main" id="{F5DDDC06-678A-43BC-B791-1001C228F621}"/>
              </a:ext>
            </a:extLst>
          </p:cNvPr>
          <p:cNvSpPr>
            <a:spLocks xmlns:a="http://schemas.openxmlformats.org/drawingml/2006/main" noGrp="1"/>
          </p:cNvSpPr>
          <p:nvPr/>
        </p:nvSpPr>
        <p:spPr>
          <a:xfrm xmlns:a="http://schemas.openxmlformats.org/drawingml/2006/main">
            <a:off x="10572750" y="6457950"/>
            <a:ext cx="1000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087E83"/>
                </a:solidFill>
                <a:latin typeface="Helvetica Neue"/>
                <a:ea typeface="Helvetica Neue"/>
                <a:cs typeface="Helvetica Neue"/>
              </a:defRPr>
            </a:pPr>
            <a:r>
              <a:rPr sz="1350" b="1">
                <a:solidFill>
                  <a:srgbClr val="087E83"/>
                </a:solidFill>
                <a:latin typeface="Helvetica Neue"/>
                <a:ea typeface="Helvetica Neue"/>
                <a:cs typeface="Helvetica Neue"/>
              </a:rPr>
              <a:t>19 / 28</a:t>
            </a:r>
          </a:p>
        </p:txBody>
      </p:sp>
    </p:spTree>
    <p:extLst>
      <p:ext uri="{BB962C8B-B14F-4D97-AF65-F5344CB8AC3E}">
        <p14:creationId xmlns:p14="http://schemas.microsoft.com/office/powerpoint/2010/main" val="971192147"/>
      </p:ext>
    </p:extLst>
  </p:cSld>
</p:sld>
</file>

<file path=ppt/slides/slide20.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CE6FB2D4-908B-4C47-AA24-4C1110125D59}"/>
              </a:ext>
            </a:extLst>
          </p:cNvPr>
          <p:cNvSpPr>
            <a:spLocks xmlns:a="http://schemas.openxmlformats.org/drawingml/2006/main" noGrp="1"/>
          </p:cNvSpPr>
          <p:nvPr/>
        </p:nvSpPr>
        <p:spPr>
          <a:xfrm xmlns:a="http://schemas.openxmlformats.org/drawingml/2006/main">
            <a:off x="609600" y="333375"/>
            <a:ext cx="10477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1">
                <a:solidFill>
                  <a:srgbClr val="087E83"/>
                </a:solidFill>
                <a:latin typeface="Helvetica Neue"/>
                <a:ea typeface="Helvetica Neue"/>
                <a:cs typeface="Helvetica Neue"/>
              </a:defRPr>
            </a:pPr>
            <a:r>
              <a:rPr sz="1275" b="1">
                <a:solidFill>
                  <a:srgbClr val="087E83"/>
                </a:solidFill>
                <a:latin typeface="Helvetica Neue"/>
                <a:ea typeface="Helvetica Neue"/>
                <a:cs typeface="Helvetica Neue"/>
              </a:rPr>
              <a:t>03 / PAYLAŞIM VE İLETİŞİM</a:t>
            </a:r>
          </a:p>
        </p:txBody>
      </p:sp>
      <p:sp>
        <p:nvSpPr>
          <p:cNvPr id="2" name="">
            <a:extLst xmlns:a="http://schemas.openxmlformats.org/drawingml/2006/main">
              <a:ext uri="{FF2B5EF4-FFF2-40B4-BE49-F238E27FC236}">
                <a16:creationId xmlns:a16="http://schemas.microsoft.com/office/drawing/2014/main" id="{534FFDA7-A050-41E5-8377-8E4840884B4D}"/>
              </a:ext>
            </a:extLst>
          </p:cNvPr>
          <p:cNvSpPr>
            <a:spLocks xmlns:a="http://schemas.openxmlformats.org/drawingml/2006/main" noGrp="1"/>
          </p:cNvSpPr>
          <p:nvPr/>
        </p:nvSpPr>
        <p:spPr>
          <a:xfrm xmlns:a="http://schemas.openxmlformats.org/drawingml/2006/main">
            <a:off x="609600" y="819150"/>
            <a:ext cx="109728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22C42"/>
                </a:solidFill>
                <a:latin typeface="Helvetica Neue"/>
                <a:ea typeface="Helvetica Neue"/>
                <a:cs typeface="Helvetica Neue"/>
              </a:defRPr>
            </a:pPr>
            <a:r>
              <a:rPr sz="3300" b="1">
                <a:solidFill>
                  <a:srgbClr val="122C42"/>
                </a:solidFill>
                <a:latin typeface="Helvetica Neue"/>
                <a:ea typeface="Helvetica Neue"/>
                <a:cs typeface="Helvetica Neue"/>
              </a:rPr>
              <a:t>Thread: ayrı akış, ortak adres alanı</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91a0cc34102542ef"/>
          <a:stretch xmlns:a="http://schemas.openxmlformats.org/drawingml/2006/main"/>
        </p:blipFill>
        <p:spPr>
          <a:xfrm xmlns:a="http://schemas.openxmlformats.org/drawingml/2006/main">
            <a:off x="5179219" y="1809750"/>
            <a:ext cx="6215063" cy="414337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CE9C360D-CB97-4553-8BDC-3374634F000A}"/>
              </a:ext>
            </a:extLst>
          </p:cNvPr>
          <p:cNvSpPr>
            <a:spLocks xmlns:a="http://schemas.openxmlformats.org/drawingml/2006/main" noGrp="1"/>
          </p:cNvSpPr>
          <p:nvPr/>
        </p:nvSpPr>
        <p:spPr>
          <a:xfrm xmlns:a="http://schemas.openxmlformats.org/drawingml/2006/main">
            <a:off x="609600" y="2047875"/>
            <a:ext cx="3857625"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1">
                <a:solidFill>
                  <a:srgbClr val="122C42"/>
                </a:solidFill>
                <a:latin typeface="Helvetica Neue"/>
                <a:ea typeface="Helvetica Neue"/>
                <a:cs typeface="Helvetica Neue"/>
              </a:defRPr>
            </a:pPr>
            <a:r>
              <a:rPr sz="2025" b="1">
                <a:solidFill>
                  <a:srgbClr val="122C42"/>
                </a:solidFill>
                <a:latin typeface="Helvetica Neue"/>
                <a:ea typeface="Helvetica Neue"/>
                <a:cs typeface="Helvetica Neue"/>
              </a:rPr>
              <a:t>Her thread: PC, registers ve stack</a:t>
            </a:r>
          </a:p>
        </p:txBody>
      </p:sp>
      <p:sp>
        <p:nvSpPr>
          <p:cNvPr id="5" name="">
            <a:extLst xmlns:a="http://schemas.openxmlformats.org/drawingml/2006/main">
              <a:ext uri="{FF2B5EF4-FFF2-40B4-BE49-F238E27FC236}">
                <a16:creationId xmlns:a16="http://schemas.microsoft.com/office/drawing/2014/main" id="{E20C2F91-9EEF-4EAF-814C-7CC8DB4DA6E5}"/>
              </a:ext>
            </a:extLst>
          </p:cNvPr>
          <p:cNvSpPr>
            <a:spLocks xmlns:a="http://schemas.openxmlformats.org/drawingml/2006/main" noGrp="1"/>
          </p:cNvSpPr>
          <p:nvPr/>
        </p:nvSpPr>
        <p:spPr>
          <a:xfrm xmlns:a="http://schemas.openxmlformats.org/drawingml/2006/main">
            <a:off x="609600" y="3143250"/>
            <a:ext cx="3857625"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0">
                <a:solidFill>
                  <a:srgbClr val="122C42"/>
                </a:solidFill>
                <a:latin typeface="Helvetica Neue"/>
                <a:ea typeface="Helvetica Neue"/>
                <a:cs typeface="Helvetica Neue"/>
              </a:defRPr>
            </a:pPr>
            <a:r>
              <a:rPr sz="2025" b="0">
                <a:solidFill>
                  <a:srgbClr val="122C42"/>
                </a:solidFill>
                <a:latin typeface="Helvetica Neue"/>
                <a:ea typeface="Helvetica Neue"/>
                <a:cs typeface="Helvetica Neue"/>
              </a:rPr>
              <a:t>Aynı process: ortak data / heap ve birçok kaynak</a:t>
            </a:r>
          </a:p>
        </p:txBody>
      </p:sp>
      <p:sp>
        <p:nvSpPr>
          <p:cNvPr id="6" name="">
            <a:extLst xmlns:a="http://schemas.openxmlformats.org/drawingml/2006/main">
              <a:ext uri="{FF2B5EF4-FFF2-40B4-BE49-F238E27FC236}">
                <a16:creationId xmlns:a16="http://schemas.microsoft.com/office/drawing/2014/main" id="{51225295-AAB0-468F-9887-374A1760B295}"/>
              </a:ext>
            </a:extLst>
          </p:cNvPr>
          <p:cNvSpPr>
            <a:spLocks xmlns:a="http://schemas.openxmlformats.org/drawingml/2006/main" noGrp="1"/>
          </p:cNvSpPr>
          <p:nvPr/>
        </p:nvSpPr>
        <p:spPr>
          <a:xfrm xmlns:a="http://schemas.openxmlformats.org/drawingml/2006/main">
            <a:off x="609600" y="4238625"/>
            <a:ext cx="3857625"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0">
                <a:solidFill>
                  <a:srgbClr val="122C42"/>
                </a:solidFill>
                <a:latin typeface="Helvetica Neue"/>
                <a:ea typeface="Helvetica Neue"/>
                <a:cs typeface="Helvetica Neue"/>
              </a:defRPr>
            </a:pPr>
            <a:r>
              <a:rPr sz="2025" b="0">
                <a:solidFill>
                  <a:srgbClr val="122C42"/>
                </a:solidFill>
                <a:latin typeface="Helvetica Neue"/>
                <a:ea typeface="Helvetica Neue"/>
                <a:cs typeface="Helvetica Neue"/>
              </a:rPr>
              <a:t>Ayrı stack, bellek koruma sınırı oluşturmaz.</a:t>
            </a:r>
          </a:p>
        </p:txBody>
      </p:sp>
      <p:sp>
        <p:nvSpPr>
          <p:cNvPr id="7" name="">
            <a:extLst xmlns:a="http://schemas.openxmlformats.org/drawingml/2006/main">
              <a:ext uri="{FF2B5EF4-FFF2-40B4-BE49-F238E27FC236}">
                <a16:creationId xmlns:a16="http://schemas.microsoft.com/office/drawing/2014/main" id="{5328E29E-79B8-42EC-8CE9-E452BB200E12}"/>
              </a:ext>
            </a:extLst>
          </p:cNvPr>
          <p:cNvSpPr>
            <a:spLocks xmlns:a="http://schemas.openxmlformats.org/drawingml/2006/main" noGrp="1"/>
          </p:cNvSpPr>
          <p:nvPr/>
        </p:nvSpPr>
        <p:spPr>
          <a:xfrm xmlns:a="http://schemas.openxmlformats.org/drawingml/2006/main">
            <a:off x="609600" y="6105525"/>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0">
                <a:solidFill>
                  <a:srgbClr val="C46225"/>
                </a:solidFill>
                <a:latin typeface="Helvetica Neue"/>
                <a:ea typeface="Helvetica Neue"/>
                <a:cs typeface="Helvetica Neue"/>
              </a:defRPr>
            </a:pPr>
            <a:r>
              <a:rPr sz="1500" b="0">
                <a:solidFill>
                  <a:srgbClr val="C46225"/>
                </a:solidFill>
                <a:latin typeface="Helvetica Neue"/>
                <a:ea typeface="Helvetica Neue"/>
                <a:cs typeface="Helvetica Neue"/>
              </a:rPr>
              <a:t>Hayatta: Fotoğraf işlemesini worker’a vermek GUI’nin yanıt vermesine yardımcı olabilir.</a:t>
            </a:r>
          </a:p>
        </p:txBody>
      </p:sp>
      <p:sp>
        <p:nvSpPr>
          <p:cNvPr id="8" name="">
            <a:extLst xmlns:a="http://schemas.openxmlformats.org/drawingml/2006/main">
              <a:ext uri="{FF2B5EF4-FFF2-40B4-BE49-F238E27FC236}">
                <a16:creationId xmlns:a16="http://schemas.microsoft.com/office/drawing/2014/main" id="{263CF220-91AF-42E0-8A94-56D326CEF3B5}"/>
              </a:ext>
            </a:extLst>
          </p:cNvPr>
          <p:cNvSpPr>
            <a:spLocks xmlns:a="http://schemas.openxmlformats.org/drawingml/2006/main" noGrp="1"/>
          </p:cNvSpPr>
          <p:nvPr/>
        </p:nvSpPr>
        <p:spPr>
          <a:xfrm xmlns:a="http://schemas.openxmlformats.org/drawingml/2006/main">
            <a:off x="609600" y="64960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4D606A"/>
                </a:solidFill>
                <a:latin typeface="Helvetica Neue"/>
                <a:ea typeface="Helvetica Neue"/>
                <a:cs typeface="Helvetica Neue"/>
              </a:defRPr>
            </a:pPr>
            <a:r>
              <a:rPr sz="1125" b="0">
                <a:solidFill>
                  <a:srgbClr val="4D606A"/>
                </a:solidFill>
                <a:latin typeface="Helvetica Neue"/>
                <a:ea typeface="Helvetica Neue"/>
                <a:cs typeface="Helvetica Neue"/>
              </a:rPr>
              <a:t>CSE513 · İlk hafta / öğrenme pilotu</a:t>
            </a:r>
          </a:p>
        </p:txBody>
      </p:sp>
      <p:sp>
        <p:nvSpPr>
          <p:cNvPr id="9" name="">
            <a:extLst xmlns:a="http://schemas.openxmlformats.org/drawingml/2006/main">
              <a:ext uri="{FF2B5EF4-FFF2-40B4-BE49-F238E27FC236}">
                <a16:creationId xmlns:a16="http://schemas.microsoft.com/office/drawing/2014/main" id="{3BAA44DE-17C2-4D11-B718-81C6DFCDAADD}"/>
              </a:ext>
            </a:extLst>
          </p:cNvPr>
          <p:cNvSpPr>
            <a:spLocks xmlns:a="http://schemas.openxmlformats.org/drawingml/2006/main" noGrp="1"/>
          </p:cNvSpPr>
          <p:nvPr/>
        </p:nvSpPr>
        <p:spPr>
          <a:xfrm xmlns:a="http://schemas.openxmlformats.org/drawingml/2006/main">
            <a:off x="10572750" y="6457950"/>
            <a:ext cx="1000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087E83"/>
                </a:solidFill>
                <a:latin typeface="Helvetica Neue"/>
                <a:ea typeface="Helvetica Neue"/>
                <a:cs typeface="Helvetica Neue"/>
              </a:defRPr>
            </a:pPr>
            <a:r>
              <a:rPr sz="1350" b="1">
                <a:solidFill>
                  <a:srgbClr val="087E83"/>
                </a:solidFill>
                <a:latin typeface="Helvetica Neue"/>
                <a:ea typeface="Helvetica Neue"/>
                <a:cs typeface="Helvetica Neue"/>
              </a:rPr>
              <a:t>20 / 28</a:t>
            </a:r>
          </a:p>
        </p:txBody>
      </p:sp>
    </p:spTree>
    <p:extLst>
      <p:ext uri="{BB962C8B-B14F-4D97-AF65-F5344CB8AC3E}">
        <p14:creationId xmlns:p14="http://schemas.microsoft.com/office/powerpoint/2010/main" val="24050211"/>
      </p:ext>
    </p:extLst>
  </p:cSld>
</p:sld>
</file>

<file path=ppt/slides/slide21.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234B36FD-87E8-4C95-910F-552AA392D782}"/>
              </a:ext>
            </a:extLst>
          </p:cNvPr>
          <p:cNvSpPr>
            <a:spLocks xmlns:a="http://schemas.openxmlformats.org/drawingml/2006/main" noGrp="1"/>
          </p:cNvSpPr>
          <p:nvPr/>
        </p:nvSpPr>
        <p:spPr>
          <a:xfrm xmlns:a="http://schemas.openxmlformats.org/drawingml/2006/main">
            <a:off x="609600" y="333375"/>
            <a:ext cx="10477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1">
                <a:solidFill>
                  <a:srgbClr val="087E83"/>
                </a:solidFill>
                <a:latin typeface="Helvetica Neue"/>
                <a:ea typeface="Helvetica Neue"/>
                <a:cs typeface="Helvetica Neue"/>
              </a:defRPr>
            </a:pPr>
            <a:r>
              <a:rPr sz="1275" b="1">
                <a:solidFill>
                  <a:srgbClr val="087E83"/>
                </a:solidFill>
                <a:latin typeface="Helvetica Neue"/>
                <a:ea typeface="Helvetica Neue"/>
                <a:cs typeface="Helvetica Neue"/>
              </a:rPr>
              <a:t>03 / PAYLAŞIM VE İLETİŞİM</a:t>
            </a:r>
          </a:p>
        </p:txBody>
      </p:sp>
      <p:sp>
        <p:nvSpPr>
          <p:cNvPr id="2" name="">
            <a:extLst xmlns:a="http://schemas.openxmlformats.org/drawingml/2006/main">
              <a:ext uri="{FF2B5EF4-FFF2-40B4-BE49-F238E27FC236}">
                <a16:creationId xmlns:a16="http://schemas.microsoft.com/office/drawing/2014/main" id="{BE22DCED-87EA-4178-8D03-0CF69971B798}"/>
              </a:ext>
            </a:extLst>
          </p:cNvPr>
          <p:cNvSpPr>
            <a:spLocks xmlns:a="http://schemas.openxmlformats.org/drawingml/2006/main" noGrp="1"/>
          </p:cNvSpPr>
          <p:nvPr/>
        </p:nvSpPr>
        <p:spPr>
          <a:xfrm xmlns:a="http://schemas.openxmlformats.org/drawingml/2006/main">
            <a:off x="609600" y="819150"/>
            <a:ext cx="109728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22C42"/>
                </a:solidFill>
                <a:latin typeface="Helvetica Neue"/>
                <a:ea typeface="Helvetica Neue"/>
                <a:cs typeface="Helvetica Neue"/>
              </a:defRPr>
            </a:pPr>
            <a:r>
              <a:rPr sz="3300" b="1">
                <a:solidFill>
                  <a:srgbClr val="122C42"/>
                </a:solidFill>
                <a:latin typeface="Helvetica Neue"/>
                <a:ea typeface="Helvetica Neue"/>
                <a:cs typeface="Helvetica Neue"/>
              </a:rPr>
              <a:t>Concurrency ve parallelism</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e120b7cca2ef469f"/>
          <a:stretch xmlns:a="http://schemas.openxmlformats.org/drawingml/2006/main"/>
        </p:blipFill>
        <p:spPr>
          <a:xfrm xmlns:a="http://schemas.openxmlformats.org/drawingml/2006/main">
            <a:off x="5179219" y="1809750"/>
            <a:ext cx="6215063" cy="414337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8C7C3D3B-C807-48A8-8CC9-0C7740FB161E}"/>
              </a:ext>
            </a:extLst>
          </p:cNvPr>
          <p:cNvSpPr>
            <a:spLocks xmlns:a="http://schemas.openxmlformats.org/drawingml/2006/main" noGrp="1"/>
          </p:cNvSpPr>
          <p:nvPr/>
        </p:nvSpPr>
        <p:spPr>
          <a:xfrm xmlns:a="http://schemas.openxmlformats.org/drawingml/2006/main">
            <a:off x="609600" y="2047875"/>
            <a:ext cx="3857625"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1">
                <a:solidFill>
                  <a:srgbClr val="122C42"/>
                </a:solidFill>
                <a:latin typeface="Helvetica Neue"/>
                <a:ea typeface="Helvetica Neue"/>
                <a:cs typeface="Helvetica Neue"/>
              </a:defRPr>
            </a:pPr>
            <a:r>
              <a:rPr sz="2025" b="1">
                <a:solidFill>
                  <a:srgbClr val="122C42"/>
                </a:solidFill>
                <a:latin typeface="Helvetica Neue"/>
                <a:ea typeface="Helvetica Neue"/>
                <a:cs typeface="Helvetica Neue"/>
              </a:rPr>
              <a:t>Concurrency: zaman aralığı boyunca birlikte ilerleme</a:t>
            </a:r>
          </a:p>
        </p:txBody>
      </p:sp>
      <p:sp>
        <p:nvSpPr>
          <p:cNvPr id="5" name="">
            <a:extLst xmlns:a="http://schemas.openxmlformats.org/drawingml/2006/main">
              <a:ext uri="{FF2B5EF4-FFF2-40B4-BE49-F238E27FC236}">
                <a16:creationId xmlns:a16="http://schemas.microsoft.com/office/drawing/2014/main" id="{4D0F25D3-13BA-48B4-9B35-A5FD6F8D5754}"/>
              </a:ext>
            </a:extLst>
          </p:cNvPr>
          <p:cNvSpPr>
            <a:spLocks xmlns:a="http://schemas.openxmlformats.org/drawingml/2006/main" noGrp="1"/>
          </p:cNvSpPr>
          <p:nvPr/>
        </p:nvSpPr>
        <p:spPr>
          <a:xfrm xmlns:a="http://schemas.openxmlformats.org/drawingml/2006/main">
            <a:off x="609600" y="3143250"/>
            <a:ext cx="3857625"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0">
                <a:solidFill>
                  <a:srgbClr val="122C42"/>
                </a:solidFill>
                <a:latin typeface="Helvetica Neue"/>
                <a:ea typeface="Helvetica Neue"/>
                <a:cs typeface="Helvetica Neue"/>
              </a:defRPr>
            </a:pPr>
            <a:r>
              <a:rPr sz="2025" b="0">
                <a:solidFill>
                  <a:srgbClr val="122C42"/>
                </a:solidFill>
                <a:latin typeface="Helvetica Neue"/>
                <a:ea typeface="Helvetica Neue"/>
                <a:cs typeface="Helvetica Neue"/>
              </a:rPr>
              <a:t>Parallelism: aynı anda ayrı yürütme kaynaklarında çalışma</a:t>
            </a:r>
          </a:p>
        </p:txBody>
      </p:sp>
      <p:sp>
        <p:nvSpPr>
          <p:cNvPr id="6" name="">
            <a:extLst xmlns:a="http://schemas.openxmlformats.org/drawingml/2006/main">
              <a:ext uri="{FF2B5EF4-FFF2-40B4-BE49-F238E27FC236}">
                <a16:creationId xmlns:a16="http://schemas.microsoft.com/office/drawing/2014/main" id="{FB3EFB81-74B9-4A8C-85D9-C361E8B93473}"/>
              </a:ext>
            </a:extLst>
          </p:cNvPr>
          <p:cNvSpPr>
            <a:spLocks xmlns:a="http://schemas.openxmlformats.org/drawingml/2006/main" noGrp="1"/>
          </p:cNvSpPr>
          <p:nvPr/>
        </p:nvSpPr>
        <p:spPr>
          <a:xfrm xmlns:a="http://schemas.openxmlformats.org/drawingml/2006/main">
            <a:off x="609600" y="4238625"/>
            <a:ext cx="3857625"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0">
                <a:solidFill>
                  <a:srgbClr val="122C42"/>
                </a:solidFill>
                <a:latin typeface="Helvetica Neue"/>
                <a:ea typeface="Helvetica Neue"/>
                <a:cs typeface="Helvetica Neue"/>
              </a:defRPr>
            </a:pPr>
            <a:r>
              <a:rPr sz="2025" b="0">
                <a:solidFill>
                  <a:srgbClr val="122C42"/>
                </a:solidFill>
                <a:latin typeface="Helvetica Neue"/>
                <a:ea typeface="Helvetica Neue"/>
                <a:cs typeface="Helvetica Neue"/>
              </a:rPr>
              <a:t>Daha çok thread, otomatik hızlanma değildir.</a:t>
            </a:r>
          </a:p>
        </p:txBody>
      </p:sp>
      <p:sp>
        <p:nvSpPr>
          <p:cNvPr id="7" name="">
            <a:extLst xmlns:a="http://schemas.openxmlformats.org/drawingml/2006/main">
              <a:ext uri="{FF2B5EF4-FFF2-40B4-BE49-F238E27FC236}">
                <a16:creationId xmlns:a16="http://schemas.microsoft.com/office/drawing/2014/main" id="{22BCBB6C-E010-4BFC-A5CE-CAEFDC6A051C}"/>
              </a:ext>
            </a:extLst>
          </p:cNvPr>
          <p:cNvSpPr>
            <a:spLocks xmlns:a="http://schemas.openxmlformats.org/drawingml/2006/main" noGrp="1"/>
          </p:cNvSpPr>
          <p:nvPr/>
        </p:nvSpPr>
        <p:spPr>
          <a:xfrm xmlns:a="http://schemas.openxmlformats.org/drawingml/2006/main">
            <a:off x="609600" y="6105525"/>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0">
                <a:solidFill>
                  <a:srgbClr val="C46225"/>
                </a:solidFill>
                <a:latin typeface="Helvetica Neue"/>
                <a:ea typeface="Helvetica Neue"/>
                <a:cs typeface="Helvetica Neue"/>
              </a:defRPr>
            </a:pPr>
            <a:r>
              <a:rPr sz="1500" b="0">
                <a:solidFill>
                  <a:srgbClr val="C46225"/>
                </a:solidFill>
                <a:latin typeface="Helvetica Neue"/>
                <a:ea typeface="Helvetica Neue"/>
                <a:cs typeface="Helvetica Neue"/>
              </a:rPr>
              <a:t>Hayatta: Bağımsız görüntü parçaları paralel işlenebilir; kazanç darboğaza bağlıdır.</a:t>
            </a:r>
          </a:p>
        </p:txBody>
      </p:sp>
      <p:sp>
        <p:nvSpPr>
          <p:cNvPr id="8" name="">
            <a:extLst xmlns:a="http://schemas.openxmlformats.org/drawingml/2006/main">
              <a:ext uri="{FF2B5EF4-FFF2-40B4-BE49-F238E27FC236}">
                <a16:creationId xmlns:a16="http://schemas.microsoft.com/office/drawing/2014/main" id="{CBB40493-273A-43A2-A93D-6C33BAE38B25}"/>
              </a:ext>
            </a:extLst>
          </p:cNvPr>
          <p:cNvSpPr>
            <a:spLocks xmlns:a="http://schemas.openxmlformats.org/drawingml/2006/main" noGrp="1"/>
          </p:cNvSpPr>
          <p:nvPr/>
        </p:nvSpPr>
        <p:spPr>
          <a:xfrm xmlns:a="http://schemas.openxmlformats.org/drawingml/2006/main">
            <a:off x="609600" y="64960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4D606A"/>
                </a:solidFill>
                <a:latin typeface="Helvetica Neue"/>
                <a:ea typeface="Helvetica Neue"/>
                <a:cs typeface="Helvetica Neue"/>
              </a:defRPr>
            </a:pPr>
            <a:r>
              <a:rPr sz="1125" b="0">
                <a:solidFill>
                  <a:srgbClr val="4D606A"/>
                </a:solidFill>
                <a:latin typeface="Helvetica Neue"/>
                <a:ea typeface="Helvetica Neue"/>
                <a:cs typeface="Helvetica Neue"/>
              </a:rPr>
              <a:t>CSE513 · İlk hafta / öğrenme pilotu</a:t>
            </a:r>
          </a:p>
        </p:txBody>
      </p:sp>
      <p:sp>
        <p:nvSpPr>
          <p:cNvPr id="9" name="">
            <a:extLst xmlns:a="http://schemas.openxmlformats.org/drawingml/2006/main">
              <a:ext uri="{FF2B5EF4-FFF2-40B4-BE49-F238E27FC236}">
                <a16:creationId xmlns:a16="http://schemas.microsoft.com/office/drawing/2014/main" id="{44FD1D80-C539-495F-B136-A8DFB55A8450}"/>
              </a:ext>
            </a:extLst>
          </p:cNvPr>
          <p:cNvSpPr>
            <a:spLocks xmlns:a="http://schemas.openxmlformats.org/drawingml/2006/main" noGrp="1"/>
          </p:cNvSpPr>
          <p:nvPr/>
        </p:nvSpPr>
        <p:spPr>
          <a:xfrm xmlns:a="http://schemas.openxmlformats.org/drawingml/2006/main">
            <a:off x="10572750" y="6457950"/>
            <a:ext cx="1000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087E83"/>
                </a:solidFill>
                <a:latin typeface="Helvetica Neue"/>
                <a:ea typeface="Helvetica Neue"/>
                <a:cs typeface="Helvetica Neue"/>
              </a:defRPr>
            </a:pPr>
            <a:r>
              <a:rPr sz="1350" b="1">
                <a:solidFill>
                  <a:srgbClr val="087E83"/>
                </a:solidFill>
                <a:latin typeface="Helvetica Neue"/>
                <a:ea typeface="Helvetica Neue"/>
                <a:cs typeface="Helvetica Neue"/>
              </a:rPr>
              <a:t>21 / 28</a:t>
            </a:r>
          </a:p>
        </p:txBody>
      </p:sp>
    </p:spTree>
    <p:extLst>
      <p:ext uri="{BB962C8B-B14F-4D97-AF65-F5344CB8AC3E}">
        <p14:creationId xmlns:p14="http://schemas.microsoft.com/office/powerpoint/2010/main" val="140975457"/>
      </p:ext>
    </p:extLst>
  </p:cSld>
</p:sld>
</file>

<file path=ppt/slides/slide22.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1519C6F-B7EB-4D95-856E-5279B7D1DC56}"/>
              </a:ext>
            </a:extLst>
          </p:cNvPr>
          <p:cNvSpPr>
            <a:spLocks xmlns:a="http://schemas.openxmlformats.org/drawingml/2006/main" noGrp="1"/>
          </p:cNvSpPr>
          <p:nvPr/>
        </p:nvSpPr>
        <p:spPr>
          <a:xfrm xmlns:a="http://schemas.openxmlformats.org/drawingml/2006/main">
            <a:off x="609600" y="333375"/>
            <a:ext cx="10477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1">
                <a:solidFill>
                  <a:srgbClr val="087E83"/>
                </a:solidFill>
                <a:latin typeface="Helvetica Neue"/>
                <a:ea typeface="Helvetica Neue"/>
                <a:cs typeface="Helvetica Neue"/>
              </a:defRPr>
            </a:pPr>
            <a:r>
              <a:rPr sz="1275" b="1">
                <a:solidFill>
                  <a:srgbClr val="087E83"/>
                </a:solidFill>
                <a:latin typeface="Helvetica Neue"/>
                <a:ea typeface="Helvetica Neue"/>
                <a:cs typeface="Helvetica Neue"/>
              </a:rPr>
              <a:t>03 / PAYLAŞIM VE İLETİŞİM</a:t>
            </a:r>
          </a:p>
        </p:txBody>
      </p:sp>
      <p:sp>
        <p:nvSpPr>
          <p:cNvPr id="2" name="">
            <a:extLst xmlns:a="http://schemas.openxmlformats.org/drawingml/2006/main">
              <a:ext uri="{FF2B5EF4-FFF2-40B4-BE49-F238E27FC236}">
                <a16:creationId xmlns:a16="http://schemas.microsoft.com/office/drawing/2014/main" id="{CB3885B8-5480-4945-9EA7-79B2B22C0DE7}"/>
              </a:ext>
            </a:extLst>
          </p:cNvPr>
          <p:cNvSpPr>
            <a:spLocks xmlns:a="http://schemas.openxmlformats.org/drawingml/2006/main" noGrp="1"/>
          </p:cNvSpPr>
          <p:nvPr/>
        </p:nvSpPr>
        <p:spPr>
          <a:xfrm xmlns:a="http://schemas.openxmlformats.org/drawingml/2006/main">
            <a:off x="609600" y="819150"/>
            <a:ext cx="109728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22C42"/>
                </a:solidFill>
                <a:latin typeface="Helvetica Neue"/>
                <a:ea typeface="Helvetica Neue"/>
                <a:cs typeface="Helvetica Neue"/>
              </a:defRPr>
            </a:pPr>
            <a:r>
              <a:rPr sz="3300" b="1">
                <a:solidFill>
                  <a:srgbClr val="122C42"/>
                </a:solidFill>
                <a:latin typeface="Helvetica Neue"/>
                <a:ea typeface="Helvetica Neue"/>
                <a:cs typeface="Helvetica Neue"/>
              </a:rPr>
              <a:t>İki artırım, bir kayıp güncelleme</a:t>
            </a:r>
          </a:p>
        </p:txBody>
      </p:sp>
      <p:sp>
        <p:nvSpPr>
          <p:cNvPr id="3" name="">
            <a:extLst xmlns:a="http://schemas.openxmlformats.org/drawingml/2006/main">
              <a:ext uri="{FF2B5EF4-FFF2-40B4-BE49-F238E27FC236}">
                <a16:creationId xmlns:a16="http://schemas.microsoft.com/office/drawing/2014/main" id="{C67358A3-C626-480F-B3F8-2CCED5F50D2F}"/>
              </a:ext>
            </a:extLst>
          </p:cNvPr>
          <p:cNvSpPr>
            <a:spLocks xmlns:a="http://schemas.openxmlformats.org/drawingml/2006/main" noGrp="1"/>
          </p:cNvSpPr>
          <p:nvPr/>
        </p:nvSpPr>
        <p:spPr>
          <a:xfrm xmlns:a="http://schemas.openxmlformats.org/drawingml/2006/main">
            <a:off x="609600" y="1695450"/>
            <a:ext cx="10953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4D606A"/>
                </a:solidFill>
                <a:latin typeface="Helvetica Neue"/>
                <a:ea typeface="Helvetica Neue"/>
                <a:cs typeface="Helvetica Neue"/>
              </a:defRPr>
            </a:pPr>
            <a:r>
              <a:rPr sz="1875" b="0">
                <a:solidFill>
                  <a:srgbClr val="4D606A"/>
                </a:solidFill>
                <a:latin typeface="Helvetica Neue"/>
                <a:ea typeface="Helvetica Neue"/>
                <a:cs typeface="Helvetica Neue"/>
              </a:rPr>
              <a:t>Soyut read–add–write modeli. Başlangıç counter = 0.</a:t>
            </a:r>
          </a:p>
        </p:txBody>
      </p:sp>
      <p:graphicFrame>
        <p:nvGraphicFramePr>
          <p:cNvPr id="12" name=""/>
          <p:cNvGraphicFramePr/>
          <p:nvPr/>
        </p:nvGraphicFramePr>
        <p:xfrm>
          <a:off xmlns:a="http://schemas.openxmlformats.org/drawingml/2006/main" x="609600" y="2352675"/>
          <a:ext xmlns:a="http://schemas.openxmlformats.org/drawingml/2006/main" cx="10972800" cy="2743200"/>
        </p:xfrm>
        <a:graphic xmlns:a="http://schemas.openxmlformats.org/drawingml/2006/main">
          <a:graphicData uri="http://schemas.openxmlformats.org/drawingml/2006/table">
            <a:tbl>
              <a:tblPr/>
              <a:tblGrid>
                <a:gridCol w="4718304"/>
                <a:gridCol w="2194560"/>
                <a:gridCol w="2194560"/>
                <a:gridCol w="1865376"/>
              </a:tblGrid>
              <a:tr h="391886">
                <a:tc>
                  <a:txBody>
                    <a:bodyPr/>
                    <a:lstStyle/>
                    <a:p>
                      <a:r>
                        <a:rPr sz="1575" b="1">
                          <a:solidFill>
                            <a:srgbClr val="FFFFFF"/>
                          </a:solidFill>
                          <a:latin typeface="Helvetica Neue"/>
                          <a:ea typeface="Helvetica Neue"/>
                          <a:cs typeface="Helvetica Neue"/>
                        </a:rPr>
                        <a:t>Adım</a:t>
                      </a:r>
                    </a:p>
                  </a:txBody>
                  <a:tcPr marL="142875" marR="142875" marT="47625" marB="47625" anchor="ctr">
                    <a:solidFill>
                      <a:srgbClr val="122C42"/>
                    </a:solidFill>
                  </a:tcPr>
                </a:tc>
                <a:tc>
                  <a:txBody>
                    <a:bodyPr/>
                    <a:lstStyle/>
                    <a:p>
                      <a:r>
                        <a:rPr sz="1575" b="1">
                          <a:solidFill>
                            <a:srgbClr val="FFFFFF"/>
                          </a:solidFill>
                          <a:latin typeface="Helvetica Neue"/>
                          <a:ea typeface="Helvetica Neue"/>
                          <a:cs typeface="Helvetica Neue"/>
                        </a:rPr>
                        <a:t>A’nın geçici değeri</a:t>
                      </a:r>
                    </a:p>
                  </a:txBody>
                  <a:tcPr marL="142875" marR="142875" marT="47625" marB="47625" anchor="ctr">
                    <a:solidFill>
                      <a:srgbClr val="122C42"/>
                    </a:solidFill>
                  </a:tcPr>
                </a:tc>
                <a:tc>
                  <a:txBody>
                    <a:bodyPr/>
                    <a:lstStyle/>
                    <a:p>
                      <a:r>
                        <a:rPr sz="1575" b="1">
                          <a:solidFill>
                            <a:srgbClr val="FFFFFF"/>
                          </a:solidFill>
                          <a:latin typeface="Helvetica Neue"/>
                          <a:ea typeface="Helvetica Neue"/>
                          <a:cs typeface="Helvetica Neue"/>
                        </a:rPr>
                        <a:t>B’nin geçici değeri</a:t>
                      </a:r>
                    </a:p>
                  </a:txBody>
                  <a:tcPr marL="142875" marR="142875" marT="47625" marB="47625" anchor="ctr">
                    <a:solidFill>
                      <a:srgbClr val="122C42"/>
                    </a:solidFill>
                  </a:tcPr>
                </a:tc>
                <a:tc>
                  <a:txBody>
                    <a:bodyPr/>
                    <a:lstStyle/>
                    <a:p>
                      <a:r>
                        <a:rPr sz="1575" b="1">
                          <a:solidFill>
                            <a:srgbClr val="FFFFFF"/>
                          </a:solidFill>
                          <a:latin typeface="Helvetica Neue"/>
                          <a:ea typeface="Helvetica Neue"/>
                          <a:cs typeface="Helvetica Neue"/>
                        </a:rPr>
                        <a:t>counter</a:t>
                      </a:r>
                    </a:p>
                  </a:txBody>
                  <a:tcPr marL="142875" marR="142875" marT="47625" marB="47625" anchor="ctr">
                    <a:solidFill>
                      <a:srgbClr val="122C42"/>
                    </a:solidFill>
                  </a:tcPr>
                </a:tc>
              </a:tr>
              <a:tr h="391886">
                <a:tc>
                  <a:txBody>
                    <a:bodyPr/>
                    <a:lstStyle/>
                    <a:p>
                      <a:r>
                        <a:rPr sz="1650" b="0">
                          <a:solidFill>
                            <a:srgbClr val="122C42"/>
                          </a:solidFill>
                          <a:latin typeface="Helvetica Neue"/>
                          <a:ea typeface="Helvetica Neue"/>
                          <a:cs typeface="Helvetica Neue"/>
                        </a:rPr>
                        <a:t>A okur</a:t>
                      </a:r>
                    </a:p>
                  </a:txBody>
                  <a:tcPr marL="142875" marR="142875" marT="47625" marB="47625" anchor="ctr">
                    <a:solidFill>
                      <a:srgbClr val="FFFFFF"/>
                    </a:solidFill>
                  </a:tcPr>
                </a:tc>
                <a:tc>
                  <a:txBody>
                    <a:bodyPr/>
                    <a:lstStyle/>
                    <a:p>
                      <a:r>
                        <a:rPr sz="1650" b="0">
                          <a:solidFill>
                            <a:srgbClr val="122C42"/>
                          </a:solidFill>
                          <a:latin typeface="Helvetica Neue"/>
                          <a:ea typeface="Helvetica Neue"/>
                          <a:cs typeface="Helvetica Neue"/>
                        </a:rPr>
                        <a:t>0</a:t>
                      </a:r>
                    </a:p>
                  </a:txBody>
                  <a:tcPr marL="142875" marR="142875" marT="47625" marB="47625" anchor="ctr">
                    <a:solidFill>
                      <a:srgbClr val="FFFFFF"/>
                    </a:solidFill>
                  </a:tcPr>
                </a:tc>
                <a:tc>
                  <a:txBody>
                    <a:bodyPr/>
                    <a:lstStyle/>
                    <a:p>
                      <a:r>
                        <a:rPr sz="1650" b="0">
                          <a:solidFill>
                            <a:srgbClr val="122C42"/>
                          </a:solidFill>
                          <a:latin typeface="Helvetica Neue"/>
                          <a:ea typeface="Helvetica Neue"/>
                          <a:cs typeface="Helvetica Neue"/>
                        </a:rPr>
                        <a:t>—</a:t>
                      </a:r>
                    </a:p>
                  </a:txBody>
                  <a:tcPr marL="142875" marR="142875" marT="47625" marB="47625" anchor="ctr">
                    <a:solidFill>
                      <a:srgbClr val="FFFFFF"/>
                    </a:solidFill>
                  </a:tcPr>
                </a:tc>
                <a:tc>
                  <a:txBody>
                    <a:bodyPr/>
                    <a:lstStyle/>
                    <a:p>
                      <a:r>
                        <a:rPr sz="1650" b="0">
                          <a:solidFill>
                            <a:srgbClr val="122C42"/>
                          </a:solidFill>
                          <a:latin typeface="Helvetica Neue"/>
                          <a:ea typeface="Helvetica Neue"/>
                          <a:cs typeface="Helvetica Neue"/>
                        </a:rPr>
                        <a:t>0</a:t>
                      </a:r>
                    </a:p>
                  </a:txBody>
                  <a:tcPr marL="142875" marR="142875" marT="47625" marB="47625" anchor="ctr">
                    <a:solidFill>
                      <a:srgbClr val="FFFFFF"/>
                    </a:solidFill>
                  </a:tcPr>
                </a:tc>
              </a:tr>
              <a:tr h="391886">
                <a:tc>
                  <a:txBody>
                    <a:bodyPr/>
                    <a:lstStyle/>
                    <a:p>
                      <a:r>
                        <a:rPr sz="1650" b="0">
                          <a:solidFill>
                            <a:srgbClr val="122C42"/>
                          </a:solidFill>
                          <a:latin typeface="Helvetica Neue"/>
                          <a:ea typeface="Helvetica Neue"/>
                          <a:cs typeface="Helvetica Neue"/>
                        </a:rPr>
                        <a:t>B okur</a:t>
                      </a:r>
                    </a:p>
                  </a:txBody>
                  <a:tcPr marL="142875" marR="142875" marT="47625" marB="47625" anchor="ctr">
                    <a:solidFill>
                      <a:srgbClr val="ECF0EC"/>
                    </a:solidFill>
                  </a:tcPr>
                </a:tc>
                <a:tc>
                  <a:txBody>
                    <a:bodyPr/>
                    <a:lstStyle/>
                    <a:p>
                      <a:r>
                        <a:rPr sz="1650" b="0">
                          <a:solidFill>
                            <a:srgbClr val="122C42"/>
                          </a:solidFill>
                          <a:latin typeface="Helvetica Neue"/>
                          <a:ea typeface="Helvetica Neue"/>
                          <a:cs typeface="Helvetica Neue"/>
                        </a:rPr>
                        <a:t>0</a:t>
                      </a:r>
                    </a:p>
                  </a:txBody>
                  <a:tcPr marL="142875" marR="142875" marT="47625" marB="47625" anchor="ctr">
                    <a:solidFill>
                      <a:srgbClr val="ECF0EC"/>
                    </a:solidFill>
                  </a:tcPr>
                </a:tc>
                <a:tc>
                  <a:txBody>
                    <a:bodyPr/>
                    <a:lstStyle/>
                    <a:p>
                      <a:r>
                        <a:rPr sz="1650" b="0">
                          <a:solidFill>
                            <a:srgbClr val="122C42"/>
                          </a:solidFill>
                          <a:latin typeface="Helvetica Neue"/>
                          <a:ea typeface="Helvetica Neue"/>
                          <a:cs typeface="Helvetica Neue"/>
                        </a:rPr>
                        <a:t>0</a:t>
                      </a:r>
                    </a:p>
                  </a:txBody>
                  <a:tcPr marL="142875" marR="142875" marT="47625" marB="47625" anchor="ctr">
                    <a:solidFill>
                      <a:srgbClr val="ECF0EC"/>
                    </a:solidFill>
                  </a:tcPr>
                </a:tc>
                <a:tc>
                  <a:txBody>
                    <a:bodyPr/>
                    <a:lstStyle/>
                    <a:p>
                      <a:r>
                        <a:rPr sz="1650" b="0">
                          <a:solidFill>
                            <a:srgbClr val="122C42"/>
                          </a:solidFill>
                          <a:latin typeface="Helvetica Neue"/>
                          <a:ea typeface="Helvetica Neue"/>
                          <a:cs typeface="Helvetica Neue"/>
                        </a:rPr>
                        <a:t>0</a:t>
                      </a:r>
                    </a:p>
                  </a:txBody>
                  <a:tcPr marL="142875" marR="142875" marT="47625" marB="47625" anchor="ctr">
                    <a:solidFill>
                      <a:srgbClr val="ECF0EC"/>
                    </a:solidFill>
                  </a:tcPr>
                </a:tc>
              </a:tr>
              <a:tr h="391886">
                <a:tc>
                  <a:txBody>
                    <a:bodyPr/>
                    <a:lstStyle/>
                    <a:p>
                      <a:r>
                        <a:rPr sz="1650" b="0">
                          <a:solidFill>
                            <a:srgbClr val="122C42"/>
                          </a:solidFill>
                          <a:latin typeface="Helvetica Neue"/>
                          <a:ea typeface="Helvetica Neue"/>
                          <a:cs typeface="Helvetica Neue"/>
                        </a:rPr>
                        <a:t>A +1 hesaplar</a:t>
                      </a:r>
                    </a:p>
                  </a:txBody>
                  <a:tcPr marL="142875" marR="142875" marT="47625" marB="47625" anchor="ctr">
                    <a:solidFill>
                      <a:srgbClr val="FFFFFF"/>
                    </a:solidFill>
                  </a:tcPr>
                </a:tc>
                <a:tc>
                  <a:txBody>
                    <a:bodyPr/>
                    <a:lstStyle/>
                    <a:p>
                      <a:r>
                        <a:rPr sz="1650" b="0">
                          <a:solidFill>
                            <a:srgbClr val="122C42"/>
                          </a:solidFill>
                          <a:latin typeface="Helvetica Neue"/>
                          <a:ea typeface="Helvetica Neue"/>
                          <a:cs typeface="Helvetica Neue"/>
                        </a:rPr>
                        <a:t>1</a:t>
                      </a:r>
                    </a:p>
                  </a:txBody>
                  <a:tcPr marL="142875" marR="142875" marT="47625" marB="47625" anchor="ctr">
                    <a:solidFill>
                      <a:srgbClr val="FFFFFF"/>
                    </a:solidFill>
                  </a:tcPr>
                </a:tc>
                <a:tc>
                  <a:txBody>
                    <a:bodyPr/>
                    <a:lstStyle/>
                    <a:p>
                      <a:r>
                        <a:rPr sz="1650" b="0">
                          <a:solidFill>
                            <a:srgbClr val="122C42"/>
                          </a:solidFill>
                          <a:latin typeface="Helvetica Neue"/>
                          <a:ea typeface="Helvetica Neue"/>
                          <a:cs typeface="Helvetica Neue"/>
                        </a:rPr>
                        <a:t>0</a:t>
                      </a:r>
                    </a:p>
                  </a:txBody>
                  <a:tcPr marL="142875" marR="142875" marT="47625" marB="47625" anchor="ctr">
                    <a:solidFill>
                      <a:srgbClr val="FFFFFF"/>
                    </a:solidFill>
                  </a:tcPr>
                </a:tc>
                <a:tc>
                  <a:txBody>
                    <a:bodyPr/>
                    <a:lstStyle/>
                    <a:p>
                      <a:r>
                        <a:rPr sz="1650" b="0">
                          <a:solidFill>
                            <a:srgbClr val="122C42"/>
                          </a:solidFill>
                          <a:latin typeface="Helvetica Neue"/>
                          <a:ea typeface="Helvetica Neue"/>
                          <a:cs typeface="Helvetica Neue"/>
                        </a:rPr>
                        <a:t>0</a:t>
                      </a:r>
                    </a:p>
                  </a:txBody>
                  <a:tcPr marL="142875" marR="142875" marT="47625" marB="47625" anchor="ctr">
                    <a:solidFill>
                      <a:srgbClr val="FFFFFF"/>
                    </a:solidFill>
                  </a:tcPr>
                </a:tc>
              </a:tr>
              <a:tr h="391886">
                <a:tc>
                  <a:txBody>
                    <a:bodyPr/>
                    <a:lstStyle/>
                    <a:p>
                      <a:r>
                        <a:rPr sz="1650" b="0">
                          <a:solidFill>
                            <a:srgbClr val="122C42"/>
                          </a:solidFill>
                          <a:latin typeface="Helvetica Neue"/>
                          <a:ea typeface="Helvetica Neue"/>
                          <a:cs typeface="Helvetica Neue"/>
                        </a:rPr>
                        <a:t>B +1 hesaplar</a:t>
                      </a:r>
                    </a:p>
                  </a:txBody>
                  <a:tcPr marL="142875" marR="142875" marT="47625" marB="47625" anchor="ctr">
                    <a:solidFill>
                      <a:srgbClr val="ECF0EC"/>
                    </a:solidFill>
                  </a:tcPr>
                </a:tc>
                <a:tc>
                  <a:txBody>
                    <a:bodyPr/>
                    <a:lstStyle/>
                    <a:p>
                      <a:r>
                        <a:rPr sz="1650" b="0">
                          <a:solidFill>
                            <a:srgbClr val="122C42"/>
                          </a:solidFill>
                          <a:latin typeface="Helvetica Neue"/>
                          <a:ea typeface="Helvetica Neue"/>
                          <a:cs typeface="Helvetica Neue"/>
                        </a:rPr>
                        <a:t>1</a:t>
                      </a:r>
                    </a:p>
                  </a:txBody>
                  <a:tcPr marL="142875" marR="142875" marT="47625" marB="47625" anchor="ctr">
                    <a:solidFill>
                      <a:srgbClr val="ECF0EC"/>
                    </a:solidFill>
                  </a:tcPr>
                </a:tc>
                <a:tc>
                  <a:txBody>
                    <a:bodyPr/>
                    <a:lstStyle/>
                    <a:p>
                      <a:r>
                        <a:rPr sz="1650" b="0">
                          <a:solidFill>
                            <a:srgbClr val="122C42"/>
                          </a:solidFill>
                          <a:latin typeface="Helvetica Neue"/>
                          <a:ea typeface="Helvetica Neue"/>
                          <a:cs typeface="Helvetica Neue"/>
                        </a:rPr>
                        <a:t>1</a:t>
                      </a:r>
                    </a:p>
                  </a:txBody>
                  <a:tcPr marL="142875" marR="142875" marT="47625" marB="47625" anchor="ctr">
                    <a:solidFill>
                      <a:srgbClr val="ECF0EC"/>
                    </a:solidFill>
                  </a:tcPr>
                </a:tc>
                <a:tc>
                  <a:txBody>
                    <a:bodyPr/>
                    <a:lstStyle/>
                    <a:p>
                      <a:r>
                        <a:rPr sz="1650" b="0">
                          <a:solidFill>
                            <a:srgbClr val="122C42"/>
                          </a:solidFill>
                          <a:latin typeface="Helvetica Neue"/>
                          <a:ea typeface="Helvetica Neue"/>
                          <a:cs typeface="Helvetica Neue"/>
                        </a:rPr>
                        <a:t>0</a:t>
                      </a:r>
                    </a:p>
                  </a:txBody>
                  <a:tcPr marL="142875" marR="142875" marT="47625" marB="47625" anchor="ctr">
                    <a:solidFill>
                      <a:srgbClr val="ECF0EC"/>
                    </a:solidFill>
                  </a:tcPr>
                </a:tc>
              </a:tr>
              <a:tr h="391886">
                <a:tc>
                  <a:txBody>
                    <a:bodyPr/>
                    <a:lstStyle/>
                    <a:p>
                      <a:r>
                        <a:rPr sz="1650" b="0">
                          <a:solidFill>
                            <a:srgbClr val="122C42"/>
                          </a:solidFill>
                          <a:latin typeface="Helvetica Neue"/>
                          <a:ea typeface="Helvetica Neue"/>
                          <a:cs typeface="Helvetica Neue"/>
                        </a:rPr>
                        <a:t>A yazar</a:t>
                      </a:r>
                    </a:p>
                  </a:txBody>
                  <a:tcPr marL="142875" marR="142875" marT="47625" marB="47625" anchor="ctr">
                    <a:solidFill>
                      <a:srgbClr val="FFFFFF"/>
                    </a:solidFill>
                  </a:tcPr>
                </a:tc>
                <a:tc>
                  <a:txBody>
                    <a:bodyPr/>
                    <a:lstStyle/>
                    <a:p>
                      <a:r>
                        <a:rPr sz="1650" b="0">
                          <a:solidFill>
                            <a:srgbClr val="122C42"/>
                          </a:solidFill>
                          <a:latin typeface="Helvetica Neue"/>
                          <a:ea typeface="Helvetica Neue"/>
                          <a:cs typeface="Helvetica Neue"/>
                        </a:rPr>
                        <a:t>1</a:t>
                      </a:r>
                    </a:p>
                  </a:txBody>
                  <a:tcPr marL="142875" marR="142875" marT="47625" marB="47625" anchor="ctr">
                    <a:solidFill>
                      <a:srgbClr val="FFFFFF"/>
                    </a:solidFill>
                  </a:tcPr>
                </a:tc>
                <a:tc>
                  <a:txBody>
                    <a:bodyPr/>
                    <a:lstStyle/>
                    <a:p>
                      <a:r>
                        <a:rPr sz="1650" b="0">
                          <a:solidFill>
                            <a:srgbClr val="122C42"/>
                          </a:solidFill>
                          <a:latin typeface="Helvetica Neue"/>
                          <a:ea typeface="Helvetica Neue"/>
                          <a:cs typeface="Helvetica Neue"/>
                        </a:rPr>
                        <a:t>1</a:t>
                      </a:r>
                    </a:p>
                  </a:txBody>
                  <a:tcPr marL="142875" marR="142875" marT="47625" marB="47625" anchor="ctr">
                    <a:solidFill>
                      <a:srgbClr val="FFFFFF"/>
                    </a:solidFill>
                  </a:tcPr>
                </a:tc>
                <a:tc>
                  <a:txBody>
                    <a:bodyPr/>
                    <a:lstStyle/>
                    <a:p>
                      <a:r>
                        <a:rPr sz="1650" b="0">
                          <a:solidFill>
                            <a:srgbClr val="122C42"/>
                          </a:solidFill>
                          <a:latin typeface="Helvetica Neue"/>
                          <a:ea typeface="Helvetica Neue"/>
                          <a:cs typeface="Helvetica Neue"/>
                        </a:rPr>
                        <a:t>1</a:t>
                      </a:r>
                    </a:p>
                  </a:txBody>
                  <a:tcPr marL="142875" marR="142875" marT="47625" marB="47625" anchor="ctr">
                    <a:solidFill>
                      <a:srgbClr val="FFFFFF"/>
                    </a:solidFill>
                  </a:tcPr>
                </a:tc>
              </a:tr>
              <a:tr h="391886">
                <a:tc>
                  <a:txBody>
                    <a:bodyPr/>
                    <a:lstStyle/>
                    <a:p>
                      <a:r>
                        <a:rPr sz="1650" b="0">
                          <a:solidFill>
                            <a:srgbClr val="122C42"/>
                          </a:solidFill>
                          <a:latin typeface="Helvetica Neue"/>
                          <a:ea typeface="Helvetica Neue"/>
                          <a:cs typeface="Helvetica Neue"/>
                        </a:rPr>
                        <a:t>B yazar</a:t>
                      </a:r>
                    </a:p>
                  </a:txBody>
                  <a:tcPr marL="142875" marR="142875" marT="47625" marB="47625" anchor="ctr">
                    <a:solidFill>
                      <a:srgbClr val="ECF0EC"/>
                    </a:solidFill>
                  </a:tcPr>
                </a:tc>
                <a:tc>
                  <a:txBody>
                    <a:bodyPr/>
                    <a:lstStyle/>
                    <a:p>
                      <a:r>
                        <a:rPr sz="1650" b="0">
                          <a:solidFill>
                            <a:srgbClr val="122C42"/>
                          </a:solidFill>
                          <a:latin typeface="Helvetica Neue"/>
                          <a:ea typeface="Helvetica Neue"/>
                          <a:cs typeface="Helvetica Neue"/>
                        </a:rPr>
                        <a:t>1</a:t>
                      </a:r>
                    </a:p>
                  </a:txBody>
                  <a:tcPr marL="142875" marR="142875" marT="47625" marB="47625" anchor="ctr">
                    <a:solidFill>
                      <a:srgbClr val="ECF0EC"/>
                    </a:solidFill>
                  </a:tcPr>
                </a:tc>
                <a:tc>
                  <a:txBody>
                    <a:bodyPr/>
                    <a:lstStyle/>
                    <a:p>
                      <a:r>
                        <a:rPr sz="1650" b="0">
                          <a:solidFill>
                            <a:srgbClr val="122C42"/>
                          </a:solidFill>
                          <a:latin typeface="Helvetica Neue"/>
                          <a:ea typeface="Helvetica Neue"/>
                          <a:cs typeface="Helvetica Neue"/>
                        </a:rPr>
                        <a:t>1</a:t>
                      </a:r>
                    </a:p>
                  </a:txBody>
                  <a:tcPr marL="142875" marR="142875" marT="47625" marB="47625" anchor="ctr">
                    <a:solidFill>
                      <a:srgbClr val="ECF0EC"/>
                    </a:solidFill>
                  </a:tcPr>
                </a:tc>
                <a:tc>
                  <a:txBody>
                    <a:bodyPr/>
                    <a:lstStyle/>
                    <a:p>
                      <a:r>
                        <a:rPr sz="1650" b="0">
                          <a:solidFill>
                            <a:srgbClr val="122C42"/>
                          </a:solidFill>
                          <a:latin typeface="Helvetica Neue"/>
                          <a:ea typeface="Helvetica Neue"/>
                          <a:cs typeface="Helvetica Neue"/>
                        </a:rPr>
                        <a:t>1</a:t>
                      </a:r>
                    </a:p>
                  </a:txBody>
                  <a:tcPr marL="142875" marR="142875" marT="47625" marB="47625" anchor="ctr">
                    <a:solidFill>
                      <a:srgbClr val="ECF0EC"/>
                    </a:solidFill>
                  </a:tcPr>
                </a:tc>
              </a:tr>
            </a:tbl>
          </a:graphicData>
        </a:graphic>
      </p:graphicFrame>
      <p:sp>
        <p:nvSpPr>
          <p:cNvPr id="5" name="">
            <a:extLst xmlns:a="http://schemas.openxmlformats.org/drawingml/2006/main">
              <a:ext uri="{FF2B5EF4-FFF2-40B4-BE49-F238E27FC236}">
                <a16:creationId xmlns:a16="http://schemas.microsoft.com/office/drawing/2014/main" id="{99A93174-CA45-49A5-8A03-B230B66DE7B9}"/>
              </a:ext>
            </a:extLst>
          </p:cNvPr>
          <p:cNvSpPr>
            <a:spLocks xmlns:a="http://schemas.openxmlformats.org/drawingml/2006/main" noGrp="1"/>
          </p:cNvSpPr>
          <p:nvPr/>
        </p:nvSpPr>
        <p:spPr>
          <a:xfrm xmlns:a="http://schemas.openxmlformats.org/drawingml/2006/main">
            <a:off x="609600" y="5334000"/>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1">
                <a:solidFill>
                  <a:srgbClr val="087E83"/>
                </a:solidFill>
                <a:latin typeface="Helvetica Neue"/>
                <a:ea typeface="Helvetica Neue"/>
                <a:cs typeface="Helvetica Neue"/>
              </a:defRPr>
            </a:pPr>
            <a:r>
              <a:rPr sz="1875" b="1">
                <a:solidFill>
                  <a:srgbClr val="087E83"/>
                </a:solidFill>
                <a:latin typeface="Helvetica Neue"/>
                <a:ea typeface="Helvetica Neue"/>
                <a:cs typeface="Helvetica Neue"/>
              </a:rPr>
              <a:t>Düşün: İki iş bitince amaçlanan 2 yerine neden 1 kaldı?</a:t>
            </a:r>
          </a:p>
        </p:txBody>
      </p:sp>
      <p:sp>
        <p:nvSpPr>
          <p:cNvPr id="6" name="">
            <a:extLst xmlns:a="http://schemas.openxmlformats.org/drawingml/2006/main">
              <a:ext uri="{FF2B5EF4-FFF2-40B4-BE49-F238E27FC236}">
                <a16:creationId xmlns:a16="http://schemas.microsoft.com/office/drawing/2014/main" id="{A22A4ECA-D87D-4CBA-83AF-7739AD61C8A2}"/>
              </a:ext>
            </a:extLst>
          </p:cNvPr>
          <p:cNvSpPr>
            <a:spLocks xmlns:a="http://schemas.openxmlformats.org/drawingml/2006/main" noGrp="1"/>
          </p:cNvSpPr>
          <p:nvPr/>
        </p:nvSpPr>
        <p:spPr>
          <a:xfrm xmlns:a="http://schemas.openxmlformats.org/drawingml/2006/main">
            <a:off x="609600" y="6105525"/>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0">
                <a:solidFill>
                  <a:srgbClr val="C46225"/>
                </a:solidFill>
                <a:latin typeface="Helvetica Neue"/>
                <a:ea typeface="Helvetica Neue"/>
                <a:cs typeface="Helvetica Neue"/>
              </a:defRPr>
            </a:pPr>
            <a:r>
              <a:rPr sz="1500" b="0">
                <a:solidFill>
                  <a:srgbClr val="C46225"/>
                </a:solidFill>
                <a:latin typeface="Helvetica Neue"/>
                <a:ea typeface="Helvetica Neue"/>
                <a:cs typeface="Helvetica Neue"/>
              </a:rPr>
              <a:t>Hayatta: Ortak istek sayacını iki worker artırırken senkronizasyon gerekir.</a:t>
            </a:r>
          </a:p>
        </p:txBody>
      </p:sp>
      <p:sp>
        <p:nvSpPr>
          <p:cNvPr id="7" name="">
            <a:extLst xmlns:a="http://schemas.openxmlformats.org/drawingml/2006/main">
              <a:ext uri="{FF2B5EF4-FFF2-40B4-BE49-F238E27FC236}">
                <a16:creationId xmlns:a16="http://schemas.microsoft.com/office/drawing/2014/main" id="{93923D71-6717-4529-AC51-DBEE40F11147}"/>
              </a:ext>
            </a:extLst>
          </p:cNvPr>
          <p:cNvSpPr>
            <a:spLocks xmlns:a="http://schemas.openxmlformats.org/drawingml/2006/main" noGrp="1"/>
          </p:cNvSpPr>
          <p:nvPr/>
        </p:nvSpPr>
        <p:spPr>
          <a:xfrm xmlns:a="http://schemas.openxmlformats.org/drawingml/2006/main">
            <a:off x="609600" y="64960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4D606A"/>
                </a:solidFill>
                <a:latin typeface="Helvetica Neue"/>
                <a:ea typeface="Helvetica Neue"/>
                <a:cs typeface="Helvetica Neue"/>
              </a:defRPr>
            </a:pPr>
            <a:r>
              <a:rPr sz="1125" b="0">
                <a:solidFill>
                  <a:srgbClr val="4D606A"/>
                </a:solidFill>
                <a:latin typeface="Helvetica Neue"/>
                <a:ea typeface="Helvetica Neue"/>
                <a:cs typeface="Helvetica Neue"/>
              </a:rPr>
              <a:t>CSE513 · İlk hafta / öğrenme pilotu</a:t>
            </a:r>
          </a:p>
        </p:txBody>
      </p:sp>
      <p:sp>
        <p:nvSpPr>
          <p:cNvPr id="8" name="">
            <a:extLst xmlns:a="http://schemas.openxmlformats.org/drawingml/2006/main">
              <a:ext uri="{FF2B5EF4-FFF2-40B4-BE49-F238E27FC236}">
                <a16:creationId xmlns:a16="http://schemas.microsoft.com/office/drawing/2014/main" id="{D7FD21CA-485B-499F-B173-8D57C565B194}"/>
              </a:ext>
            </a:extLst>
          </p:cNvPr>
          <p:cNvSpPr>
            <a:spLocks xmlns:a="http://schemas.openxmlformats.org/drawingml/2006/main" noGrp="1"/>
          </p:cNvSpPr>
          <p:nvPr/>
        </p:nvSpPr>
        <p:spPr>
          <a:xfrm xmlns:a="http://schemas.openxmlformats.org/drawingml/2006/main">
            <a:off x="10572750" y="6457950"/>
            <a:ext cx="1000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087E83"/>
                </a:solidFill>
                <a:latin typeface="Helvetica Neue"/>
                <a:ea typeface="Helvetica Neue"/>
                <a:cs typeface="Helvetica Neue"/>
              </a:defRPr>
            </a:pPr>
            <a:r>
              <a:rPr sz="1350" b="1">
                <a:solidFill>
                  <a:srgbClr val="087E83"/>
                </a:solidFill>
                <a:latin typeface="Helvetica Neue"/>
                <a:ea typeface="Helvetica Neue"/>
                <a:cs typeface="Helvetica Neue"/>
              </a:rPr>
              <a:t>22 / 28</a:t>
            </a:r>
          </a:p>
        </p:txBody>
      </p:sp>
    </p:spTree>
    <p:extLst>
      <p:ext uri="{BB962C8B-B14F-4D97-AF65-F5344CB8AC3E}">
        <p14:creationId xmlns:p14="http://schemas.microsoft.com/office/powerpoint/2010/main" val="2014225889"/>
      </p:ext>
    </p:extLst>
  </p:cSld>
</p:sld>
</file>

<file path=ppt/slides/slide23.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6B95A0C-3D85-48EF-9515-F565EAB4DE4A}"/>
              </a:ext>
            </a:extLst>
          </p:cNvPr>
          <p:cNvSpPr>
            <a:spLocks xmlns:a="http://schemas.openxmlformats.org/drawingml/2006/main" noGrp="1"/>
          </p:cNvSpPr>
          <p:nvPr/>
        </p:nvSpPr>
        <p:spPr>
          <a:xfrm xmlns:a="http://schemas.openxmlformats.org/drawingml/2006/main">
            <a:off x="609600" y="333375"/>
            <a:ext cx="10477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1">
                <a:solidFill>
                  <a:srgbClr val="087E83"/>
                </a:solidFill>
                <a:latin typeface="Helvetica Neue"/>
                <a:ea typeface="Helvetica Neue"/>
                <a:cs typeface="Helvetica Neue"/>
              </a:defRPr>
            </a:pPr>
            <a:r>
              <a:rPr sz="1275" b="1">
                <a:solidFill>
                  <a:srgbClr val="087E83"/>
                </a:solidFill>
                <a:latin typeface="Helvetica Neue"/>
                <a:ea typeface="Helvetica Neue"/>
                <a:cs typeface="Helvetica Neue"/>
              </a:rPr>
              <a:t>03 / PAYLAŞIM VE İLETİŞİM</a:t>
            </a:r>
          </a:p>
        </p:txBody>
      </p:sp>
      <p:sp>
        <p:nvSpPr>
          <p:cNvPr id="2" name="">
            <a:extLst xmlns:a="http://schemas.openxmlformats.org/drawingml/2006/main">
              <a:ext uri="{FF2B5EF4-FFF2-40B4-BE49-F238E27FC236}">
                <a16:creationId xmlns:a16="http://schemas.microsoft.com/office/drawing/2014/main" id="{4BA3E34F-1C06-409B-979C-74804E86D722}"/>
              </a:ext>
            </a:extLst>
          </p:cNvPr>
          <p:cNvSpPr>
            <a:spLocks xmlns:a="http://schemas.openxmlformats.org/drawingml/2006/main" noGrp="1"/>
          </p:cNvSpPr>
          <p:nvPr/>
        </p:nvSpPr>
        <p:spPr>
          <a:xfrm xmlns:a="http://schemas.openxmlformats.org/drawingml/2006/main">
            <a:off x="609600" y="819150"/>
            <a:ext cx="109728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22C42"/>
                </a:solidFill>
                <a:latin typeface="Helvetica Neue"/>
                <a:ea typeface="Helvetica Neue"/>
                <a:cs typeface="Helvetica Neue"/>
              </a:defRPr>
            </a:pPr>
            <a:r>
              <a:rPr sz="3300" b="1">
                <a:solidFill>
                  <a:srgbClr val="122C42"/>
                </a:solidFill>
                <a:latin typeface="Helvetica Neue"/>
                <a:ea typeface="Helvetica Neue"/>
                <a:cs typeface="Helvetica Neue"/>
              </a:rPr>
              <a:t>Paylaşımda sıra, ömür ve sahiplik</a:t>
            </a:r>
          </a:p>
        </p:txBody>
      </p:sp>
      <p:sp>
        <p:nvSpPr>
          <p:cNvPr id="3" name="">
            <a:extLst xmlns:a="http://schemas.openxmlformats.org/drawingml/2006/main">
              <a:ext uri="{FF2B5EF4-FFF2-40B4-BE49-F238E27FC236}">
                <a16:creationId xmlns:a16="http://schemas.microsoft.com/office/drawing/2014/main" id="{0B14CC5F-4C90-4FEB-BDF4-A20E109BBFFD}"/>
              </a:ext>
            </a:extLst>
          </p:cNvPr>
          <p:cNvSpPr>
            <a:spLocks xmlns:a="http://schemas.openxmlformats.org/drawingml/2006/main" noGrp="1"/>
          </p:cNvSpPr>
          <p:nvPr/>
        </p:nvSpPr>
        <p:spPr>
          <a:xfrm xmlns:a="http://schemas.openxmlformats.org/drawingml/2006/main">
            <a:off x="609600" y="1781175"/>
            <a:ext cx="109728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4D606A"/>
                </a:solidFill>
                <a:latin typeface="Helvetica Neue"/>
                <a:ea typeface="Helvetica Neue"/>
                <a:cs typeface="Helvetica Neue"/>
              </a:defRPr>
            </a:pPr>
            <a:r>
              <a:rPr sz="1875" b="0">
                <a:solidFill>
                  <a:srgbClr val="4D606A"/>
                </a:solidFill>
                <a:latin typeface="Helvetica Neue"/>
                <a:ea typeface="Helvetica Neue"/>
                <a:cs typeface="Helvetica Neue"/>
              </a:rPr>
              <a:t>Worker arg nesnesine sonucu yazar. Main sonucu join sonrası okur.</a:t>
            </a:r>
          </a:p>
        </p:txBody>
      </p:sp>
      <p:sp>
        <p:nvSpPr>
          <p:cNvPr id="4" name="">
            <a:extLst xmlns:a="http://schemas.openxmlformats.org/drawingml/2006/main">
              <a:ext uri="{FF2B5EF4-FFF2-40B4-BE49-F238E27FC236}">
                <a16:creationId xmlns:a16="http://schemas.microsoft.com/office/drawing/2014/main" id="{41F08B9C-8AB5-4ED0-9E13-021283F0F6AE}"/>
              </a:ext>
            </a:extLst>
          </p:cNvPr>
          <p:cNvSpPr>
            <a:spLocks xmlns:a="http://schemas.openxmlformats.org/drawingml/2006/main" noGrp="1"/>
          </p:cNvSpPr>
          <p:nvPr/>
        </p:nvSpPr>
        <p:spPr>
          <a:xfrm xmlns:a="http://schemas.openxmlformats.org/drawingml/2006/main">
            <a:off x="819150" y="2667000"/>
            <a:ext cx="10525125" cy="2333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550" b="1">
                <a:solidFill>
                  <a:srgbClr val="122C42"/>
                </a:solidFill>
                <a:latin typeface="Helvetica Neue"/>
                <a:ea typeface="Helvetica Neue"/>
                <a:cs typeface="Helvetica Neue"/>
              </a:defRPr>
            </a:pPr>
            <a:r>
              <a:rPr sz="2550" b="1">
                <a:solidFill>
                  <a:srgbClr val="122C42"/>
                </a:solidFill>
                <a:latin typeface="Helvetica Neue"/>
                <a:ea typeface="Helvetica Neue"/>
                <a:cs typeface="Helvetica Neue"/>
              </a:rPr>
              <a:t>struct job arg = { .input = 7 };</a:t>
            </a:r>
          </a:p>
          <a:p xmlns:a="http://schemas.openxmlformats.org/drawingml/2006/main">
            <a:pPr>
              <a:defRPr sz="2550" b="1">
                <a:solidFill>
                  <a:srgbClr val="122C42"/>
                </a:solidFill>
                <a:latin typeface="Helvetica Neue"/>
                <a:ea typeface="Helvetica Neue"/>
                <a:cs typeface="Helvetica Neue"/>
              </a:defRPr>
            </a:pPr>
            <a:r>
              <a:rPr sz="2550" b="1">
                <a:solidFill>
                  <a:srgbClr val="122C42"/>
                </a:solidFill>
                <a:latin typeface="Helvetica Neue"/>
                <a:ea typeface="Helvetica Neue"/>
                <a:cs typeface="Helvetica Neue"/>
              </a:rPr>
              <a:t>pthread_create(&amp;t, NULL, worker, &amp;arg);</a:t>
            </a:r>
          </a:p>
          <a:p xmlns:a="http://schemas.openxmlformats.org/drawingml/2006/main">
            <a:pPr>
              <a:defRPr sz="2550" b="1">
                <a:solidFill>
                  <a:srgbClr val="122C42"/>
                </a:solidFill>
                <a:latin typeface="Helvetica Neue"/>
                <a:ea typeface="Helvetica Neue"/>
                <a:cs typeface="Helvetica Neue"/>
              </a:defRPr>
            </a:pPr>
            <a:r>
              <a:rPr sz="2550" b="1">
                <a:solidFill>
                  <a:srgbClr val="122C42"/>
                </a:solidFill>
                <a:latin typeface="Helvetica Neue"/>
                <a:ea typeface="Helvetica Neue"/>
                <a:cs typeface="Helvetica Neue"/>
              </a:rPr>
              <a:t>pthread_join(t, NULL);</a:t>
            </a:r>
          </a:p>
          <a:p xmlns:a="http://schemas.openxmlformats.org/drawingml/2006/main">
            <a:pPr>
              <a:defRPr sz="2550" b="1">
                <a:solidFill>
                  <a:srgbClr val="122C42"/>
                </a:solidFill>
                <a:latin typeface="Helvetica Neue"/>
                <a:ea typeface="Helvetica Neue"/>
                <a:cs typeface="Helvetica Neue"/>
              </a:defRPr>
            </a:pPr>
            <a:r>
              <a:rPr sz="2550" b="1">
                <a:solidFill>
                  <a:srgbClr val="122C42"/>
                </a:solidFill>
                <a:latin typeface="Helvetica Neue"/>
                <a:ea typeface="Helvetica Neue"/>
                <a:cs typeface="Helvetica Neue"/>
              </a:rPr>
              <a:t>printf("%d", arg.result);</a:t>
            </a:r>
          </a:p>
        </p:txBody>
      </p:sp>
      <p:sp>
        <p:nvSpPr>
          <p:cNvPr id="5" name="">
            <a:extLst xmlns:a="http://schemas.openxmlformats.org/drawingml/2006/main">
              <a:ext uri="{FF2B5EF4-FFF2-40B4-BE49-F238E27FC236}">
                <a16:creationId xmlns:a16="http://schemas.microsoft.com/office/drawing/2014/main" id="{36014D78-DE89-4687-80C2-E0E8BE212D0C}"/>
              </a:ext>
            </a:extLst>
          </p:cNvPr>
          <p:cNvSpPr>
            <a:spLocks xmlns:a="http://schemas.openxmlformats.org/drawingml/2006/main" noGrp="1"/>
          </p:cNvSpPr>
          <p:nvPr/>
        </p:nvSpPr>
        <p:spPr>
          <a:xfrm xmlns:a="http://schemas.openxmlformats.org/drawingml/2006/main">
            <a:off x="609600" y="5334000"/>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1">
                <a:solidFill>
                  <a:srgbClr val="087E83"/>
                </a:solidFill>
                <a:latin typeface="Helvetica Neue"/>
                <a:ea typeface="Helvetica Neue"/>
                <a:cs typeface="Helvetica Neue"/>
              </a:defRPr>
            </a:pPr>
            <a:r>
              <a:rPr sz="1950" b="1">
                <a:solidFill>
                  <a:srgbClr val="087E83"/>
                </a:solidFill>
                <a:latin typeface="Helvetica Neue"/>
                <a:ea typeface="Helvetica Neue"/>
                <a:cs typeface="Helvetica Neue"/>
              </a:rPr>
              <a:t>Düşün: arg nesnesi worker bitmeden scope dışına çıksa ne bozulur?</a:t>
            </a:r>
          </a:p>
        </p:txBody>
      </p:sp>
      <p:sp>
        <p:nvSpPr>
          <p:cNvPr id="6" name="">
            <a:extLst xmlns:a="http://schemas.openxmlformats.org/drawingml/2006/main">
              <a:ext uri="{FF2B5EF4-FFF2-40B4-BE49-F238E27FC236}">
                <a16:creationId xmlns:a16="http://schemas.microsoft.com/office/drawing/2014/main" id="{360109A1-4C68-479E-AB5E-9C88D40FEF5A}"/>
              </a:ext>
            </a:extLst>
          </p:cNvPr>
          <p:cNvSpPr>
            <a:spLocks xmlns:a="http://schemas.openxmlformats.org/drawingml/2006/main" noGrp="1"/>
          </p:cNvSpPr>
          <p:nvPr/>
        </p:nvSpPr>
        <p:spPr>
          <a:xfrm xmlns:a="http://schemas.openxmlformats.org/drawingml/2006/main">
            <a:off x="609600" y="6105525"/>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0">
                <a:solidFill>
                  <a:srgbClr val="C46225"/>
                </a:solidFill>
                <a:latin typeface="Helvetica Neue"/>
                <a:ea typeface="Helvetica Neue"/>
                <a:cs typeface="Helvetica Neue"/>
              </a:defRPr>
            </a:pPr>
            <a:r>
              <a:rPr sz="1500" b="0">
                <a:solidFill>
                  <a:srgbClr val="C46225"/>
                </a:solidFill>
                <a:latin typeface="Helvetica Neue"/>
                <a:ea typeface="Helvetica Neue"/>
                <a:cs typeface="Helvetica Neue"/>
              </a:rPr>
              <a:t>Hayatta: Serviste iş kuyruğu; sahiplik, erişim sırası ve doluluk kuralları ister.</a:t>
            </a:r>
          </a:p>
        </p:txBody>
      </p:sp>
      <p:sp>
        <p:nvSpPr>
          <p:cNvPr id="7" name="">
            <a:extLst xmlns:a="http://schemas.openxmlformats.org/drawingml/2006/main">
              <a:ext uri="{FF2B5EF4-FFF2-40B4-BE49-F238E27FC236}">
                <a16:creationId xmlns:a16="http://schemas.microsoft.com/office/drawing/2014/main" id="{50171424-DA8C-4E19-AC9E-CAC0138971FE}"/>
              </a:ext>
            </a:extLst>
          </p:cNvPr>
          <p:cNvSpPr>
            <a:spLocks xmlns:a="http://schemas.openxmlformats.org/drawingml/2006/main" noGrp="1"/>
          </p:cNvSpPr>
          <p:nvPr/>
        </p:nvSpPr>
        <p:spPr>
          <a:xfrm xmlns:a="http://schemas.openxmlformats.org/drawingml/2006/main">
            <a:off x="609600" y="64960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4D606A"/>
                </a:solidFill>
                <a:latin typeface="Helvetica Neue"/>
                <a:ea typeface="Helvetica Neue"/>
                <a:cs typeface="Helvetica Neue"/>
              </a:defRPr>
            </a:pPr>
            <a:r>
              <a:rPr sz="1125" b="0">
                <a:solidFill>
                  <a:srgbClr val="4D606A"/>
                </a:solidFill>
                <a:latin typeface="Helvetica Neue"/>
                <a:ea typeface="Helvetica Neue"/>
                <a:cs typeface="Helvetica Neue"/>
              </a:rPr>
              <a:t>CSE513 · İlk hafta / öğrenme pilotu</a:t>
            </a:r>
          </a:p>
        </p:txBody>
      </p:sp>
      <p:sp>
        <p:nvSpPr>
          <p:cNvPr id="8" name="">
            <a:extLst xmlns:a="http://schemas.openxmlformats.org/drawingml/2006/main">
              <a:ext uri="{FF2B5EF4-FFF2-40B4-BE49-F238E27FC236}">
                <a16:creationId xmlns:a16="http://schemas.microsoft.com/office/drawing/2014/main" id="{6C4301D4-BFA7-4B6A-932C-6F030FAC9F82}"/>
              </a:ext>
            </a:extLst>
          </p:cNvPr>
          <p:cNvSpPr>
            <a:spLocks xmlns:a="http://schemas.openxmlformats.org/drawingml/2006/main" noGrp="1"/>
          </p:cNvSpPr>
          <p:nvPr/>
        </p:nvSpPr>
        <p:spPr>
          <a:xfrm xmlns:a="http://schemas.openxmlformats.org/drawingml/2006/main">
            <a:off x="10572750" y="6457950"/>
            <a:ext cx="1000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087E83"/>
                </a:solidFill>
                <a:latin typeface="Helvetica Neue"/>
                <a:ea typeface="Helvetica Neue"/>
                <a:cs typeface="Helvetica Neue"/>
              </a:defRPr>
            </a:pPr>
            <a:r>
              <a:rPr sz="1350" b="1">
                <a:solidFill>
                  <a:srgbClr val="087E83"/>
                </a:solidFill>
                <a:latin typeface="Helvetica Neue"/>
                <a:ea typeface="Helvetica Neue"/>
                <a:cs typeface="Helvetica Neue"/>
              </a:rPr>
              <a:t>23 / 28</a:t>
            </a:r>
          </a:p>
        </p:txBody>
      </p:sp>
    </p:spTree>
    <p:extLst>
      <p:ext uri="{BB962C8B-B14F-4D97-AF65-F5344CB8AC3E}">
        <p14:creationId xmlns:p14="http://schemas.microsoft.com/office/powerpoint/2010/main" val="1658795044"/>
      </p:ext>
    </p:extLst>
  </p:cSld>
</p:sld>
</file>

<file path=ppt/slides/slide24.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45B010F-D834-4B27-B409-3432BF892185}"/>
              </a:ext>
            </a:extLst>
          </p:cNvPr>
          <p:cNvSpPr>
            <a:spLocks xmlns:a="http://schemas.openxmlformats.org/drawingml/2006/main" noGrp="1"/>
          </p:cNvSpPr>
          <p:nvPr/>
        </p:nvSpPr>
        <p:spPr>
          <a:xfrm xmlns:a="http://schemas.openxmlformats.org/drawingml/2006/main">
            <a:off x="609600" y="333375"/>
            <a:ext cx="10477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1">
                <a:solidFill>
                  <a:srgbClr val="087E83"/>
                </a:solidFill>
                <a:latin typeface="Helvetica Neue"/>
                <a:ea typeface="Helvetica Neue"/>
                <a:cs typeface="Helvetica Neue"/>
              </a:defRPr>
            </a:pPr>
            <a:r>
              <a:rPr sz="1275" b="1">
                <a:solidFill>
                  <a:srgbClr val="087E83"/>
                </a:solidFill>
                <a:latin typeface="Helvetica Neue"/>
                <a:ea typeface="Helvetica Neue"/>
                <a:cs typeface="Helvetica Neue"/>
              </a:rPr>
              <a:t>03 / PAYLAŞIM VE İLETİŞİM</a:t>
            </a:r>
          </a:p>
        </p:txBody>
      </p:sp>
      <p:sp>
        <p:nvSpPr>
          <p:cNvPr id="2" name="">
            <a:extLst xmlns:a="http://schemas.openxmlformats.org/drawingml/2006/main">
              <a:ext uri="{FF2B5EF4-FFF2-40B4-BE49-F238E27FC236}">
                <a16:creationId xmlns:a16="http://schemas.microsoft.com/office/drawing/2014/main" id="{E92863BD-5F23-4EE0-8396-91C365B27A99}"/>
              </a:ext>
            </a:extLst>
          </p:cNvPr>
          <p:cNvSpPr>
            <a:spLocks xmlns:a="http://schemas.openxmlformats.org/drawingml/2006/main" noGrp="1"/>
          </p:cNvSpPr>
          <p:nvPr/>
        </p:nvSpPr>
        <p:spPr>
          <a:xfrm xmlns:a="http://schemas.openxmlformats.org/drawingml/2006/main">
            <a:off x="609600" y="819150"/>
            <a:ext cx="109728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22C42"/>
                </a:solidFill>
                <a:latin typeface="Helvetica Neue"/>
                <a:ea typeface="Helvetica Neue"/>
                <a:cs typeface="Helvetica Neue"/>
              </a:defRPr>
            </a:pPr>
            <a:r>
              <a:rPr sz="3300" b="1">
                <a:solidFill>
                  <a:srgbClr val="122C42"/>
                </a:solidFill>
                <a:latin typeface="Helvetica Neue"/>
                <a:ea typeface="Helvetica Neue"/>
                <a:cs typeface="Helvetica Neue"/>
              </a:rPr>
              <a:t>Process’ler arası iletişim</a:t>
            </a:r>
          </a:p>
        </p:txBody>
      </p:sp>
      <p:graphicFrame>
        <p:nvGraphicFramePr>
          <p:cNvPr id="10" name=""/>
          <p:cNvGraphicFramePr/>
          <p:nvPr/>
        </p:nvGraphicFramePr>
        <p:xfrm>
          <a:off xmlns:a="http://schemas.openxmlformats.org/drawingml/2006/main" x="609600" y="1857375"/>
          <a:ext xmlns:a="http://schemas.openxmlformats.org/drawingml/2006/main" cx="10972800" cy="3238500"/>
        </p:xfrm>
        <a:graphic xmlns:a="http://schemas.openxmlformats.org/drawingml/2006/main">
          <a:graphicData uri="http://schemas.openxmlformats.org/drawingml/2006/table">
            <a:tbl>
              <a:tblPr/>
              <a:tblGrid>
                <a:gridCol w="4608576"/>
                <a:gridCol w="6364224"/>
              </a:tblGrid>
              <a:tr h="1079500">
                <a:tc>
                  <a:txBody>
                    <a:bodyPr/>
                    <a:lstStyle/>
                    <a:p>
                      <a:r>
                        <a:rPr sz="1800" b="1">
                          <a:solidFill>
                            <a:srgbClr val="FFFFFF"/>
                          </a:solidFill>
                          <a:latin typeface="Helvetica Neue"/>
                          <a:ea typeface="Helvetica Neue"/>
                          <a:cs typeface="Helvetica Neue"/>
                        </a:rPr>
                        <a:t>Model</a:t>
                      </a:r>
                    </a:p>
                  </a:txBody>
                  <a:tcPr marL="142875" marR="142875" marT="47625" marB="47625" anchor="ctr">
                    <a:solidFill>
                      <a:srgbClr val="122C42"/>
                    </a:solidFill>
                  </a:tcPr>
                </a:tc>
                <a:tc>
                  <a:txBody>
                    <a:bodyPr/>
                    <a:lstStyle/>
                    <a:p>
                      <a:r>
                        <a:rPr sz="1800" b="1">
                          <a:solidFill>
                            <a:srgbClr val="FFFFFF"/>
                          </a:solidFill>
                          <a:latin typeface="Helvetica Neue"/>
                          <a:ea typeface="Helvetica Neue"/>
                          <a:cs typeface="Helvetica Neue"/>
                        </a:rPr>
                        <a:t>Ortak anlaşma</a:t>
                      </a:r>
                    </a:p>
                  </a:txBody>
                  <a:tcPr marL="142875" marR="142875" marT="47625" marB="47625" anchor="ctr">
                    <a:solidFill>
                      <a:srgbClr val="122C42"/>
                    </a:solidFill>
                  </a:tcPr>
                </a:tc>
              </a:tr>
              <a:tr h="1079500">
                <a:tc>
                  <a:txBody>
                    <a:bodyPr/>
                    <a:lstStyle/>
                    <a:p>
                      <a:r>
                        <a:rPr sz="1875" b="0">
                          <a:solidFill>
                            <a:srgbClr val="122C42"/>
                          </a:solidFill>
                          <a:latin typeface="Helvetica Neue"/>
                          <a:ea typeface="Helvetica Neue"/>
                          <a:cs typeface="Helvetica Neue"/>
                        </a:rPr>
                        <a:t>Shared memory</a:t>
                      </a:r>
                    </a:p>
                  </a:txBody>
                  <a:tcPr marL="142875" marR="142875" marT="47625" marB="47625" anchor="ctr">
                    <a:solidFill>
                      <a:srgbClr val="FFFFFF"/>
                    </a:solidFill>
                  </a:tcPr>
                </a:tc>
                <a:tc>
                  <a:txBody>
                    <a:bodyPr/>
                    <a:lstStyle/>
                    <a:p>
                      <a:r>
                        <a:rPr sz="1875" b="0">
                          <a:solidFill>
                            <a:srgbClr val="122C42"/>
                          </a:solidFill>
                          <a:latin typeface="Helvetica Neue"/>
                          <a:ea typeface="Helvetica Neue"/>
                          <a:cs typeface="Helvetica Neue"/>
                        </a:rPr>
                        <a:t>Ortak bölge, veri düzeni, sahiplik ve erişim sırası</a:t>
                      </a:r>
                    </a:p>
                  </a:txBody>
                  <a:tcPr marL="142875" marR="142875" marT="47625" marB="47625" anchor="ctr">
                    <a:solidFill>
                      <a:srgbClr val="FFFFFF"/>
                    </a:solidFill>
                  </a:tcPr>
                </a:tc>
              </a:tr>
              <a:tr h="1079500">
                <a:tc>
                  <a:txBody>
                    <a:bodyPr/>
                    <a:lstStyle/>
                    <a:p>
                      <a:r>
                        <a:rPr sz="1875" b="0">
                          <a:solidFill>
                            <a:srgbClr val="122C42"/>
                          </a:solidFill>
                          <a:latin typeface="Helvetica Neue"/>
                          <a:ea typeface="Helvetica Neue"/>
                          <a:cs typeface="Helvetica Neue"/>
                        </a:rPr>
                        <a:t>Message passing</a:t>
                      </a:r>
                    </a:p>
                  </a:txBody>
                  <a:tcPr marL="142875" marR="142875" marT="47625" marB="47625" anchor="ctr">
                    <a:solidFill>
                      <a:srgbClr val="ECF0EC"/>
                    </a:solidFill>
                  </a:tcPr>
                </a:tc>
                <a:tc>
                  <a:txBody>
                    <a:bodyPr/>
                    <a:lstStyle/>
                    <a:p>
                      <a:r>
                        <a:rPr sz="1875" b="0">
                          <a:solidFill>
                            <a:srgbClr val="122C42"/>
                          </a:solidFill>
                          <a:latin typeface="Helvetica Neue"/>
                          <a:ea typeface="Helvetica Neue"/>
                          <a:cs typeface="Helvetica Neue"/>
                        </a:rPr>
                        <a:t>Arayüz, veri formatı, hata ve tamamlanma kuralları</a:t>
                      </a:r>
                    </a:p>
                  </a:txBody>
                  <a:tcPr marL="142875" marR="142875" marT="47625" marB="47625" anchor="ctr">
                    <a:solidFill>
                      <a:srgbClr val="ECF0EC"/>
                    </a:solidFill>
                  </a:tcPr>
                </a:tc>
              </a:tr>
            </a:tbl>
          </a:graphicData>
        </a:graphic>
      </p:graphicFrame>
      <p:sp>
        <p:nvSpPr>
          <p:cNvPr id="4" name="">
            <a:extLst xmlns:a="http://schemas.openxmlformats.org/drawingml/2006/main">
              <a:ext uri="{FF2B5EF4-FFF2-40B4-BE49-F238E27FC236}">
                <a16:creationId xmlns:a16="http://schemas.microsoft.com/office/drawing/2014/main" id="{AD0E109B-8EDA-4ED2-83E3-38C60FD9AAE2}"/>
              </a:ext>
            </a:extLst>
          </p:cNvPr>
          <p:cNvSpPr>
            <a:spLocks xmlns:a="http://schemas.openxmlformats.org/drawingml/2006/main" noGrp="1"/>
          </p:cNvSpPr>
          <p:nvPr/>
        </p:nvSpPr>
        <p:spPr>
          <a:xfrm xmlns:a="http://schemas.openxmlformats.org/drawingml/2006/main">
            <a:off x="609600" y="5334000"/>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1">
                <a:solidFill>
                  <a:srgbClr val="087E83"/>
                </a:solidFill>
                <a:latin typeface="Helvetica Neue"/>
                <a:ea typeface="Helvetica Neue"/>
                <a:cs typeface="Helvetica Neue"/>
              </a:defRPr>
            </a:pPr>
            <a:r>
              <a:rPr sz="1875" b="1">
                <a:solidFill>
                  <a:srgbClr val="087E83"/>
                </a:solidFill>
                <a:latin typeface="Helvetica Neue"/>
                <a:ea typeface="Helvetica Neue"/>
                <a:cs typeface="Helvetica Neue"/>
              </a:rPr>
              <a:t>Düşün: Shared memory bölgesine ready bayrağı koymak yeterli mi?</a:t>
            </a:r>
          </a:p>
        </p:txBody>
      </p:sp>
      <p:sp>
        <p:nvSpPr>
          <p:cNvPr id="5" name="">
            <a:extLst xmlns:a="http://schemas.openxmlformats.org/drawingml/2006/main">
              <a:ext uri="{FF2B5EF4-FFF2-40B4-BE49-F238E27FC236}">
                <a16:creationId xmlns:a16="http://schemas.microsoft.com/office/drawing/2014/main" id="{1A13D3FC-79B0-4A72-A710-DD9C2905449D}"/>
              </a:ext>
            </a:extLst>
          </p:cNvPr>
          <p:cNvSpPr>
            <a:spLocks xmlns:a="http://schemas.openxmlformats.org/drawingml/2006/main" noGrp="1"/>
          </p:cNvSpPr>
          <p:nvPr/>
        </p:nvSpPr>
        <p:spPr>
          <a:xfrm xmlns:a="http://schemas.openxmlformats.org/drawingml/2006/main">
            <a:off x="609600" y="6105525"/>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0">
                <a:solidFill>
                  <a:srgbClr val="C46225"/>
                </a:solidFill>
                <a:latin typeface="Helvetica Neue"/>
                <a:ea typeface="Helvetica Neue"/>
                <a:cs typeface="Helvetica Neue"/>
              </a:defRPr>
            </a:pPr>
            <a:r>
              <a:rPr sz="1500" b="0">
                <a:solidFill>
                  <a:srgbClr val="C46225"/>
                </a:solidFill>
                <a:latin typeface="Helvetica Neue"/>
                <a:ea typeface="Helvetica Neue"/>
                <a:cs typeface="Helvetica Neue"/>
              </a:rPr>
              <a:t>Hayatta: Tarayıcı process’leri, IPC protokolleriyle birlikte çalışır.</a:t>
            </a:r>
          </a:p>
        </p:txBody>
      </p:sp>
      <p:sp>
        <p:nvSpPr>
          <p:cNvPr id="6" name="">
            <a:extLst xmlns:a="http://schemas.openxmlformats.org/drawingml/2006/main">
              <a:ext uri="{FF2B5EF4-FFF2-40B4-BE49-F238E27FC236}">
                <a16:creationId xmlns:a16="http://schemas.microsoft.com/office/drawing/2014/main" id="{0BA7D7D8-9BB5-4ECF-9343-245E6A037014}"/>
              </a:ext>
            </a:extLst>
          </p:cNvPr>
          <p:cNvSpPr>
            <a:spLocks xmlns:a="http://schemas.openxmlformats.org/drawingml/2006/main" noGrp="1"/>
          </p:cNvSpPr>
          <p:nvPr/>
        </p:nvSpPr>
        <p:spPr>
          <a:xfrm xmlns:a="http://schemas.openxmlformats.org/drawingml/2006/main">
            <a:off x="609600" y="64960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4D606A"/>
                </a:solidFill>
                <a:latin typeface="Helvetica Neue"/>
                <a:ea typeface="Helvetica Neue"/>
                <a:cs typeface="Helvetica Neue"/>
              </a:defRPr>
            </a:pPr>
            <a:r>
              <a:rPr sz="1125" b="0">
                <a:solidFill>
                  <a:srgbClr val="4D606A"/>
                </a:solidFill>
                <a:latin typeface="Helvetica Neue"/>
                <a:ea typeface="Helvetica Neue"/>
                <a:cs typeface="Helvetica Neue"/>
              </a:rPr>
              <a:t>CSE513 · İlk hafta / öğrenme pilotu</a:t>
            </a:r>
          </a:p>
        </p:txBody>
      </p:sp>
      <p:sp>
        <p:nvSpPr>
          <p:cNvPr id="7" name="">
            <a:extLst xmlns:a="http://schemas.openxmlformats.org/drawingml/2006/main">
              <a:ext uri="{FF2B5EF4-FFF2-40B4-BE49-F238E27FC236}">
                <a16:creationId xmlns:a16="http://schemas.microsoft.com/office/drawing/2014/main" id="{AC14689C-0A5E-47AE-ACD2-AD7AC5D980E5}"/>
              </a:ext>
            </a:extLst>
          </p:cNvPr>
          <p:cNvSpPr>
            <a:spLocks xmlns:a="http://schemas.openxmlformats.org/drawingml/2006/main" noGrp="1"/>
          </p:cNvSpPr>
          <p:nvPr/>
        </p:nvSpPr>
        <p:spPr>
          <a:xfrm xmlns:a="http://schemas.openxmlformats.org/drawingml/2006/main">
            <a:off x="10572750" y="6457950"/>
            <a:ext cx="1000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087E83"/>
                </a:solidFill>
                <a:latin typeface="Helvetica Neue"/>
                <a:ea typeface="Helvetica Neue"/>
                <a:cs typeface="Helvetica Neue"/>
              </a:defRPr>
            </a:pPr>
            <a:r>
              <a:rPr sz="1350" b="1">
                <a:solidFill>
                  <a:srgbClr val="087E83"/>
                </a:solidFill>
                <a:latin typeface="Helvetica Neue"/>
                <a:ea typeface="Helvetica Neue"/>
                <a:cs typeface="Helvetica Neue"/>
              </a:rPr>
              <a:t>24 / 28</a:t>
            </a:r>
          </a:p>
        </p:txBody>
      </p:sp>
    </p:spTree>
    <p:extLst>
      <p:ext uri="{BB962C8B-B14F-4D97-AF65-F5344CB8AC3E}">
        <p14:creationId xmlns:p14="http://schemas.microsoft.com/office/powerpoint/2010/main" val="889816415"/>
      </p:ext>
    </p:extLst>
  </p:cSld>
</p:sld>
</file>

<file path=ppt/slides/slide25.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DE988D7B-8465-4573-B335-88EC145DB174}"/>
              </a:ext>
            </a:extLst>
          </p:cNvPr>
          <p:cNvSpPr>
            <a:spLocks xmlns:a="http://schemas.openxmlformats.org/drawingml/2006/main" noGrp="1"/>
          </p:cNvSpPr>
          <p:nvPr/>
        </p:nvSpPr>
        <p:spPr>
          <a:xfrm xmlns:a="http://schemas.openxmlformats.org/drawingml/2006/main">
            <a:off x="609600" y="333375"/>
            <a:ext cx="10477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1">
                <a:solidFill>
                  <a:srgbClr val="087E83"/>
                </a:solidFill>
                <a:latin typeface="Helvetica Neue"/>
                <a:ea typeface="Helvetica Neue"/>
                <a:cs typeface="Helvetica Neue"/>
              </a:defRPr>
            </a:pPr>
            <a:r>
              <a:rPr sz="1275" b="1">
                <a:solidFill>
                  <a:srgbClr val="087E83"/>
                </a:solidFill>
                <a:latin typeface="Helvetica Neue"/>
                <a:ea typeface="Helvetica Neue"/>
                <a:cs typeface="Helvetica Neue"/>
              </a:rPr>
              <a:t>03 / PAYLAŞIM VE İLETİŞİM</a:t>
            </a:r>
          </a:p>
        </p:txBody>
      </p:sp>
      <p:sp>
        <p:nvSpPr>
          <p:cNvPr id="2" name="">
            <a:extLst xmlns:a="http://schemas.openxmlformats.org/drawingml/2006/main">
              <a:ext uri="{FF2B5EF4-FFF2-40B4-BE49-F238E27FC236}">
                <a16:creationId xmlns:a16="http://schemas.microsoft.com/office/drawing/2014/main" id="{E4946BE3-354B-4300-9941-C5FA229B6CEB}"/>
              </a:ext>
            </a:extLst>
          </p:cNvPr>
          <p:cNvSpPr>
            <a:spLocks xmlns:a="http://schemas.openxmlformats.org/drawingml/2006/main" noGrp="1"/>
          </p:cNvSpPr>
          <p:nvPr/>
        </p:nvSpPr>
        <p:spPr>
          <a:xfrm xmlns:a="http://schemas.openxmlformats.org/drawingml/2006/main">
            <a:off x="609600" y="819150"/>
            <a:ext cx="109728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22C42"/>
                </a:solidFill>
                <a:latin typeface="Helvetica Neue"/>
                <a:ea typeface="Helvetica Neue"/>
                <a:cs typeface="Helvetica Neue"/>
              </a:defRPr>
            </a:pPr>
            <a:r>
              <a:rPr sz="3300" b="1">
                <a:solidFill>
                  <a:srgbClr val="122C42"/>
                </a:solidFill>
                <a:latin typeface="Helvetica Neue"/>
                <a:ea typeface="Helvetica Neue"/>
                <a:cs typeface="Helvetica Neue"/>
              </a:rPr>
              <a:t>Pipe: bayt akışı ve bekleme</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10dbcd41be6f425a"/>
          <a:stretch xmlns:a="http://schemas.openxmlformats.org/drawingml/2006/main"/>
        </p:blipFill>
        <p:spPr>
          <a:xfrm xmlns:a="http://schemas.openxmlformats.org/drawingml/2006/main">
            <a:off x="5179219" y="1809750"/>
            <a:ext cx="6215063" cy="414337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9D0FA5C5-306D-4DDD-857A-6C5CCF23364B}"/>
              </a:ext>
            </a:extLst>
          </p:cNvPr>
          <p:cNvSpPr>
            <a:spLocks xmlns:a="http://schemas.openxmlformats.org/drawingml/2006/main" noGrp="1"/>
          </p:cNvSpPr>
          <p:nvPr/>
        </p:nvSpPr>
        <p:spPr>
          <a:xfrm xmlns:a="http://schemas.openxmlformats.org/drawingml/2006/main">
            <a:off x="609600" y="2047875"/>
            <a:ext cx="3857625"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1">
                <a:solidFill>
                  <a:srgbClr val="122C42"/>
                </a:solidFill>
                <a:latin typeface="Helvetica Neue"/>
                <a:ea typeface="Helvetica Neue"/>
                <a:cs typeface="Helvetica Neue"/>
              </a:defRPr>
            </a:pPr>
            <a:r>
              <a:rPr sz="2025" b="1">
                <a:solidFill>
                  <a:srgbClr val="122C42"/>
                </a:solidFill>
                <a:latin typeface="Helvetica Neue"/>
                <a:ea typeface="Helvetica Neue"/>
                <a:cs typeface="Helvetica Neue"/>
              </a:rPr>
              <a:t>Boş + açık writer: blocking read bekleyebilir.</a:t>
            </a:r>
          </a:p>
        </p:txBody>
      </p:sp>
      <p:sp>
        <p:nvSpPr>
          <p:cNvPr id="5" name="">
            <a:extLst xmlns:a="http://schemas.openxmlformats.org/drawingml/2006/main">
              <a:ext uri="{FF2B5EF4-FFF2-40B4-BE49-F238E27FC236}">
                <a16:creationId xmlns:a16="http://schemas.microsoft.com/office/drawing/2014/main" id="{A76B735D-697B-4A97-89AC-B7A8A3FE3914}"/>
              </a:ext>
            </a:extLst>
          </p:cNvPr>
          <p:cNvSpPr>
            <a:spLocks xmlns:a="http://schemas.openxmlformats.org/drawingml/2006/main" noGrp="1"/>
          </p:cNvSpPr>
          <p:nvPr/>
        </p:nvSpPr>
        <p:spPr>
          <a:xfrm xmlns:a="http://schemas.openxmlformats.org/drawingml/2006/main">
            <a:off x="609600" y="3143250"/>
            <a:ext cx="3857625"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0">
                <a:solidFill>
                  <a:srgbClr val="122C42"/>
                </a:solidFill>
                <a:latin typeface="Helvetica Neue"/>
                <a:ea typeface="Helvetica Neue"/>
                <a:cs typeface="Helvetica Neue"/>
              </a:defRPr>
            </a:pPr>
            <a:r>
              <a:rPr sz="2025" b="0">
                <a:solidFill>
                  <a:srgbClr val="122C42"/>
                </a:solidFill>
                <a:latin typeface="Helvetica Neue"/>
                <a:ea typeface="Helvetica Neue"/>
                <a:cs typeface="Helvetica Neue"/>
              </a:rPr>
              <a:t>Tüm writers kapalı + buffer boş: EOF.</a:t>
            </a:r>
          </a:p>
        </p:txBody>
      </p:sp>
      <p:sp>
        <p:nvSpPr>
          <p:cNvPr id="6" name="">
            <a:extLst xmlns:a="http://schemas.openxmlformats.org/drawingml/2006/main">
              <a:ext uri="{FF2B5EF4-FFF2-40B4-BE49-F238E27FC236}">
                <a16:creationId xmlns:a16="http://schemas.microsoft.com/office/drawing/2014/main" id="{7A04CF04-E657-4555-A22C-7CCECD066EFE}"/>
              </a:ext>
            </a:extLst>
          </p:cNvPr>
          <p:cNvSpPr>
            <a:spLocks xmlns:a="http://schemas.openxmlformats.org/drawingml/2006/main" noGrp="1"/>
          </p:cNvSpPr>
          <p:nvPr/>
        </p:nvSpPr>
        <p:spPr>
          <a:xfrm xmlns:a="http://schemas.openxmlformats.org/drawingml/2006/main">
            <a:off x="609600" y="4238625"/>
            <a:ext cx="3857625"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0">
                <a:solidFill>
                  <a:srgbClr val="122C42"/>
                </a:solidFill>
                <a:latin typeface="Helvetica Neue"/>
                <a:ea typeface="Helvetica Neue"/>
                <a:cs typeface="Helvetica Neue"/>
              </a:defRPr>
            </a:pPr>
            <a:r>
              <a:rPr sz="2025" b="0">
                <a:solidFill>
                  <a:srgbClr val="122C42"/>
                </a:solidFill>
                <a:latin typeface="Helvetica Neue"/>
                <a:ea typeface="Helvetica Neue"/>
                <a:cs typeface="Helvetica Neue"/>
              </a:rPr>
              <a:t>Buffer dolu: blocking writer yer bekleyebilir.</a:t>
            </a:r>
          </a:p>
        </p:txBody>
      </p:sp>
      <p:sp>
        <p:nvSpPr>
          <p:cNvPr id="7" name="">
            <a:extLst xmlns:a="http://schemas.openxmlformats.org/drawingml/2006/main">
              <a:ext uri="{FF2B5EF4-FFF2-40B4-BE49-F238E27FC236}">
                <a16:creationId xmlns:a16="http://schemas.microsoft.com/office/drawing/2014/main" id="{16FA444A-2ACA-41F7-B021-7DAE91ACCD25}"/>
              </a:ext>
            </a:extLst>
          </p:cNvPr>
          <p:cNvSpPr>
            <a:spLocks xmlns:a="http://schemas.openxmlformats.org/drawingml/2006/main" noGrp="1"/>
          </p:cNvSpPr>
          <p:nvPr/>
        </p:nvSpPr>
        <p:spPr>
          <a:xfrm xmlns:a="http://schemas.openxmlformats.org/drawingml/2006/main">
            <a:off x="609600" y="6105525"/>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0">
                <a:solidFill>
                  <a:srgbClr val="C46225"/>
                </a:solidFill>
                <a:latin typeface="Helvetica Neue"/>
                <a:ea typeface="Helvetica Neue"/>
                <a:cs typeface="Helvetica Neue"/>
              </a:defRPr>
            </a:pPr>
            <a:r>
              <a:rPr sz="1500" b="0">
                <a:solidFill>
                  <a:srgbClr val="C46225"/>
                </a:solidFill>
                <a:latin typeface="Helvetica Neue"/>
                <a:ea typeface="Helvetica Neue"/>
                <a:cs typeface="Helvetica Neue"/>
              </a:rPr>
              <a:t>Hayatta: Canlı log akışında producer açıkken EOF gelmemesi beklenebilir.</a:t>
            </a:r>
          </a:p>
        </p:txBody>
      </p:sp>
      <p:sp>
        <p:nvSpPr>
          <p:cNvPr id="8" name="">
            <a:extLst xmlns:a="http://schemas.openxmlformats.org/drawingml/2006/main">
              <a:ext uri="{FF2B5EF4-FFF2-40B4-BE49-F238E27FC236}">
                <a16:creationId xmlns:a16="http://schemas.microsoft.com/office/drawing/2014/main" id="{E3FABCAC-CC9F-4093-BD2C-6272F4958BC0}"/>
              </a:ext>
            </a:extLst>
          </p:cNvPr>
          <p:cNvSpPr>
            <a:spLocks xmlns:a="http://schemas.openxmlformats.org/drawingml/2006/main" noGrp="1"/>
          </p:cNvSpPr>
          <p:nvPr/>
        </p:nvSpPr>
        <p:spPr>
          <a:xfrm xmlns:a="http://schemas.openxmlformats.org/drawingml/2006/main">
            <a:off x="609600" y="64960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4D606A"/>
                </a:solidFill>
                <a:latin typeface="Helvetica Neue"/>
                <a:ea typeface="Helvetica Neue"/>
                <a:cs typeface="Helvetica Neue"/>
              </a:defRPr>
            </a:pPr>
            <a:r>
              <a:rPr sz="1125" b="0">
                <a:solidFill>
                  <a:srgbClr val="4D606A"/>
                </a:solidFill>
                <a:latin typeface="Helvetica Neue"/>
                <a:ea typeface="Helvetica Neue"/>
                <a:cs typeface="Helvetica Neue"/>
              </a:rPr>
              <a:t>CSE513 · İlk hafta / öğrenme pilotu</a:t>
            </a:r>
          </a:p>
        </p:txBody>
      </p:sp>
      <p:sp>
        <p:nvSpPr>
          <p:cNvPr id="9" name="">
            <a:extLst xmlns:a="http://schemas.openxmlformats.org/drawingml/2006/main">
              <a:ext uri="{FF2B5EF4-FFF2-40B4-BE49-F238E27FC236}">
                <a16:creationId xmlns:a16="http://schemas.microsoft.com/office/drawing/2014/main" id="{049D2CCA-09AA-45CE-8648-87D8C7526C45}"/>
              </a:ext>
            </a:extLst>
          </p:cNvPr>
          <p:cNvSpPr>
            <a:spLocks xmlns:a="http://schemas.openxmlformats.org/drawingml/2006/main" noGrp="1"/>
          </p:cNvSpPr>
          <p:nvPr/>
        </p:nvSpPr>
        <p:spPr>
          <a:xfrm xmlns:a="http://schemas.openxmlformats.org/drawingml/2006/main">
            <a:off x="10572750" y="6457950"/>
            <a:ext cx="1000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087E83"/>
                </a:solidFill>
                <a:latin typeface="Helvetica Neue"/>
                <a:ea typeface="Helvetica Neue"/>
                <a:cs typeface="Helvetica Neue"/>
              </a:defRPr>
            </a:pPr>
            <a:r>
              <a:rPr sz="1350" b="1">
                <a:solidFill>
                  <a:srgbClr val="087E83"/>
                </a:solidFill>
                <a:latin typeface="Helvetica Neue"/>
                <a:ea typeface="Helvetica Neue"/>
                <a:cs typeface="Helvetica Neue"/>
              </a:rPr>
              <a:t>25 / 28</a:t>
            </a:r>
          </a:p>
        </p:txBody>
      </p:sp>
    </p:spTree>
    <p:extLst>
      <p:ext uri="{BB962C8B-B14F-4D97-AF65-F5344CB8AC3E}">
        <p14:creationId xmlns:p14="http://schemas.microsoft.com/office/powerpoint/2010/main" val="1684398182"/>
      </p:ext>
    </p:extLst>
  </p:cSld>
</p:sld>
</file>

<file path=ppt/slides/slide26.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1136224-FFB6-4EC5-94DF-005E0E1BBED7}"/>
              </a:ext>
            </a:extLst>
          </p:cNvPr>
          <p:cNvSpPr>
            <a:spLocks xmlns:a="http://schemas.openxmlformats.org/drawingml/2006/main" noGrp="1"/>
          </p:cNvSpPr>
          <p:nvPr/>
        </p:nvSpPr>
        <p:spPr>
          <a:xfrm xmlns:a="http://schemas.openxmlformats.org/drawingml/2006/main">
            <a:off x="609600" y="333375"/>
            <a:ext cx="10477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1">
                <a:solidFill>
                  <a:srgbClr val="087E83"/>
                </a:solidFill>
                <a:latin typeface="Helvetica Neue"/>
                <a:ea typeface="Helvetica Neue"/>
                <a:cs typeface="Helvetica Neue"/>
              </a:defRPr>
            </a:pPr>
            <a:r>
              <a:rPr sz="1275" b="1">
                <a:solidFill>
                  <a:srgbClr val="087E83"/>
                </a:solidFill>
                <a:latin typeface="Helvetica Neue"/>
                <a:ea typeface="Helvetica Neue"/>
                <a:cs typeface="Helvetica Neue"/>
              </a:rPr>
              <a:t>03 / PAYLAŞIM VE İLETİŞİM</a:t>
            </a:r>
          </a:p>
        </p:txBody>
      </p:sp>
      <p:sp>
        <p:nvSpPr>
          <p:cNvPr id="2" name="">
            <a:extLst xmlns:a="http://schemas.openxmlformats.org/drawingml/2006/main">
              <a:ext uri="{FF2B5EF4-FFF2-40B4-BE49-F238E27FC236}">
                <a16:creationId xmlns:a16="http://schemas.microsoft.com/office/drawing/2014/main" id="{25AC6E61-0D3F-43B8-B288-161586AA52AA}"/>
              </a:ext>
            </a:extLst>
          </p:cNvPr>
          <p:cNvSpPr>
            <a:spLocks xmlns:a="http://schemas.openxmlformats.org/drawingml/2006/main" noGrp="1"/>
          </p:cNvSpPr>
          <p:nvPr/>
        </p:nvSpPr>
        <p:spPr>
          <a:xfrm xmlns:a="http://schemas.openxmlformats.org/drawingml/2006/main">
            <a:off x="609600" y="819150"/>
            <a:ext cx="109728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22C42"/>
                </a:solidFill>
                <a:latin typeface="Helvetica Neue"/>
                <a:ea typeface="Helvetica Neue"/>
                <a:cs typeface="Helvetica Neue"/>
              </a:defRPr>
            </a:pPr>
            <a:r>
              <a:rPr sz="3300" b="1">
                <a:solidFill>
                  <a:srgbClr val="122C42"/>
                </a:solidFill>
                <a:latin typeface="Helvetica Neue"/>
                <a:ea typeface="Helvetica Neue"/>
                <a:cs typeface="Helvetica Neue"/>
              </a:rPr>
              <a:t>Hata dedektifi: okur neden bitmedi?</a:t>
            </a:r>
          </a:p>
        </p:txBody>
      </p:sp>
      <p:sp>
        <p:nvSpPr>
          <p:cNvPr id="3" name="">
            <a:extLst xmlns:a="http://schemas.openxmlformats.org/drawingml/2006/main">
              <a:ext uri="{FF2B5EF4-FFF2-40B4-BE49-F238E27FC236}">
                <a16:creationId xmlns:a16="http://schemas.microsoft.com/office/drawing/2014/main" id="{1D5AED35-1EA0-4777-B003-4CA5BBFA5048}"/>
              </a:ext>
            </a:extLst>
          </p:cNvPr>
          <p:cNvSpPr>
            <a:spLocks xmlns:a="http://schemas.openxmlformats.org/drawingml/2006/main" noGrp="1"/>
          </p:cNvSpPr>
          <p:nvPr/>
        </p:nvSpPr>
        <p:spPr>
          <a:xfrm xmlns:a="http://schemas.openxmlformats.org/drawingml/2006/main">
            <a:off x="609600" y="1695450"/>
            <a:ext cx="10953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4D606A"/>
                </a:solidFill>
                <a:latin typeface="Helvetica Neue"/>
                <a:ea typeface="Helvetica Neue"/>
                <a:cs typeface="Helvetica Neue"/>
              </a:defRPr>
            </a:pPr>
            <a:r>
              <a:rPr sz="1875" b="0">
                <a:solidFill>
                  <a:srgbClr val="4D606A"/>
                </a:solidFill>
                <a:latin typeface="Helvetica Neue"/>
                <a:ea typeface="Helvetica Neue"/>
                <a:cs typeface="Helvetica Neue"/>
              </a:rPr>
              <a:t>Child yazdı ve write ucunu kapattı. Parent buffer’ı tüketti.</a:t>
            </a:r>
          </a:p>
        </p:txBody>
      </p:sp>
      <p:graphicFrame>
        <p:nvGraphicFramePr>
          <p:cNvPr id="12" name=""/>
          <p:cNvGraphicFramePr/>
          <p:nvPr/>
        </p:nvGraphicFramePr>
        <p:xfrm>
          <a:off xmlns:a="http://schemas.openxmlformats.org/drawingml/2006/main" x="609600" y="2352675"/>
          <a:ext xmlns:a="http://schemas.openxmlformats.org/drawingml/2006/main" cx="10972800" cy="2743200"/>
        </p:xfrm>
        <a:graphic xmlns:a="http://schemas.openxmlformats.org/drawingml/2006/main">
          <a:graphicData uri="http://schemas.openxmlformats.org/drawingml/2006/table">
            <a:tbl>
              <a:tblPr/>
              <a:tblGrid>
                <a:gridCol w="3950208"/>
                <a:gridCol w="3072384"/>
                <a:gridCol w="3950208"/>
              </a:tblGrid>
              <a:tr h="914400">
                <a:tc>
                  <a:txBody>
                    <a:bodyPr/>
                    <a:lstStyle/>
                    <a:p>
                      <a:r>
                        <a:rPr sz="1800" b="1">
                          <a:solidFill>
                            <a:srgbClr val="FFFFFF"/>
                          </a:solidFill>
                          <a:latin typeface="Helvetica Neue"/>
                          <a:ea typeface="Helvetica Neue"/>
                          <a:cs typeface="Helvetica Neue"/>
                        </a:rPr>
                        <a:t>Katılımcı</a:t>
                      </a:r>
                    </a:p>
                  </a:txBody>
                  <a:tcPr marL="142875" marR="142875" marT="47625" marB="47625" anchor="ctr">
                    <a:solidFill>
                      <a:srgbClr val="122C42"/>
                    </a:solidFill>
                  </a:tcPr>
                </a:tc>
                <a:tc>
                  <a:txBody>
                    <a:bodyPr/>
                    <a:lstStyle/>
                    <a:p>
                      <a:r>
                        <a:rPr sz="1800" b="1">
                          <a:solidFill>
                            <a:srgbClr val="FFFFFF"/>
                          </a:solidFill>
                          <a:latin typeface="Helvetica Neue"/>
                          <a:ea typeface="Helvetica Neue"/>
                          <a:cs typeface="Helvetica Neue"/>
                        </a:rPr>
                        <a:t>Read ucu</a:t>
                      </a:r>
                    </a:p>
                  </a:txBody>
                  <a:tcPr marL="142875" marR="142875" marT="47625" marB="47625" anchor="ctr">
                    <a:solidFill>
                      <a:srgbClr val="122C42"/>
                    </a:solidFill>
                  </a:tcPr>
                </a:tc>
                <a:tc>
                  <a:txBody>
                    <a:bodyPr/>
                    <a:lstStyle/>
                    <a:p>
                      <a:r>
                        <a:rPr sz="1800" b="1">
                          <a:solidFill>
                            <a:srgbClr val="FFFFFF"/>
                          </a:solidFill>
                          <a:latin typeface="Helvetica Neue"/>
                          <a:ea typeface="Helvetica Neue"/>
                          <a:cs typeface="Helvetica Neue"/>
                        </a:rPr>
                        <a:t>Write ucu</a:t>
                      </a:r>
                    </a:p>
                  </a:txBody>
                  <a:tcPr marL="142875" marR="142875" marT="47625" marB="47625" anchor="ctr">
                    <a:solidFill>
                      <a:srgbClr val="122C42"/>
                    </a:solidFill>
                  </a:tcPr>
                </a:tc>
              </a:tr>
              <a:tr h="914400">
                <a:tc>
                  <a:txBody>
                    <a:bodyPr/>
                    <a:lstStyle/>
                    <a:p>
                      <a:r>
                        <a:rPr sz="1875" b="0">
                          <a:solidFill>
                            <a:srgbClr val="122C42"/>
                          </a:solidFill>
                          <a:latin typeface="Helvetica Neue"/>
                          <a:ea typeface="Helvetica Neue"/>
                          <a:cs typeface="Helvetica Neue"/>
                        </a:rPr>
                        <a:t>Parent</a:t>
                      </a:r>
                    </a:p>
                  </a:txBody>
                  <a:tcPr marL="142875" marR="142875" marT="47625" marB="47625" anchor="ctr">
                    <a:solidFill>
                      <a:srgbClr val="FFFFFF"/>
                    </a:solidFill>
                  </a:tcPr>
                </a:tc>
                <a:tc>
                  <a:txBody>
                    <a:bodyPr/>
                    <a:lstStyle/>
                    <a:p>
                      <a:r>
                        <a:rPr sz="1875" b="0">
                          <a:solidFill>
                            <a:srgbClr val="122C42"/>
                          </a:solidFill>
                          <a:latin typeface="Helvetica Neue"/>
                          <a:ea typeface="Helvetica Neue"/>
                          <a:cs typeface="Helvetica Neue"/>
                        </a:rPr>
                        <a:t>Açık</a:t>
                      </a:r>
                    </a:p>
                  </a:txBody>
                  <a:tcPr marL="142875" marR="142875" marT="47625" marB="47625" anchor="ctr">
                    <a:solidFill>
                      <a:srgbClr val="FFFFFF"/>
                    </a:solidFill>
                  </a:tcPr>
                </a:tc>
                <a:tc>
                  <a:txBody>
                    <a:bodyPr/>
                    <a:lstStyle/>
                    <a:p>
                      <a:r>
                        <a:rPr sz="1875" b="0">
                          <a:solidFill>
                            <a:srgbClr val="122C42"/>
                          </a:solidFill>
                          <a:latin typeface="Helvetica Neue"/>
                          <a:ea typeface="Helvetica Neue"/>
                          <a:cs typeface="Helvetica Neue"/>
                        </a:rPr>
                        <a:t>Açık</a:t>
                      </a:r>
                    </a:p>
                  </a:txBody>
                  <a:tcPr marL="142875" marR="142875" marT="47625" marB="47625" anchor="ctr">
                    <a:solidFill>
                      <a:srgbClr val="FFFFFF"/>
                    </a:solidFill>
                  </a:tcPr>
                </a:tc>
              </a:tr>
              <a:tr h="914400">
                <a:tc>
                  <a:txBody>
                    <a:bodyPr/>
                    <a:lstStyle/>
                    <a:p>
                      <a:r>
                        <a:rPr sz="1875" b="0">
                          <a:solidFill>
                            <a:srgbClr val="122C42"/>
                          </a:solidFill>
                          <a:latin typeface="Helvetica Neue"/>
                          <a:ea typeface="Helvetica Neue"/>
                          <a:cs typeface="Helvetica Neue"/>
                        </a:rPr>
                        <a:t>Child</a:t>
                      </a:r>
                    </a:p>
                  </a:txBody>
                  <a:tcPr marL="142875" marR="142875" marT="47625" marB="47625" anchor="ctr">
                    <a:solidFill>
                      <a:srgbClr val="ECF0EC"/>
                    </a:solidFill>
                  </a:tcPr>
                </a:tc>
                <a:tc>
                  <a:txBody>
                    <a:bodyPr/>
                    <a:lstStyle/>
                    <a:p>
                      <a:r>
                        <a:rPr sz="1875" b="0">
                          <a:solidFill>
                            <a:srgbClr val="122C42"/>
                          </a:solidFill>
                          <a:latin typeface="Helvetica Neue"/>
                          <a:ea typeface="Helvetica Neue"/>
                          <a:cs typeface="Helvetica Neue"/>
                        </a:rPr>
                        <a:t>Kapalı</a:t>
                      </a:r>
                    </a:p>
                  </a:txBody>
                  <a:tcPr marL="142875" marR="142875" marT="47625" marB="47625" anchor="ctr">
                    <a:solidFill>
                      <a:srgbClr val="ECF0EC"/>
                    </a:solidFill>
                  </a:tcPr>
                </a:tc>
                <a:tc>
                  <a:txBody>
                    <a:bodyPr/>
                    <a:lstStyle/>
                    <a:p>
                      <a:r>
                        <a:rPr sz="1875" b="0">
                          <a:solidFill>
                            <a:srgbClr val="122C42"/>
                          </a:solidFill>
                          <a:latin typeface="Helvetica Neue"/>
                          <a:ea typeface="Helvetica Neue"/>
                          <a:cs typeface="Helvetica Neue"/>
                        </a:rPr>
                        <a:t>Kapalı</a:t>
                      </a:r>
                    </a:p>
                  </a:txBody>
                  <a:tcPr marL="142875" marR="142875" marT="47625" marB="47625" anchor="ctr">
                    <a:solidFill>
                      <a:srgbClr val="ECF0EC"/>
                    </a:solidFill>
                  </a:tcPr>
                </a:tc>
              </a:tr>
            </a:tbl>
          </a:graphicData>
        </a:graphic>
      </p:graphicFrame>
      <p:sp>
        <p:nvSpPr>
          <p:cNvPr id="5" name="">
            <a:extLst xmlns:a="http://schemas.openxmlformats.org/drawingml/2006/main">
              <a:ext uri="{FF2B5EF4-FFF2-40B4-BE49-F238E27FC236}">
                <a16:creationId xmlns:a16="http://schemas.microsoft.com/office/drawing/2014/main" id="{DA3623C6-C427-40CE-93B8-BB6BAEB44D0A}"/>
              </a:ext>
            </a:extLst>
          </p:cNvPr>
          <p:cNvSpPr>
            <a:spLocks xmlns:a="http://schemas.openxmlformats.org/drawingml/2006/main" noGrp="1"/>
          </p:cNvSpPr>
          <p:nvPr/>
        </p:nvSpPr>
        <p:spPr>
          <a:xfrm xmlns:a="http://schemas.openxmlformats.org/drawingml/2006/main">
            <a:off x="609600" y="5334000"/>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1">
                <a:solidFill>
                  <a:srgbClr val="087E83"/>
                </a:solidFill>
                <a:latin typeface="Helvetica Neue"/>
                <a:ea typeface="Helvetica Neue"/>
                <a:cs typeface="Helvetica Neue"/>
              </a:defRPr>
            </a:pPr>
            <a:r>
              <a:rPr sz="1875" b="1">
                <a:solidFill>
                  <a:srgbClr val="087E83"/>
                </a:solidFill>
                <a:latin typeface="Helvetica Neue"/>
                <a:ea typeface="Helvetica Neue"/>
                <a:cs typeface="Helvetica Neue"/>
              </a:rPr>
              <a:t>Düşün: Sonraki blocking read neden EOF görmüyor? Hangi ucu kapatmalısın?</a:t>
            </a:r>
          </a:p>
        </p:txBody>
      </p:sp>
      <p:sp>
        <p:nvSpPr>
          <p:cNvPr id="6" name="">
            <a:extLst xmlns:a="http://schemas.openxmlformats.org/drawingml/2006/main">
              <a:ext uri="{FF2B5EF4-FFF2-40B4-BE49-F238E27FC236}">
                <a16:creationId xmlns:a16="http://schemas.microsoft.com/office/drawing/2014/main" id="{E5A649DA-4F9F-4234-87D2-E5DD7B4BC150}"/>
              </a:ext>
            </a:extLst>
          </p:cNvPr>
          <p:cNvSpPr>
            <a:spLocks xmlns:a="http://schemas.openxmlformats.org/drawingml/2006/main" noGrp="1"/>
          </p:cNvSpPr>
          <p:nvPr/>
        </p:nvSpPr>
        <p:spPr>
          <a:xfrm xmlns:a="http://schemas.openxmlformats.org/drawingml/2006/main">
            <a:off x="609600" y="6105525"/>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0">
                <a:solidFill>
                  <a:srgbClr val="C46225"/>
                </a:solidFill>
                <a:latin typeface="Helvetica Neue"/>
                <a:ea typeface="Helvetica Neue"/>
                <a:cs typeface="Helvetica Neue"/>
              </a:defRPr>
            </a:pPr>
            <a:r>
              <a:rPr sz="1500" b="0">
                <a:solidFill>
                  <a:srgbClr val="C46225"/>
                </a:solidFill>
                <a:latin typeface="Helvetica Neue"/>
                <a:ea typeface="Helvetica Neue"/>
                <a:cs typeface="Helvetica Neue"/>
              </a:rPr>
              <a:t>Hayatta: Açık unutulan writer, export aracının bitiş bekleyişini uzatabilir.</a:t>
            </a:r>
          </a:p>
        </p:txBody>
      </p:sp>
      <p:sp>
        <p:nvSpPr>
          <p:cNvPr id="7" name="">
            <a:extLst xmlns:a="http://schemas.openxmlformats.org/drawingml/2006/main">
              <a:ext uri="{FF2B5EF4-FFF2-40B4-BE49-F238E27FC236}">
                <a16:creationId xmlns:a16="http://schemas.microsoft.com/office/drawing/2014/main" id="{96DFEE02-97CF-40E1-9F28-ED1B9539D1C6}"/>
              </a:ext>
            </a:extLst>
          </p:cNvPr>
          <p:cNvSpPr>
            <a:spLocks xmlns:a="http://schemas.openxmlformats.org/drawingml/2006/main" noGrp="1"/>
          </p:cNvSpPr>
          <p:nvPr/>
        </p:nvSpPr>
        <p:spPr>
          <a:xfrm xmlns:a="http://schemas.openxmlformats.org/drawingml/2006/main">
            <a:off x="609600" y="64960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4D606A"/>
                </a:solidFill>
                <a:latin typeface="Helvetica Neue"/>
                <a:ea typeface="Helvetica Neue"/>
                <a:cs typeface="Helvetica Neue"/>
              </a:defRPr>
            </a:pPr>
            <a:r>
              <a:rPr sz="1125" b="0">
                <a:solidFill>
                  <a:srgbClr val="4D606A"/>
                </a:solidFill>
                <a:latin typeface="Helvetica Neue"/>
                <a:ea typeface="Helvetica Neue"/>
                <a:cs typeface="Helvetica Neue"/>
              </a:rPr>
              <a:t>CSE513 · İlk hafta / öğrenme pilotu</a:t>
            </a:r>
          </a:p>
        </p:txBody>
      </p:sp>
      <p:sp>
        <p:nvSpPr>
          <p:cNvPr id="8" name="">
            <a:extLst xmlns:a="http://schemas.openxmlformats.org/drawingml/2006/main">
              <a:ext uri="{FF2B5EF4-FFF2-40B4-BE49-F238E27FC236}">
                <a16:creationId xmlns:a16="http://schemas.microsoft.com/office/drawing/2014/main" id="{C4223E76-D80E-44EF-B4A0-E904099A54B2}"/>
              </a:ext>
            </a:extLst>
          </p:cNvPr>
          <p:cNvSpPr>
            <a:spLocks xmlns:a="http://schemas.openxmlformats.org/drawingml/2006/main" noGrp="1"/>
          </p:cNvSpPr>
          <p:nvPr/>
        </p:nvSpPr>
        <p:spPr>
          <a:xfrm xmlns:a="http://schemas.openxmlformats.org/drawingml/2006/main">
            <a:off x="10572750" y="6457950"/>
            <a:ext cx="1000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087E83"/>
                </a:solidFill>
                <a:latin typeface="Helvetica Neue"/>
                <a:ea typeface="Helvetica Neue"/>
                <a:cs typeface="Helvetica Neue"/>
              </a:defRPr>
            </a:pPr>
            <a:r>
              <a:rPr sz="1350" b="1">
                <a:solidFill>
                  <a:srgbClr val="087E83"/>
                </a:solidFill>
                <a:latin typeface="Helvetica Neue"/>
                <a:ea typeface="Helvetica Neue"/>
                <a:cs typeface="Helvetica Neue"/>
              </a:rPr>
              <a:t>26 / 28</a:t>
            </a:r>
          </a:p>
        </p:txBody>
      </p:sp>
    </p:spTree>
    <p:extLst>
      <p:ext uri="{BB962C8B-B14F-4D97-AF65-F5344CB8AC3E}">
        <p14:creationId xmlns:p14="http://schemas.microsoft.com/office/powerpoint/2010/main" val="1750030193"/>
      </p:ext>
    </p:extLst>
  </p:cSld>
</p:sld>
</file>

<file path=ppt/slides/slide27.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5E3842C-8BE2-44CC-B328-4DD8E6810FC2}"/>
              </a:ext>
            </a:extLst>
          </p:cNvPr>
          <p:cNvSpPr>
            <a:spLocks xmlns:a="http://schemas.openxmlformats.org/drawingml/2006/main" noGrp="1"/>
          </p:cNvSpPr>
          <p:nvPr/>
        </p:nvSpPr>
        <p:spPr>
          <a:xfrm xmlns:a="http://schemas.openxmlformats.org/drawingml/2006/main">
            <a:off x="609600" y="333375"/>
            <a:ext cx="10477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1">
                <a:solidFill>
                  <a:srgbClr val="087E83"/>
                </a:solidFill>
                <a:latin typeface="Helvetica Neue"/>
                <a:ea typeface="Helvetica Neue"/>
                <a:cs typeface="Helvetica Neue"/>
              </a:defRPr>
            </a:pPr>
            <a:r>
              <a:rPr sz="1275" b="1">
                <a:solidFill>
                  <a:srgbClr val="087E83"/>
                </a:solidFill>
                <a:latin typeface="Helvetica Neue"/>
                <a:ea typeface="Helvetica Neue"/>
                <a:cs typeface="Helvetica Neue"/>
              </a:rPr>
              <a:t>04 / DENE VE AÇIKLA</a:t>
            </a:r>
          </a:p>
        </p:txBody>
      </p:sp>
      <p:sp>
        <p:nvSpPr>
          <p:cNvPr id="2" name="">
            <a:extLst xmlns:a="http://schemas.openxmlformats.org/drawingml/2006/main">
              <a:ext uri="{FF2B5EF4-FFF2-40B4-BE49-F238E27FC236}">
                <a16:creationId xmlns:a16="http://schemas.microsoft.com/office/drawing/2014/main" id="{4944122A-0670-4A49-893A-BBE81CC6FB22}"/>
              </a:ext>
            </a:extLst>
          </p:cNvPr>
          <p:cNvSpPr>
            <a:spLocks xmlns:a="http://schemas.openxmlformats.org/drawingml/2006/main" noGrp="1"/>
          </p:cNvSpPr>
          <p:nvPr/>
        </p:nvSpPr>
        <p:spPr>
          <a:xfrm xmlns:a="http://schemas.openxmlformats.org/drawingml/2006/main">
            <a:off x="609600" y="819150"/>
            <a:ext cx="109728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22C42"/>
                </a:solidFill>
                <a:latin typeface="Helvetica Neue"/>
                <a:ea typeface="Helvetica Neue"/>
                <a:cs typeface="Helvetica Neue"/>
              </a:defRPr>
            </a:pPr>
            <a:r>
              <a:rPr sz="3300" b="1">
                <a:solidFill>
                  <a:srgbClr val="122C42"/>
                </a:solidFill>
                <a:latin typeface="Helvetica Neue"/>
                <a:ea typeface="Helvetica Neue"/>
                <a:cs typeface="Helvetica Neue"/>
              </a:rPr>
              <a:t>Mini laboratuvar</a:t>
            </a:r>
          </a:p>
        </p:txBody>
      </p:sp>
      <p:sp>
        <p:nvSpPr>
          <p:cNvPr id="3" name="">
            <a:extLst xmlns:a="http://schemas.openxmlformats.org/drawingml/2006/main">
              <a:ext uri="{FF2B5EF4-FFF2-40B4-BE49-F238E27FC236}">
                <a16:creationId xmlns:a16="http://schemas.microsoft.com/office/drawing/2014/main" id="{81FC33E7-B926-4223-8824-6364D5213953}"/>
              </a:ext>
            </a:extLst>
          </p:cNvPr>
          <p:cNvSpPr>
            <a:spLocks xmlns:a="http://schemas.openxmlformats.org/drawingml/2006/main" noGrp="1"/>
          </p:cNvSpPr>
          <p:nvPr/>
        </p:nvSpPr>
        <p:spPr>
          <a:xfrm xmlns:a="http://schemas.openxmlformats.org/drawingml/2006/main">
            <a:off x="609600" y="1781175"/>
            <a:ext cx="109728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4D606A"/>
                </a:solidFill>
                <a:latin typeface="Helvetica Neue"/>
                <a:ea typeface="Helvetica Neue"/>
                <a:cs typeface="Helvetica Neue"/>
              </a:defRPr>
            </a:pPr>
            <a:r>
              <a:rPr sz="1875" b="0">
                <a:solidFill>
                  <a:srgbClr val="4D606A"/>
                </a:solidFill>
                <a:latin typeface="Helvetica Neue"/>
                <a:ea typeface="Helvetica Neue"/>
                <a:cs typeface="Helvetica Neue"/>
              </a:rPr>
              <a:t>Her deney: önce tahmin, sonra gözlem, ardından teknik gerekçe.</a:t>
            </a:r>
          </a:p>
        </p:txBody>
      </p:sp>
      <p:sp>
        <p:nvSpPr>
          <p:cNvPr id="4" name="">
            <a:extLst xmlns:a="http://schemas.openxmlformats.org/drawingml/2006/main">
              <a:ext uri="{FF2B5EF4-FFF2-40B4-BE49-F238E27FC236}">
                <a16:creationId xmlns:a16="http://schemas.microsoft.com/office/drawing/2014/main" id="{91EB1321-0D75-4138-B467-7763D98F8467}"/>
              </a:ext>
            </a:extLst>
          </p:cNvPr>
          <p:cNvSpPr>
            <a:spLocks xmlns:a="http://schemas.openxmlformats.org/drawingml/2006/main" noGrp="1"/>
          </p:cNvSpPr>
          <p:nvPr/>
        </p:nvSpPr>
        <p:spPr>
          <a:xfrm xmlns:a="http://schemas.openxmlformats.org/drawingml/2006/main">
            <a:off x="819150" y="2667000"/>
            <a:ext cx="10525125" cy="2333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1">
                <a:solidFill>
                  <a:srgbClr val="122C42"/>
                </a:solidFill>
                <a:latin typeface="Helvetica Neue"/>
                <a:ea typeface="Helvetica Neue"/>
                <a:cs typeface="Helvetica Neue"/>
              </a:defRPr>
            </a:pPr>
            <a:r>
              <a:rPr sz="2175" b="1">
                <a:solidFill>
                  <a:srgbClr val="122C42"/>
                </a:solidFill>
                <a:latin typeface="Helvetica Neue"/>
                <a:ea typeface="Helvetica Neue"/>
                <a:cs typeface="Helvetica Neue"/>
              </a:rPr>
              <a:t>sleep 20 &amp;</a:t>
            </a:r>
          </a:p>
          <a:p xmlns:a="http://schemas.openxmlformats.org/drawingml/2006/main">
            <a:pPr>
              <a:defRPr sz="2175" b="1">
                <a:solidFill>
                  <a:srgbClr val="122C42"/>
                </a:solidFill>
                <a:latin typeface="Helvetica Neue"/>
                <a:ea typeface="Helvetica Neue"/>
                <a:cs typeface="Helvetica Neue"/>
              </a:defRPr>
            </a:pPr>
            <a:r>
              <a:rPr sz="2175" b="1">
                <a:solidFill>
                  <a:srgbClr val="122C42"/>
                </a:solidFill>
                <a:latin typeface="Helvetica Neue"/>
                <a:ea typeface="Helvetica Neue"/>
                <a:cs typeface="Helvetica Neue"/>
              </a:rPr>
              <a:t>demo_pid=$!</a:t>
            </a:r>
          </a:p>
          <a:p xmlns:a="http://schemas.openxmlformats.org/drawingml/2006/main">
            <a:pPr>
              <a:defRPr sz="2175" b="1">
                <a:solidFill>
                  <a:srgbClr val="122C42"/>
                </a:solidFill>
                <a:latin typeface="Helvetica Neue"/>
                <a:ea typeface="Helvetica Neue"/>
                <a:cs typeface="Helvetica Neue"/>
              </a:defRPr>
            </a:pPr>
            <a:r>
              <a:rPr sz="2175" b="1">
                <a:solidFill>
                  <a:srgbClr val="122C42"/>
                </a:solidFill>
                <a:latin typeface="Helvetica Neue"/>
                <a:ea typeface="Helvetica Neue"/>
                <a:cs typeface="Helvetica Neue"/>
              </a:rPr>
              <a:t>ps -o pid,ppid,stat,comm -p "$demo_pid"</a:t>
            </a:r>
          </a:p>
          <a:p xmlns:a="http://schemas.openxmlformats.org/drawingml/2006/main">
            <a:pPr>
              <a:defRPr sz="2175" b="1">
                <a:solidFill>
                  <a:srgbClr val="122C42"/>
                </a:solidFill>
                <a:latin typeface="Helvetica Neue"/>
                <a:ea typeface="Helvetica Neue"/>
                <a:cs typeface="Helvetica Neue"/>
              </a:defRPr>
            </a:pPr>
            <a:r>
              <a:rPr sz="2175" b="1">
                <a:solidFill>
                  <a:srgbClr val="122C42"/>
                </a:solidFill>
                <a:latin typeface="Helvetica Neue"/>
                <a:ea typeface="Helvetica Neue"/>
                <a:cs typeface="Helvetica Neue"/>
              </a:rPr>
              <a:t>wait "$demo_pid"</a:t>
            </a:r>
          </a:p>
          <a:p xmlns:a="http://schemas.openxmlformats.org/drawingml/2006/main">
            <a:r>
              <a:t/>
            </a:r>
          </a:p>
          <a:p xmlns:a="http://schemas.openxmlformats.org/drawingml/2006/main">
            <a:pPr>
              <a:defRPr sz="2175" b="1">
                <a:solidFill>
                  <a:srgbClr val="122C42"/>
                </a:solidFill>
                <a:latin typeface="Helvetica Neue"/>
                <a:ea typeface="Helvetica Neue"/>
                <a:cs typeface="Helvetica Neue"/>
              </a:defRPr>
            </a:pPr>
            <a:r>
              <a:rPr sz="2175" b="1">
                <a:solidFill>
                  <a:srgbClr val="122C42"/>
                </a:solidFill>
                <a:latin typeface="Helvetica Neue"/>
                <a:ea typeface="Helvetica Neue"/>
                <a:cs typeface="Helvetica Neue"/>
              </a:rPr>
              <a:t>seq 2 | wc -l</a:t>
            </a:r>
          </a:p>
        </p:txBody>
      </p:sp>
      <p:sp>
        <p:nvSpPr>
          <p:cNvPr id="5" name="">
            <a:extLst xmlns:a="http://schemas.openxmlformats.org/drawingml/2006/main">
              <a:ext uri="{FF2B5EF4-FFF2-40B4-BE49-F238E27FC236}">
                <a16:creationId xmlns:a16="http://schemas.microsoft.com/office/drawing/2014/main" id="{FB1390BE-5E64-45FB-8512-8276EA7F6122}"/>
              </a:ext>
            </a:extLst>
          </p:cNvPr>
          <p:cNvSpPr>
            <a:spLocks xmlns:a="http://schemas.openxmlformats.org/drawingml/2006/main" noGrp="1"/>
          </p:cNvSpPr>
          <p:nvPr/>
        </p:nvSpPr>
        <p:spPr>
          <a:xfrm xmlns:a="http://schemas.openxmlformats.org/drawingml/2006/main">
            <a:off x="609600" y="5667375"/>
            <a:ext cx="10972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0">
                <a:solidFill>
                  <a:srgbClr val="4D606A"/>
                </a:solidFill>
                <a:latin typeface="Helvetica Neue"/>
                <a:ea typeface="Helvetica Neue"/>
                <a:cs typeface="Helvetica Neue"/>
              </a:defRPr>
            </a:pPr>
            <a:r>
              <a:rPr sz="1725" b="0">
                <a:solidFill>
                  <a:srgbClr val="4D606A"/>
                </a:solidFill>
                <a:latin typeface="Helvetica Neue"/>
                <a:ea typeface="Helvetica Neue"/>
                <a:cs typeface="Helvetica Neue"/>
              </a:rPr>
              <a:t>Hedef: Ubuntu/Linux. STAT anlık görüntüdür, bütün yürütme izi değildir.</a:t>
            </a:r>
          </a:p>
        </p:txBody>
      </p:sp>
      <p:sp>
        <p:nvSpPr>
          <p:cNvPr id="6" name="">
            <a:extLst xmlns:a="http://schemas.openxmlformats.org/drawingml/2006/main">
              <a:ext uri="{FF2B5EF4-FFF2-40B4-BE49-F238E27FC236}">
                <a16:creationId xmlns:a16="http://schemas.microsoft.com/office/drawing/2014/main" id="{A5C1965A-CD2E-4CA0-81CC-6E33DEBBEC61}"/>
              </a:ext>
            </a:extLst>
          </p:cNvPr>
          <p:cNvSpPr>
            <a:spLocks xmlns:a="http://schemas.openxmlformats.org/drawingml/2006/main" noGrp="1"/>
          </p:cNvSpPr>
          <p:nvPr/>
        </p:nvSpPr>
        <p:spPr>
          <a:xfrm xmlns:a="http://schemas.openxmlformats.org/drawingml/2006/main">
            <a:off x="609600" y="64960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4D606A"/>
                </a:solidFill>
                <a:latin typeface="Helvetica Neue"/>
                <a:ea typeface="Helvetica Neue"/>
                <a:cs typeface="Helvetica Neue"/>
              </a:defRPr>
            </a:pPr>
            <a:r>
              <a:rPr sz="1125" b="0">
                <a:solidFill>
                  <a:srgbClr val="4D606A"/>
                </a:solidFill>
                <a:latin typeface="Helvetica Neue"/>
                <a:ea typeface="Helvetica Neue"/>
                <a:cs typeface="Helvetica Neue"/>
              </a:rPr>
              <a:t>CSE513 · İlk hafta / öğrenme pilotu</a:t>
            </a:r>
          </a:p>
        </p:txBody>
      </p:sp>
      <p:sp>
        <p:nvSpPr>
          <p:cNvPr id="7" name="">
            <a:extLst xmlns:a="http://schemas.openxmlformats.org/drawingml/2006/main">
              <a:ext uri="{FF2B5EF4-FFF2-40B4-BE49-F238E27FC236}">
                <a16:creationId xmlns:a16="http://schemas.microsoft.com/office/drawing/2014/main" id="{25801CAF-867D-4EF5-A10A-357A86A5633E}"/>
              </a:ext>
            </a:extLst>
          </p:cNvPr>
          <p:cNvSpPr>
            <a:spLocks xmlns:a="http://schemas.openxmlformats.org/drawingml/2006/main" noGrp="1"/>
          </p:cNvSpPr>
          <p:nvPr/>
        </p:nvSpPr>
        <p:spPr>
          <a:xfrm xmlns:a="http://schemas.openxmlformats.org/drawingml/2006/main">
            <a:off x="10572750" y="6457950"/>
            <a:ext cx="1000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087E83"/>
                </a:solidFill>
                <a:latin typeface="Helvetica Neue"/>
                <a:ea typeface="Helvetica Neue"/>
                <a:cs typeface="Helvetica Neue"/>
              </a:defRPr>
            </a:pPr>
            <a:r>
              <a:rPr sz="1350" b="1">
                <a:solidFill>
                  <a:srgbClr val="087E83"/>
                </a:solidFill>
                <a:latin typeface="Helvetica Neue"/>
                <a:ea typeface="Helvetica Neue"/>
                <a:cs typeface="Helvetica Neue"/>
              </a:rPr>
              <a:t>27 / 28</a:t>
            </a:r>
          </a:p>
        </p:txBody>
      </p:sp>
    </p:spTree>
    <p:extLst>
      <p:ext uri="{BB962C8B-B14F-4D97-AF65-F5344CB8AC3E}">
        <p14:creationId xmlns:p14="http://schemas.microsoft.com/office/powerpoint/2010/main" val="877002096"/>
      </p:ext>
    </p:extLst>
  </p:cSld>
</p:sld>
</file>

<file path=ppt/slides/slide28.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1C48B0B3-2C3C-4FA1-9234-BF802A7EC32F}"/>
              </a:ext>
            </a:extLst>
          </p:cNvPr>
          <p:cNvSpPr>
            <a:spLocks xmlns:a="http://schemas.openxmlformats.org/drawingml/2006/main" noGrp="1"/>
          </p:cNvSpPr>
          <p:nvPr/>
        </p:nvSpPr>
        <p:spPr>
          <a:xfrm xmlns:a="http://schemas.openxmlformats.org/drawingml/2006/main">
            <a:off x="609600" y="333375"/>
            <a:ext cx="10477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1">
                <a:solidFill>
                  <a:srgbClr val="087E83"/>
                </a:solidFill>
                <a:latin typeface="Helvetica Neue"/>
                <a:ea typeface="Helvetica Neue"/>
                <a:cs typeface="Helvetica Neue"/>
              </a:defRPr>
            </a:pPr>
            <a:r>
              <a:rPr sz="1275" b="1">
                <a:solidFill>
                  <a:srgbClr val="087E83"/>
                </a:solidFill>
                <a:latin typeface="Helvetica Neue"/>
                <a:ea typeface="Helvetica Neue"/>
                <a:cs typeface="Helvetica Neue"/>
              </a:rPr>
              <a:t>04 / DENE VE AÇIKLA</a:t>
            </a:r>
          </a:p>
        </p:txBody>
      </p:sp>
      <p:sp>
        <p:nvSpPr>
          <p:cNvPr id="2" name="">
            <a:extLst xmlns:a="http://schemas.openxmlformats.org/drawingml/2006/main">
              <a:ext uri="{FF2B5EF4-FFF2-40B4-BE49-F238E27FC236}">
                <a16:creationId xmlns:a16="http://schemas.microsoft.com/office/drawing/2014/main" id="{59710088-2B38-445E-820F-B56A6E3B1148}"/>
              </a:ext>
            </a:extLst>
          </p:cNvPr>
          <p:cNvSpPr>
            <a:spLocks xmlns:a="http://schemas.openxmlformats.org/drawingml/2006/main" noGrp="1"/>
          </p:cNvSpPr>
          <p:nvPr/>
        </p:nvSpPr>
        <p:spPr>
          <a:xfrm xmlns:a="http://schemas.openxmlformats.org/drawingml/2006/main">
            <a:off x="609600" y="819150"/>
            <a:ext cx="109728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22C42"/>
                </a:solidFill>
                <a:latin typeface="Helvetica Neue"/>
                <a:ea typeface="Helvetica Neue"/>
                <a:cs typeface="Helvetica Neue"/>
              </a:defRPr>
            </a:pPr>
            <a:r>
              <a:rPr sz="3300" b="1">
                <a:solidFill>
                  <a:srgbClr val="122C42"/>
                </a:solidFill>
                <a:latin typeface="Helvetica Neue"/>
                <a:ea typeface="Helvetica Neue"/>
                <a:cs typeface="Helvetica Neue"/>
              </a:rPr>
              <a:t>Çıkış bileti</a:t>
            </a:r>
          </a:p>
        </p:txBody>
      </p:sp>
      <p:sp>
        <p:nvSpPr>
          <p:cNvPr id="3" name="">
            <a:extLst xmlns:a="http://schemas.openxmlformats.org/drawingml/2006/main">
              <a:ext uri="{FF2B5EF4-FFF2-40B4-BE49-F238E27FC236}">
                <a16:creationId xmlns:a16="http://schemas.microsoft.com/office/drawing/2014/main" id="{E6125E8E-CD78-485B-8BF6-4159A73A88C0}"/>
              </a:ext>
            </a:extLst>
          </p:cNvPr>
          <p:cNvSpPr>
            <a:spLocks xmlns:a="http://schemas.openxmlformats.org/drawingml/2006/main" noGrp="1"/>
          </p:cNvSpPr>
          <p:nvPr/>
        </p:nvSpPr>
        <p:spPr>
          <a:xfrm xmlns:a="http://schemas.openxmlformats.org/drawingml/2006/main">
            <a:off x="609600" y="1905000"/>
            <a:ext cx="4762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01</a:t>
            </a:r>
          </a:p>
        </p:txBody>
      </p:sp>
      <p:sp>
        <p:nvSpPr>
          <p:cNvPr id="4" name="">
            <a:extLst xmlns:a="http://schemas.openxmlformats.org/drawingml/2006/main">
              <a:ext uri="{FF2B5EF4-FFF2-40B4-BE49-F238E27FC236}">
                <a16:creationId xmlns:a16="http://schemas.microsoft.com/office/drawing/2014/main" id="{AA1B7B0D-A270-42E0-99AA-4F8BEFD3213C}"/>
              </a:ext>
            </a:extLst>
          </p:cNvPr>
          <p:cNvSpPr>
            <a:spLocks xmlns:a="http://schemas.openxmlformats.org/drawingml/2006/main" noGrp="1"/>
          </p:cNvSpPr>
          <p:nvPr/>
        </p:nvSpPr>
        <p:spPr>
          <a:xfrm xmlns:a="http://schemas.openxmlformats.org/drawingml/2006/main">
            <a:off x="1190625" y="1905000"/>
            <a:ext cx="103917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22C42"/>
                </a:solidFill>
                <a:latin typeface="Helvetica Neue"/>
                <a:ea typeface="Helvetica Neue"/>
                <a:cs typeface="Helvetica Neue"/>
              </a:defRPr>
            </a:pPr>
            <a:r>
              <a:rPr sz="2100" b="0">
                <a:solidFill>
                  <a:srgbClr val="122C42"/>
                </a:solidFill>
                <a:latin typeface="Helvetica Neue"/>
                <a:ea typeface="Helvetica Neue"/>
                <a:cs typeface="Helvetica Neue"/>
              </a:rPr>
              <a:t>Boş CPU bir ağ yanıtı bekleyişini bitirir mi?</a:t>
            </a:r>
          </a:p>
        </p:txBody>
      </p:sp>
      <p:sp>
        <p:nvSpPr>
          <p:cNvPr id="5" name="">
            <a:extLst xmlns:a="http://schemas.openxmlformats.org/drawingml/2006/main">
              <a:ext uri="{FF2B5EF4-FFF2-40B4-BE49-F238E27FC236}">
                <a16:creationId xmlns:a16="http://schemas.microsoft.com/office/drawing/2014/main" id="{7959C503-5ED8-460D-B5C1-C12AAB2B6C80}"/>
              </a:ext>
            </a:extLst>
          </p:cNvPr>
          <p:cNvSpPr>
            <a:spLocks xmlns:a="http://schemas.openxmlformats.org/drawingml/2006/main" noGrp="1"/>
          </p:cNvSpPr>
          <p:nvPr/>
        </p:nvSpPr>
        <p:spPr>
          <a:xfrm xmlns:a="http://schemas.openxmlformats.org/drawingml/2006/main">
            <a:off x="609600" y="2533650"/>
            <a:ext cx="4762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02</a:t>
            </a:r>
          </a:p>
        </p:txBody>
      </p:sp>
      <p:sp>
        <p:nvSpPr>
          <p:cNvPr id="6" name="">
            <a:extLst xmlns:a="http://schemas.openxmlformats.org/drawingml/2006/main">
              <a:ext uri="{FF2B5EF4-FFF2-40B4-BE49-F238E27FC236}">
                <a16:creationId xmlns:a16="http://schemas.microsoft.com/office/drawing/2014/main" id="{DB9F2FD1-9FEB-429A-8980-55374F4D2F8D}"/>
              </a:ext>
            </a:extLst>
          </p:cNvPr>
          <p:cNvSpPr>
            <a:spLocks xmlns:a="http://schemas.openxmlformats.org/drawingml/2006/main" noGrp="1"/>
          </p:cNvSpPr>
          <p:nvPr/>
        </p:nvSpPr>
        <p:spPr>
          <a:xfrm xmlns:a="http://schemas.openxmlformats.org/drawingml/2006/main">
            <a:off x="1190625" y="2533650"/>
            <a:ext cx="103917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22C42"/>
                </a:solidFill>
                <a:latin typeface="Helvetica Neue"/>
                <a:ea typeface="Helvetica Neue"/>
                <a:cs typeface="Helvetica Neue"/>
              </a:defRPr>
            </a:pPr>
            <a:r>
              <a:rPr sz="2100" b="0">
                <a:solidFill>
                  <a:srgbClr val="122C42"/>
                </a:solidFill>
                <a:latin typeface="Helvetica Neue"/>
                <a:ea typeface="Helvetica Neue"/>
                <a:cs typeface="Helvetica Neue"/>
              </a:rPr>
              <a:t>Her syscall başka task çalıştırır mı?</a:t>
            </a:r>
          </a:p>
        </p:txBody>
      </p:sp>
      <p:sp>
        <p:nvSpPr>
          <p:cNvPr id="7" name="">
            <a:extLst xmlns:a="http://schemas.openxmlformats.org/drawingml/2006/main">
              <a:ext uri="{FF2B5EF4-FFF2-40B4-BE49-F238E27FC236}">
                <a16:creationId xmlns:a16="http://schemas.microsoft.com/office/drawing/2014/main" id="{3F94BBE9-59A9-42B1-9291-0A005ECAF747}"/>
              </a:ext>
            </a:extLst>
          </p:cNvPr>
          <p:cNvSpPr>
            <a:spLocks xmlns:a="http://schemas.openxmlformats.org/drawingml/2006/main" noGrp="1"/>
          </p:cNvSpPr>
          <p:nvPr/>
        </p:nvSpPr>
        <p:spPr>
          <a:xfrm xmlns:a="http://schemas.openxmlformats.org/drawingml/2006/main">
            <a:off x="609600" y="3162300"/>
            <a:ext cx="4762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03</a:t>
            </a:r>
          </a:p>
        </p:txBody>
      </p:sp>
      <p:sp>
        <p:nvSpPr>
          <p:cNvPr id="8" name="">
            <a:extLst xmlns:a="http://schemas.openxmlformats.org/drawingml/2006/main">
              <a:ext uri="{FF2B5EF4-FFF2-40B4-BE49-F238E27FC236}">
                <a16:creationId xmlns:a16="http://schemas.microsoft.com/office/drawing/2014/main" id="{FE830807-78F1-454F-87F7-8F48AA64D00C}"/>
              </a:ext>
            </a:extLst>
          </p:cNvPr>
          <p:cNvSpPr>
            <a:spLocks xmlns:a="http://schemas.openxmlformats.org/drawingml/2006/main" noGrp="1"/>
          </p:cNvSpPr>
          <p:nvPr/>
        </p:nvSpPr>
        <p:spPr>
          <a:xfrm xmlns:a="http://schemas.openxmlformats.org/drawingml/2006/main">
            <a:off x="1190625" y="3162300"/>
            <a:ext cx="103917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22C42"/>
                </a:solidFill>
                <a:latin typeface="Helvetica Neue"/>
                <a:ea typeface="Helvetica Neue"/>
                <a:cs typeface="Helvetica Neue"/>
              </a:defRPr>
            </a:pPr>
            <a:r>
              <a:rPr sz="2100" b="0">
                <a:solidFill>
                  <a:srgbClr val="122C42"/>
                </a:solidFill>
                <a:latin typeface="Helvetica Neue"/>
                <a:ea typeface="Helvetica Neue"/>
                <a:cs typeface="Helvetica Neue"/>
              </a:rPr>
              <a:t>Ayrı process’lerin sıradan x değişkenleri ortak mı?</a:t>
            </a:r>
          </a:p>
        </p:txBody>
      </p:sp>
      <p:sp>
        <p:nvSpPr>
          <p:cNvPr id="9" name="">
            <a:extLst xmlns:a="http://schemas.openxmlformats.org/drawingml/2006/main">
              <a:ext uri="{FF2B5EF4-FFF2-40B4-BE49-F238E27FC236}">
                <a16:creationId xmlns:a16="http://schemas.microsoft.com/office/drawing/2014/main" id="{AA25576B-AB47-47D6-9673-E5ED86A60C72}"/>
              </a:ext>
            </a:extLst>
          </p:cNvPr>
          <p:cNvSpPr>
            <a:spLocks xmlns:a="http://schemas.openxmlformats.org/drawingml/2006/main" noGrp="1"/>
          </p:cNvSpPr>
          <p:nvPr/>
        </p:nvSpPr>
        <p:spPr>
          <a:xfrm xmlns:a="http://schemas.openxmlformats.org/drawingml/2006/main">
            <a:off x="609600" y="3790950"/>
            <a:ext cx="4762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04</a:t>
            </a:r>
          </a:p>
        </p:txBody>
      </p:sp>
      <p:sp>
        <p:nvSpPr>
          <p:cNvPr id="10" name="">
            <a:extLst xmlns:a="http://schemas.openxmlformats.org/drawingml/2006/main">
              <a:ext uri="{FF2B5EF4-FFF2-40B4-BE49-F238E27FC236}">
                <a16:creationId xmlns:a16="http://schemas.microsoft.com/office/drawing/2014/main" id="{EF73A503-79BE-4218-A2C5-0C6DE3F598E1}"/>
              </a:ext>
            </a:extLst>
          </p:cNvPr>
          <p:cNvSpPr>
            <a:spLocks xmlns:a="http://schemas.openxmlformats.org/drawingml/2006/main" noGrp="1"/>
          </p:cNvSpPr>
          <p:nvPr/>
        </p:nvSpPr>
        <p:spPr>
          <a:xfrm xmlns:a="http://schemas.openxmlformats.org/drawingml/2006/main">
            <a:off x="1190625" y="3790950"/>
            <a:ext cx="103917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22C42"/>
                </a:solidFill>
                <a:latin typeface="Helvetica Neue"/>
                <a:ea typeface="Helvetica Neue"/>
                <a:cs typeface="Helvetica Neue"/>
              </a:defRPr>
            </a:pPr>
            <a:r>
              <a:rPr sz="2100" b="0">
                <a:solidFill>
                  <a:srgbClr val="122C42"/>
                </a:solidFill>
                <a:latin typeface="Helvetica Neue"/>
                <a:ea typeface="Helvetica Neue"/>
                <a:cs typeface="Helvetica Neue"/>
              </a:rPr>
              <a:t>Başarılı exec: PID ne olur, eski programın sonraki satırı çalışır mı?</a:t>
            </a:r>
          </a:p>
        </p:txBody>
      </p:sp>
      <p:sp>
        <p:nvSpPr>
          <p:cNvPr id="11" name="">
            <a:extLst xmlns:a="http://schemas.openxmlformats.org/drawingml/2006/main">
              <a:ext uri="{FF2B5EF4-FFF2-40B4-BE49-F238E27FC236}">
                <a16:creationId xmlns:a16="http://schemas.microsoft.com/office/drawing/2014/main" id="{0CF99541-2F13-4FC4-9FB3-2C37580380ED}"/>
              </a:ext>
            </a:extLst>
          </p:cNvPr>
          <p:cNvSpPr>
            <a:spLocks xmlns:a="http://schemas.openxmlformats.org/drawingml/2006/main" noGrp="1"/>
          </p:cNvSpPr>
          <p:nvPr/>
        </p:nvSpPr>
        <p:spPr>
          <a:xfrm xmlns:a="http://schemas.openxmlformats.org/drawingml/2006/main">
            <a:off x="609600" y="4419600"/>
            <a:ext cx="4762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05</a:t>
            </a:r>
          </a:p>
        </p:txBody>
      </p:sp>
      <p:sp>
        <p:nvSpPr>
          <p:cNvPr id="12" name="">
            <a:extLst xmlns:a="http://schemas.openxmlformats.org/drawingml/2006/main">
              <a:ext uri="{FF2B5EF4-FFF2-40B4-BE49-F238E27FC236}">
                <a16:creationId xmlns:a16="http://schemas.microsoft.com/office/drawing/2014/main" id="{5F07884F-4263-416D-9171-7626D1014193}"/>
              </a:ext>
            </a:extLst>
          </p:cNvPr>
          <p:cNvSpPr>
            <a:spLocks xmlns:a="http://schemas.openxmlformats.org/drawingml/2006/main" noGrp="1"/>
          </p:cNvSpPr>
          <p:nvPr/>
        </p:nvSpPr>
        <p:spPr>
          <a:xfrm xmlns:a="http://schemas.openxmlformats.org/drawingml/2006/main">
            <a:off x="1190625" y="4419600"/>
            <a:ext cx="103917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22C42"/>
                </a:solidFill>
                <a:latin typeface="Helvetica Neue"/>
                <a:ea typeface="Helvetica Neue"/>
                <a:cs typeface="Helvetica Neue"/>
              </a:defRPr>
            </a:pPr>
            <a:r>
              <a:rPr sz="2100" b="0">
                <a:solidFill>
                  <a:srgbClr val="122C42"/>
                </a:solidFill>
                <a:latin typeface="Helvetica Neue"/>
                <a:ea typeface="Helvetica Neue"/>
                <a:cs typeface="Helvetica Neue"/>
              </a:rPr>
              <a:t>Tek CPU’da kayıp güncelleme olabilir mi?</a:t>
            </a:r>
          </a:p>
        </p:txBody>
      </p:sp>
      <p:sp>
        <p:nvSpPr>
          <p:cNvPr id="13" name="">
            <a:extLst xmlns:a="http://schemas.openxmlformats.org/drawingml/2006/main">
              <a:ext uri="{FF2B5EF4-FFF2-40B4-BE49-F238E27FC236}">
                <a16:creationId xmlns:a16="http://schemas.microsoft.com/office/drawing/2014/main" id="{E27AD4EF-DC24-4BC8-9216-E3E032C35B19}"/>
              </a:ext>
            </a:extLst>
          </p:cNvPr>
          <p:cNvSpPr>
            <a:spLocks xmlns:a="http://schemas.openxmlformats.org/drawingml/2006/main" noGrp="1"/>
          </p:cNvSpPr>
          <p:nvPr/>
        </p:nvSpPr>
        <p:spPr>
          <a:xfrm xmlns:a="http://schemas.openxmlformats.org/drawingml/2006/main">
            <a:off x="609600" y="5048250"/>
            <a:ext cx="4762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06</a:t>
            </a:r>
          </a:p>
        </p:txBody>
      </p:sp>
      <p:sp>
        <p:nvSpPr>
          <p:cNvPr id="14" name="">
            <a:extLst xmlns:a="http://schemas.openxmlformats.org/drawingml/2006/main">
              <a:ext uri="{FF2B5EF4-FFF2-40B4-BE49-F238E27FC236}">
                <a16:creationId xmlns:a16="http://schemas.microsoft.com/office/drawing/2014/main" id="{D5A3722B-56F8-4D8D-B4CD-1C7D1D9257D6}"/>
              </a:ext>
            </a:extLst>
          </p:cNvPr>
          <p:cNvSpPr>
            <a:spLocks xmlns:a="http://schemas.openxmlformats.org/drawingml/2006/main" noGrp="1"/>
          </p:cNvSpPr>
          <p:nvPr/>
        </p:nvSpPr>
        <p:spPr>
          <a:xfrm xmlns:a="http://schemas.openxmlformats.org/drawingml/2006/main">
            <a:off x="1190625" y="5048250"/>
            <a:ext cx="103917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22C42"/>
                </a:solidFill>
                <a:latin typeface="Helvetica Neue"/>
                <a:ea typeface="Helvetica Neue"/>
                <a:cs typeface="Helvetica Neue"/>
              </a:defRPr>
            </a:pPr>
            <a:r>
              <a:rPr sz="2100" b="0">
                <a:solidFill>
                  <a:srgbClr val="122C42"/>
                </a:solidFill>
                <a:latin typeface="Helvetica Neue"/>
                <a:ea typeface="Helvetica Neue"/>
                <a:cs typeface="Helvetica Neue"/>
              </a:rPr>
              <a:t>Boş pipe, EOF demek midir?</a:t>
            </a:r>
          </a:p>
        </p:txBody>
      </p:sp>
      <p:sp>
        <p:nvSpPr>
          <p:cNvPr id="15" name="">
            <a:extLst xmlns:a="http://schemas.openxmlformats.org/drawingml/2006/main">
              <a:ext uri="{FF2B5EF4-FFF2-40B4-BE49-F238E27FC236}">
                <a16:creationId xmlns:a16="http://schemas.microsoft.com/office/drawing/2014/main" id="{172FC434-F2A8-4372-856A-575DE192BA5F}"/>
              </a:ext>
            </a:extLst>
          </p:cNvPr>
          <p:cNvSpPr>
            <a:spLocks xmlns:a="http://schemas.openxmlformats.org/drawingml/2006/main" noGrp="1"/>
          </p:cNvSpPr>
          <p:nvPr/>
        </p:nvSpPr>
        <p:spPr>
          <a:xfrm xmlns:a="http://schemas.openxmlformats.org/drawingml/2006/main">
            <a:off x="609600" y="5991225"/>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0">
                <a:solidFill>
                  <a:srgbClr val="4D606A"/>
                </a:solidFill>
                <a:latin typeface="Helvetica Neue"/>
                <a:ea typeface="Helvetica Neue"/>
                <a:cs typeface="Helvetica Neue"/>
              </a:defRPr>
            </a:pPr>
            <a:r>
              <a:rPr sz="1500" b="0">
                <a:solidFill>
                  <a:srgbClr val="4D606A"/>
                </a:solidFill>
                <a:latin typeface="Helvetica Neue"/>
                <a:ea typeface="Helvetica Neue"/>
                <a:cs typeface="Helvetica Neue"/>
              </a:rPr>
              <a:t>Her cevapta sonuç + teknik gerekçe. Cevaplar çalışma sayfasında.</a:t>
            </a:r>
          </a:p>
        </p:txBody>
      </p:sp>
      <p:sp>
        <p:nvSpPr>
          <p:cNvPr id="16" name="">
            <a:extLst xmlns:a="http://schemas.openxmlformats.org/drawingml/2006/main">
              <a:ext uri="{FF2B5EF4-FFF2-40B4-BE49-F238E27FC236}">
                <a16:creationId xmlns:a16="http://schemas.microsoft.com/office/drawing/2014/main" id="{38268E72-EF6A-4746-BBB4-D57C2A70496C}"/>
              </a:ext>
            </a:extLst>
          </p:cNvPr>
          <p:cNvSpPr>
            <a:spLocks xmlns:a="http://schemas.openxmlformats.org/drawingml/2006/main" noGrp="1"/>
          </p:cNvSpPr>
          <p:nvPr/>
        </p:nvSpPr>
        <p:spPr>
          <a:xfrm xmlns:a="http://schemas.openxmlformats.org/drawingml/2006/main">
            <a:off x="609600" y="64960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4D606A"/>
                </a:solidFill>
                <a:latin typeface="Helvetica Neue"/>
                <a:ea typeface="Helvetica Neue"/>
                <a:cs typeface="Helvetica Neue"/>
              </a:defRPr>
            </a:pPr>
            <a:r>
              <a:rPr sz="1125" b="0">
                <a:solidFill>
                  <a:srgbClr val="4D606A"/>
                </a:solidFill>
                <a:latin typeface="Helvetica Neue"/>
                <a:ea typeface="Helvetica Neue"/>
                <a:cs typeface="Helvetica Neue"/>
              </a:rPr>
              <a:t>CSE513 · İlk hafta / öğrenme pilotu</a:t>
            </a:r>
          </a:p>
        </p:txBody>
      </p:sp>
      <p:sp>
        <p:nvSpPr>
          <p:cNvPr id="17" name="">
            <a:extLst xmlns:a="http://schemas.openxmlformats.org/drawingml/2006/main">
              <a:ext uri="{FF2B5EF4-FFF2-40B4-BE49-F238E27FC236}">
                <a16:creationId xmlns:a16="http://schemas.microsoft.com/office/drawing/2014/main" id="{5CD09DF2-2C83-46FF-8A20-37C7C19B5518}"/>
              </a:ext>
            </a:extLst>
          </p:cNvPr>
          <p:cNvSpPr>
            <a:spLocks xmlns:a="http://schemas.openxmlformats.org/drawingml/2006/main" noGrp="1"/>
          </p:cNvSpPr>
          <p:nvPr/>
        </p:nvSpPr>
        <p:spPr>
          <a:xfrm xmlns:a="http://schemas.openxmlformats.org/drawingml/2006/main">
            <a:off x="10572750" y="6457950"/>
            <a:ext cx="1000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087E83"/>
                </a:solidFill>
                <a:latin typeface="Helvetica Neue"/>
                <a:ea typeface="Helvetica Neue"/>
                <a:cs typeface="Helvetica Neue"/>
              </a:defRPr>
            </a:pPr>
            <a:r>
              <a:rPr sz="1350" b="1">
                <a:solidFill>
                  <a:srgbClr val="087E83"/>
                </a:solidFill>
                <a:latin typeface="Helvetica Neue"/>
                <a:ea typeface="Helvetica Neue"/>
                <a:cs typeface="Helvetica Neue"/>
              </a:rPr>
              <a:t>28 / 28</a:t>
            </a:r>
          </a:p>
        </p:txBody>
      </p:sp>
    </p:spTree>
    <p:extLst>
      <p:ext uri="{BB962C8B-B14F-4D97-AF65-F5344CB8AC3E}">
        <p14:creationId xmlns:p14="http://schemas.microsoft.com/office/powerpoint/2010/main" val="27822069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2026-10-07T16:19:33.0260000Z</dcterms:created>
  <dcterms:modified xsi:type="dcterms:W3CDTF">2026-10-07T16:19:33.0260000Z</dcterms:modified>
</coreProperties>
</file>